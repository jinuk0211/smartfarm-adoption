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28925fa58f84370" /><Relationship Type="http://schemas.openxmlformats.org/officeDocument/2006/relationships/extended-properties" Target="/docProps/app.xml" Id="R90a4a3b5409d4fd7" /><Relationship Type="http://schemas.openxmlformats.org/officeDocument/2006/relationships/officeDocument" Target="/ppt/presentation.xml" Id="Rf89a7d18a0524adb" /></Relationships>
</file>

<file path=ppt/presentation.xml><?xml version="1.0" encoding="utf-8"?>
<p:presentation xmlns:p="http://schemas.openxmlformats.org/presentationml/2006/main">
  <p:sldMasterIdLst>
    <p:sldMasterId xmlns:r="http://schemas.openxmlformats.org/officeDocument/2006/relationships" id="2147483648" r:id="Ra52e59f2a739409b"/>
  </p:sldMasterIdLst>
  <p:notesMasterIdLst>
    <p:notesMasterId xmlns:r="http://schemas.openxmlformats.org/officeDocument/2006/relationships" r:id="R437ab267bd4f467b"/>
  </p:notesMasterIdLst>
  <p:sldIdLst>
    <p:sldId xmlns:r="http://schemas.openxmlformats.org/officeDocument/2006/relationships" id="256" r:id="R1c90cb544eae45c4"/>
    <p:sldId xmlns:r="http://schemas.openxmlformats.org/officeDocument/2006/relationships" id="257" r:id="R953417a4a3904ca1"/>
    <p:sldId xmlns:r="http://schemas.openxmlformats.org/officeDocument/2006/relationships" id="258" r:id="Rdcd75d51d4c24d63"/>
    <p:sldId xmlns:r="http://schemas.openxmlformats.org/officeDocument/2006/relationships" id="259" r:id="Raa1573b715484f7b"/>
    <p:sldId xmlns:r="http://schemas.openxmlformats.org/officeDocument/2006/relationships" id="260" r:id="R055a02e8fb1c4c35"/>
    <p:sldId xmlns:r="http://schemas.openxmlformats.org/officeDocument/2006/relationships" id="261" r:id="Ra5fd0e303f0e4fe1"/>
    <p:sldId xmlns:r="http://schemas.openxmlformats.org/officeDocument/2006/relationships" id="262" r:id="Recb79b7c0f804fec"/>
    <p:sldId xmlns:r="http://schemas.openxmlformats.org/officeDocument/2006/relationships" id="263" r:id="R24605082ca614ca3"/>
    <p:sldId xmlns:r="http://schemas.openxmlformats.org/officeDocument/2006/relationships" id="264" r:id="R28e175c014284cf8"/>
    <p:sldId xmlns:r="http://schemas.openxmlformats.org/officeDocument/2006/relationships" id="265" r:id="R3e27d0f7fbef400e"/>
    <p:sldId xmlns:r="http://schemas.openxmlformats.org/officeDocument/2006/relationships" id="266" r:id="Rc0422ba9c36d41f5"/>
    <p:sldId xmlns:r="http://schemas.openxmlformats.org/officeDocument/2006/relationships" id="267" r:id="R5c49c76cbba24563"/>
    <p:sldId xmlns:r="http://schemas.openxmlformats.org/officeDocument/2006/relationships" id="268" r:id="R4172011a80f448d3"/>
    <p:sldId xmlns:r="http://schemas.openxmlformats.org/officeDocument/2006/relationships" id="269" r:id="Rc587d7645e744507"/>
    <p:sldId xmlns:r="http://schemas.openxmlformats.org/officeDocument/2006/relationships" id="270" r:id="R9076e26dc21646ad"/>
    <p:sldId xmlns:r="http://schemas.openxmlformats.org/officeDocument/2006/relationships" id="271" r:id="Rdd6252bc74e94c22"/>
    <p:sldId xmlns:r="http://schemas.openxmlformats.org/officeDocument/2006/relationships" id="272" r:id="Rcec466a18aca4350"/>
    <p:sldId xmlns:r="http://schemas.openxmlformats.org/officeDocument/2006/relationships" id="273" r:id="Rba962b524d834849"/>
    <p:sldId xmlns:r="http://schemas.openxmlformats.org/officeDocument/2006/relationships" id="274" r:id="R34bfd26330834521"/>
    <p:sldId xmlns:r="http://schemas.openxmlformats.org/officeDocument/2006/relationships" id="275" r:id="R368bb28182534bfc"/>
    <p:sldId xmlns:r="http://schemas.openxmlformats.org/officeDocument/2006/relationships" id="276" r:id="Rf1cd0103889849bc"/>
    <p:sldId xmlns:r="http://schemas.openxmlformats.org/officeDocument/2006/relationships" id="277" r:id="R612ea333b7204290"/>
    <p:sldId xmlns:r="http://schemas.openxmlformats.org/officeDocument/2006/relationships" id="278" r:id="R37e71b779ca545af"/>
    <p:sldId xmlns:r="http://schemas.openxmlformats.org/officeDocument/2006/relationships" id="279" r:id="R641c6a2961364b46"/>
    <p:sldId xmlns:r="http://schemas.openxmlformats.org/officeDocument/2006/relationships" id="280" r:id="R5798b7845c48465b"/>
    <p:sldId xmlns:r="http://schemas.openxmlformats.org/officeDocument/2006/relationships" id="281" r:id="R266448bb0ebf4655"/>
    <p:sldId xmlns:r="http://schemas.openxmlformats.org/officeDocument/2006/relationships" id="282" r:id="Rb40deb086c7a4628"/>
    <p:sldId xmlns:r="http://schemas.openxmlformats.org/officeDocument/2006/relationships" id="283" r:id="R35d292cd44b3408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eb48f6e1e84a92" /><Relationship Type="http://schemas.openxmlformats.org/officeDocument/2006/relationships/slideMaster" Target="/ppt/slideMasters/slideMaster1.xml" Id="Ra52e59f2a739409b" /><Relationship Type="http://schemas.openxmlformats.org/officeDocument/2006/relationships/notesMaster" Target="/ppt/notesMasters/notesMaster1.xml" Id="R437ab267bd4f467b" /><Relationship Type="http://schemas.openxmlformats.org/officeDocument/2006/relationships/presProps" Target="/ppt/presProps.xml" Id="R07cac802a80f408a" /><Relationship Type="http://schemas.openxmlformats.org/officeDocument/2006/relationships/tableStyles" Target="/ppt/tableStyles.xml" Id="R6874450f2c764428" /><Relationship Type="http://schemas.openxmlformats.org/officeDocument/2006/relationships/slide" Target="/ppt/slides/slide1.xml" Id="R1c90cb544eae45c4" /><Relationship Type="http://schemas.openxmlformats.org/officeDocument/2006/relationships/slide" Target="/ppt/slides/slide2.xml" Id="R953417a4a3904ca1" /><Relationship Type="http://schemas.openxmlformats.org/officeDocument/2006/relationships/slide" Target="/ppt/slides/slide3.xml" Id="Rdcd75d51d4c24d63" /><Relationship Type="http://schemas.openxmlformats.org/officeDocument/2006/relationships/slide" Target="/ppt/slides/slide4.xml" Id="Raa1573b715484f7b" /><Relationship Type="http://schemas.openxmlformats.org/officeDocument/2006/relationships/slide" Target="/ppt/slides/slide5.xml" Id="R055a02e8fb1c4c35" /><Relationship Type="http://schemas.openxmlformats.org/officeDocument/2006/relationships/slide" Target="/ppt/slides/slide6.xml" Id="Ra5fd0e303f0e4fe1" /><Relationship Type="http://schemas.openxmlformats.org/officeDocument/2006/relationships/slide" Target="/ppt/slides/slide7.xml" Id="Recb79b7c0f804fec" /><Relationship Type="http://schemas.openxmlformats.org/officeDocument/2006/relationships/slide" Target="/ppt/slides/slide8.xml" Id="R24605082ca614ca3" /><Relationship Type="http://schemas.openxmlformats.org/officeDocument/2006/relationships/slide" Target="/ppt/slides/slide9.xml" Id="R28e175c014284cf8" /><Relationship Type="http://schemas.openxmlformats.org/officeDocument/2006/relationships/slide" Target="/ppt/slides/slide10.xml" Id="R3e27d0f7fbef400e" /><Relationship Type="http://schemas.openxmlformats.org/officeDocument/2006/relationships/slide" Target="/ppt/slides/slide11.xml" Id="Rc0422ba9c36d41f5" /><Relationship Type="http://schemas.openxmlformats.org/officeDocument/2006/relationships/slide" Target="/ppt/slides/slide12.xml" Id="R5c49c76cbba24563" /><Relationship Type="http://schemas.openxmlformats.org/officeDocument/2006/relationships/slide" Target="/ppt/slides/slide13.xml" Id="R4172011a80f448d3" /><Relationship Type="http://schemas.openxmlformats.org/officeDocument/2006/relationships/slide" Target="/ppt/slides/slide14.xml" Id="Rc587d7645e744507" /><Relationship Type="http://schemas.openxmlformats.org/officeDocument/2006/relationships/slide" Target="/ppt/slides/slide15.xml" Id="R9076e26dc21646ad" /><Relationship Type="http://schemas.openxmlformats.org/officeDocument/2006/relationships/slide" Target="/ppt/slides/slide16.xml" Id="Rdd6252bc74e94c22" /><Relationship Type="http://schemas.openxmlformats.org/officeDocument/2006/relationships/slide" Target="/ppt/slides/slide17.xml" Id="Rcec466a18aca4350" /><Relationship Type="http://schemas.openxmlformats.org/officeDocument/2006/relationships/slide" Target="/ppt/slides/slide18.xml" Id="Rba962b524d834849" /><Relationship Type="http://schemas.openxmlformats.org/officeDocument/2006/relationships/slide" Target="/ppt/slides/slide19.xml" Id="R34bfd26330834521" /><Relationship Type="http://schemas.openxmlformats.org/officeDocument/2006/relationships/slide" Target="/ppt/slides/slide20.xml" Id="R368bb28182534bfc" /><Relationship Type="http://schemas.openxmlformats.org/officeDocument/2006/relationships/slide" Target="/ppt/slides/slide21.xml" Id="Rf1cd0103889849bc" /><Relationship Type="http://schemas.openxmlformats.org/officeDocument/2006/relationships/slide" Target="/ppt/slides/slide22.xml" Id="R612ea333b7204290" /><Relationship Type="http://schemas.openxmlformats.org/officeDocument/2006/relationships/slide" Target="/ppt/slides/slide23.xml" Id="R37e71b779ca545af" /><Relationship Type="http://schemas.openxmlformats.org/officeDocument/2006/relationships/slide" Target="/ppt/slides/slide24.xml" Id="R641c6a2961364b46" /><Relationship Type="http://schemas.openxmlformats.org/officeDocument/2006/relationships/slide" Target="/ppt/slides/slide25.xml" Id="R5798b7845c48465b" /><Relationship Type="http://schemas.openxmlformats.org/officeDocument/2006/relationships/slide" Target="/ppt/slides/slide26.xml" Id="R266448bb0ebf4655" /><Relationship Type="http://schemas.openxmlformats.org/officeDocument/2006/relationships/slide" Target="/ppt/slides/slide27.xml" Id="Rb40deb086c7a4628" /><Relationship Type="http://schemas.openxmlformats.org/officeDocument/2006/relationships/slide" Target="/ppt/slides/slide28.xml" Id="R35d292cd44b3408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c0535d8d4f46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806c9817d54f88" /><Relationship Type="http://schemas.openxmlformats.org/officeDocument/2006/relationships/notesMaster" Target="/ppt/notesMasters/notesMaster1.xml" Id="Rf65d7f526a9949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0c92763c864802" /><Relationship Type="http://schemas.openxmlformats.org/officeDocument/2006/relationships/notesMaster" Target="/ppt/notesMasters/notesMaster1.xml" Id="Ree8dc05d1cd949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5b89eabf834e99" /><Relationship Type="http://schemas.openxmlformats.org/officeDocument/2006/relationships/notesMaster" Target="/ppt/notesMasters/notesMaster1.xml" Id="Recdf5d70a3d541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003e20a5cc4bc3" /><Relationship Type="http://schemas.openxmlformats.org/officeDocument/2006/relationships/notesMaster" Target="/ppt/notesMasters/notesMaster1.xml" Id="Rebb35df1c05045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80377fa9044420" /><Relationship Type="http://schemas.openxmlformats.org/officeDocument/2006/relationships/notesMaster" Target="/ppt/notesMasters/notesMaster1.xml" Id="R734ce25925b546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b682d4551e4d6a" /><Relationship Type="http://schemas.openxmlformats.org/officeDocument/2006/relationships/notesMaster" Target="/ppt/notesMasters/notesMaster1.xml" Id="Rbf17ddadac6442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1ee69de1ac4821" /><Relationship Type="http://schemas.openxmlformats.org/officeDocument/2006/relationships/notesMaster" Target="/ppt/notesMasters/notesMaster1.xml" Id="R7f951461d93b4b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bdba1eb75b47a6" /><Relationship Type="http://schemas.openxmlformats.org/officeDocument/2006/relationships/notesMaster" Target="/ppt/notesMasters/notesMaster1.xml" Id="R47cc5111f5d746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86392b700b4376" /><Relationship Type="http://schemas.openxmlformats.org/officeDocument/2006/relationships/notesMaster" Target="/ppt/notesMasters/notesMaster1.xml" Id="R6112ea64cf4c45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2523dd9af84fe9" /><Relationship Type="http://schemas.openxmlformats.org/officeDocument/2006/relationships/notesMaster" Target="/ppt/notesMasters/notesMaster1.xml" Id="R9be20087fa55406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56ae69582a648ca" /><Relationship Type="http://schemas.openxmlformats.org/officeDocument/2006/relationships/notesMaster" Target="/ppt/notesMasters/notesMaster1.xml" Id="R5c2bdeae6d04498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6c1215146e43ba" /><Relationship Type="http://schemas.openxmlformats.org/officeDocument/2006/relationships/notesMaster" Target="/ppt/notesMasters/notesMaster1.xml" Id="Rdb6a3e10156143b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c5f19de28747e4" /><Relationship Type="http://schemas.openxmlformats.org/officeDocument/2006/relationships/notesMaster" Target="/ppt/notesMasters/notesMaster1.xml" Id="Ra9420f7742d04e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d7e05497eaa4ec9" /><Relationship Type="http://schemas.openxmlformats.org/officeDocument/2006/relationships/notesMaster" Target="/ppt/notesMasters/notesMaster1.xml" Id="R44fb257010b7452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80539cd5d2a486a" /><Relationship Type="http://schemas.openxmlformats.org/officeDocument/2006/relationships/notesMaster" Target="/ppt/notesMasters/notesMaster1.xml" Id="Rb45e762d2e25466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0b010a6d294af4" /><Relationship Type="http://schemas.openxmlformats.org/officeDocument/2006/relationships/notesMaster" Target="/ppt/notesMasters/notesMaster1.xml" Id="Rbb3549a78bf24f4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ed4652fe03c4c16" /><Relationship Type="http://schemas.openxmlformats.org/officeDocument/2006/relationships/notesMaster" Target="/ppt/notesMasters/notesMaster1.xml" Id="R567b28441529495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6fa27f5a3f94f6a" /><Relationship Type="http://schemas.openxmlformats.org/officeDocument/2006/relationships/notesMaster" Target="/ppt/notesMasters/notesMaster1.xml" Id="R2de7e65259674a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fcde9cc377498c" /><Relationship Type="http://schemas.openxmlformats.org/officeDocument/2006/relationships/notesMaster" Target="/ppt/notesMasters/notesMaster1.xml" Id="Rb90bf794de6f4d0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621670acdb8477e" /><Relationship Type="http://schemas.openxmlformats.org/officeDocument/2006/relationships/notesMaster" Target="/ppt/notesMasters/notesMaster1.xml" Id="Rf5cb37f44f4d4f0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9791a20b71d4860" /><Relationship Type="http://schemas.openxmlformats.org/officeDocument/2006/relationships/notesMaster" Target="/ppt/notesMasters/notesMaster1.xml" Id="R99356dddae9c48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a7057a24a4b490e" /><Relationship Type="http://schemas.openxmlformats.org/officeDocument/2006/relationships/notesMaster" Target="/ppt/notesMasters/notesMaster1.xml" Id="R76bf0ef414d64bc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48369de1ae34ec9" /><Relationship Type="http://schemas.openxmlformats.org/officeDocument/2006/relationships/notesMaster" Target="/ppt/notesMasters/notesMaster1.xml" Id="Re5c55c29122e49a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633b2504d2b47ae" /><Relationship Type="http://schemas.openxmlformats.org/officeDocument/2006/relationships/notesMaster" Target="/ppt/notesMasters/notesMaster1.xml" Id="R9d192af2d03e4b6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0a8694c20c14e11" /><Relationship Type="http://schemas.openxmlformats.org/officeDocument/2006/relationships/notesMaster" Target="/ppt/notesMasters/notesMaster1.xml" Id="R9ce0279ea4bf44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735d6932b084467" /><Relationship Type="http://schemas.openxmlformats.org/officeDocument/2006/relationships/notesMaster" Target="/ppt/notesMasters/notesMaster1.xml" Id="Rda8c150ebe2841b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2b6754e1e58409b" /><Relationship Type="http://schemas.openxmlformats.org/officeDocument/2006/relationships/notesMaster" Target="/ppt/notesMasters/notesMaster1.xml" Id="R1336a99fa3db49b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d3d2e4b7943499b" /><Relationship Type="http://schemas.openxmlformats.org/officeDocument/2006/relationships/notesMaster" Target="/ppt/notesMasters/notesMaster1.xml" Id="Ra0736029517a47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스마트팜 도입 시뮬레이터 기획서. 공개자료로 실행한 실험, 사용자가 설정하는 경제성 가정, 안심구역 현장 실행 계획을 구분한다. 표지 이미지는 imagegen으로 생성한 딸기 스마트팜 컨셉 일러스트이며 실제 농장 사진이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대상은 신규 온실을 계획하거나 기존 시설의 장비 개량을 검토하는 농가. 현재 계산 모듈의 기능 범위에 근거한 사용자 문제 정의.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https://github.com/jinuk0211/smartfarm-adoption/blob/codex/initial-publish/reports/full_process_delivery.md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https://github.com/jinuk0211/smartfarm-adoption/blob/codex/initial-publish/reports/rda_acquisition.md</a:t>
            </a:r>
          </a:p>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https://github.com/jinuk0211/smartfarm-adoption/blob/codex/initial-publish/reports/equipment_catalog_notes.md</a:t>
            </a:r>
          </a:p>
          <a:p xmlns:a="http://schemas.openxmlformats.org/drawingml/2006/main">
            <a:r>
              <a:t>https://github.com/jinuk0211/smartfarm-adoption/blob/codex/initial-publish/reports/price_forecast_notes.md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https://github.com/jinuk0211/smartfarm-adoption/blob/codex/initial-publish/reports/equipment_catalog_notes.md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표시한 2,675만원은 10년 말 비할인 누적 현금흐름의 미회수 잔액 26,749,316.8원. 순현재가치 −42,954,238.54원과 다르다.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https://github.com/jinuk0211/smartfarm-adoption/blob/codex/initial-publish/reports/model_report.md</a:t>
            </a:r>
          </a:p>
          <a:p xmlns:a="http://schemas.openxmlformats.org/drawingml/2006/main">
            <a:r>
              <a:t>https://github.com/jinuk0211/smartfarm-adoption/blob/codex/initial-publish/reports/adp_timing_experiment.md</a:t>
            </a:r>
          </a:p>
          <a:p xmlns:a="http://schemas.openxmlformats.org/drawingml/2006/main">
            <a:r>
              <a:t>https://github.com/jinuk0211/smartfarm-adoption/blob/codex/initial-publish/reports/price_forecast_notes.md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https://github.com/jinuk0211/smartfarm-adoption/blob/codex/initial-publish/reports/curation_cross_source_anomalies.md</a:t>
            </a:r>
          </a:p>
          <a:p xmlns:a="http://schemas.openxmlformats.org/drawingml/2006/main">
            <a:r>
              <a:t>원기록의 정확한 극단값은 딸기 출하량14,604,000kg, 매출233,563,333,310원이다. 본편의큰수치는읽기쉽게반올림했다.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https://github.com/jinuk0211/smartfarm-adoption/blob/codex/initial-publish/reports/inseason_model_notes.md</a:t>
            </a:r>
          </a:p>
          <a:p xmlns:a="http://schemas.openxmlformats.org/drawingml/2006/main">
            <a:r>
              <a:t>{"study":"strawberry_observed_visit_height_7d","status":"actual_data_pilot_completed","generated_at":"2026-10-10T06:47:46.104846+00:00","target":"7일 뒤 시설·방문 관측 표본 평균 초장","target_unit":"mm","source_counts":{"growth_raw_rows":2529,"environment_raw_rows":9774,"height_raw_rows_mm":252,"height_visits":187,"visits_without_cycle":1,"visits_ambiguous_cycle":0,"conflicting_growth_sample_rows_excluded":0,"conflicting_environment_day_rows_excluded":0,"exact_seven_day_pairs":40,"pairs_with_prior_temperature_28d":40,"facilities":21,"temperature_days_28d_min":18,"temperature_days_28d_median":27,"temperature_days_28d_max":28,"height_unit":"mm","horizon_days":7},"cohort":{"pairs":40,"facilities":21,"horizon_days":7,"folds":5},"feature_groups":{"growth":["height_mm","leaf_count","leaf_length_mm","leaf_width_mm","crown_diameter_mm","day_of_year","days_after_planting","previous_visit_gap_days","previous_height_delta_mm"],"prior_environment":["temperature_c_7d_mean","temperature_c_7d_min","temperature_c_7d_max","temperature_c_7d_count","temperature_c_28d_mean","temperature_c_28d_min","temperature_c_28d_max","temperature_c_28d_count","humidity_pct_7d_mean","humidity_pct_7d_min","humidity_pct_7d_max","humidity_pct_7d_count","humidity_pct_28d_mean","humidity_pct_28d_min","humidity_pct_28d_max","humidity_pct_28d_count","co2_ppm_7d_mean","co2_ppm_7d_min","co2_ppm_7d_max","co2_ppm_7d_count","co2_ppm_28d_mean","co2_ppm_28d_min","co2_ppm_28d_max","co2_ppm_28d_count"]},"environment_units":{"temperature_c":"°C","humidity_pct":"%","co2_ppm":"ppm"},"feature_count":33,"models":[{"model":"current_height","mae_mm":36.079166666666666,"rmse_mm":45.92062142678627,"median_absolute_error_mm":24,"n_scored":40,"fold_mae_mm":{"0":56.479166666666664,"1":40.541666666666664,"2":27,"3":29.0625,"4":27.3125}},{"model":"catboost_growth","mae_mm":32.607384212432535,"rmse_mm":41.105035645802886,"median_absolute_error_mm":28.39139033868824,"n_scored":40,"fold_mae_mm":{"0":47.23733944884858,"1":38.53465288379644,"2":25.452962354706457,"3":31.739428428356398,"4":20.072537946454823}},{"model":"catboost_growth_environment","mae_mm":34.786178667408024,"rmse_mm":43.04013158412155,"median_absolute_error_mm":31.308795682006235,"n_scored":40,"fold_mae_mm":{"0":51.323939935841395,"1":39.08287110972536,"2":23.753829855866528,"3":30.986052368486874,"4":28.784200067119976}},{"model":"xgboost_growth_environment","mae_mm":34.589417345325145,"rmse_mm":42.29869377173107,"median_absolute_error_mm":28.7378511428833,"n_scored":40,"fold_mae_mm":{"0":48.82260195414225,"1":46.171511928240456,"2":18.749809935688972,"3":28.14502251148224,"4":31.05814039707184}}],"best_model":"catboost_growth","illustrative_holdout_examples":[{"group":1,"pairs":10,"current_height_mm_mean":233.5,"observed_next_height_mm_mean":284.1333333333333,"predicted_next_height_mm_mean":264.6519092482094},{"group":2,"pairs":10,"current_height_mm_mean":324.8,"observed_next_height_mm_mean":333.1833333333333,"predicted_next_height_mm_mean":340.070591957401},{"group":3,"pairs":10,"current_height_mm_mean":362.35,"observed_next_height_mm_mean":370.7,"predicted_next_height_mm_mean":368.39330199731836},{"group":4,"pairs":10,"current_height_mm_mean":402.5,"observed_next_height_mm_mean":384.15,"predicted_next_height_mm_mean":394.5818915074793}],"limitations":["정확히 7일 간격으로 관측된 방문 쌍만 평가한 소규모 후향 실험이다. 불규칙 방문 농가 전체를 대표하지 않는다.","같은 개체의 연속 성장량이 아닌 시설·방문별 관측 표본 평균 초장(mm)을 예측한다. 표본 구성이 달라질 수 있다.","환경 분석일자를 관측일의 대리값으로 사용했다. 실제 과거 수신 시각/지연은 없어 실시간 가용성을 입증하지 않는다.","온도·습도의 7/28일 최소·최대는 기간 내 일평균 값의 최소·최대이며 순간 최저·최고 온도가 아니다. CO₂는 분석일자별 농도 기록을 요약하며 원본의 하루 내 집계 방식은 명시되지 않았다.","일사량·외부온도·기상특보·태풍은 이 큐레이션 원본에 없어 누적 일사량, GDD 및 기상 예측은 만들지 않았다.","mm 원문 값을 유지하고 의심 값의 임의 단위 환산이나 이상치 제거를 하지 않았다.","시설 분리 교차검증은 미래 연도 검증이 아니다. 모델 선택과 성능 보고에 같은 OOF 평가를 사용해 별도 외부검증이 필요하다.","운영 중 보조 실험이며 도입 전 수확량·투자수익 모델에는 관측 환경/생육 값을 넣지 않는다."],"source_hashes":{"data/processed/strawberry_curation_growth.csv":"fa9c47868d3c96d142580b56ad2e90b3f3e2e4ce604f7351e037a4c96875cf6f","data/processed/strawberry_curation_environment.csv":"b7aa4ca2fb6d52e755816b1c6e20c7192a57c654b32ff0ae05c546123bbb550f","data/raw/smartfarm_curation_docs/Strawberry_Growth_Env_Shipping_Definition.hwp":"e86d0bc61eabce71890a8a7c406d0ee98102c6f37afa4687681eb3966ed64197","src/inseason_model.py":"c52aa8d098e6f9579047642c57ce5d68dbd2f4681051341302e15d9ff1303a2d","scripts/run_inseason_model.py":"df181d24a14b342d4834b268c12b84708295c241f1788d9f3ac35df602e1a360"},"private_oof_sha256":"80e2507cccd372cb986dfcc2662ad673df739cc4f3bd99cd393df7a656e67346","private_oof_rows_not_published":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실행 화면 http://127.0.0.1:8512/</a:t>
            </a:r>
          </a:p>
          <a:p xmlns:a="http://schemas.openxmlformats.org/drawingml/2006/main">
            <a:r>
              <a:t>https://github.com/jinuk0211/smartfarm-adoption</a:t>
            </a:r>
          </a:p>
          <a:p xmlns:a="http://schemas.openxmlformats.org/drawingml/2006/main">
            <a:r>
              <a:t>실제 실행 화면 캡처 C:/Users/tgc04/Desktop/insurance/workspace/smartfarm_adoption/artifacts/dashboard_preview/readability-results-wide.png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https://github.com/jinuk0211/smartfarm-adoption/blob/codex/initial-publish/reports/dsz_onsite_guide.md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https://github.com/jinuk0211/smartfarm-adoption/blob/codex/initial-publish/reports/rda_acquisition.md</a:t>
            </a:r>
          </a:p>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https://github.com/jinuk0211/smartfarm-adoption/blob/codex/initial-publish/reports/api_ready.md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https://github.com/jinuk0211/smartfarm-adoption/blob/codex/initial-publish/reports/kamis_acquisition.md</a:t>
            </a:r>
          </a:p>
          <a:p xmlns:a="http://schemas.openxmlformats.org/drawingml/2006/main">
            <a:r>
              <a:t>https://github.com/jinuk0211/smartfarm-adoption/blob/codex/initial-publish/reports/climate_normals_acquisition.md</a:t>
            </a:r>
          </a:p>
          <a:p xmlns:a="http://schemas.openxmlformats.org/drawingml/2006/main">
            <a:r>
              <a:t>https://github.com/jinuk0211/smartfarm-adoption/blob/codex/initial-publish/reports/equipment_catalog_notes.md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https://github.com/jinuk0211/smartfarm-adoption/blob/codex/initial-publish/reports/strawberry_curation_schema_audit.md</a:t>
            </a:r>
          </a:p>
          <a:p xmlns:a="http://schemas.openxmlformats.org/drawingml/2006/main">
            <a:r>
              <a:t>https://github.com/jinuk0211/smartfarm-adoption/blob/codex/initial-publish/reports/regional_curation_schema_audit.md</a:t>
            </a:r>
          </a:p>
          <a:p xmlns:a="http://schemas.openxmlformats.org/drawingml/2006/main">
            <a:r>
              <a:t>시설ID와 조사일의 유일한 작기 포함 관계를 사용. 지역별 매출 자료의 면적은 평·㎡ 정의 충돌로 입력에서 제외. 작기 총량을 연간 생산량으로 자동 대입하지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https://github.com/jinuk0211/smartfarm-adoption/blob/codex/initial-publish/reports/model_report.md</a:t>
            </a:r>
          </a:p>
          <a:p xmlns:a="http://schemas.openxmlformats.org/drawingml/2006/main">
            <a:r>
              <a:t>https://github.com/jinuk0211/smartfarm-adoption/blob/codex/initial-publish/reports/adp_timing_experiment.md</a:t>
            </a:r>
          </a:p>
          <a:p xmlns:a="http://schemas.openxmlformats.org/drawingml/2006/main">
            <a:r>
              <a:t>https://github.com/jinuk0211/smartfarm-adoption/blob/codex/initial-publish/reports/limix_experiment.md</a:t>
            </a:r>
          </a:p>
          <a:p xmlns:a="http://schemas.openxmlformats.org/drawingml/2006/main">
            <a:r>
              <a:t>RDA는 과거 중앙값, ADP는 품목·정식월 중앙값. LimiX는 400M 고정 가중치 실제 실행이며 미세조정하지 않음. ADP 목표는 실제 첫 수확일과 다를 수 있음. 농가 자료는 시설별5분할로 같은시설의작기를 같은분할에배치한다. 범주처리와중앙값은 학습자료만 사용한다. RDA는최근연도를보류하고 시계열가격은과거시점만사용한다. 모형선택용 평가와독립적인최종검증을구분한다.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https://github.com/jinuk0211/smartfarm-adoption/blob/codex/initial-publish/reports/curation_model_summary.md</a:t>
            </a:r>
          </a:p>
          <a:p xmlns:a="http://schemas.openxmlformats.org/drawingml/2006/main">
            <a:r>
              <a:t>https://github.com/jinuk0211/smartfarm-adoption/blob/codex/initial-publish/reports/curation_cross_source_anomalies.md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https://www.smartfarmkorea.net/company/equipmentInfo.do</a:t>
            </a:r>
          </a:p>
          <a:p xmlns:a="http://schemas.openxmlformats.org/drawingml/2006/main">
            <a:r>
              <a:t>https://github.com/jinuk0211/smartfarm-adoption/blob/codex/initial-publish/reports/equipment_source_check_2026-10-10.json</a:t>
            </a:r>
          </a:p>
          <a:p xmlns:a="http://schemas.openxmlformats.org/drawingml/2006/main">
            <a:r>
              <a:t>2026-10-10 공개 상세 5126,6337,6688.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artifacts/price_forecast_metrics.json, reports/price_forecast_notes.md</a:t>
            </a:r>
          </a:p>
          <a:p xmlns:a="http://schemas.openxmlformats.org/drawingml/2006/main">
            <a:r>
              <a:t>https://github.com/jinuk0211/smartfarm-adoption/blob/codex/initial-publish/reports/price_forecast_notes.md</a:t>
            </a:r>
          </a:p>
          <a:p xmlns:a="http://schemas.openxmlformats.org/drawingml/2006/main">
            <a:r>
              <a:t>12개 품목·품종·등급 시계열. 계절 최근값, 계절 중앙값, 계절 릿지 비교. 결측월을 0으로 채우지 않음. 평가 자료를 모형 선택에 쓰지 않음. 가중절대백분율오차 선택모형24.086%, 기준20.470%.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대구 기후는 1991~2020평년, 강수18.6mm. 미래 기상예보가 아님. 월별동일가중치는 선택월판매량동일 가정. 도매가격 수준을 농가수취가격으로 자동 대체하지 않고 상대변화만 명시적으로 전달. 2027년 검증 예측이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https://github.com/jinuk0211/smartfarm-adoption/blob/codex/initial-publish/reports/inseason_model_notes.md</a:t>
            </a:r>
          </a:p>
          <a:p xmlns:a="http://schemas.openxmlformats.org/drawingml/2006/main">
            <a:r>
              <a:t>{"study":"strawberry_observed_visit_height_7d","status":"actual_data_pilot_completed","generated_at":"2026-10-10T06:47:46.104846+00:00","target":"7일 뒤 시설·방문 관측 표본 평균 초장","target_unit":"mm","source_counts":{"growth_raw_rows":2529,"environment_raw_rows":9774,"height_raw_rows_mm":252,"height_visits":187,"visits_without_cycle":1,"visits_ambiguous_cycle":0,"conflicting_growth_sample_rows_excluded":0,"conflicting_environment_day_rows_excluded":0,"exact_seven_day_pairs":40,"pairs_with_prior_temperature_28d":40,"facilities":21,"temperature_days_28d_min":18,"temperature_days_28d_median":27,"temperature_days_28d_max":28,"height_unit":"mm","horizon_days":7},"cohort":{"pairs":40,"facilities":21,"horizon_days":7,"folds":5},"feature_groups":{"growth":["height_mm","leaf_count","leaf_length_mm","leaf_width_mm","crown_diameter_mm","day_of_year","days_after_planting","previous_visit_gap_days","previous_height_delta_mm"],"prior_environment":["temperature_c_7d_mean","temperature_c_7d_min","temperature_c_7d_max","temperature_c_7d_count","temperature_c_28d_mean","temperature_c_28d_min","temperature_c_28d_max","temperature_c_28d_count","humidity_pct_7d_mean","humidity_pct_7d_min","humidity_pct_7d_max","humidity_pct_7d_count","humidity_pct_28d_mean","humidity_pct_28d_min","humidity_pct_28d_max","humidity_pct_28d_count","co2_ppm_7d_mean","co2_ppm_7d_min","co2_ppm_7d_max","co2_ppm_7d_count","co2_ppm_28d_mean","co2_ppm_28d_min","co2_ppm_28d_max","co2_ppm_28d_count"]},"environment_units":{"temperature_c":"°C","humidity_pct":"%","co2_ppm":"ppm"},"feature_count":33,"models":[{"model":"current_height","mae_mm":36.079166666666666,"rmse_mm":45.92062142678627,"median_absolute_error_mm":24,"n_scored":40,"fold_mae_mm":{"0":56.479166666666664,"1":40.541666666666664,"2":27,"3":29.0625,"4":27.3125}},{"model":"catboost_growth","mae_mm":32.607384212432535,"rmse_mm":41.105035645802886,"median_absolute_error_mm":28.39139033868824,"n_scored":40,"fold_mae_mm":{"0":47.23733944884858,"1":38.53465288379644,"2":25.452962354706457,"3":31.739428428356398,"4":20.072537946454823}},{"model":"catboost_growth_environment","mae_mm":34.786178667408024,"rmse_mm":43.04013158412155,"median_absolute_error_mm":31.308795682006235,"n_scored":40,"fold_mae_mm":{"0":51.323939935841395,"1":39.08287110972536,"2":23.753829855866528,"3":30.986052368486874,"4":28.784200067119976}},{"model":"xgboost_growth_environment","mae_mm":34.589417345325145,"rmse_mm":42.29869377173107,"median_absolute_error_mm":28.7378511428833,"n_scored":40,"fold_mae_mm":{"0":48.82260195414225,"1":46.171511928240456,"2":18.749809935688972,"3":28.14502251148224,"4":31.05814039707184}}],"best_model":"catboost_growth","illustrative_holdout_examples":[{"group":1,"pairs":10,"current_height_mm_mean":233.5,"observed_next_height_mm_mean":284.1333333333333,"predicted_next_height_mm_mean":264.6519092482094},{"group":2,"pairs":10,"current_height_mm_mean":324.8,"observed_next_height_mm_mean":333.1833333333333,"predicted_next_height_mm_mean":340.070591957401},{"group":3,"pairs":10,"current_height_mm_mean":362.35,"observed_next_height_mm_mean":370.7,"predicted_next_height_mm_mean":368.39330199731836},{"group":4,"pairs":10,"current_height_mm_mean":402.5,"observed_next_height_mm_mean":384.15,"predicted_next_height_mm_mean":394.5818915074793}],"limitations":["정확히 7일 간격으로 관측된 방문 쌍만 평가한 소규모 후향 실험이다. 불규칙 방문 농가 전체를 대표하지 않는다.","같은 개체의 연속 성장량이 아닌 시설·방문별 관측 표본 평균 초장(mm)을 예측한다. 표본 구성이 달라질 수 있다.","환경 분석일자를 관측일의 대리값으로 사용했다. 실제 과거 수신 시각/지연은 없어 실시간 가용성을 입증하지 않는다.","온도·습도의 7/28일 최소·최대는 기간 내 일평균 값의 최소·최대이며 순간 최저·최고 온도가 아니다. CO₂는 분석일자별 농도 기록을 요약하며 원본의 하루 내 집계 방식은 명시되지 않았다.","일사량·외부온도·기상특보·태풍은 이 큐레이션 원본에 없어 누적 일사량, GDD 및 기상 예측은 만들지 않았다.","mm 원문 값을 유지하고 의심 값의 임의 단위 환산이나 이상치 제거를 하지 않았다.","시설 분리 교차검증은 미래 연도 검증이 아니다. 모델 선택과 성능 보고에 같은 OOF 평가를 사용해 별도 외부검증이 필요하다.","운영 중 보조 실험이며 도입 전 수확량·투자수익 모델에는 관측 환경/생육 값을 넣지 않는다."],"source_hashes":{"data/processed/strawberry_curation_growth.csv":"fa9c47868d3c96d142580b56ad2e90b3f3e2e4ce604f7351e037a4c96875cf6f","data/processed/strawberry_curation_environment.csv":"b7aa4ca2fb6d52e755816b1c6e20c7192a57c654b32ff0ae05c546123bbb550f","data/raw/smartfarm_curation_docs/Strawberry_Growth_Env_Shipping_Definition.hwp":"e86d0bc61eabce71890a8a7c406d0ee98102c6f37afa4687681eb3966ed64197","src/inseason_model.py":"c52aa8d098e6f9579047642c57ce5d68dbd2f4681051341302e15d9ff1303a2d","scripts/run_inseason_model.py":"df181d24a14b342d4834b268c12b84708295c241f1788d9f3ac35df602e1a360"},"private_oof_sha256":"80e2507cccd372cb986dfcc2662ad673df739cc4f3bd99cd393df7a656e67346","private_oof_rows_not_published":true}</a:t>
            </a:r>
          </a:p>
          <a:p xmlns:a="http://schemas.openxmlformats.org/drawingml/2006/main">
            <a:r>
              <a:t>본편 비교의 생육만 및 생육+환경①은 CatBoost, 생육+환경②는 XGBoost이다. 온도와습도는원천 일평균값이고 CO₂는분석일자별ppm으로일중집계정의가명시되지않았다. 정확히7일간격인21시설40쌍을시설별5분할했다.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https://github.com/jinuk0211/smartfarm-adoption/blob/codex/initial-publish/reports/dsz_model_method.md</a:t>
            </a:r>
          </a:p>
          <a:p xmlns:a="http://schemas.openxmlformats.org/drawingml/2006/main">
            <a:r>
              <a:t>https://github.com/jinuk0211/smartfarm-adoption/blob/codex/initial-publish/reports/dsz_schema_contract.md</a:t>
            </a:r>
          </a:p>
          <a:p xmlns:a="http://schemas.openxmlformats.org/drawingml/2006/main">
            <a:r>
              <a:t>https://github.com/jinuk0211/smartfarm-adoption/blob/codex/initial-publish/reports/dsz_onsite_guide.md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https://github.com/jinuk0211/smartfarm-adoption/blob/codex/initial-publish/reports/api_record_semantics.md</a:t>
            </a:r>
          </a:p>
          <a:p xmlns:a="http://schemas.openxmlformats.org/drawingml/2006/main">
            <a:r>
              <a:t>https://github.com/jinuk0211/smartfarm-adoption/blob/codex/initial-publish/reports/curation_cross_source_anomalies.md</a:t>
            </a:r>
          </a:p>
          <a:p xmlns:a="http://schemas.openxmlformats.org/drawingml/2006/main">
            <a:r>
              <a:t>https://github.com/jinuk0211/smartfarm-adoption/blob/codex/initial-publish/reports/equipment_catalog_notes.md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6a410e5c0f840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ed941c4aef4c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110792a405d40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460b229dc9d4c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e7e6b483424451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4dbd91cfaf42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A6EE83-5ED6-4340-ABB3-748AAEE4FD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96BE2DE-FB5E-4941-9E36-E82780156AA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B7BEB39-F24B-4E57-89B7-D9F2CDF1B1F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7BE543-EC9A-4DD4-9E31-7F6114DC608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BBE86B2-762D-4A07-82C8-BE1B196F95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84AD7E5-DCCB-4044-B464-DBB47AD1451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83093DC-A987-4567-8F61-DFCED7A69F7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95F8322-D43C-45EA-9A64-FC9C4A085E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7E4F8D-A360-46E1-9A30-E0608715DE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D09722E-D157-4E85-B91D-EA5A38BCA34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1ab6c898bc45e5" /><Relationship Type="http://schemas.openxmlformats.org/officeDocument/2006/relationships/slideLayout" Target="/ppt/slideLayouts/slideLayout1.xml" Id="R5ecd94bee183495c" /><Relationship Type="http://schemas.openxmlformats.org/officeDocument/2006/relationships/slideLayout" Target="/ppt/slideLayouts/slideLayout2.xml" Id="R6d0931570e064dfe" /><Relationship Type="http://schemas.openxmlformats.org/officeDocument/2006/relationships/slideLayout" Target="/ppt/slideLayouts/slideLayout3.xml" Id="Rcd21223a4f594721" /><Relationship Type="http://schemas.openxmlformats.org/officeDocument/2006/relationships/slideLayout" Target="/ppt/slideLayouts/slideLayout4.xml" Id="Rae3e54281dd84070" /><Relationship Type="http://schemas.openxmlformats.org/officeDocument/2006/relationships/slideLayout" Target="/ppt/slideLayouts/slideLayout5.xml" Id="R82a7392ba2b640ea" /><Relationship Type="http://schemas.openxmlformats.org/officeDocument/2006/relationships/slideLayout" Target="/ppt/slideLayouts/slideLayout6.xml" Id="R680e3176216a450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cd94bee183495c"/>
    <p:sldLayoutId xmlns:r="http://schemas.openxmlformats.org/officeDocument/2006/relationships" id="2147483650" r:id="R6d0931570e064dfe"/>
    <p:sldLayoutId xmlns:r="http://schemas.openxmlformats.org/officeDocument/2006/relationships" id="2147483651" r:id="Rcd21223a4f594721"/>
    <p:sldLayoutId xmlns:r="http://schemas.openxmlformats.org/officeDocument/2006/relationships" id="2147483652" r:id="Rae3e54281dd84070"/>
    <p:sldLayoutId xmlns:r="http://schemas.openxmlformats.org/officeDocument/2006/relationships" id="2147483653" r:id="R82a7392ba2b640ea"/>
    <p:sldLayoutId xmlns:r="http://schemas.openxmlformats.org/officeDocument/2006/relationships" id="2147483654" r:id="R680e3176216a450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62bfcb1241a4474" /><Relationship Type="http://schemas.openxmlformats.org/officeDocument/2006/relationships/image" Target="/ppt/media/image.png" Id="Re3caca6be7b44320" /><Relationship Type="http://schemas.openxmlformats.org/officeDocument/2006/relationships/notesSlide" Target="/ppt/notesSlides/notesSlide1.xml" Id="R1685e2b02a174a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7e821550b01445d" /><Relationship Type="http://schemas.openxmlformats.org/officeDocument/2006/relationships/notesSlide" Target="/ppt/notesSlides/notesSlide2.xml" Id="R714f0a8ca0534e2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afbc397770e4dc5" /><Relationship Type="http://schemas.openxmlformats.org/officeDocument/2006/relationships/notesSlide" Target="/ppt/notesSlides/notesSlide3.xml" Id="R707dbd38d9c14e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3c0392e19a34127" /><Relationship Type="http://schemas.openxmlformats.org/officeDocument/2006/relationships/notesSlide" Target="/ppt/notesSlides/notesSlide4.xml" Id="Ra82f8c79a18544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4e63917d047469e" /><Relationship Type="http://schemas.openxmlformats.org/officeDocument/2006/relationships/notesSlide" Target="/ppt/notesSlides/notesSlide5.xml" Id="R903c9cef81c442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df14a9498641a4" /><Relationship Type="http://schemas.openxmlformats.org/officeDocument/2006/relationships/notesSlide" Target="/ppt/notesSlides/notesSlide6.xml" Id="R2c7072c918b041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6e2f81c6fe34664" /><Relationship Type="http://schemas.openxmlformats.org/officeDocument/2006/relationships/chart" Target="/ppt/slides/charts/chart1.xml" Id="R71525eee3e0e4821" /><Relationship Type="http://schemas.openxmlformats.org/officeDocument/2006/relationships/notesSlide" Target="/ppt/notesSlides/notesSlide7.xml" Id="Rcb932cc3f22a4a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725706b9f934f5f" /><Relationship Type="http://schemas.openxmlformats.org/officeDocument/2006/relationships/notesSlide" Target="/ppt/notesSlides/notesSlide8.xml" Id="Rc800670bb11143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20ef4b9fa0b4dec" /><Relationship Type="http://schemas.openxmlformats.org/officeDocument/2006/relationships/chart" Target="/ppt/slides/charts/chart2.xml" Id="Raf5af94a57cd4428" /><Relationship Type="http://schemas.openxmlformats.org/officeDocument/2006/relationships/notesSlide" Target="/ppt/notesSlides/notesSlide9.xml" Id="R6df13b55af1e4b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9ce9d5ca8c3449e" /><Relationship Type="http://schemas.openxmlformats.org/officeDocument/2006/relationships/notesSlide" Target="/ppt/notesSlides/notesSlide10.xml" Id="Rfc6dfe2bf4db4f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e13ee99d19341cd" /><Relationship Type="http://schemas.openxmlformats.org/officeDocument/2006/relationships/notesSlide" Target="/ppt/notesSlides/notesSlide11.xml" Id="R5557d20aa7c84f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7b09afb975c42bd" /><Relationship Type="http://schemas.openxmlformats.org/officeDocument/2006/relationships/chart" Target="/ppt/slides/charts/chart3.xml" Id="Raedcffc51d8649ee" /><Relationship Type="http://schemas.openxmlformats.org/officeDocument/2006/relationships/notesSlide" Target="/ppt/notesSlides/notesSlide12.xml" Id="R13986e3a1e894b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6f8ef3ff530430e" /><Relationship Type="http://schemas.openxmlformats.org/officeDocument/2006/relationships/image" Target="/ppt/media/image2.png" Id="R86a1884d628a4f2f" /><Relationship Type="http://schemas.openxmlformats.org/officeDocument/2006/relationships/notesSlide" Target="/ppt/notesSlides/notesSlide13.xml" Id="R7cca991517b04b7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60de66a3a04dad" /><Relationship Type="http://schemas.openxmlformats.org/officeDocument/2006/relationships/notesSlide" Target="/ppt/notesSlides/notesSlide14.xml" Id="R862091f7db824f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55d0452322a4834" /><Relationship Type="http://schemas.openxmlformats.org/officeDocument/2006/relationships/notesSlide" Target="/ppt/notesSlides/notesSlide15.xml" Id="R9ddf174f44954b2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82f316609ba40c5" /><Relationship Type="http://schemas.openxmlformats.org/officeDocument/2006/relationships/notesSlide" Target="/ppt/notesSlides/notesSlide16.xml" Id="Rbdd3e83afa624e4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10ba4e5a57c42ca" /><Relationship Type="http://schemas.openxmlformats.org/officeDocument/2006/relationships/notesSlide" Target="/ppt/notesSlides/notesSlide17.xml" Id="R31de61651dd748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1bec1c0c68043ed" /><Relationship Type="http://schemas.openxmlformats.org/officeDocument/2006/relationships/notesSlide" Target="/ppt/notesSlides/notesSlide18.xml" Id="Re2cdb8ec22a74f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94a35665f4148d2" /><Relationship Type="http://schemas.openxmlformats.org/officeDocument/2006/relationships/notesSlide" Target="/ppt/notesSlides/notesSlide19.xml" Id="Rbccb5ec4704d444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da99db986c04cb6" /><Relationship Type="http://schemas.openxmlformats.org/officeDocument/2006/relationships/notesSlide" Target="/ppt/notesSlides/notesSlide20.xml" Id="Rfa037912400c46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1d6a3cfc78841cd" /><Relationship Type="http://schemas.openxmlformats.org/officeDocument/2006/relationships/notesSlide" Target="/ppt/notesSlides/notesSlide21.xml" Id="R2e117cf025f6486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eb0e62f989e4505" /><Relationship Type="http://schemas.openxmlformats.org/officeDocument/2006/relationships/notesSlide" Target="/ppt/notesSlides/notesSlide22.xml" Id="R32523e166ca347c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cf2442ab7c84a55" /><Relationship Type="http://schemas.openxmlformats.org/officeDocument/2006/relationships/notesSlide" Target="/ppt/notesSlides/notesSlide23.xml" Id="R1ef81faa6cd243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755668f17584c12" /><Relationship Type="http://schemas.openxmlformats.org/officeDocument/2006/relationships/notesSlide" Target="/ppt/notesSlides/notesSlide24.xml" Id="R223e856c04cc425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03a87d56d0a49b0" /><Relationship Type="http://schemas.openxmlformats.org/officeDocument/2006/relationships/notesSlide" Target="/ppt/notesSlides/notesSlide25.xml" Id="R0b4430ed0fe04f7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f15b01efe6a4011" /><Relationship Type="http://schemas.openxmlformats.org/officeDocument/2006/relationships/notesSlide" Target="/ppt/notesSlides/notesSlide26.xml" Id="Ra482d292303f4cf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6ebb702749447ba" /><Relationship Type="http://schemas.openxmlformats.org/officeDocument/2006/relationships/notesSlide" Target="/ppt/notesSlides/notesSlide27.xml" Id="R0307556205e34ad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3e3a3f4f71649fb" /><Relationship Type="http://schemas.openxmlformats.org/officeDocument/2006/relationships/notesSlide" Target="/ppt/notesSlides/notesSlide28.xml" Id="Rf5ef07751eb6471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기준</c:v>
          </c:tx>
          <c:spPr>
            <a:ln xmlns:a="http://schemas.openxmlformats.org/drawingml/2006/main" w="28575">
              <a:solidFill>
                <a:srgbClr val="15734C"/>
              </a:solidFill>
              <a:prstDash val="solid"/>
            </a:ln>
          </c:spPr>
          <c:marker>
            <c:symbol val="none"/>
          </c:marker>
          <c:cat>
            <c:strRef>
              <c:f>'Chart Data'!$A$2:$A$7</c:f>
              <c:strCache>
                <c:ptCount val="6"/>
                <c:pt idx="0">
                  <c:v>0년</c:v>
                </c:pt>
                <c:pt idx="1">
                  <c:v>2년</c:v>
                </c:pt>
                <c:pt idx="2">
                  <c:v>4년</c:v>
                </c:pt>
                <c:pt idx="3">
                  <c:v>6년</c:v>
                </c:pt>
                <c:pt idx="4">
                  <c:v>8년</c:v>
                </c:pt>
                <c:pt idx="5">
                  <c:v>10년</c:v>
                </c:pt>
              </c:strCache>
            </c:strRef>
          </c:cat>
          <c:val>
            <c:numRef>
              <c:f>'Chart Data'!$B$2:$B$7</c:f>
              <c:numCache>
                <c:formatCode>#,##0</c:formatCode>
                <c:ptCount val="6"/>
                <c:pt idx="0">
                  <c:v>-11253.03</c:v>
                </c:pt>
                <c:pt idx="1">
                  <c:v>-7182.06</c:v>
                </c:pt>
                <c:pt idx="2">
                  <c:v>-3111.09</c:v>
                </c:pt>
                <c:pt idx="3">
                  <c:v>959.89</c:v>
                </c:pt>
                <c:pt idx="4">
                  <c:v>5030.86</c:v>
                </c:pt>
                <c:pt idx="5">
                  <c:v>9101.83</c:v>
                </c:pt>
              </c:numCache>
            </c:numRef>
          </c:val>
        </c:ser>
        <c:dLbls>
          <c:txPr>
            <a:bodyPr xmlns:a="http://schemas.openxmlformats.org/drawingml/2006/main" anchorCtr="1"/>
            <a:lstStyle xmlns:a="http://schemas.openxmlformats.org/drawingml/2006/main"/>
            <a:p xmlns:a="http://schemas.openxmlformats.org/drawingml/2006/main">
              <a:pPr>
                <a:defRPr>
                  <a:latin typeface="Malgun Gothic"/>
                  <a:ea typeface="Malgun Gothic"/>
                  <a:cs typeface="Malgun Gothic"/>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63D30"/>
                </a:solidFill>
                <a:latin typeface="Malgun Gothic"/>
                <a:ea typeface="Malgun Gothic"/>
                <a:cs typeface="Malgun Gothic"/>
              </a:defRPr>
            </a:pPr>
          </a:p>
        </c:txPr>
        <c:crossAx val="48672768"/>
      </c:catAx>
      <c:valAx>
        <c:axId val="48672768"/>
        <c:scaling>
          <c:orientation val="minMax"/>
        </c:scaling>
        <c:delete val="0"/>
        <c:axPos val="l"/>
        <c:majorGridlines>
          <c:spPr>
            <a:ln xmlns:a="http://schemas.openxmlformats.org/drawingml/2006/main" w="9525">
              <a:solidFill>
                <a:srgbClr val="D6DACE"/>
              </a:solidFill>
            </a:ln>
          </c:spPr>
        </c:majorGridlines>
        <c:title>
          <c:tx>
            <c:rich>
              <a:bodyPr xmlns:a="http://schemas.openxmlformats.org/drawingml/2006/main"/>
              <a:lstStyle xmlns:a="http://schemas.openxmlformats.org/drawingml/2006/main"/>
              <a:p xmlns:a="http://schemas.openxmlformats.org/drawingml/2006/main">
                <a:r>
                  <a:rPr>
                    <a:latin typeface="Malgun Gothic"/>
                    <a:ea typeface="Malgun Gothic"/>
                    <a:cs typeface="Malgun Gothic"/>
                  </a:rPr>
                  <a:t>누적 현금 (만원)</a:t>
                </a:r>
              </a:p>
            </c:rich>
          </c:tx>
          <c:overlay val="0"/>
          <c:txPr>
            <a:bodyPr xmlns:a="http://schemas.openxmlformats.org/drawingml/2006/main" anchorCtr="1"/>
            <a:lstStyle xmlns:a="http://schemas.openxmlformats.org/drawingml/2006/main"/>
            <a:p xmlns:a="http://schemas.openxmlformats.org/drawingml/2006/main">
              <a:pPr>
                <a:defRPr>
                  <a:latin typeface="Malgun Gothic"/>
                  <a:ea typeface="Malgun Gothic"/>
                  <a:cs typeface="Malgun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A61"/>
                </a:solidFill>
                <a:latin typeface="Malgun Gothic"/>
                <a:ea typeface="Malgun Gothic"/>
                <a:cs typeface="Malgun Gothic"/>
              </a:defRPr>
            </a:pPr>
          </a:p>
        </c:txPr>
        <c:crossAx val="48650112"/>
        <c:crossBetween val="between"/>
      </c:valAx>
      <c:spPr>
        <a:solidFill xmlns:a="http://schemas.openxmlformats.org/drawingml/2006/main">
          <a:srgbClr val="F6F3EB"/>
        </a:solidFill>
      </c:spPr>
    </c:plotArea>
    <c:plotVisOnly val="1"/>
  </c:chart>
  <c:spPr>
    <a:solidFill xmlns:a="http://schemas.openxmlformats.org/drawingml/2006/main">
      <a:srgbClr val="F6F3EB"/>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연소득 (만원)</c:v>
          </c:tx>
          <c:spPr>
            <a:solidFill xmlns:a="http://schemas.openxmlformats.org/drawingml/2006/main">
              <a:srgbClr val="247B56"/>
            </a:solidFill>
          </c:spPr>
          <c:cat>
            <c:strRef>
              <c:f>'Chart Data'!$A$2:$A$4</c:f>
              <c:strCache>
                <c:ptCount val="3"/>
                <c:pt idx="0">
                  <c:v>기준 조건</c:v>
                </c:pt>
                <c:pt idx="1">
                  <c:v>가격 +8.6% 가정</c:v>
                </c:pt>
                <c:pt idx="2">
                  <c:v>가격 상승 + 저온 가정</c:v>
                </c:pt>
              </c:strCache>
            </c:strRef>
          </c:cat>
          <c:val>
            <c:numRef>
              <c:f>'Chart Data'!$B$2:$B$4</c:f>
              <c:numCache>
                <c:formatCode>#,##0</c:formatCode>
                <c:ptCount val="3"/>
                <c:pt idx="0">
                  <c:v>346.6801</c:v>
                </c:pt>
                <c:pt idx="1">
                  <c:v>659.2322</c:v>
                </c:pt>
                <c:pt idx="2">
                  <c:v>24.5992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a:solidFill>
                    <a:srgbClr val="163D30"/>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025">
                <a:solidFill>
                  <a:srgbClr val="163D30"/>
                </a:solidFill>
                <a:latin typeface="Malgun Gothic"/>
                <a:ea typeface="Malgun Gothic"/>
                <a:cs typeface="Malgun Gothic"/>
              </a:defRPr>
            </a:pPr>
          </a:p>
        </c:txPr>
        <c:crossAx val="48672768"/>
      </c:catAx>
      <c:valAx>
        <c:axId val="48672768"/>
        <c:scaling>
          <c:orientation val="minMax"/>
          <c:min val="0"/>
        </c:scaling>
        <c:delete val="0"/>
        <c:axPos val="l"/>
        <c:majorGridlines>
          <c:spPr>
            <a:ln xmlns:a="http://schemas.openxmlformats.org/drawingml/2006/main" w="9525">
              <a:solidFill>
                <a:srgbClr val="D6DAC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A61"/>
                </a:solidFill>
                <a:latin typeface="Malgun Gothic"/>
                <a:ea typeface="Malgun Gothic"/>
                <a:cs typeface="Malgun Gothic"/>
              </a:defRPr>
            </a:pPr>
          </a:p>
        </c:txPr>
        <c:crossAx val="48650112"/>
        <c:crossBetween val="between"/>
      </c:valAx>
      <c:spPr>
        <a:solidFill xmlns:a="http://schemas.openxmlformats.org/drawingml/2006/main">
          <a:srgbClr val="F6F3EB"/>
        </a:solidFill>
      </c:spPr>
    </c:plotArea>
    <c:plotVisOnly val="1"/>
  </c:chart>
  <c:spPr>
    <a:solidFill xmlns:a="http://schemas.openxmlformats.org/drawingml/2006/main">
      <a:srgbClr val="F6F3EB"/>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평균 예측 오차 (mm)</c:v>
          </c:tx>
          <c:spPr>
            <a:solidFill xmlns:a="http://schemas.openxmlformats.org/drawingml/2006/main">
              <a:srgbClr val="247B56"/>
            </a:solidFill>
          </c:spPr>
          <c:cat>
            <c:strRef>
              <c:f>'Chart Data'!$A$2:$A$5</c:f>
              <c:strCache>
                <c:ptCount val="4"/>
                <c:pt idx="0">
                  <c:v>현재 높이 유지</c:v>
                </c:pt>
                <c:pt idx="1">
                  <c:v>생육 기록만</c:v>
                </c:pt>
                <c:pt idx="2">
                  <c:v>생육 + 환경 ①</c:v>
                </c:pt>
                <c:pt idx="3">
                  <c:v>생육 + 환경 ②</c:v>
                </c:pt>
              </c:strCache>
            </c:strRef>
          </c:cat>
          <c:val>
            <c:numRef>
              <c:f>'Chart Data'!$B$2:$B$5</c:f>
              <c:numCache>
                <c:formatCode>#,##0</c:formatCode>
                <c:ptCount val="4"/>
                <c:pt idx="0">
                  <c:v>36.08</c:v>
                </c:pt>
                <c:pt idx="1">
                  <c:v>32.61</c:v>
                </c:pt>
                <c:pt idx="2">
                  <c:v>34.79</c:v>
                </c:pt>
                <c:pt idx="3">
                  <c:v>34.59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a:solidFill>
                    <a:srgbClr val="163D30"/>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63D30"/>
                </a:solidFill>
                <a:latin typeface="Malgun Gothic"/>
                <a:ea typeface="Malgun Gothic"/>
                <a:cs typeface="Malgun Gothic"/>
              </a:defRPr>
            </a:pPr>
          </a:p>
        </c:txPr>
        <c:crossAx val="48672768"/>
      </c:catAx>
      <c:valAx>
        <c:axId val="48672768"/>
        <c:scaling>
          <c:orientation val="minMax"/>
          <c:min val="0"/>
        </c:scaling>
        <c:delete val="0"/>
        <c:axPos val="l"/>
        <c:majorGridlines>
          <c:spPr>
            <a:ln xmlns:a="http://schemas.openxmlformats.org/drawingml/2006/main" w="9525">
              <a:solidFill>
                <a:srgbClr val="D6DAC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A61"/>
                </a:solidFill>
                <a:latin typeface="Malgun Gothic"/>
                <a:ea typeface="Malgun Gothic"/>
                <a:cs typeface="Malgun Gothic"/>
              </a:defRPr>
            </a:pPr>
          </a:p>
        </c:txPr>
        <c:crossAx val="48650112"/>
        <c:crossBetween val="between"/>
      </c:valAx>
      <c:spPr>
        <a:solidFill xmlns:a="http://schemas.openxmlformats.org/drawingml/2006/main">
          <a:srgbClr val="F6F3EB"/>
        </a:solidFill>
      </c:spPr>
    </c:plotArea>
    <c:plotVisOnly val="1"/>
  </c:chart>
  <c:spPr>
    <a:solidFill xmlns:a="http://schemas.openxmlformats.org/drawingml/2006/main">
      <a:srgbClr val="F6F3EB"/>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CBDCE543-0015-4D70-BDB5-0F0B94124338}"/>
              </a:ext>
            </a:extLst>
          </p:cNvPr>
          <p:cNvPicPr>
            <a:picLocks xmlns:a="http://schemas.openxmlformats.org/drawingml/2006/main" noChangeAspect="1"/>
          </p:cNvPicPr>
          <p:nvPr/>
        </p:nvPicPr>
        <p:blipFill>
          <a:blip xmlns:r="http://schemas.openxmlformats.org/officeDocument/2006/relationships" xmlns:a="http://schemas.openxmlformats.org/drawingml/2006/main" r:embed="Re3caca6be7b4432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스마트팜 도입&#10;얼마가 남을까">
            <a:extLst xmlns:a="http://schemas.openxmlformats.org/drawingml/2006/main">
              <a:ext uri="{FF2B5EF4-FFF2-40B4-BE49-F238E27FC236}">
                <a16:creationId xmlns:a16="http://schemas.microsoft.com/office/drawing/2014/main" id="{C457CEDA-D44C-48ED-B5F0-15220FCEC1D9}"/>
              </a:ext>
            </a:extLst>
          </p:cNvPr>
          <p:cNvSpPr>
            <a:spLocks xmlns:a="http://schemas.openxmlformats.org/drawingml/2006/main" noGrp="1"/>
          </p:cNvSpPr>
          <p:nvPr/>
        </p:nvSpPr>
        <p:spPr>
          <a:xfrm xmlns:a="http://schemas.openxmlformats.org/drawingml/2006/main">
            <a:off x="685800" y="1133475"/>
            <a:ext cx="64770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1">
                <a:solidFill>
                  <a:srgbClr val="163D30"/>
                </a:solidFill>
                <a:latin typeface="Malgun Gothic"/>
                <a:ea typeface="Malgun Gothic"/>
                <a:cs typeface="Malgun Gothic"/>
              </a:defRPr>
            </a:defPPr>
          </a:lstStyle>
          <a:p xmlns:a="http://schemas.openxmlformats.org/drawingml/2006/main">
            <a:pPr algn="l">
              <a:defRPr sz="4950" b="1">
                <a:solidFill>
                  <a:srgbClr val="163D30"/>
                </a:solidFill>
                <a:latin typeface="Malgun Gothic"/>
                <a:ea typeface="Malgun Gothic"/>
                <a:cs typeface="Malgun Gothic"/>
              </a:defRPr>
            </a:pPr>
            <a:r>
              <a:rPr sz="4950" b="1">
                <a:solidFill>
                  <a:srgbClr val="163D30"/>
                </a:solidFill>
                <a:latin typeface="Malgun Gothic"/>
                <a:ea typeface="Malgun Gothic"/>
                <a:cs typeface="Malgun Gothic"/>
              </a:rPr>
              <a:t>스마트팜 도입</a:t>
            </a:r>
          </a:p>
          <a:p xmlns:a="http://schemas.openxmlformats.org/drawingml/2006/main">
            <a:pPr algn="l">
              <a:defRPr sz="4950" b="1">
                <a:solidFill>
                  <a:srgbClr val="163D30"/>
                </a:solidFill>
                <a:latin typeface="Malgun Gothic"/>
                <a:ea typeface="Malgun Gothic"/>
                <a:cs typeface="Malgun Gothic"/>
              </a:defRPr>
            </a:pPr>
            <a:r>
              <a:rPr sz="4950" b="1">
                <a:solidFill>
                  <a:srgbClr val="163D30"/>
                </a:solidFill>
                <a:latin typeface="Malgun Gothic"/>
                <a:ea typeface="Malgun Gothic"/>
                <a:cs typeface="Malgun Gothic"/>
              </a:rPr>
              <a:t>얼마가 남을까</a:t>
            </a:r>
          </a:p>
        </p:txBody>
      </p:sp>
      <p:sp>
        <p:nvSpPr>
          <p:cNvPr id="3" name="딸기 농가의 생산·설비·비용을&#10;함께 비교하는 계획 도구">
            <a:extLst xmlns:a="http://schemas.openxmlformats.org/drawingml/2006/main">
              <a:ext uri="{FF2B5EF4-FFF2-40B4-BE49-F238E27FC236}">
                <a16:creationId xmlns:a16="http://schemas.microsoft.com/office/drawing/2014/main" id="{E8039AD4-0D0E-42BD-AE3F-23EB08295929}"/>
              </a:ext>
            </a:extLst>
          </p:cNvPr>
          <p:cNvSpPr>
            <a:spLocks xmlns:a="http://schemas.openxmlformats.org/drawingml/2006/main" noGrp="1"/>
          </p:cNvSpPr>
          <p:nvPr/>
        </p:nvSpPr>
        <p:spPr>
          <a:xfrm xmlns:a="http://schemas.openxmlformats.org/drawingml/2006/main">
            <a:off x="742950" y="3581400"/>
            <a:ext cx="6477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163D30"/>
                </a:solidFill>
                <a:latin typeface="Malgun Gothic"/>
                <a:ea typeface="Malgun Gothic"/>
                <a:cs typeface="Malgun Gothic"/>
              </a:defRPr>
            </a:defPPr>
          </a:lstStyle>
          <a:p xmlns:a="http://schemas.openxmlformats.org/drawingml/2006/main">
            <a:pPr algn="l">
              <a:defRPr sz="2475" b="0">
                <a:solidFill>
                  <a:srgbClr val="163D30"/>
                </a:solidFill>
                <a:latin typeface="Malgun Gothic"/>
                <a:ea typeface="Malgun Gothic"/>
                <a:cs typeface="Malgun Gothic"/>
              </a:defRPr>
            </a:pPr>
            <a:r>
              <a:rPr sz="2475" b="0">
                <a:solidFill>
                  <a:srgbClr val="163D30"/>
                </a:solidFill>
                <a:latin typeface="Malgun Gothic"/>
                <a:ea typeface="Malgun Gothic"/>
                <a:cs typeface="Malgun Gothic"/>
              </a:rPr>
              <a:t>딸기 농가의 생산·설비·비용을</a:t>
            </a:r>
          </a:p>
          <a:p xmlns:a="http://schemas.openxmlformats.org/drawingml/2006/main">
            <a:pPr algn="l">
              <a:defRPr sz="2475" b="0">
                <a:solidFill>
                  <a:srgbClr val="163D30"/>
                </a:solidFill>
                <a:latin typeface="Malgun Gothic"/>
                <a:ea typeface="Malgun Gothic"/>
                <a:cs typeface="Malgun Gothic"/>
              </a:defRPr>
            </a:pPr>
            <a:r>
              <a:rPr sz="2475" b="0">
                <a:solidFill>
                  <a:srgbClr val="163D30"/>
                </a:solidFill>
                <a:latin typeface="Malgun Gothic"/>
                <a:ea typeface="Malgun Gothic"/>
                <a:cs typeface="Malgun Gothic"/>
              </a:rPr>
              <a:t>함께 비교하는 계획 도구</a:t>
            </a:r>
          </a:p>
        </p:txBody>
      </p:sp>
      <p:sp>
        <p:nvSpPr>
          <p:cNvPr id="4" name="공개자료 실험과 안심구역 분석 계획">
            <a:extLst xmlns:a="http://schemas.openxmlformats.org/drawingml/2006/main">
              <a:ext uri="{FF2B5EF4-FFF2-40B4-BE49-F238E27FC236}">
                <a16:creationId xmlns:a16="http://schemas.microsoft.com/office/drawing/2014/main" id="{3CCFD3EE-FE9A-400E-B7FC-892EA21572C3}"/>
              </a:ext>
            </a:extLst>
          </p:cNvPr>
          <p:cNvSpPr>
            <a:spLocks xmlns:a="http://schemas.openxmlformats.org/drawingml/2006/main" noGrp="1"/>
          </p:cNvSpPr>
          <p:nvPr/>
        </p:nvSpPr>
        <p:spPr>
          <a:xfrm xmlns:a="http://schemas.openxmlformats.org/drawingml/2006/main">
            <a:off x="742950" y="5543550"/>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66A61"/>
                </a:solidFill>
                <a:latin typeface="Malgun Gothic"/>
                <a:ea typeface="Malgun Gothic"/>
                <a:cs typeface="Malgun Gothic"/>
              </a:defRPr>
            </a:defPPr>
          </a:lstStyle>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공개자료 실험과 안심구역 분석 계획</a:t>
            </a:r>
          </a:p>
        </p:txBody>
      </p:sp>
      <p:sp>
        <p:nvSpPr>
          <p:cNvPr id="5" name="2026.10">
            <a:extLst xmlns:a="http://schemas.openxmlformats.org/drawingml/2006/main">
              <a:ext uri="{FF2B5EF4-FFF2-40B4-BE49-F238E27FC236}">
                <a16:creationId xmlns:a16="http://schemas.microsoft.com/office/drawing/2014/main" id="{16BF826F-5C6F-4D1E-B0F2-56CF9144225A}"/>
              </a:ext>
            </a:extLst>
          </p:cNvPr>
          <p:cNvSpPr>
            <a:spLocks xmlns:a="http://schemas.openxmlformats.org/drawingml/2006/main" noGrp="1"/>
          </p:cNvSpPr>
          <p:nvPr/>
        </p:nvSpPr>
        <p:spPr>
          <a:xfrm xmlns:a="http://schemas.openxmlformats.org/drawingml/2006/main">
            <a:off x="742950" y="6219825"/>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66A61"/>
                </a:solidFill>
                <a:latin typeface="Malgun Gothic"/>
                <a:ea typeface="Malgun Gothic"/>
                <a:cs typeface="Malgun Gothic"/>
              </a:defRPr>
            </a:defPPr>
          </a:lstStyle>
          <a:p xmlns:a="http://schemas.openxmlformats.org/drawingml/2006/main">
            <a:pPr algn="l">
              <a:defRPr sz="1500" b="0">
                <a:solidFill>
                  <a:srgbClr val="666A61"/>
                </a:solidFill>
                <a:latin typeface="Malgun Gothic"/>
                <a:ea typeface="Malgun Gothic"/>
                <a:cs typeface="Malgun Gothic"/>
              </a:defRPr>
            </a:pPr>
            <a:r>
              <a:rPr sz="1500" b="0">
                <a:solidFill>
                  <a:srgbClr val="666A61"/>
                </a:solidFill>
                <a:latin typeface="Malgun Gothic"/>
                <a:ea typeface="Malgun Gothic"/>
                <a:cs typeface="Malgun Gothic"/>
              </a:rPr>
              <a:t>2026.10</a:t>
            </a:r>
          </a:p>
        </p:txBody>
      </p:sp>
    </p:spTree>
    <p:extLst>
      <p:ext uri="{BB962C8B-B14F-4D97-AF65-F5344CB8AC3E}">
        <p14:creationId xmlns:p14="http://schemas.microsoft.com/office/powerpoint/2010/main" val="412545947"/>
      </p:ext>
    </p:extLst>
  </p:cSld>
</p:sld>
</file>

<file path=ppt/slides/slide2.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도입 전에 필요한 질문">
            <a:extLst xmlns:a="http://schemas.openxmlformats.org/drawingml/2006/main">
              <a:ext uri="{FF2B5EF4-FFF2-40B4-BE49-F238E27FC236}">
                <a16:creationId xmlns:a16="http://schemas.microsoft.com/office/drawing/2014/main" id="{16BED988-9F2B-44E0-9F03-3182A06C4A53}"/>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도입 전에 필요한 질문</a:t>
            </a:r>
          </a:p>
        </p:txBody>
      </p:sp>
      <p:sp>
        <p:nvSpPr>
          <p:cNvPr id="2" name="02">
            <a:extLst xmlns:a="http://schemas.openxmlformats.org/drawingml/2006/main">
              <a:ext uri="{FF2B5EF4-FFF2-40B4-BE49-F238E27FC236}">
                <a16:creationId xmlns:a16="http://schemas.microsoft.com/office/drawing/2014/main" id="{ECC07788-34B8-462E-BF48-2F41A5CA050B}"/>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02</a:t>
            </a:r>
          </a:p>
        </p:txBody>
      </p:sp>
      <p:sp>
        <p:nvSpPr>
          <p:cNvPr id="3" name="“장비를 사고 나면,&#10;매년 얼마가 남을까?”">
            <a:extLst xmlns:a="http://schemas.openxmlformats.org/drawingml/2006/main">
              <a:ext uri="{FF2B5EF4-FFF2-40B4-BE49-F238E27FC236}">
                <a16:creationId xmlns:a16="http://schemas.microsoft.com/office/drawing/2014/main" id="{4BFE5F5F-BFB1-46E7-B23B-F00327F5B749}"/>
              </a:ext>
            </a:extLst>
          </p:cNvPr>
          <p:cNvSpPr>
            <a:spLocks xmlns:a="http://schemas.openxmlformats.org/drawingml/2006/main" noGrp="1"/>
          </p:cNvSpPr>
          <p:nvPr/>
        </p:nvSpPr>
        <p:spPr>
          <a:xfrm xmlns:a="http://schemas.openxmlformats.org/drawingml/2006/main">
            <a:off x="685800" y="1990725"/>
            <a:ext cx="10668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247B56"/>
                </a:solidFill>
                <a:latin typeface="Malgun Gothic"/>
                <a:ea typeface="Malgun Gothic"/>
                <a:cs typeface="Malgun Gothic"/>
              </a:defRPr>
            </a:defPPr>
          </a:lstStyle>
          <a:p xmlns:a="http://schemas.openxmlformats.org/drawingml/2006/main">
            <a:pPr algn="l">
              <a:defRPr sz="4050" b="1">
                <a:solidFill>
                  <a:srgbClr val="247B56"/>
                </a:solidFill>
                <a:latin typeface="Malgun Gothic"/>
                <a:ea typeface="Malgun Gothic"/>
                <a:cs typeface="Malgun Gothic"/>
              </a:defRPr>
            </a:pPr>
            <a:r>
              <a:rPr sz="4050" b="1">
                <a:solidFill>
                  <a:srgbClr val="247B56"/>
                </a:solidFill>
                <a:latin typeface="Malgun Gothic"/>
                <a:ea typeface="Malgun Gothic"/>
                <a:cs typeface="Malgun Gothic"/>
              </a:rPr>
              <a:t>“장비를 사고 나면,</a:t>
            </a:r>
          </a:p>
          <a:p xmlns:a="http://schemas.openxmlformats.org/drawingml/2006/main">
            <a:pPr algn="l">
              <a:defRPr sz="4050" b="1">
                <a:solidFill>
                  <a:srgbClr val="247B56"/>
                </a:solidFill>
                <a:latin typeface="Malgun Gothic"/>
                <a:ea typeface="Malgun Gothic"/>
                <a:cs typeface="Malgun Gothic"/>
              </a:defRPr>
            </a:pPr>
            <a:r>
              <a:rPr sz="4050" b="1">
                <a:solidFill>
                  <a:srgbClr val="247B56"/>
                </a:solidFill>
                <a:latin typeface="Malgun Gothic"/>
                <a:ea typeface="Malgun Gothic"/>
                <a:cs typeface="Malgun Gothic"/>
              </a:rPr>
              <a:t>매년 얼마가 남을까?”</a:t>
            </a:r>
          </a:p>
        </p:txBody>
      </p:sp>
      <p:sp>
        <p:nvSpPr>
          <p:cNvPr id="4" name="매출만으로 판단하기 어렵습니다.&#10;운영비와 내 노동의 값까지 계산하고,&#10;가격이 떨어졌을 때도">
            <a:extLst xmlns:a="http://schemas.openxmlformats.org/drawingml/2006/main">
              <a:ext uri="{FF2B5EF4-FFF2-40B4-BE49-F238E27FC236}">
                <a16:creationId xmlns:a16="http://schemas.microsoft.com/office/drawing/2014/main" id="{951E39C0-7148-4CED-971D-05D297F04DA2}"/>
              </a:ext>
            </a:extLst>
          </p:cNvPr>
          <p:cNvSpPr>
            <a:spLocks xmlns:a="http://schemas.openxmlformats.org/drawingml/2006/main" noGrp="1"/>
          </p:cNvSpPr>
          <p:nvPr/>
        </p:nvSpPr>
        <p:spPr>
          <a:xfrm xmlns:a="http://schemas.openxmlformats.org/drawingml/2006/main">
            <a:off x="742950" y="4152900"/>
            <a:ext cx="105727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매출만으로 판단하기 어렵습니다.</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운영비와 내 노동의 값까지 계산하고,</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가격이 떨어졌을 때도 버틸 수 있는지 봅니다.</a:t>
            </a:r>
          </a:p>
        </p:txBody>
      </p:sp>
    </p:spTree>
    <p:extLst>
      <p:ext uri="{BB962C8B-B14F-4D97-AF65-F5344CB8AC3E}">
        <p14:creationId xmlns:p14="http://schemas.microsoft.com/office/powerpoint/2010/main" val="511704110"/>
      </p:ext>
    </p:extLst>
  </p:cSld>
</p:sld>
</file>

<file path=ppt/slides/slide3.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8" name="농가 계획을 넣고 조건을 비교합니다">
            <a:extLst xmlns:a="http://schemas.openxmlformats.org/drawingml/2006/main">
              <a:ext uri="{FF2B5EF4-FFF2-40B4-BE49-F238E27FC236}">
                <a16:creationId xmlns:a16="http://schemas.microsoft.com/office/drawing/2014/main" id="{17D92D3D-C3D5-497C-957F-4EADF200C001}"/>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농가 계획을 넣고 조건을 비교합니다</a:t>
            </a:r>
          </a:p>
        </p:txBody>
      </p:sp>
      <p:sp>
        <p:nvSpPr>
          <p:cNvPr id="2" name="03">
            <a:extLst xmlns:a="http://schemas.openxmlformats.org/drawingml/2006/main">
              <a:ext uri="{FF2B5EF4-FFF2-40B4-BE49-F238E27FC236}">
                <a16:creationId xmlns:a16="http://schemas.microsoft.com/office/drawing/2014/main" id="{A9ECC209-5424-4A79-88D5-D043D349C23C}"/>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03</a:t>
            </a:r>
          </a:p>
        </p:txBody>
      </p:sp>
      <p:sp>
        <p:nvSpPr>
          <p:cNvPr id="3" name="01">
            <a:extLst xmlns:a="http://schemas.openxmlformats.org/drawingml/2006/main">
              <a:ext uri="{FF2B5EF4-FFF2-40B4-BE49-F238E27FC236}">
                <a16:creationId xmlns:a16="http://schemas.microsoft.com/office/drawing/2014/main" id="{FA5498E3-FB10-47FB-B885-BEEFC0B69FF7}"/>
              </a:ext>
            </a:extLst>
          </p:cNvPr>
          <p:cNvSpPr>
            <a:spLocks xmlns:a="http://schemas.openxmlformats.org/drawingml/2006/main" noGrp="1"/>
          </p:cNvSpPr>
          <p:nvPr/>
        </p:nvSpPr>
        <p:spPr>
          <a:xfrm xmlns:a="http://schemas.openxmlformats.org/drawingml/2006/main">
            <a:off x="685800" y="18097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C45E2A"/>
                </a:solidFill>
                <a:latin typeface="Malgun Gothic"/>
                <a:ea typeface="Malgun Gothic"/>
                <a:cs typeface="Malgun Gothic"/>
              </a:defRPr>
            </a:defPPr>
          </a:lstStyle>
          <a:p xmlns:a="http://schemas.openxmlformats.org/drawingml/2006/main">
            <a:pPr algn="l">
              <a:defRPr sz="2925" b="1">
                <a:solidFill>
                  <a:srgbClr val="C45E2A"/>
                </a:solidFill>
                <a:latin typeface="Malgun Gothic"/>
                <a:ea typeface="Malgun Gothic"/>
                <a:cs typeface="Malgun Gothic"/>
              </a:defRPr>
            </a:pPr>
            <a:r>
              <a:rPr sz="2925" b="1">
                <a:solidFill>
                  <a:srgbClr val="C45E2A"/>
                </a:solidFill>
                <a:latin typeface="Malgun Gothic"/>
                <a:ea typeface="Malgun Gothic"/>
                <a:cs typeface="Malgun Gothic"/>
              </a:rPr>
              <a:t>01</a:t>
            </a:r>
          </a:p>
        </p:txBody>
      </p:sp>
      <p:sp>
        <p:nvSpPr>
          <p:cNvPr id="4" name="농가 계획 입력">
            <a:extLst xmlns:a="http://schemas.openxmlformats.org/drawingml/2006/main">
              <a:ext uri="{FF2B5EF4-FFF2-40B4-BE49-F238E27FC236}">
                <a16:creationId xmlns:a16="http://schemas.microsoft.com/office/drawing/2014/main" id="{460D364B-817E-4785-ACC3-8549D07CF456}"/>
              </a:ext>
            </a:extLst>
          </p:cNvPr>
          <p:cNvSpPr>
            <a:spLocks xmlns:a="http://schemas.openxmlformats.org/drawingml/2006/main" noGrp="1"/>
          </p:cNvSpPr>
          <p:nvPr/>
        </p:nvSpPr>
        <p:spPr>
          <a:xfrm xmlns:a="http://schemas.openxmlformats.org/drawingml/2006/main">
            <a:off x="1724025" y="1809750"/>
            <a:ext cx="3371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63D30"/>
                </a:solidFill>
                <a:latin typeface="Malgun Gothic"/>
                <a:ea typeface="Malgun Gothic"/>
                <a:cs typeface="Malgun Gothic"/>
              </a:defRPr>
            </a:defPPr>
          </a:lstStyle>
          <a:p xmlns:a="http://schemas.openxmlformats.org/drawingml/2006/main">
            <a:pPr algn="l">
              <a:defRPr sz="2550" b="1">
                <a:solidFill>
                  <a:srgbClr val="163D30"/>
                </a:solidFill>
                <a:latin typeface="Malgun Gothic"/>
                <a:ea typeface="Malgun Gothic"/>
                <a:cs typeface="Malgun Gothic"/>
              </a:defRPr>
            </a:pPr>
            <a:r>
              <a:rPr sz="2550" b="1">
                <a:solidFill>
                  <a:srgbClr val="163D30"/>
                </a:solidFill>
                <a:latin typeface="Malgun Gothic"/>
                <a:ea typeface="Malgun Gothic"/>
                <a:cs typeface="Malgun Gothic"/>
              </a:rPr>
              <a:t>농가 계획 입력</a:t>
            </a:r>
          </a:p>
        </p:txBody>
      </p:sp>
      <p:sp>
        <p:nvSpPr>
          <p:cNvPr id="5" name="딸기, 지역, 온실 면적, 재배 시기">
            <a:extLst xmlns:a="http://schemas.openxmlformats.org/drawingml/2006/main">
              <a:ext uri="{FF2B5EF4-FFF2-40B4-BE49-F238E27FC236}">
                <a16:creationId xmlns:a16="http://schemas.microsoft.com/office/drawing/2014/main" id="{1BE2B983-F3E2-4FAE-80C0-404D93A4B57B}"/>
              </a:ext>
            </a:extLst>
          </p:cNvPr>
          <p:cNvSpPr>
            <a:spLocks xmlns:a="http://schemas.openxmlformats.org/drawingml/2006/main" noGrp="1"/>
          </p:cNvSpPr>
          <p:nvPr/>
        </p:nvSpPr>
        <p:spPr>
          <a:xfrm xmlns:a="http://schemas.openxmlformats.org/drawingml/2006/main">
            <a:off x="5505450" y="1838325"/>
            <a:ext cx="6019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딸기, 지역, 온실 면적, 재배 시기</a:t>
            </a:r>
          </a:p>
        </p:txBody>
      </p:sp>
      <p:sp>
        <p:nvSpPr>
          <p:cNvPr id="6" name="">
            <a:extLst xmlns:a="http://schemas.openxmlformats.org/drawingml/2006/main">
              <a:ext uri="{FF2B5EF4-FFF2-40B4-BE49-F238E27FC236}">
                <a16:creationId xmlns:a16="http://schemas.microsoft.com/office/drawing/2014/main" id="{147F2FEF-5C68-4375-A629-A0501B80AF6F}"/>
              </a:ext>
            </a:extLst>
          </p:cNvPr>
          <p:cNvSpPr>
            <a:spLocks xmlns:a="http://schemas.openxmlformats.org/drawingml/2006/main" noGrp="1"/>
          </p:cNvSpPr>
          <p:nvPr/>
        </p:nvSpPr>
        <p:spPr>
          <a:xfrm xmlns:a="http://schemas.openxmlformats.org/drawingml/2006/main">
            <a:off x="1724025" y="2552700"/>
            <a:ext cx="9782175"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7" name="02">
            <a:extLst xmlns:a="http://schemas.openxmlformats.org/drawingml/2006/main">
              <a:ext uri="{FF2B5EF4-FFF2-40B4-BE49-F238E27FC236}">
                <a16:creationId xmlns:a16="http://schemas.microsoft.com/office/drawing/2014/main" id="{5AB5DEF3-52A0-4C16-BCEA-855CB9E45E9C}"/>
              </a:ext>
            </a:extLst>
          </p:cNvPr>
          <p:cNvSpPr>
            <a:spLocks xmlns:a="http://schemas.openxmlformats.org/drawingml/2006/main" noGrp="1"/>
          </p:cNvSpPr>
          <p:nvPr/>
        </p:nvSpPr>
        <p:spPr>
          <a:xfrm xmlns:a="http://schemas.openxmlformats.org/drawingml/2006/main">
            <a:off x="685800" y="28194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C45E2A"/>
                </a:solidFill>
                <a:latin typeface="Malgun Gothic"/>
                <a:ea typeface="Malgun Gothic"/>
                <a:cs typeface="Malgun Gothic"/>
              </a:defRPr>
            </a:defPPr>
          </a:lstStyle>
          <a:p xmlns:a="http://schemas.openxmlformats.org/drawingml/2006/main">
            <a:pPr algn="l">
              <a:defRPr sz="2925" b="1">
                <a:solidFill>
                  <a:srgbClr val="C45E2A"/>
                </a:solidFill>
                <a:latin typeface="Malgun Gothic"/>
                <a:ea typeface="Malgun Gothic"/>
                <a:cs typeface="Malgun Gothic"/>
              </a:defRPr>
            </a:pPr>
            <a:r>
              <a:rPr sz="2925" b="1">
                <a:solidFill>
                  <a:srgbClr val="C45E2A"/>
                </a:solidFill>
                <a:latin typeface="Malgun Gothic"/>
                <a:ea typeface="Malgun Gothic"/>
                <a:cs typeface="Malgun Gothic"/>
              </a:rPr>
              <a:t>02</a:t>
            </a:r>
          </a:p>
        </p:txBody>
      </p:sp>
      <p:sp>
        <p:nvSpPr>
          <p:cNvPr id="8" name="장비와 비용 선택">
            <a:extLst xmlns:a="http://schemas.openxmlformats.org/drawingml/2006/main">
              <a:ext uri="{FF2B5EF4-FFF2-40B4-BE49-F238E27FC236}">
                <a16:creationId xmlns:a16="http://schemas.microsoft.com/office/drawing/2014/main" id="{55DF48CD-6CE0-4E63-B03D-ECCF7D2F85F1}"/>
              </a:ext>
            </a:extLst>
          </p:cNvPr>
          <p:cNvSpPr>
            <a:spLocks xmlns:a="http://schemas.openxmlformats.org/drawingml/2006/main" noGrp="1"/>
          </p:cNvSpPr>
          <p:nvPr/>
        </p:nvSpPr>
        <p:spPr>
          <a:xfrm xmlns:a="http://schemas.openxmlformats.org/drawingml/2006/main">
            <a:off x="1724025" y="2819400"/>
            <a:ext cx="3371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63D30"/>
                </a:solidFill>
                <a:latin typeface="Malgun Gothic"/>
                <a:ea typeface="Malgun Gothic"/>
                <a:cs typeface="Malgun Gothic"/>
              </a:defRPr>
            </a:defPPr>
          </a:lstStyle>
          <a:p xmlns:a="http://schemas.openxmlformats.org/drawingml/2006/main">
            <a:pPr algn="l">
              <a:defRPr sz="2550" b="1">
                <a:solidFill>
                  <a:srgbClr val="163D30"/>
                </a:solidFill>
                <a:latin typeface="Malgun Gothic"/>
                <a:ea typeface="Malgun Gothic"/>
                <a:cs typeface="Malgun Gothic"/>
              </a:defRPr>
            </a:pPr>
            <a:r>
              <a:rPr sz="2550" b="1">
                <a:solidFill>
                  <a:srgbClr val="163D30"/>
                </a:solidFill>
                <a:latin typeface="Malgun Gothic"/>
                <a:ea typeface="Malgun Gothic"/>
                <a:cs typeface="Malgun Gothic"/>
              </a:rPr>
              <a:t>장비와 비용 선택</a:t>
            </a:r>
          </a:p>
        </p:txBody>
      </p:sp>
      <p:sp>
        <p:nvSpPr>
          <p:cNvPr id="9" name="공개 가격에 실제 설치 견적을 더하기">
            <a:extLst xmlns:a="http://schemas.openxmlformats.org/drawingml/2006/main">
              <a:ext uri="{FF2B5EF4-FFF2-40B4-BE49-F238E27FC236}">
                <a16:creationId xmlns:a16="http://schemas.microsoft.com/office/drawing/2014/main" id="{12BF85D5-DDFD-406F-8C16-0C27B0801F10}"/>
              </a:ext>
            </a:extLst>
          </p:cNvPr>
          <p:cNvSpPr>
            <a:spLocks xmlns:a="http://schemas.openxmlformats.org/drawingml/2006/main" noGrp="1"/>
          </p:cNvSpPr>
          <p:nvPr/>
        </p:nvSpPr>
        <p:spPr>
          <a:xfrm xmlns:a="http://schemas.openxmlformats.org/drawingml/2006/main">
            <a:off x="5505450" y="2847975"/>
            <a:ext cx="6019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공개 가격에 실제 설치 견적을 더하기</a:t>
            </a:r>
          </a:p>
        </p:txBody>
      </p:sp>
      <p:sp>
        <p:nvSpPr>
          <p:cNvPr id="10" name="">
            <a:extLst xmlns:a="http://schemas.openxmlformats.org/drawingml/2006/main">
              <a:ext uri="{FF2B5EF4-FFF2-40B4-BE49-F238E27FC236}">
                <a16:creationId xmlns:a16="http://schemas.microsoft.com/office/drawing/2014/main" id="{9A32D80B-7A2C-4CD2-AC40-31A7DEF70AFC}"/>
              </a:ext>
            </a:extLst>
          </p:cNvPr>
          <p:cNvSpPr>
            <a:spLocks xmlns:a="http://schemas.openxmlformats.org/drawingml/2006/main" noGrp="1"/>
          </p:cNvSpPr>
          <p:nvPr/>
        </p:nvSpPr>
        <p:spPr>
          <a:xfrm xmlns:a="http://schemas.openxmlformats.org/drawingml/2006/main">
            <a:off x="1724025" y="3562350"/>
            <a:ext cx="9782175"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11" name="03">
            <a:extLst xmlns:a="http://schemas.openxmlformats.org/drawingml/2006/main">
              <a:ext uri="{FF2B5EF4-FFF2-40B4-BE49-F238E27FC236}">
                <a16:creationId xmlns:a16="http://schemas.microsoft.com/office/drawing/2014/main" id="{66F83A60-9447-4689-ADDD-8FC85588342B}"/>
              </a:ext>
            </a:extLst>
          </p:cNvPr>
          <p:cNvSpPr>
            <a:spLocks xmlns:a="http://schemas.openxmlformats.org/drawingml/2006/main" noGrp="1"/>
          </p:cNvSpPr>
          <p:nvPr/>
        </p:nvSpPr>
        <p:spPr>
          <a:xfrm xmlns:a="http://schemas.openxmlformats.org/drawingml/2006/main">
            <a:off x="685800" y="38290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C45E2A"/>
                </a:solidFill>
                <a:latin typeface="Malgun Gothic"/>
                <a:ea typeface="Malgun Gothic"/>
                <a:cs typeface="Malgun Gothic"/>
              </a:defRPr>
            </a:defPPr>
          </a:lstStyle>
          <a:p xmlns:a="http://schemas.openxmlformats.org/drawingml/2006/main">
            <a:pPr algn="l">
              <a:defRPr sz="2925" b="1">
                <a:solidFill>
                  <a:srgbClr val="C45E2A"/>
                </a:solidFill>
                <a:latin typeface="Malgun Gothic"/>
                <a:ea typeface="Malgun Gothic"/>
                <a:cs typeface="Malgun Gothic"/>
              </a:defRPr>
            </a:pPr>
            <a:r>
              <a:rPr sz="2925" b="1">
                <a:solidFill>
                  <a:srgbClr val="C45E2A"/>
                </a:solidFill>
                <a:latin typeface="Malgun Gothic"/>
                <a:ea typeface="Malgun Gothic"/>
                <a:cs typeface="Malgun Gothic"/>
              </a:rPr>
              <a:t>03</a:t>
            </a:r>
          </a:p>
        </p:txBody>
      </p:sp>
      <p:sp>
        <p:nvSpPr>
          <p:cNvPr id="12" name="조건을 바꿔 계산">
            <a:extLst xmlns:a="http://schemas.openxmlformats.org/drawingml/2006/main">
              <a:ext uri="{FF2B5EF4-FFF2-40B4-BE49-F238E27FC236}">
                <a16:creationId xmlns:a16="http://schemas.microsoft.com/office/drawing/2014/main" id="{25212570-8AE9-4947-AB8A-5D67F1E22163}"/>
              </a:ext>
            </a:extLst>
          </p:cNvPr>
          <p:cNvSpPr>
            <a:spLocks xmlns:a="http://schemas.openxmlformats.org/drawingml/2006/main" noGrp="1"/>
          </p:cNvSpPr>
          <p:nvPr/>
        </p:nvSpPr>
        <p:spPr>
          <a:xfrm xmlns:a="http://schemas.openxmlformats.org/drawingml/2006/main">
            <a:off x="1724025" y="3829050"/>
            <a:ext cx="3371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63D30"/>
                </a:solidFill>
                <a:latin typeface="Malgun Gothic"/>
                <a:ea typeface="Malgun Gothic"/>
                <a:cs typeface="Malgun Gothic"/>
              </a:defRPr>
            </a:defPPr>
          </a:lstStyle>
          <a:p xmlns:a="http://schemas.openxmlformats.org/drawingml/2006/main">
            <a:pPr algn="l">
              <a:defRPr sz="2550" b="1">
                <a:solidFill>
                  <a:srgbClr val="163D30"/>
                </a:solidFill>
                <a:latin typeface="Malgun Gothic"/>
                <a:ea typeface="Malgun Gothic"/>
                <a:cs typeface="Malgun Gothic"/>
              </a:defRPr>
            </a:pPr>
            <a:r>
              <a:rPr sz="2550" b="1">
                <a:solidFill>
                  <a:srgbClr val="163D30"/>
                </a:solidFill>
                <a:latin typeface="Malgun Gothic"/>
                <a:ea typeface="Malgun Gothic"/>
                <a:cs typeface="Malgun Gothic"/>
              </a:rPr>
              <a:t>조건을 바꿔 계산</a:t>
            </a:r>
          </a:p>
        </p:txBody>
      </p:sp>
      <p:sp>
        <p:nvSpPr>
          <p:cNvPr id="13" name="생산량·판매단가·운영비 비교">
            <a:extLst xmlns:a="http://schemas.openxmlformats.org/drawingml/2006/main">
              <a:ext uri="{FF2B5EF4-FFF2-40B4-BE49-F238E27FC236}">
                <a16:creationId xmlns:a16="http://schemas.microsoft.com/office/drawing/2014/main" id="{405E598F-F302-4FDC-8D7D-DB74BAF170BA}"/>
              </a:ext>
            </a:extLst>
          </p:cNvPr>
          <p:cNvSpPr>
            <a:spLocks xmlns:a="http://schemas.openxmlformats.org/drawingml/2006/main" noGrp="1"/>
          </p:cNvSpPr>
          <p:nvPr/>
        </p:nvSpPr>
        <p:spPr>
          <a:xfrm xmlns:a="http://schemas.openxmlformats.org/drawingml/2006/main">
            <a:off x="5505450" y="3857625"/>
            <a:ext cx="6019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생산량·판매단가·운영비 비교</a:t>
            </a:r>
          </a:p>
        </p:txBody>
      </p:sp>
      <p:sp>
        <p:nvSpPr>
          <p:cNvPr id="14" name="">
            <a:extLst xmlns:a="http://schemas.openxmlformats.org/drawingml/2006/main">
              <a:ext uri="{FF2B5EF4-FFF2-40B4-BE49-F238E27FC236}">
                <a16:creationId xmlns:a16="http://schemas.microsoft.com/office/drawing/2014/main" id="{9C8A4FA0-0D85-4B10-95C1-E7BA7E05B3DF}"/>
              </a:ext>
            </a:extLst>
          </p:cNvPr>
          <p:cNvSpPr>
            <a:spLocks xmlns:a="http://schemas.openxmlformats.org/drawingml/2006/main" noGrp="1"/>
          </p:cNvSpPr>
          <p:nvPr/>
        </p:nvSpPr>
        <p:spPr>
          <a:xfrm xmlns:a="http://schemas.openxmlformats.org/drawingml/2006/main">
            <a:off x="1724025" y="4572000"/>
            <a:ext cx="9782175"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15" name="04">
            <a:extLst xmlns:a="http://schemas.openxmlformats.org/drawingml/2006/main">
              <a:ext uri="{FF2B5EF4-FFF2-40B4-BE49-F238E27FC236}">
                <a16:creationId xmlns:a16="http://schemas.microsoft.com/office/drawing/2014/main" id="{F571BC75-B3CC-4D55-895C-C3BAF68DD3B3}"/>
              </a:ext>
            </a:extLst>
          </p:cNvPr>
          <p:cNvSpPr>
            <a:spLocks xmlns:a="http://schemas.openxmlformats.org/drawingml/2006/main" noGrp="1"/>
          </p:cNvSpPr>
          <p:nvPr/>
        </p:nvSpPr>
        <p:spPr>
          <a:xfrm xmlns:a="http://schemas.openxmlformats.org/drawingml/2006/main">
            <a:off x="685800" y="48387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C45E2A"/>
                </a:solidFill>
                <a:latin typeface="Malgun Gothic"/>
                <a:ea typeface="Malgun Gothic"/>
                <a:cs typeface="Malgun Gothic"/>
              </a:defRPr>
            </a:defPPr>
          </a:lstStyle>
          <a:p xmlns:a="http://schemas.openxmlformats.org/drawingml/2006/main">
            <a:pPr algn="l">
              <a:defRPr sz="2925" b="1">
                <a:solidFill>
                  <a:srgbClr val="C45E2A"/>
                </a:solidFill>
                <a:latin typeface="Malgun Gothic"/>
                <a:ea typeface="Malgun Gothic"/>
                <a:cs typeface="Malgun Gothic"/>
              </a:defRPr>
            </a:pPr>
            <a:r>
              <a:rPr sz="2925" b="1">
                <a:solidFill>
                  <a:srgbClr val="C45E2A"/>
                </a:solidFill>
                <a:latin typeface="Malgun Gothic"/>
                <a:ea typeface="Malgun Gothic"/>
                <a:cs typeface="Malgun Gothic"/>
              </a:rPr>
              <a:t>04</a:t>
            </a:r>
          </a:p>
        </p:txBody>
      </p:sp>
      <p:sp>
        <p:nvSpPr>
          <p:cNvPr id="16" name="결과 확인">
            <a:extLst xmlns:a="http://schemas.openxmlformats.org/drawingml/2006/main">
              <a:ext uri="{FF2B5EF4-FFF2-40B4-BE49-F238E27FC236}">
                <a16:creationId xmlns:a16="http://schemas.microsoft.com/office/drawing/2014/main" id="{DE2D12A3-D681-4D5E-AE86-DE656858FFAE}"/>
              </a:ext>
            </a:extLst>
          </p:cNvPr>
          <p:cNvSpPr>
            <a:spLocks xmlns:a="http://schemas.openxmlformats.org/drawingml/2006/main" noGrp="1"/>
          </p:cNvSpPr>
          <p:nvPr/>
        </p:nvSpPr>
        <p:spPr>
          <a:xfrm xmlns:a="http://schemas.openxmlformats.org/drawingml/2006/main">
            <a:off x="1724025" y="4838700"/>
            <a:ext cx="3371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63D30"/>
                </a:solidFill>
                <a:latin typeface="Malgun Gothic"/>
                <a:ea typeface="Malgun Gothic"/>
                <a:cs typeface="Malgun Gothic"/>
              </a:defRPr>
            </a:defPPr>
          </a:lstStyle>
          <a:p xmlns:a="http://schemas.openxmlformats.org/drawingml/2006/main">
            <a:pPr algn="l">
              <a:defRPr sz="2550" b="1">
                <a:solidFill>
                  <a:srgbClr val="163D30"/>
                </a:solidFill>
                <a:latin typeface="Malgun Gothic"/>
                <a:ea typeface="Malgun Gothic"/>
                <a:cs typeface="Malgun Gothic"/>
              </a:defRPr>
            </a:pPr>
            <a:r>
              <a:rPr sz="2550" b="1">
                <a:solidFill>
                  <a:srgbClr val="163D30"/>
                </a:solidFill>
                <a:latin typeface="Malgun Gothic"/>
                <a:ea typeface="Malgun Gothic"/>
                <a:cs typeface="Malgun Gothic"/>
              </a:rPr>
              <a:t>결과 확인</a:t>
            </a:r>
          </a:p>
        </p:txBody>
      </p:sp>
      <p:sp>
        <p:nvSpPr>
          <p:cNvPr id="17" name="내 노동을 뺀 소득과 투자 회수기간">
            <a:extLst xmlns:a="http://schemas.openxmlformats.org/drawingml/2006/main">
              <a:ext uri="{FF2B5EF4-FFF2-40B4-BE49-F238E27FC236}">
                <a16:creationId xmlns:a16="http://schemas.microsoft.com/office/drawing/2014/main" id="{E6CB495C-D3B6-4E70-8681-A43C02A2726C}"/>
              </a:ext>
            </a:extLst>
          </p:cNvPr>
          <p:cNvSpPr>
            <a:spLocks xmlns:a="http://schemas.openxmlformats.org/drawingml/2006/main" noGrp="1"/>
          </p:cNvSpPr>
          <p:nvPr/>
        </p:nvSpPr>
        <p:spPr>
          <a:xfrm xmlns:a="http://schemas.openxmlformats.org/drawingml/2006/main">
            <a:off x="5505450" y="4867275"/>
            <a:ext cx="6019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내 노동을 뺀 소득과 투자 회수기간</a:t>
            </a:r>
          </a:p>
        </p:txBody>
      </p:sp>
    </p:spTree>
    <p:extLst>
      <p:ext uri="{BB962C8B-B14F-4D97-AF65-F5344CB8AC3E}">
        <p14:creationId xmlns:p14="http://schemas.microsoft.com/office/powerpoint/2010/main" val="2003217634"/>
      </p:ext>
    </p:extLst>
  </p:cSld>
</p:sld>
</file>

<file path=ppt/slides/slide4.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4" name="생산·가격·비용 자료를 함께 씁니다">
            <a:extLst xmlns:a="http://schemas.openxmlformats.org/drawingml/2006/main">
              <a:ext uri="{FF2B5EF4-FFF2-40B4-BE49-F238E27FC236}">
                <a16:creationId xmlns:a16="http://schemas.microsoft.com/office/drawing/2014/main" id="{0886A058-BDAA-437B-BAB5-3E7DF6742963}"/>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생산·가격·비용 자료를 함께 씁니다</a:t>
            </a:r>
          </a:p>
        </p:txBody>
      </p:sp>
      <p:sp>
        <p:nvSpPr>
          <p:cNvPr id="2" name="04">
            <a:extLst xmlns:a="http://schemas.openxmlformats.org/drawingml/2006/main">
              <a:ext uri="{FF2B5EF4-FFF2-40B4-BE49-F238E27FC236}">
                <a16:creationId xmlns:a16="http://schemas.microsoft.com/office/drawing/2014/main" id="{47499324-A4E2-41D1-ADB0-E3998EA92CB5}"/>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04</a:t>
            </a:r>
          </a:p>
        </p:txBody>
      </p:sp>
      <p:sp>
        <p:nvSpPr>
          <p:cNvPr id="3" name="생산과 운영비">
            <a:extLst xmlns:a="http://schemas.openxmlformats.org/drawingml/2006/main">
              <a:ext uri="{FF2B5EF4-FFF2-40B4-BE49-F238E27FC236}">
                <a16:creationId xmlns:a16="http://schemas.microsoft.com/office/drawing/2014/main" id="{0C4DBC70-2574-4E01-8153-2461E8D59DC9}"/>
              </a:ext>
            </a:extLst>
          </p:cNvPr>
          <p:cNvSpPr>
            <a:spLocks xmlns:a="http://schemas.openxmlformats.org/drawingml/2006/main" noGrp="1"/>
          </p:cNvSpPr>
          <p:nvPr/>
        </p:nvSpPr>
        <p:spPr>
          <a:xfrm xmlns:a="http://schemas.openxmlformats.org/drawingml/2006/main">
            <a:off x="685800" y="1790700"/>
            <a:ext cx="3476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생산과 운영비</a:t>
            </a:r>
          </a:p>
        </p:txBody>
      </p:sp>
      <p:sp>
        <p:nvSpPr>
          <p:cNvPr id="4" name="농촌진흥청 소득조사와 농가 기록">
            <a:extLst xmlns:a="http://schemas.openxmlformats.org/drawingml/2006/main">
              <a:ext uri="{FF2B5EF4-FFF2-40B4-BE49-F238E27FC236}">
                <a16:creationId xmlns:a16="http://schemas.microsoft.com/office/drawing/2014/main" id="{0C865038-1CD3-478C-A28D-38441E335DBB}"/>
              </a:ext>
            </a:extLst>
          </p:cNvPr>
          <p:cNvSpPr>
            <a:spLocks xmlns:a="http://schemas.openxmlformats.org/drawingml/2006/main" noGrp="1"/>
          </p:cNvSpPr>
          <p:nvPr/>
        </p:nvSpPr>
        <p:spPr>
          <a:xfrm xmlns:a="http://schemas.openxmlformats.org/drawingml/2006/main">
            <a:off x="4476750" y="179070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63D30"/>
                </a:solidFill>
                <a:latin typeface="Malgun Gothic"/>
                <a:ea typeface="Malgun Gothic"/>
                <a:cs typeface="Malgun Gothic"/>
              </a:defRPr>
            </a:defPPr>
          </a:lstStyle>
          <a:p xmlns:a="http://schemas.openxmlformats.org/drawingml/2006/main">
            <a:pPr algn="l">
              <a:defRPr sz="2400" b="1">
                <a:solidFill>
                  <a:srgbClr val="163D30"/>
                </a:solidFill>
                <a:latin typeface="Malgun Gothic"/>
                <a:ea typeface="Malgun Gothic"/>
                <a:cs typeface="Malgun Gothic"/>
              </a:defRPr>
            </a:pPr>
            <a:r>
              <a:rPr sz="2400" b="1">
                <a:solidFill>
                  <a:srgbClr val="163D30"/>
                </a:solidFill>
                <a:latin typeface="Malgun Gothic"/>
                <a:ea typeface="Malgun Gothic"/>
                <a:cs typeface="Malgun Gothic"/>
              </a:rPr>
              <a:t>농촌진흥청 소득조사와 농가 기록</a:t>
            </a:r>
          </a:p>
        </p:txBody>
      </p:sp>
      <p:sp>
        <p:nvSpPr>
          <p:cNvPr id="5" name="얼마나 생산하고, 어디에 지출하는가">
            <a:extLst xmlns:a="http://schemas.openxmlformats.org/drawingml/2006/main">
              <a:ext uri="{FF2B5EF4-FFF2-40B4-BE49-F238E27FC236}">
                <a16:creationId xmlns:a16="http://schemas.microsoft.com/office/drawing/2014/main" id="{25146907-A808-46C6-863C-568C8478144C}"/>
              </a:ext>
            </a:extLst>
          </p:cNvPr>
          <p:cNvSpPr>
            <a:spLocks xmlns:a="http://schemas.openxmlformats.org/drawingml/2006/main" noGrp="1"/>
          </p:cNvSpPr>
          <p:nvPr/>
        </p:nvSpPr>
        <p:spPr>
          <a:xfrm xmlns:a="http://schemas.openxmlformats.org/drawingml/2006/main">
            <a:off x="4476750" y="2333625"/>
            <a:ext cx="685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63D30"/>
                </a:solidFill>
                <a:latin typeface="Malgun Gothic"/>
                <a:ea typeface="Malgun Gothic"/>
                <a:cs typeface="Malgun Gothic"/>
              </a:defRPr>
            </a:defPPr>
          </a:lstStyle>
          <a:p xmlns:a="http://schemas.openxmlformats.org/drawingml/2006/main">
            <a:pPr algn="l">
              <a:defRPr sz="2100" b="0">
                <a:solidFill>
                  <a:srgbClr val="163D30"/>
                </a:solidFill>
                <a:latin typeface="Malgun Gothic"/>
                <a:ea typeface="Malgun Gothic"/>
                <a:cs typeface="Malgun Gothic"/>
              </a:defRPr>
            </a:pPr>
            <a:r>
              <a:rPr sz="2100" b="0">
                <a:solidFill>
                  <a:srgbClr val="163D30"/>
                </a:solidFill>
                <a:latin typeface="Malgun Gothic"/>
                <a:ea typeface="Malgun Gothic"/>
                <a:cs typeface="Malgun Gothic"/>
              </a:rPr>
              <a:t>얼마나 생산하고, 어디에 지출하는가</a:t>
            </a:r>
          </a:p>
        </p:txBody>
      </p:sp>
      <p:sp>
        <p:nvSpPr>
          <p:cNvPr id="6" name="">
            <a:extLst xmlns:a="http://schemas.openxmlformats.org/drawingml/2006/main">
              <a:ext uri="{FF2B5EF4-FFF2-40B4-BE49-F238E27FC236}">
                <a16:creationId xmlns:a16="http://schemas.microsoft.com/office/drawing/2014/main" id="{D760268F-A8BB-4992-AB83-167EDCEF991B}"/>
              </a:ext>
            </a:extLst>
          </p:cNvPr>
          <p:cNvSpPr>
            <a:spLocks xmlns:a="http://schemas.openxmlformats.org/drawingml/2006/main" noGrp="1"/>
          </p:cNvSpPr>
          <p:nvPr/>
        </p:nvSpPr>
        <p:spPr>
          <a:xfrm xmlns:a="http://schemas.openxmlformats.org/drawingml/2006/main">
            <a:off x="685800" y="295275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7" name="판매가격과 기후">
            <a:extLst xmlns:a="http://schemas.openxmlformats.org/drawingml/2006/main">
              <a:ext uri="{FF2B5EF4-FFF2-40B4-BE49-F238E27FC236}">
                <a16:creationId xmlns:a16="http://schemas.microsoft.com/office/drawing/2014/main" id="{AD6452EA-F8BA-41E6-85E6-825A3A2BF5E5}"/>
              </a:ext>
            </a:extLst>
          </p:cNvPr>
          <p:cNvSpPr>
            <a:spLocks xmlns:a="http://schemas.openxmlformats.org/drawingml/2006/main" noGrp="1"/>
          </p:cNvSpPr>
          <p:nvPr/>
        </p:nvSpPr>
        <p:spPr>
          <a:xfrm xmlns:a="http://schemas.openxmlformats.org/drawingml/2006/main">
            <a:off x="685800" y="3171825"/>
            <a:ext cx="3476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판매가격과 기후</a:t>
            </a:r>
          </a:p>
        </p:txBody>
      </p:sp>
      <p:sp>
        <p:nvSpPr>
          <p:cNvPr id="8" name="KAMIS 가격과 기상청 평년값">
            <a:extLst xmlns:a="http://schemas.openxmlformats.org/drawingml/2006/main">
              <a:ext uri="{FF2B5EF4-FFF2-40B4-BE49-F238E27FC236}">
                <a16:creationId xmlns:a16="http://schemas.microsoft.com/office/drawing/2014/main" id="{8D2466CE-0C7F-43E5-9D13-2214E50835C1}"/>
              </a:ext>
            </a:extLst>
          </p:cNvPr>
          <p:cNvSpPr>
            <a:spLocks xmlns:a="http://schemas.openxmlformats.org/drawingml/2006/main" noGrp="1"/>
          </p:cNvSpPr>
          <p:nvPr/>
        </p:nvSpPr>
        <p:spPr>
          <a:xfrm xmlns:a="http://schemas.openxmlformats.org/drawingml/2006/main">
            <a:off x="4476750" y="3171825"/>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63D30"/>
                </a:solidFill>
                <a:latin typeface="Malgun Gothic"/>
                <a:ea typeface="Malgun Gothic"/>
                <a:cs typeface="Malgun Gothic"/>
              </a:defRPr>
            </a:defPPr>
          </a:lstStyle>
          <a:p xmlns:a="http://schemas.openxmlformats.org/drawingml/2006/main">
            <a:pPr algn="l">
              <a:defRPr sz="2400" b="1">
                <a:solidFill>
                  <a:srgbClr val="163D30"/>
                </a:solidFill>
                <a:latin typeface="Malgun Gothic"/>
                <a:ea typeface="Malgun Gothic"/>
                <a:cs typeface="Malgun Gothic"/>
              </a:defRPr>
            </a:pPr>
            <a:r>
              <a:rPr sz="2400" b="1">
                <a:solidFill>
                  <a:srgbClr val="163D30"/>
                </a:solidFill>
                <a:latin typeface="Malgun Gothic"/>
                <a:ea typeface="Malgun Gothic"/>
                <a:cs typeface="Malgun Gothic"/>
              </a:rPr>
              <a:t>KAMIS 가격과 기상청 평년값</a:t>
            </a:r>
          </a:p>
        </p:txBody>
      </p:sp>
      <p:sp>
        <p:nvSpPr>
          <p:cNvPr id="9" name="조건을 바꾸면 수입과 비용이 어떻게 달라지는가">
            <a:extLst xmlns:a="http://schemas.openxmlformats.org/drawingml/2006/main">
              <a:ext uri="{FF2B5EF4-FFF2-40B4-BE49-F238E27FC236}">
                <a16:creationId xmlns:a16="http://schemas.microsoft.com/office/drawing/2014/main" id="{718D9989-D7E5-4FB7-8478-693ED3A181F1}"/>
              </a:ext>
            </a:extLst>
          </p:cNvPr>
          <p:cNvSpPr>
            <a:spLocks xmlns:a="http://schemas.openxmlformats.org/drawingml/2006/main" noGrp="1"/>
          </p:cNvSpPr>
          <p:nvPr/>
        </p:nvSpPr>
        <p:spPr>
          <a:xfrm xmlns:a="http://schemas.openxmlformats.org/drawingml/2006/main">
            <a:off x="4476750" y="3714750"/>
            <a:ext cx="685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63D30"/>
                </a:solidFill>
                <a:latin typeface="Malgun Gothic"/>
                <a:ea typeface="Malgun Gothic"/>
                <a:cs typeface="Malgun Gothic"/>
              </a:defRPr>
            </a:defPPr>
          </a:lstStyle>
          <a:p xmlns:a="http://schemas.openxmlformats.org/drawingml/2006/main">
            <a:pPr algn="l">
              <a:defRPr sz="2100" b="0">
                <a:solidFill>
                  <a:srgbClr val="163D30"/>
                </a:solidFill>
                <a:latin typeface="Malgun Gothic"/>
                <a:ea typeface="Malgun Gothic"/>
                <a:cs typeface="Malgun Gothic"/>
              </a:defRPr>
            </a:pPr>
            <a:r>
              <a:rPr sz="2100" b="0">
                <a:solidFill>
                  <a:srgbClr val="163D30"/>
                </a:solidFill>
                <a:latin typeface="Malgun Gothic"/>
                <a:ea typeface="Malgun Gothic"/>
                <a:cs typeface="Malgun Gothic"/>
              </a:rPr>
              <a:t>조건을 바꾸면 수입과 비용이 어떻게 달라지는가</a:t>
            </a:r>
          </a:p>
        </p:txBody>
      </p:sp>
      <p:sp>
        <p:nvSpPr>
          <p:cNvPr id="10" name="">
            <a:extLst xmlns:a="http://schemas.openxmlformats.org/drawingml/2006/main">
              <a:ext uri="{FF2B5EF4-FFF2-40B4-BE49-F238E27FC236}">
                <a16:creationId xmlns:a16="http://schemas.microsoft.com/office/drawing/2014/main" id="{76F71D91-81E2-41B5-8E1E-465AC4B10BA6}"/>
              </a:ext>
            </a:extLst>
          </p:cNvPr>
          <p:cNvSpPr>
            <a:spLocks xmlns:a="http://schemas.openxmlformats.org/drawingml/2006/main" noGrp="1"/>
          </p:cNvSpPr>
          <p:nvPr/>
        </p:nvSpPr>
        <p:spPr>
          <a:xfrm xmlns:a="http://schemas.openxmlformats.org/drawingml/2006/main">
            <a:off x="685800" y="4333875"/>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11" name="설비와 투자비">
            <a:extLst xmlns:a="http://schemas.openxmlformats.org/drawingml/2006/main">
              <a:ext uri="{FF2B5EF4-FFF2-40B4-BE49-F238E27FC236}">
                <a16:creationId xmlns:a16="http://schemas.microsoft.com/office/drawing/2014/main" id="{955893B5-965A-43D6-91AB-714860172528}"/>
              </a:ext>
            </a:extLst>
          </p:cNvPr>
          <p:cNvSpPr>
            <a:spLocks xmlns:a="http://schemas.openxmlformats.org/drawingml/2006/main" noGrp="1"/>
          </p:cNvSpPr>
          <p:nvPr/>
        </p:nvSpPr>
        <p:spPr>
          <a:xfrm xmlns:a="http://schemas.openxmlformats.org/drawingml/2006/main">
            <a:off x="685800" y="4552950"/>
            <a:ext cx="3476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설비와 투자비</a:t>
            </a:r>
          </a:p>
        </p:txBody>
      </p:sp>
      <p:sp>
        <p:nvSpPr>
          <p:cNvPr id="12" name="스마트팜코리아의 장비 등록 가격">
            <a:extLst xmlns:a="http://schemas.openxmlformats.org/drawingml/2006/main">
              <a:ext uri="{FF2B5EF4-FFF2-40B4-BE49-F238E27FC236}">
                <a16:creationId xmlns:a16="http://schemas.microsoft.com/office/drawing/2014/main" id="{98E5E613-7075-4389-B616-F38D53ECDB8C}"/>
              </a:ext>
            </a:extLst>
          </p:cNvPr>
          <p:cNvSpPr>
            <a:spLocks xmlns:a="http://schemas.openxmlformats.org/drawingml/2006/main" noGrp="1"/>
          </p:cNvSpPr>
          <p:nvPr/>
        </p:nvSpPr>
        <p:spPr>
          <a:xfrm xmlns:a="http://schemas.openxmlformats.org/drawingml/2006/main">
            <a:off x="4476750" y="45529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63D30"/>
                </a:solidFill>
                <a:latin typeface="Malgun Gothic"/>
                <a:ea typeface="Malgun Gothic"/>
                <a:cs typeface="Malgun Gothic"/>
              </a:defRPr>
            </a:defPPr>
          </a:lstStyle>
          <a:p xmlns:a="http://schemas.openxmlformats.org/drawingml/2006/main">
            <a:pPr algn="l">
              <a:defRPr sz="2400" b="1">
                <a:solidFill>
                  <a:srgbClr val="163D30"/>
                </a:solidFill>
                <a:latin typeface="Malgun Gothic"/>
                <a:ea typeface="Malgun Gothic"/>
                <a:cs typeface="Malgun Gothic"/>
              </a:defRPr>
            </a:pPr>
            <a:r>
              <a:rPr sz="2400" b="1">
                <a:solidFill>
                  <a:srgbClr val="163D30"/>
                </a:solidFill>
                <a:latin typeface="Malgun Gothic"/>
                <a:ea typeface="Malgun Gothic"/>
                <a:cs typeface="Malgun Gothic"/>
              </a:rPr>
              <a:t>스마트팜코리아의 장비 등록 가격</a:t>
            </a:r>
          </a:p>
        </p:txBody>
      </p:sp>
      <p:sp>
        <p:nvSpPr>
          <p:cNvPr id="13" name="선택한 장비에 얼마를 투자하는가">
            <a:extLst xmlns:a="http://schemas.openxmlformats.org/drawingml/2006/main">
              <a:ext uri="{FF2B5EF4-FFF2-40B4-BE49-F238E27FC236}">
                <a16:creationId xmlns:a16="http://schemas.microsoft.com/office/drawing/2014/main" id="{7A380E22-B966-480C-B5DD-662526D7CC75}"/>
              </a:ext>
            </a:extLst>
          </p:cNvPr>
          <p:cNvSpPr>
            <a:spLocks xmlns:a="http://schemas.openxmlformats.org/drawingml/2006/main" noGrp="1"/>
          </p:cNvSpPr>
          <p:nvPr/>
        </p:nvSpPr>
        <p:spPr>
          <a:xfrm xmlns:a="http://schemas.openxmlformats.org/drawingml/2006/main">
            <a:off x="4476750" y="5095875"/>
            <a:ext cx="685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63D30"/>
                </a:solidFill>
                <a:latin typeface="Malgun Gothic"/>
                <a:ea typeface="Malgun Gothic"/>
                <a:cs typeface="Malgun Gothic"/>
              </a:defRPr>
            </a:defPPr>
          </a:lstStyle>
          <a:p xmlns:a="http://schemas.openxmlformats.org/drawingml/2006/main">
            <a:pPr algn="l">
              <a:defRPr sz="2100" b="0">
                <a:solidFill>
                  <a:srgbClr val="163D30"/>
                </a:solidFill>
                <a:latin typeface="Malgun Gothic"/>
                <a:ea typeface="Malgun Gothic"/>
                <a:cs typeface="Malgun Gothic"/>
              </a:defRPr>
            </a:pPr>
            <a:r>
              <a:rPr sz="2100" b="0">
                <a:solidFill>
                  <a:srgbClr val="163D30"/>
                </a:solidFill>
                <a:latin typeface="Malgun Gothic"/>
                <a:ea typeface="Malgun Gothic"/>
                <a:cs typeface="Malgun Gothic"/>
              </a:rPr>
              <a:t>선택한 장비에 얼마를 투자하는가</a:t>
            </a:r>
          </a:p>
        </p:txBody>
      </p:sp>
    </p:spTree>
    <p:extLst>
      <p:ext uri="{BB962C8B-B14F-4D97-AF65-F5344CB8AC3E}">
        <p14:creationId xmlns:p14="http://schemas.microsoft.com/office/powerpoint/2010/main" val="615510939"/>
      </p:ext>
    </p:extLst>
  </p:cSld>
</p:sld>
</file>

<file path=ppt/slides/slide5.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4" name="장비 선택을 초기 투자비에 반영합니다">
            <a:extLst xmlns:a="http://schemas.openxmlformats.org/drawingml/2006/main">
              <a:ext uri="{FF2B5EF4-FFF2-40B4-BE49-F238E27FC236}">
                <a16:creationId xmlns:a16="http://schemas.microsoft.com/office/drawing/2014/main" id="{9BB89F88-EAE9-4305-AC7B-D9E6E5ADC48B}"/>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장비 선택을 초기 투자비에 반영합니다</a:t>
            </a:r>
          </a:p>
        </p:txBody>
      </p:sp>
      <p:sp>
        <p:nvSpPr>
          <p:cNvPr id="2" name="05">
            <a:extLst xmlns:a="http://schemas.openxmlformats.org/drawingml/2006/main">
              <a:ext uri="{FF2B5EF4-FFF2-40B4-BE49-F238E27FC236}">
                <a16:creationId xmlns:a16="http://schemas.microsoft.com/office/drawing/2014/main" id="{AD41ED33-6A5E-4547-8548-5C30F40EC06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05</a:t>
            </a:r>
          </a:p>
        </p:txBody>
      </p:sp>
      <p:sp>
        <p:nvSpPr>
          <p:cNvPr id="3" name="초기 투자비 예시">
            <a:extLst xmlns:a="http://schemas.openxmlformats.org/drawingml/2006/main">
              <a:ext uri="{FF2B5EF4-FFF2-40B4-BE49-F238E27FC236}">
                <a16:creationId xmlns:a16="http://schemas.microsoft.com/office/drawing/2014/main" id="{F850F798-AAFA-44CC-872B-47B554B3FF0B}"/>
              </a:ext>
            </a:extLst>
          </p:cNvPr>
          <p:cNvSpPr>
            <a:spLocks xmlns:a="http://schemas.openxmlformats.org/drawingml/2006/main" noGrp="1"/>
          </p:cNvSpPr>
          <p:nvPr/>
        </p:nvSpPr>
        <p:spPr>
          <a:xfrm xmlns:a="http://schemas.openxmlformats.org/drawingml/2006/main">
            <a:off x="685800" y="179070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66A61"/>
                </a:solidFill>
                <a:latin typeface="Malgun Gothic"/>
                <a:ea typeface="Malgun Gothic"/>
                <a:cs typeface="Malgun Gothic"/>
              </a:defRPr>
            </a:defPPr>
          </a:lstStyle>
          <a:p xmlns:a="http://schemas.openxmlformats.org/drawingml/2006/main">
            <a:pPr algn="l">
              <a:defRPr sz="2250" b="0">
                <a:solidFill>
                  <a:srgbClr val="666A61"/>
                </a:solidFill>
                <a:latin typeface="Malgun Gothic"/>
                <a:ea typeface="Malgun Gothic"/>
                <a:cs typeface="Malgun Gothic"/>
              </a:defRPr>
            </a:pPr>
            <a:r>
              <a:rPr sz="2250" b="0">
                <a:solidFill>
                  <a:srgbClr val="666A61"/>
                </a:solidFill>
                <a:latin typeface="Malgun Gothic"/>
                <a:ea typeface="Malgun Gothic"/>
                <a:cs typeface="Malgun Gothic"/>
              </a:rPr>
              <a:t>초기 투자비 예시</a:t>
            </a:r>
          </a:p>
        </p:txBody>
      </p:sp>
      <p:sp>
        <p:nvSpPr>
          <p:cNvPr id="4" name="1억 1,253만원">
            <a:extLst xmlns:a="http://schemas.openxmlformats.org/drawingml/2006/main">
              <a:ext uri="{FF2B5EF4-FFF2-40B4-BE49-F238E27FC236}">
                <a16:creationId xmlns:a16="http://schemas.microsoft.com/office/drawing/2014/main" id="{C24A305B-D62E-4F09-A350-0CBDB6C9E2FE}"/>
              </a:ext>
            </a:extLst>
          </p:cNvPr>
          <p:cNvSpPr>
            <a:spLocks xmlns:a="http://schemas.openxmlformats.org/drawingml/2006/main" noGrp="1"/>
          </p:cNvSpPr>
          <p:nvPr/>
        </p:nvSpPr>
        <p:spPr>
          <a:xfrm xmlns:a="http://schemas.openxmlformats.org/drawingml/2006/main">
            <a:off x="685800" y="22860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63D30"/>
                </a:solidFill>
                <a:latin typeface="Malgun Gothic"/>
                <a:ea typeface="Malgun Gothic"/>
                <a:cs typeface="Malgun Gothic"/>
              </a:defRPr>
            </a:defPPr>
          </a:lstStyle>
          <a:p xmlns:a="http://schemas.openxmlformats.org/drawingml/2006/main">
            <a:pPr algn="l">
              <a:defRPr sz="5700" b="1">
                <a:solidFill>
                  <a:srgbClr val="163D30"/>
                </a:solidFill>
                <a:latin typeface="Malgun Gothic"/>
                <a:ea typeface="Malgun Gothic"/>
                <a:cs typeface="Malgun Gothic"/>
              </a:defRPr>
            </a:pPr>
            <a:r>
              <a:rPr sz="5700" b="1">
                <a:solidFill>
                  <a:srgbClr val="163D30"/>
                </a:solidFill>
                <a:latin typeface="Malgun Gothic"/>
                <a:ea typeface="Malgun Gothic"/>
                <a:cs typeface="Malgun Gothic"/>
              </a:rPr>
              <a:t>1억 1,253만원</a:t>
            </a:r>
          </a:p>
        </p:txBody>
      </p:sp>
      <p:sp>
        <p:nvSpPr>
          <p:cNvPr id="5" name="장비">
            <a:extLst xmlns:a="http://schemas.openxmlformats.org/drawingml/2006/main">
              <a:ext uri="{FF2B5EF4-FFF2-40B4-BE49-F238E27FC236}">
                <a16:creationId xmlns:a16="http://schemas.microsoft.com/office/drawing/2014/main" id="{B5C9DF16-78D3-46A6-9597-6AE384044864}"/>
              </a:ext>
            </a:extLst>
          </p:cNvPr>
          <p:cNvSpPr>
            <a:spLocks xmlns:a="http://schemas.openxmlformats.org/drawingml/2006/main" noGrp="1"/>
          </p:cNvSpPr>
          <p:nvPr/>
        </p:nvSpPr>
        <p:spPr>
          <a:xfrm xmlns:a="http://schemas.openxmlformats.org/drawingml/2006/main">
            <a:off x="685800" y="3981450"/>
            <a:ext cx="2533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장비</a:t>
            </a:r>
          </a:p>
        </p:txBody>
      </p:sp>
      <p:sp>
        <p:nvSpPr>
          <p:cNvPr id="6" name="2,457만원">
            <a:extLst xmlns:a="http://schemas.openxmlformats.org/drawingml/2006/main">
              <a:ext uri="{FF2B5EF4-FFF2-40B4-BE49-F238E27FC236}">
                <a16:creationId xmlns:a16="http://schemas.microsoft.com/office/drawing/2014/main" id="{DBA5473B-ACE6-4FC0-A2D1-A8E4AB70372D}"/>
              </a:ext>
            </a:extLst>
          </p:cNvPr>
          <p:cNvSpPr>
            <a:spLocks xmlns:a="http://schemas.openxmlformats.org/drawingml/2006/main" noGrp="1"/>
          </p:cNvSpPr>
          <p:nvPr/>
        </p:nvSpPr>
        <p:spPr>
          <a:xfrm xmlns:a="http://schemas.openxmlformats.org/drawingml/2006/main">
            <a:off x="685800" y="4572000"/>
            <a:ext cx="2647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2,457만원</a:t>
            </a:r>
          </a:p>
        </p:txBody>
      </p:sp>
      <p:sp>
        <p:nvSpPr>
          <p:cNvPr id="7" name="설치">
            <a:extLst xmlns:a="http://schemas.openxmlformats.org/drawingml/2006/main">
              <a:ext uri="{FF2B5EF4-FFF2-40B4-BE49-F238E27FC236}">
                <a16:creationId xmlns:a16="http://schemas.microsoft.com/office/drawing/2014/main" id="{F2773624-E070-48A4-B305-44F773572986}"/>
              </a:ext>
            </a:extLst>
          </p:cNvPr>
          <p:cNvSpPr>
            <a:spLocks xmlns:a="http://schemas.openxmlformats.org/drawingml/2006/main" noGrp="1"/>
          </p:cNvSpPr>
          <p:nvPr/>
        </p:nvSpPr>
        <p:spPr>
          <a:xfrm xmlns:a="http://schemas.openxmlformats.org/drawingml/2006/main">
            <a:off x="3429000" y="3981450"/>
            <a:ext cx="2533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설치</a:t>
            </a:r>
          </a:p>
        </p:txBody>
      </p:sp>
      <p:sp>
        <p:nvSpPr>
          <p:cNvPr id="8" name="500만원">
            <a:extLst xmlns:a="http://schemas.openxmlformats.org/drawingml/2006/main">
              <a:ext uri="{FF2B5EF4-FFF2-40B4-BE49-F238E27FC236}">
                <a16:creationId xmlns:a16="http://schemas.microsoft.com/office/drawing/2014/main" id="{604179E3-307A-4237-B2BF-F38BA07D925F}"/>
              </a:ext>
            </a:extLst>
          </p:cNvPr>
          <p:cNvSpPr>
            <a:spLocks xmlns:a="http://schemas.openxmlformats.org/drawingml/2006/main" noGrp="1"/>
          </p:cNvSpPr>
          <p:nvPr/>
        </p:nvSpPr>
        <p:spPr>
          <a:xfrm xmlns:a="http://schemas.openxmlformats.org/drawingml/2006/main">
            <a:off x="3429000" y="4572000"/>
            <a:ext cx="2647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500만원</a:t>
            </a:r>
          </a:p>
        </p:txBody>
      </p:sp>
      <p:sp>
        <p:nvSpPr>
          <p:cNvPr id="9" name="추가 부가세">
            <a:extLst xmlns:a="http://schemas.openxmlformats.org/drawingml/2006/main">
              <a:ext uri="{FF2B5EF4-FFF2-40B4-BE49-F238E27FC236}">
                <a16:creationId xmlns:a16="http://schemas.microsoft.com/office/drawing/2014/main" id="{3AB32F15-EAD8-4EF1-BD6E-094211589CCE}"/>
              </a:ext>
            </a:extLst>
          </p:cNvPr>
          <p:cNvSpPr>
            <a:spLocks xmlns:a="http://schemas.openxmlformats.org/drawingml/2006/main" noGrp="1"/>
          </p:cNvSpPr>
          <p:nvPr/>
        </p:nvSpPr>
        <p:spPr>
          <a:xfrm xmlns:a="http://schemas.openxmlformats.org/drawingml/2006/main">
            <a:off x="6172200" y="3981450"/>
            <a:ext cx="2533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추가 부가세</a:t>
            </a:r>
          </a:p>
        </p:txBody>
      </p:sp>
      <p:sp>
        <p:nvSpPr>
          <p:cNvPr id="10" name="296만원">
            <a:extLst xmlns:a="http://schemas.openxmlformats.org/drawingml/2006/main">
              <a:ext uri="{FF2B5EF4-FFF2-40B4-BE49-F238E27FC236}">
                <a16:creationId xmlns:a16="http://schemas.microsoft.com/office/drawing/2014/main" id="{1DF8B194-C602-4E72-A0B9-7F4BB820D7AD}"/>
              </a:ext>
            </a:extLst>
          </p:cNvPr>
          <p:cNvSpPr>
            <a:spLocks xmlns:a="http://schemas.openxmlformats.org/drawingml/2006/main" noGrp="1"/>
          </p:cNvSpPr>
          <p:nvPr/>
        </p:nvSpPr>
        <p:spPr>
          <a:xfrm xmlns:a="http://schemas.openxmlformats.org/drawingml/2006/main">
            <a:off x="6172200" y="4572000"/>
            <a:ext cx="2647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296만원</a:t>
            </a:r>
          </a:p>
        </p:txBody>
      </p:sp>
      <p:sp>
        <p:nvSpPr>
          <p:cNvPr id="11" name="온실·토목 등">
            <a:extLst xmlns:a="http://schemas.openxmlformats.org/drawingml/2006/main">
              <a:ext uri="{FF2B5EF4-FFF2-40B4-BE49-F238E27FC236}">
                <a16:creationId xmlns:a16="http://schemas.microsoft.com/office/drawing/2014/main" id="{E7E9ED14-00F8-4B6E-B325-E73A670CB821}"/>
              </a:ext>
            </a:extLst>
          </p:cNvPr>
          <p:cNvSpPr>
            <a:spLocks xmlns:a="http://schemas.openxmlformats.org/drawingml/2006/main" noGrp="1"/>
          </p:cNvSpPr>
          <p:nvPr/>
        </p:nvSpPr>
        <p:spPr>
          <a:xfrm xmlns:a="http://schemas.openxmlformats.org/drawingml/2006/main">
            <a:off x="8915400" y="3981450"/>
            <a:ext cx="2533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온실·토목 등</a:t>
            </a:r>
          </a:p>
        </p:txBody>
      </p:sp>
      <p:sp>
        <p:nvSpPr>
          <p:cNvPr id="12" name="8,000만원">
            <a:extLst xmlns:a="http://schemas.openxmlformats.org/drawingml/2006/main">
              <a:ext uri="{FF2B5EF4-FFF2-40B4-BE49-F238E27FC236}">
                <a16:creationId xmlns:a16="http://schemas.microsoft.com/office/drawing/2014/main" id="{863F197B-926C-42A7-894E-D5D48571E95C}"/>
              </a:ext>
            </a:extLst>
          </p:cNvPr>
          <p:cNvSpPr>
            <a:spLocks xmlns:a="http://schemas.openxmlformats.org/drawingml/2006/main" noGrp="1"/>
          </p:cNvSpPr>
          <p:nvPr/>
        </p:nvSpPr>
        <p:spPr>
          <a:xfrm xmlns:a="http://schemas.openxmlformats.org/drawingml/2006/main">
            <a:off x="8915400" y="4572000"/>
            <a:ext cx="2647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8,000만원</a:t>
            </a:r>
          </a:p>
        </p:txBody>
      </p:sp>
      <p:sp>
        <p:nvSpPr>
          <p:cNvPr id="13" name="장비는 등록 가격, 나머지는 시연용 가정입니다.&#10;장비 설치에 따른 수확 증가 효과는 아직 ">
            <a:extLst xmlns:a="http://schemas.openxmlformats.org/drawingml/2006/main">
              <a:ext uri="{FF2B5EF4-FFF2-40B4-BE49-F238E27FC236}">
                <a16:creationId xmlns:a16="http://schemas.microsoft.com/office/drawing/2014/main" id="{4C42C1F3-EA1C-4B7E-827A-E74B1C79A6AC}"/>
              </a:ext>
            </a:extLst>
          </p:cNvPr>
          <p:cNvSpPr>
            <a:spLocks xmlns:a="http://schemas.openxmlformats.org/drawingml/2006/main" noGrp="1"/>
          </p:cNvSpPr>
          <p:nvPr/>
        </p:nvSpPr>
        <p:spPr>
          <a:xfrm xmlns:a="http://schemas.openxmlformats.org/drawingml/2006/main">
            <a:off x="685800" y="55721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66A61"/>
                </a:solidFill>
                <a:latin typeface="Malgun Gothic"/>
                <a:ea typeface="Malgun Gothic"/>
                <a:cs typeface="Malgun Gothic"/>
              </a:defRPr>
            </a:defPPr>
          </a:lstStyle>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장비는 등록 가격, 나머지는 시연용 가정입니다.</a:t>
            </a:r>
          </a:p>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장비 설치에 따른 수확 증가 효과는 아직 검증하지 않았습니다.</a:t>
            </a:r>
          </a:p>
        </p:txBody>
      </p:sp>
    </p:spTree>
    <p:extLst>
      <p:ext uri="{BB962C8B-B14F-4D97-AF65-F5344CB8AC3E}">
        <p14:creationId xmlns:p14="http://schemas.microsoft.com/office/powerpoint/2010/main" val="1843591803"/>
      </p:ext>
    </p:extLst>
  </p:cSld>
</p:sld>
</file>

<file path=ppt/slides/slide6.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4" name="내 노동의 값까지 빼면 연 347만원">
            <a:extLst xmlns:a="http://schemas.openxmlformats.org/drawingml/2006/main">
              <a:ext uri="{FF2B5EF4-FFF2-40B4-BE49-F238E27FC236}">
                <a16:creationId xmlns:a16="http://schemas.microsoft.com/office/drawing/2014/main" id="{441FD535-05F8-48FD-9F07-253A18806E50}"/>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내 노동의 값까지 빼면 연 347만원</a:t>
            </a:r>
          </a:p>
        </p:txBody>
      </p:sp>
      <p:sp>
        <p:nvSpPr>
          <p:cNvPr id="2" name="06">
            <a:extLst xmlns:a="http://schemas.openxmlformats.org/drawingml/2006/main">
              <a:ext uri="{FF2B5EF4-FFF2-40B4-BE49-F238E27FC236}">
                <a16:creationId xmlns:a16="http://schemas.microsoft.com/office/drawing/2014/main" id="{F346DF09-6BA9-4F30-BC0B-F5F8AF21591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06</a:t>
            </a:r>
          </a:p>
        </p:txBody>
      </p:sp>
      <p:sp>
        <p:nvSpPr>
          <p:cNvPr id="3" name="딸기 1,000㎡, 연 1기작의 가정 예시">
            <a:extLst xmlns:a="http://schemas.openxmlformats.org/drawingml/2006/main">
              <a:ext uri="{FF2B5EF4-FFF2-40B4-BE49-F238E27FC236}">
                <a16:creationId xmlns:a16="http://schemas.microsoft.com/office/drawing/2014/main" id="{28261E02-823A-4374-963F-990FD8B2909D}"/>
              </a:ext>
            </a:extLst>
          </p:cNvPr>
          <p:cNvSpPr>
            <a:spLocks xmlns:a="http://schemas.openxmlformats.org/drawingml/2006/main" noGrp="1"/>
          </p:cNvSpPr>
          <p:nvPr/>
        </p:nvSpPr>
        <p:spPr>
          <a:xfrm xmlns:a="http://schemas.openxmlformats.org/drawingml/2006/main">
            <a:off x="685800" y="165735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66A61"/>
                </a:solidFill>
                <a:latin typeface="Malgun Gothic"/>
                <a:ea typeface="Malgun Gothic"/>
                <a:cs typeface="Malgun Gothic"/>
              </a:defRPr>
            </a:defPPr>
          </a:lstStyle>
          <a:p xmlns:a="http://schemas.openxmlformats.org/drawingml/2006/main">
            <a:pPr algn="l">
              <a:defRPr sz="2250" b="0">
                <a:solidFill>
                  <a:srgbClr val="666A61"/>
                </a:solidFill>
                <a:latin typeface="Malgun Gothic"/>
                <a:ea typeface="Malgun Gothic"/>
                <a:cs typeface="Malgun Gothic"/>
              </a:defRPr>
            </a:pPr>
            <a:r>
              <a:rPr sz="2250" b="0">
                <a:solidFill>
                  <a:srgbClr val="666A61"/>
                </a:solidFill>
                <a:latin typeface="Malgun Gothic"/>
                <a:ea typeface="Malgun Gothic"/>
                <a:cs typeface="Malgun Gothic"/>
              </a:rPr>
              <a:t>딸기 1,000㎡, 연 1기작의 가정 예시</a:t>
            </a:r>
          </a:p>
        </p:txBody>
      </p:sp>
      <p:sp>
        <p:nvSpPr>
          <p:cNvPr id="4" name="347">
            <a:extLst xmlns:a="http://schemas.openxmlformats.org/drawingml/2006/main">
              <a:ext uri="{FF2B5EF4-FFF2-40B4-BE49-F238E27FC236}">
                <a16:creationId xmlns:a16="http://schemas.microsoft.com/office/drawing/2014/main" id="{1453A155-B538-4317-8044-D7C989863E44}"/>
              </a:ext>
            </a:extLst>
          </p:cNvPr>
          <p:cNvSpPr>
            <a:spLocks xmlns:a="http://schemas.openxmlformats.org/drawingml/2006/main" noGrp="1"/>
          </p:cNvSpPr>
          <p:nvPr/>
        </p:nvSpPr>
        <p:spPr>
          <a:xfrm xmlns:a="http://schemas.openxmlformats.org/drawingml/2006/main">
            <a:off x="666750" y="2514600"/>
            <a:ext cx="5572125"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150" b="1">
                <a:solidFill>
                  <a:srgbClr val="247B56"/>
                </a:solidFill>
                <a:latin typeface="Malgun Gothic"/>
                <a:ea typeface="Malgun Gothic"/>
                <a:cs typeface="Malgun Gothic"/>
              </a:defRPr>
            </a:defPPr>
          </a:lstStyle>
          <a:p xmlns:a="http://schemas.openxmlformats.org/drawingml/2006/main">
            <a:pPr algn="l">
              <a:defRPr sz="9150" b="1">
                <a:solidFill>
                  <a:srgbClr val="247B56"/>
                </a:solidFill>
                <a:latin typeface="Malgun Gothic"/>
                <a:ea typeface="Malgun Gothic"/>
                <a:cs typeface="Malgun Gothic"/>
              </a:defRPr>
            </a:pPr>
            <a:r>
              <a:rPr sz="9150" b="1">
                <a:solidFill>
                  <a:srgbClr val="247B56"/>
                </a:solidFill>
                <a:latin typeface="Malgun Gothic"/>
                <a:ea typeface="Malgun Gothic"/>
                <a:cs typeface="Malgun Gothic"/>
              </a:rPr>
              <a:t>347</a:t>
            </a:r>
          </a:p>
        </p:txBody>
      </p:sp>
      <p:sp>
        <p:nvSpPr>
          <p:cNvPr id="5" name="만원 / 년">
            <a:extLst xmlns:a="http://schemas.openxmlformats.org/drawingml/2006/main">
              <a:ext uri="{FF2B5EF4-FFF2-40B4-BE49-F238E27FC236}">
                <a16:creationId xmlns:a16="http://schemas.microsoft.com/office/drawing/2014/main" id="{560CF86D-9CCE-45B9-88E1-9BB203395A8E}"/>
              </a:ext>
            </a:extLst>
          </p:cNvPr>
          <p:cNvSpPr>
            <a:spLocks xmlns:a="http://schemas.openxmlformats.org/drawingml/2006/main" noGrp="1"/>
          </p:cNvSpPr>
          <p:nvPr/>
        </p:nvSpPr>
        <p:spPr>
          <a:xfrm xmlns:a="http://schemas.openxmlformats.org/drawingml/2006/main">
            <a:off x="723900" y="4162425"/>
            <a:ext cx="4762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247B56"/>
                </a:solidFill>
                <a:latin typeface="Malgun Gothic"/>
                <a:ea typeface="Malgun Gothic"/>
                <a:cs typeface="Malgun Gothic"/>
              </a:defRPr>
            </a:defPPr>
          </a:lstStyle>
          <a:p xmlns:a="http://schemas.openxmlformats.org/drawingml/2006/main">
            <a:pPr algn="l">
              <a:defRPr sz="2925" b="1">
                <a:solidFill>
                  <a:srgbClr val="247B56"/>
                </a:solidFill>
                <a:latin typeface="Malgun Gothic"/>
                <a:ea typeface="Malgun Gothic"/>
                <a:cs typeface="Malgun Gothic"/>
              </a:defRPr>
            </a:pPr>
            <a:r>
              <a:rPr sz="2925" b="1">
                <a:solidFill>
                  <a:srgbClr val="247B56"/>
                </a:solidFill>
                <a:latin typeface="Malgun Gothic"/>
                <a:ea typeface="Malgun Gothic"/>
                <a:cs typeface="Malgun Gothic"/>
              </a:rPr>
              <a:t>만원 / 년</a:t>
            </a:r>
          </a:p>
        </p:txBody>
      </p:sp>
      <p:sp>
        <p:nvSpPr>
          <p:cNvPr id="6" name="자가노동 비용을 반영한 소득">
            <a:extLst xmlns:a="http://schemas.openxmlformats.org/drawingml/2006/main">
              <a:ext uri="{FF2B5EF4-FFF2-40B4-BE49-F238E27FC236}">
                <a16:creationId xmlns:a16="http://schemas.microsoft.com/office/drawing/2014/main" id="{A20BE267-09DB-47F9-B5CD-D3D9C033F059}"/>
              </a:ext>
            </a:extLst>
          </p:cNvPr>
          <p:cNvSpPr>
            <a:spLocks xmlns:a="http://schemas.openxmlformats.org/drawingml/2006/main" noGrp="1"/>
          </p:cNvSpPr>
          <p:nvPr/>
        </p:nvSpPr>
        <p:spPr>
          <a:xfrm xmlns:a="http://schemas.openxmlformats.org/drawingml/2006/main">
            <a:off x="733425" y="4981575"/>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자가노동 비용을 반영한 소득</a:t>
            </a:r>
          </a:p>
        </p:txBody>
      </p:sp>
      <p:sp>
        <p:nvSpPr>
          <p:cNvPr id="7" name="매출">
            <a:extLst xmlns:a="http://schemas.openxmlformats.org/drawingml/2006/main">
              <a:ext uri="{FF2B5EF4-FFF2-40B4-BE49-F238E27FC236}">
                <a16:creationId xmlns:a16="http://schemas.microsoft.com/office/drawing/2014/main" id="{65D6C5A3-28CB-45F2-9681-7991A48A46FE}"/>
              </a:ext>
            </a:extLst>
          </p:cNvPr>
          <p:cNvSpPr>
            <a:spLocks xmlns:a="http://schemas.openxmlformats.org/drawingml/2006/main" noGrp="1"/>
          </p:cNvSpPr>
          <p:nvPr/>
        </p:nvSpPr>
        <p:spPr>
          <a:xfrm xmlns:a="http://schemas.openxmlformats.org/drawingml/2006/main">
            <a:off x="6477000" y="2400300"/>
            <a:ext cx="457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66A61"/>
                </a:solidFill>
                <a:latin typeface="Malgun Gothic"/>
                <a:ea typeface="Malgun Gothic"/>
                <a:cs typeface="Malgun Gothic"/>
              </a:defRPr>
            </a:defPPr>
          </a:lstStyle>
          <a:p xmlns:a="http://schemas.openxmlformats.org/drawingml/2006/main">
            <a:pPr algn="l">
              <a:defRPr sz="2100" b="0">
                <a:solidFill>
                  <a:srgbClr val="666A61"/>
                </a:solidFill>
                <a:latin typeface="Malgun Gothic"/>
                <a:ea typeface="Malgun Gothic"/>
                <a:cs typeface="Malgun Gothic"/>
              </a:defRPr>
            </a:pPr>
            <a:r>
              <a:rPr sz="2100" b="0">
                <a:solidFill>
                  <a:srgbClr val="666A61"/>
                </a:solidFill>
                <a:latin typeface="Malgun Gothic"/>
                <a:ea typeface="Malgun Gothic"/>
                <a:cs typeface="Malgun Gothic"/>
              </a:rPr>
              <a:t>매출</a:t>
            </a:r>
          </a:p>
        </p:txBody>
      </p:sp>
      <p:sp>
        <p:nvSpPr>
          <p:cNvPr id="8" name="3,634.8만원">
            <a:extLst xmlns:a="http://schemas.openxmlformats.org/drawingml/2006/main">
              <a:ext uri="{FF2B5EF4-FFF2-40B4-BE49-F238E27FC236}">
                <a16:creationId xmlns:a16="http://schemas.microsoft.com/office/drawing/2014/main" id="{26F92772-503A-4DF6-8B2C-F7E06C7D399E}"/>
              </a:ext>
            </a:extLst>
          </p:cNvPr>
          <p:cNvSpPr>
            <a:spLocks xmlns:a="http://schemas.openxmlformats.org/drawingml/2006/main" noGrp="1"/>
          </p:cNvSpPr>
          <p:nvPr/>
        </p:nvSpPr>
        <p:spPr>
          <a:xfrm xmlns:a="http://schemas.openxmlformats.org/drawingml/2006/main">
            <a:off x="6477000" y="2819400"/>
            <a:ext cx="4610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63D30"/>
                </a:solidFill>
                <a:latin typeface="Malgun Gothic"/>
                <a:ea typeface="Malgun Gothic"/>
                <a:cs typeface="Malgun Gothic"/>
              </a:defRPr>
            </a:defPPr>
          </a:lstStyle>
          <a:p xmlns:a="http://schemas.openxmlformats.org/drawingml/2006/main">
            <a:pPr algn="l">
              <a:defRPr sz="2775" b="1">
                <a:solidFill>
                  <a:srgbClr val="163D30"/>
                </a:solidFill>
                <a:latin typeface="Malgun Gothic"/>
                <a:ea typeface="Malgun Gothic"/>
                <a:cs typeface="Malgun Gothic"/>
              </a:defRPr>
            </a:pPr>
            <a:r>
              <a:rPr sz="2775" b="1">
                <a:solidFill>
                  <a:srgbClr val="163D30"/>
                </a:solidFill>
                <a:latin typeface="Malgun Gothic"/>
                <a:ea typeface="Malgun Gothic"/>
                <a:cs typeface="Malgun Gothic"/>
              </a:rPr>
              <a:t>3,634.8만원</a:t>
            </a:r>
          </a:p>
        </p:txBody>
      </p:sp>
      <p:sp>
        <p:nvSpPr>
          <p:cNvPr id="9" name="경영비 차감">
            <a:extLst xmlns:a="http://schemas.openxmlformats.org/drawingml/2006/main">
              <a:ext uri="{FF2B5EF4-FFF2-40B4-BE49-F238E27FC236}">
                <a16:creationId xmlns:a16="http://schemas.microsoft.com/office/drawing/2014/main" id="{96AF3984-6A95-4B71-9DC6-1D231801A89A}"/>
              </a:ext>
            </a:extLst>
          </p:cNvPr>
          <p:cNvSpPr>
            <a:spLocks xmlns:a="http://schemas.openxmlformats.org/drawingml/2006/main" noGrp="1"/>
          </p:cNvSpPr>
          <p:nvPr/>
        </p:nvSpPr>
        <p:spPr>
          <a:xfrm xmlns:a="http://schemas.openxmlformats.org/drawingml/2006/main">
            <a:off x="6477000" y="3419475"/>
            <a:ext cx="457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66A61"/>
                </a:solidFill>
                <a:latin typeface="Malgun Gothic"/>
                <a:ea typeface="Malgun Gothic"/>
                <a:cs typeface="Malgun Gothic"/>
              </a:defRPr>
            </a:defPPr>
          </a:lstStyle>
          <a:p xmlns:a="http://schemas.openxmlformats.org/drawingml/2006/main">
            <a:pPr algn="l">
              <a:defRPr sz="2100" b="0">
                <a:solidFill>
                  <a:srgbClr val="666A61"/>
                </a:solidFill>
                <a:latin typeface="Malgun Gothic"/>
                <a:ea typeface="Malgun Gothic"/>
                <a:cs typeface="Malgun Gothic"/>
              </a:defRPr>
            </a:pPr>
            <a:r>
              <a:rPr sz="2100" b="0">
                <a:solidFill>
                  <a:srgbClr val="666A61"/>
                </a:solidFill>
                <a:latin typeface="Malgun Gothic"/>
                <a:ea typeface="Malgun Gothic"/>
                <a:cs typeface="Malgun Gothic"/>
              </a:rPr>
              <a:t>경영비 차감</a:t>
            </a:r>
          </a:p>
        </p:txBody>
      </p:sp>
      <p:sp>
        <p:nvSpPr>
          <p:cNvPr id="10" name="−2,078.3만원">
            <a:extLst xmlns:a="http://schemas.openxmlformats.org/drawingml/2006/main">
              <a:ext uri="{FF2B5EF4-FFF2-40B4-BE49-F238E27FC236}">
                <a16:creationId xmlns:a16="http://schemas.microsoft.com/office/drawing/2014/main" id="{4BF9A1AC-6A08-42E4-90FB-5D7164B42CB3}"/>
              </a:ext>
            </a:extLst>
          </p:cNvPr>
          <p:cNvSpPr>
            <a:spLocks xmlns:a="http://schemas.openxmlformats.org/drawingml/2006/main" noGrp="1"/>
          </p:cNvSpPr>
          <p:nvPr/>
        </p:nvSpPr>
        <p:spPr>
          <a:xfrm xmlns:a="http://schemas.openxmlformats.org/drawingml/2006/main">
            <a:off x="6477000" y="3838575"/>
            <a:ext cx="4610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63D30"/>
                </a:solidFill>
                <a:latin typeface="Malgun Gothic"/>
                <a:ea typeface="Malgun Gothic"/>
                <a:cs typeface="Malgun Gothic"/>
              </a:defRPr>
            </a:defPPr>
          </a:lstStyle>
          <a:p xmlns:a="http://schemas.openxmlformats.org/drawingml/2006/main">
            <a:pPr algn="l">
              <a:defRPr sz="2775" b="1">
                <a:solidFill>
                  <a:srgbClr val="163D30"/>
                </a:solidFill>
                <a:latin typeface="Malgun Gothic"/>
                <a:ea typeface="Malgun Gothic"/>
                <a:cs typeface="Malgun Gothic"/>
              </a:defRPr>
            </a:pPr>
            <a:r>
              <a:rPr sz="2775" b="1">
                <a:solidFill>
                  <a:srgbClr val="163D30"/>
                </a:solidFill>
                <a:latin typeface="Malgun Gothic"/>
                <a:ea typeface="Malgun Gothic"/>
                <a:cs typeface="Malgun Gothic"/>
              </a:rPr>
              <a:t>−2,078.3만원</a:t>
            </a:r>
          </a:p>
        </p:txBody>
      </p:sp>
      <p:sp>
        <p:nvSpPr>
          <p:cNvPr id="11" name="자가노동 차감">
            <a:extLst xmlns:a="http://schemas.openxmlformats.org/drawingml/2006/main">
              <a:ext uri="{FF2B5EF4-FFF2-40B4-BE49-F238E27FC236}">
                <a16:creationId xmlns:a16="http://schemas.microsoft.com/office/drawing/2014/main" id="{C320AD67-E856-4225-A077-B31DB21EA9CE}"/>
              </a:ext>
            </a:extLst>
          </p:cNvPr>
          <p:cNvSpPr>
            <a:spLocks xmlns:a="http://schemas.openxmlformats.org/drawingml/2006/main" noGrp="1"/>
          </p:cNvSpPr>
          <p:nvPr/>
        </p:nvSpPr>
        <p:spPr>
          <a:xfrm xmlns:a="http://schemas.openxmlformats.org/drawingml/2006/main">
            <a:off x="6477000" y="4438650"/>
            <a:ext cx="457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66A61"/>
                </a:solidFill>
                <a:latin typeface="Malgun Gothic"/>
                <a:ea typeface="Malgun Gothic"/>
                <a:cs typeface="Malgun Gothic"/>
              </a:defRPr>
            </a:defPPr>
          </a:lstStyle>
          <a:p xmlns:a="http://schemas.openxmlformats.org/drawingml/2006/main">
            <a:pPr algn="l">
              <a:defRPr sz="2100" b="0">
                <a:solidFill>
                  <a:srgbClr val="666A61"/>
                </a:solidFill>
                <a:latin typeface="Malgun Gothic"/>
                <a:ea typeface="Malgun Gothic"/>
                <a:cs typeface="Malgun Gothic"/>
              </a:defRPr>
            </a:pPr>
            <a:r>
              <a:rPr sz="2100" b="0">
                <a:solidFill>
                  <a:srgbClr val="666A61"/>
                </a:solidFill>
                <a:latin typeface="Malgun Gothic"/>
                <a:ea typeface="Malgun Gothic"/>
                <a:cs typeface="Malgun Gothic"/>
              </a:rPr>
              <a:t>자가노동 차감</a:t>
            </a:r>
          </a:p>
        </p:txBody>
      </p:sp>
      <p:sp>
        <p:nvSpPr>
          <p:cNvPr id="12" name="−1,209.8만원">
            <a:extLst xmlns:a="http://schemas.openxmlformats.org/drawingml/2006/main">
              <a:ext uri="{FF2B5EF4-FFF2-40B4-BE49-F238E27FC236}">
                <a16:creationId xmlns:a16="http://schemas.microsoft.com/office/drawing/2014/main" id="{DAE93FBB-DEEA-4679-8956-50B509650D3A}"/>
              </a:ext>
            </a:extLst>
          </p:cNvPr>
          <p:cNvSpPr>
            <a:spLocks xmlns:a="http://schemas.openxmlformats.org/drawingml/2006/main" noGrp="1"/>
          </p:cNvSpPr>
          <p:nvPr/>
        </p:nvSpPr>
        <p:spPr>
          <a:xfrm xmlns:a="http://schemas.openxmlformats.org/drawingml/2006/main">
            <a:off x="6477000" y="4857750"/>
            <a:ext cx="4610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63D30"/>
                </a:solidFill>
                <a:latin typeface="Malgun Gothic"/>
                <a:ea typeface="Malgun Gothic"/>
                <a:cs typeface="Malgun Gothic"/>
              </a:defRPr>
            </a:defPPr>
          </a:lstStyle>
          <a:p xmlns:a="http://schemas.openxmlformats.org/drawingml/2006/main">
            <a:pPr algn="l">
              <a:defRPr sz="2775" b="1">
                <a:solidFill>
                  <a:srgbClr val="163D30"/>
                </a:solidFill>
                <a:latin typeface="Malgun Gothic"/>
                <a:ea typeface="Malgun Gothic"/>
                <a:cs typeface="Malgun Gothic"/>
              </a:defRPr>
            </a:pPr>
            <a:r>
              <a:rPr sz="2775" b="1">
                <a:solidFill>
                  <a:srgbClr val="163D30"/>
                </a:solidFill>
                <a:latin typeface="Malgun Gothic"/>
                <a:ea typeface="Malgun Gothic"/>
                <a:cs typeface="Malgun Gothic"/>
              </a:rPr>
              <a:t>−1,209.8만원</a:t>
            </a:r>
          </a:p>
        </p:txBody>
      </p:sp>
      <p:sp>
        <p:nvSpPr>
          <p:cNvPr id="13" name="공개 조사값을 사용한 계산입니다. 개별 농가의 미래 소득을 검증한 값은 아닙니다.">
            <a:extLst xmlns:a="http://schemas.openxmlformats.org/drawingml/2006/main">
              <a:ext uri="{FF2B5EF4-FFF2-40B4-BE49-F238E27FC236}">
                <a16:creationId xmlns:a16="http://schemas.microsoft.com/office/drawing/2014/main" id="{C0C55F64-F378-45C0-8996-E85E363D5B5E}"/>
              </a:ext>
            </a:extLst>
          </p:cNvPr>
          <p:cNvSpPr>
            <a:spLocks xmlns:a="http://schemas.openxmlformats.org/drawingml/2006/main" noGrp="1"/>
          </p:cNvSpPr>
          <p:nvPr/>
        </p:nvSpPr>
        <p:spPr>
          <a:xfrm xmlns:a="http://schemas.openxmlformats.org/drawingml/2006/main">
            <a:off x="685800" y="59817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공개 조사값을 사용한 계산입니다. 개별 농가의 미래 소득을 검증한 값은 아닙니다.</a:t>
            </a:r>
          </a:p>
        </p:txBody>
      </p:sp>
    </p:spTree>
    <p:extLst>
      <p:ext uri="{BB962C8B-B14F-4D97-AF65-F5344CB8AC3E}">
        <p14:creationId xmlns:p14="http://schemas.microsoft.com/office/powerpoint/2010/main" val="242294670"/>
      </p:ext>
    </p:extLst>
  </p:cSld>
</p:sld>
</file>

<file path=ppt/slides/slide7.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기준 조건에서는 6년째 투자금을 회수">
            <a:extLst xmlns:a="http://schemas.openxmlformats.org/drawingml/2006/main">
              <a:ext uri="{FF2B5EF4-FFF2-40B4-BE49-F238E27FC236}">
                <a16:creationId xmlns:a16="http://schemas.microsoft.com/office/drawing/2014/main" id="{3704463D-F086-44CB-BE73-6223146F1737}"/>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기준 조건에서는 6년째 투자금을 회수</a:t>
            </a:r>
          </a:p>
        </p:txBody>
      </p:sp>
      <p:sp>
        <p:nvSpPr>
          <p:cNvPr id="2" name="07">
            <a:extLst xmlns:a="http://schemas.openxmlformats.org/drawingml/2006/main">
              <a:ext uri="{FF2B5EF4-FFF2-40B4-BE49-F238E27FC236}">
                <a16:creationId xmlns:a16="http://schemas.microsoft.com/office/drawing/2014/main" id="{962B1092-0E19-40E7-9DC7-2C87FFD23870}"/>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07</a:t>
            </a:r>
          </a:p>
        </p:txBody>
      </p:sp>
      <p:sp>
        <p:nvSpPr>
          <p:cNvPr id="3" name="6년">
            <a:extLst xmlns:a="http://schemas.openxmlformats.org/drawingml/2006/main">
              <a:ext uri="{FF2B5EF4-FFF2-40B4-BE49-F238E27FC236}">
                <a16:creationId xmlns:a16="http://schemas.microsoft.com/office/drawing/2014/main" id="{173441B0-CF4D-4948-B60D-2BFFA97C3F9D}"/>
              </a:ext>
            </a:extLst>
          </p:cNvPr>
          <p:cNvSpPr>
            <a:spLocks xmlns:a="http://schemas.openxmlformats.org/drawingml/2006/main" noGrp="1"/>
          </p:cNvSpPr>
          <p:nvPr/>
        </p:nvSpPr>
        <p:spPr>
          <a:xfrm xmlns:a="http://schemas.openxmlformats.org/drawingml/2006/main">
            <a:off x="685800" y="1885950"/>
            <a:ext cx="31908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825" b="1">
                <a:solidFill>
                  <a:srgbClr val="247B56"/>
                </a:solidFill>
                <a:latin typeface="Malgun Gothic"/>
                <a:ea typeface="Malgun Gothic"/>
                <a:cs typeface="Malgun Gothic"/>
              </a:defRPr>
            </a:defPPr>
          </a:lstStyle>
          <a:p xmlns:a="http://schemas.openxmlformats.org/drawingml/2006/main">
            <a:pPr algn="l">
              <a:defRPr sz="6825" b="1">
                <a:solidFill>
                  <a:srgbClr val="247B56"/>
                </a:solidFill>
                <a:latin typeface="Malgun Gothic"/>
                <a:ea typeface="Malgun Gothic"/>
                <a:cs typeface="Malgun Gothic"/>
              </a:defRPr>
            </a:pPr>
            <a:r>
              <a:rPr sz="6825" b="1">
                <a:solidFill>
                  <a:srgbClr val="247B56"/>
                </a:solidFill>
                <a:latin typeface="Malgun Gothic"/>
                <a:ea typeface="Malgun Gothic"/>
                <a:cs typeface="Malgun Gothic"/>
              </a:rPr>
              <a:t>6년</a:t>
            </a:r>
          </a:p>
        </p:txBody>
      </p:sp>
      <p:sp>
        <p:nvSpPr>
          <p:cNvPr id="4" name="매년 남는 현금&#10;약 2,035만원 기준">
            <a:extLst xmlns:a="http://schemas.openxmlformats.org/drawingml/2006/main">
              <a:ext uri="{FF2B5EF4-FFF2-40B4-BE49-F238E27FC236}">
                <a16:creationId xmlns:a16="http://schemas.microsoft.com/office/drawing/2014/main" id="{A1EC326B-1DBF-45A9-8BC3-430AEEDB0BAF}"/>
              </a:ext>
            </a:extLst>
          </p:cNvPr>
          <p:cNvSpPr>
            <a:spLocks xmlns:a="http://schemas.openxmlformats.org/drawingml/2006/main" noGrp="1"/>
          </p:cNvSpPr>
          <p:nvPr/>
        </p:nvSpPr>
        <p:spPr>
          <a:xfrm xmlns:a="http://schemas.openxmlformats.org/drawingml/2006/main">
            <a:off x="742950" y="3371850"/>
            <a:ext cx="4000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매년 남는 현금</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약 2,035만원 기준</a:t>
            </a:r>
          </a:p>
        </p:txBody>
      </p:sp>
      <p:sp>
        <p:nvSpPr>
          <p:cNvPr id="5" name="자가노동 기회비용을&#10;차감하기 전 현금흐름">
            <a:extLst xmlns:a="http://schemas.openxmlformats.org/drawingml/2006/main">
              <a:ext uri="{FF2B5EF4-FFF2-40B4-BE49-F238E27FC236}">
                <a16:creationId xmlns:a16="http://schemas.microsoft.com/office/drawing/2014/main" id="{FEDE4ED9-3132-4F43-A518-76C748A17E2A}"/>
              </a:ext>
            </a:extLst>
          </p:cNvPr>
          <p:cNvSpPr>
            <a:spLocks xmlns:a="http://schemas.openxmlformats.org/drawingml/2006/main" noGrp="1"/>
          </p:cNvSpPr>
          <p:nvPr/>
        </p:nvSpPr>
        <p:spPr>
          <a:xfrm xmlns:a="http://schemas.openxmlformats.org/drawingml/2006/main">
            <a:off x="742950" y="4962525"/>
            <a:ext cx="4000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66A61"/>
                </a:solidFill>
                <a:latin typeface="Malgun Gothic"/>
                <a:ea typeface="Malgun Gothic"/>
                <a:cs typeface="Malgun Gothic"/>
              </a:defRPr>
            </a:defPPr>
          </a:lstStyle>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자가노동 기회비용을</a:t>
            </a:r>
          </a:p>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차감하기 전 현금흐름</a:t>
            </a:r>
          </a:p>
        </p:txBody>
      </p:sp>
      <p:graphicFrame>
        <p:nvGraphicFramePr>
          <p:cNvPr id="6" name="Chart">
            <a:extLst xmlns:a="http://schemas.openxmlformats.org/drawingml/2006/main">
              <a:ext uri="{FF2B5EF4-FFF2-40B4-BE49-F238E27FC236}">
                <a16:creationId xmlns:a16="http://schemas.microsoft.com/office/drawing/2014/main" id="{C4B9D217-311E-4D63-8319-8577AC0B7D37}"/>
              </a:ext>
            </a:extLst>
          </p:cNvPr>
          <p:cNvGraphicFramePr/>
          <p:nvPr/>
        </p:nvGraphicFramePr>
        <p:xfrm>
          <a:off xmlns:a="http://schemas.openxmlformats.org/drawingml/2006/main" x="4667250" y="1819275"/>
          <a:ext xmlns:a="http://schemas.openxmlformats.org/drawingml/2006/main" cx="6858000" cy="3733800"/>
        </p:xfrm>
        <a:graphic xmlns:a="http://schemas.openxmlformats.org/drawingml/2006/main">
          <a:graphicData uri="http://schemas.openxmlformats.org/drawingml/2006/chart">
            <c:chart xmlns:r="http://schemas.openxmlformats.org/officeDocument/2006/relationships" xmlns:c="http://schemas.openxmlformats.org/drawingml/2006/chart" r:id="R71525eee3e0e4821"/>
          </a:graphicData>
        </a:graphic>
      </p:graphicFrame>
      <p:sp>
        <p:nvSpPr>
          <p:cNvPr id="7" name="연간 조건이 계속 같고, 10년 동안 장비 교체비가 없다는 가정입니다.">
            <a:extLst xmlns:a="http://schemas.openxmlformats.org/drawingml/2006/main">
              <a:ext uri="{FF2B5EF4-FFF2-40B4-BE49-F238E27FC236}">
                <a16:creationId xmlns:a16="http://schemas.microsoft.com/office/drawing/2014/main" id="{26A1291C-D268-4ABE-8FA8-6F23A775E4A3}"/>
              </a:ext>
            </a:extLst>
          </p:cNvPr>
          <p:cNvSpPr>
            <a:spLocks xmlns:a="http://schemas.openxmlformats.org/drawingml/2006/main" noGrp="1"/>
          </p:cNvSpPr>
          <p:nvPr/>
        </p:nvSpPr>
        <p:spPr>
          <a:xfrm xmlns:a="http://schemas.openxmlformats.org/drawingml/2006/main">
            <a:off x="685800" y="60007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연간 조건이 계속 같고, 10년 동안 장비 교체비가 없다는 가정입니다.</a:t>
            </a:r>
          </a:p>
        </p:txBody>
      </p:sp>
    </p:spTree>
    <p:extLst>
      <p:ext uri="{BB962C8B-B14F-4D97-AF65-F5344CB8AC3E}">
        <p14:creationId xmlns:p14="http://schemas.microsoft.com/office/powerpoint/2010/main" val="317777890"/>
      </p:ext>
    </p:extLst>
  </p:cSld>
</p:sld>
</file>

<file path=ppt/slides/slide8.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9" name="불리한 조건에서는 10년 안에 회수 못 합니다">
            <a:extLst xmlns:a="http://schemas.openxmlformats.org/drawingml/2006/main">
              <a:ext uri="{FF2B5EF4-FFF2-40B4-BE49-F238E27FC236}">
                <a16:creationId xmlns:a16="http://schemas.microsoft.com/office/drawing/2014/main" id="{1F4131C7-ED3A-4C17-9D03-8D5B498BC42B}"/>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불리한 조건에서는 10년 안에 회수 못 합니다</a:t>
            </a:r>
          </a:p>
        </p:txBody>
      </p:sp>
      <p:sp>
        <p:nvSpPr>
          <p:cNvPr id="2" name="08">
            <a:extLst xmlns:a="http://schemas.openxmlformats.org/drawingml/2006/main">
              <a:ext uri="{FF2B5EF4-FFF2-40B4-BE49-F238E27FC236}">
                <a16:creationId xmlns:a16="http://schemas.microsoft.com/office/drawing/2014/main" id="{7E8A4E9B-0885-486B-8D4D-BEA006855685}"/>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08</a:t>
            </a:r>
          </a:p>
        </p:txBody>
      </p:sp>
      <p:sp>
        <p:nvSpPr>
          <p:cNvPr id="3" name="생산 10% 감소&#10;판매단가 20% 하락&#10;현금 운영비 10% 상승">
            <a:extLst xmlns:a="http://schemas.openxmlformats.org/drawingml/2006/main">
              <a:ext uri="{FF2B5EF4-FFF2-40B4-BE49-F238E27FC236}">
                <a16:creationId xmlns:a16="http://schemas.microsoft.com/office/drawing/2014/main" id="{B1FE4B98-DC96-45E4-BFF1-8CA9AE99BAD9}"/>
              </a:ext>
            </a:extLst>
          </p:cNvPr>
          <p:cNvSpPr>
            <a:spLocks xmlns:a="http://schemas.openxmlformats.org/drawingml/2006/main" noGrp="1"/>
          </p:cNvSpPr>
          <p:nvPr/>
        </p:nvSpPr>
        <p:spPr>
          <a:xfrm xmlns:a="http://schemas.openxmlformats.org/drawingml/2006/main">
            <a:off x="685800" y="2085975"/>
            <a:ext cx="5362575"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63D30"/>
                </a:solidFill>
                <a:latin typeface="Malgun Gothic"/>
                <a:ea typeface="Malgun Gothic"/>
                <a:cs typeface="Malgun Gothic"/>
              </a:defRPr>
            </a:defPPr>
          </a:lstStyle>
          <a:p xmlns:a="http://schemas.openxmlformats.org/drawingml/2006/main">
            <a:pPr algn="l">
              <a:defRPr sz="2700" b="1">
                <a:solidFill>
                  <a:srgbClr val="163D30"/>
                </a:solidFill>
                <a:latin typeface="Malgun Gothic"/>
                <a:ea typeface="Malgun Gothic"/>
                <a:cs typeface="Malgun Gothic"/>
              </a:defRPr>
            </a:pPr>
            <a:r>
              <a:rPr sz="2700" b="1">
                <a:solidFill>
                  <a:srgbClr val="163D30"/>
                </a:solidFill>
                <a:latin typeface="Malgun Gothic"/>
                <a:ea typeface="Malgun Gothic"/>
                <a:cs typeface="Malgun Gothic"/>
              </a:rPr>
              <a:t>생산 10% 감소</a:t>
            </a:r>
          </a:p>
          <a:p xmlns:a="http://schemas.openxmlformats.org/drawingml/2006/main">
            <a:pPr algn="l">
              <a:defRPr sz="2700" b="1">
                <a:solidFill>
                  <a:srgbClr val="163D30"/>
                </a:solidFill>
                <a:latin typeface="Malgun Gothic"/>
                <a:ea typeface="Malgun Gothic"/>
                <a:cs typeface="Malgun Gothic"/>
              </a:defRPr>
            </a:pPr>
            <a:r>
              <a:rPr sz="2700" b="1">
                <a:solidFill>
                  <a:srgbClr val="163D30"/>
                </a:solidFill>
                <a:latin typeface="Malgun Gothic"/>
                <a:ea typeface="Malgun Gothic"/>
                <a:cs typeface="Malgun Gothic"/>
              </a:rPr>
              <a:t>판매단가 20% 하락</a:t>
            </a:r>
          </a:p>
          <a:p xmlns:a="http://schemas.openxmlformats.org/drawingml/2006/main">
            <a:pPr algn="l">
              <a:defRPr sz="2700" b="1">
                <a:solidFill>
                  <a:srgbClr val="163D30"/>
                </a:solidFill>
                <a:latin typeface="Malgun Gothic"/>
                <a:ea typeface="Malgun Gothic"/>
                <a:cs typeface="Malgun Gothic"/>
              </a:defRPr>
            </a:pPr>
            <a:r>
              <a:rPr sz="2700" b="1">
                <a:solidFill>
                  <a:srgbClr val="163D30"/>
                </a:solidFill>
                <a:latin typeface="Malgun Gothic"/>
                <a:ea typeface="Malgun Gothic"/>
                <a:cs typeface="Malgun Gothic"/>
              </a:rPr>
              <a:t>현금 운영비 10% 상승</a:t>
            </a:r>
          </a:p>
        </p:txBody>
      </p:sp>
      <p:sp>
        <p:nvSpPr>
          <p:cNvPr id="4" name="10년 뒤에도">
            <a:extLst xmlns:a="http://schemas.openxmlformats.org/drawingml/2006/main">
              <a:ext uri="{FF2B5EF4-FFF2-40B4-BE49-F238E27FC236}">
                <a16:creationId xmlns:a16="http://schemas.microsoft.com/office/drawing/2014/main" id="{67593D0A-BB1C-43B1-AE60-9D9BE195AB0A}"/>
              </a:ext>
            </a:extLst>
          </p:cNvPr>
          <p:cNvSpPr>
            <a:spLocks xmlns:a="http://schemas.openxmlformats.org/drawingml/2006/main" noGrp="1"/>
          </p:cNvSpPr>
          <p:nvPr/>
        </p:nvSpPr>
        <p:spPr>
          <a:xfrm xmlns:a="http://schemas.openxmlformats.org/drawingml/2006/main">
            <a:off x="6896100" y="2038350"/>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66A61"/>
                </a:solidFill>
                <a:latin typeface="Malgun Gothic"/>
                <a:ea typeface="Malgun Gothic"/>
                <a:cs typeface="Malgun Gothic"/>
              </a:defRPr>
            </a:defPPr>
          </a:lstStyle>
          <a:p xmlns:a="http://schemas.openxmlformats.org/drawingml/2006/main">
            <a:pPr algn="l">
              <a:defRPr sz="2250" b="0">
                <a:solidFill>
                  <a:srgbClr val="666A61"/>
                </a:solidFill>
                <a:latin typeface="Malgun Gothic"/>
                <a:ea typeface="Malgun Gothic"/>
                <a:cs typeface="Malgun Gothic"/>
              </a:defRPr>
            </a:pPr>
            <a:r>
              <a:rPr sz="2250" b="0">
                <a:solidFill>
                  <a:srgbClr val="666A61"/>
                </a:solidFill>
                <a:latin typeface="Malgun Gothic"/>
                <a:ea typeface="Malgun Gothic"/>
                <a:cs typeface="Malgun Gothic"/>
              </a:rPr>
              <a:t>10년 뒤에도</a:t>
            </a:r>
          </a:p>
        </p:txBody>
      </p:sp>
      <p:sp>
        <p:nvSpPr>
          <p:cNvPr id="5" name="2,675만원">
            <a:extLst xmlns:a="http://schemas.openxmlformats.org/drawingml/2006/main">
              <a:ext uri="{FF2B5EF4-FFF2-40B4-BE49-F238E27FC236}">
                <a16:creationId xmlns:a16="http://schemas.microsoft.com/office/drawing/2014/main" id="{FAA78D9D-EF3D-4916-94F1-C17A2B1FE57F}"/>
              </a:ext>
            </a:extLst>
          </p:cNvPr>
          <p:cNvSpPr>
            <a:spLocks xmlns:a="http://schemas.openxmlformats.org/drawingml/2006/main" noGrp="1"/>
          </p:cNvSpPr>
          <p:nvPr/>
        </p:nvSpPr>
        <p:spPr>
          <a:xfrm xmlns:a="http://schemas.openxmlformats.org/drawingml/2006/main">
            <a:off x="6800850" y="2686050"/>
            <a:ext cx="47910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75" b="1">
                <a:solidFill>
                  <a:srgbClr val="C45E2A"/>
                </a:solidFill>
                <a:latin typeface="Malgun Gothic"/>
                <a:ea typeface="Malgun Gothic"/>
                <a:cs typeface="Malgun Gothic"/>
              </a:defRPr>
            </a:defPPr>
          </a:lstStyle>
          <a:p xmlns:a="http://schemas.openxmlformats.org/drawingml/2006/main">
            <a:pPr algn="l">
              <a:defRPr sz="4875" b="1">
                <a:solidFill>
                  <a:srgbClr val="C45E2A"/>
                </a:solidFill>
                <a:latin typeface="Malgun Gothic"/>
                <a:ea typeface="Malgun Gothic"/>
                <a:cs typeface="Malgun Gothic"/>
              </a:defRPr>
            </a:pPr>
            <a:r>
              <a:rPr sz="4875" b="1">
                <a:solidFill>
                  <a:srgbClr val="C45E2A"/>
                </a:solidFill>
                <a:latin typeface="Malgun Gothic"/>
                <a:ea typeface="Malgun Gothic"/>
                <a:cs typeface="Malgun Gothic"/>
              </a:rPr>
              <a:t>2,675만원</a:t>
            </a:r>
          </a:p>
        </p:txBody>
      </p:sp>
      <p:sp>
        <p:nvSpPr>
          <p:cNvPr id="6" name="아직 회수하지 못합니다">
            <a:extLst xmlns:a="http://schemas.openxmlformats.org/drawingml/2006/main">
              <a:ext uri="{FF2B5EF4-FFF2-40B4-BE49-F238E27FC236}">
                <a16:creationId xmlns:a16="http://schemas.microsoft.com/office/drawing/2014/main" id="{3D30EFB2-5ECD-47CD-9E82-C9FA2344BDF9}"/>
              </a:ext>
            </a:extLst>
          </p:cNvPr>
          <p:cNvSpPr>
            <a:spLocks xmlns:a="http://schemas.openxmlformats.org/drawingml/2006/main" noGrp="1"/>
          </p:cNvSpPr>
          <p:nvPr/>
        </p:nvSpPr>
        <p:spPr>
          <a:xfrm xmlns:a="http://schemas.openxmlformats.org/drawingml/2006/main">
            <a:off x="6877050" y="3752850"/>
            <a:ext cx="46291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C45E2A"/>
                </a:solidFill>
                <a:latin typeface="Malgun Gothic"/>
                <a:ea typeface="Malgun Gothic"/>
                <a:cs typeface="Malgun Gothic"/>
              </a:defRPr>
            </a:defPPr>
          </a:lstStyle>
          <a:p xmlns:a="http://schemas.openxmlformats.org/drawingml/2006/main">
            <a:pPr algn="l">
              <a:defRPr sz="2400" b="1">
                <a:solidFill>
                  <a:srgbClr val="C45E2A"/>
                </a:solidFill>
                <a:latin typeface="Malgun Gothic"/>
                <a:ea typeface="Malgun Gothic"/>
                <a:cs typeface="Malgun Gothic"/>
              </a:defRPr>
            </a:pPr>
            <a:r>
              <a:rPr sz="2400" b="1">
                <a:solidFill>
                  <a:srgbClr val="C45E2A"/>
                </a:solidFill>
                <a:latin typeface="Malgun Gothic"/>
                <a:ea typeface="Malgun Gothic"/>
                <a:cs typeface="Malgun Gothic"/>
              </a:rPr>
              <a:t>아직 회수하지 못합니다</a:t>
            </a:r>
          </a:p>
        </p:txBody>
      </p:sp>
      <p:sp>
        <p:nvSpPr>
          <p:cNvPr id="7" name="">
            <a:extLst xmlns:a="http://schemas.openxmlformats.org/drawingml/2006/main">
              <a:ext uri="{FF2B5EF4-FFF2-40B4-BE49-F238E27FC236}">
                <a16:creationId xmlns:a16="http://schemas.microsoft.com/office/drawing/2014/main" id="{5F0ACF09-B87B-4DDC-B495-F7F47994313E}"/>
              </a:ext>
            </a:extLst>
          </p:cNvPr>
          <p:cNvSpPr>
            <a:spLocks xmlns:a="http://schemas.openxmlformats.org/drawingml/2006/main" noGrp="1"/>
          </p:cNvSpPr>
          <p:nvPr/>
        </p:nvSpPr>
        <p:spPr>
          <a:xfrm xmlns:a="http://schemas.openxmlformats.org/drawingml/2006/main">
            <a:off x="685800" y="501015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8" name="같은 투자라도 유리한 조건은 4년, 기준 조건은 6년입니다.">
            <a:extLst xmlns:a="http://schemas.openxmlformats.org/drawingml/2006/main">
              <a:ext uri="{FF2B5EF4-FFF2-40B4-BE49-F238E27FC236}">
                <a16:creationId xmlns:a16="http://schemas.microsoft.com/office/drawing/2014/main" id="{1402E47E-2E07-4490-90B5-41361CDC757A}"/>
              </a:ext>
            </a:extLst>
          </p:cNvPr>
          <p:cNvSpPr>
            <a:spLocks xmlns:a="http://schemas.openxmlformats.org/drawingml/2006/main" noGrp="1"/>
          </p:cNvSpPr>
          <p:nvPr/>
        </p:nvSpPr>
        <p:spPr>
          <a:xfrm xmlns:a="http://schemas.openxmlformats.org/drawingml/2006/main">
            <a:off x="685800" y="5400675"/>
            <a:ext cx="106108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같은 투자라도 유리한 조건은 4년, 기준 조건은 6년입니다.</a:t>
            </a:r>
          </a:p>
        </p:txBody>
      </p:sp>
    </p:spTree>
    <p:extLst>
      <p:ext uri="{BB962C8B-B14F-4D97-AF65-F5344CB8AC3E}">
        <p14:creationId xmlns:p14="http://schemas.microsoft.com/office/powerpoint/2010/main" val="1861050851"/>
      </p:ext>
    </p:extLst>
  </p:cSld>
</p:sld>
</file>

<file path=ppt/slides/slide9.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저온 피해를 가정하면 가격 상승 효과가 줄어듭니다">
            <a:extLst xmlns:a="http://schemas.openxmlformats.org/drawingml/2006/main">
              <a:ext uri="{FF2B5EF4-FFF2-40B4-BE49-F238E27FC236}">
                <a16:creationId xmlns:a16="http://schemas.microsoft.com/office/drawing/2014/main" id="{78C6BBB8-F9EF-4E9B-9E67-D37753B5BA0D}"/>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저온 피해를 가정하면 가격 상승 효과가 줄어듭니다</a:t>
            </a:r>
          </a:p>
        </p:txBody>
      </p:sp>
      <p:sp>
        <p:nvSpPr>
          <p:cNvPr id="2" name="09">
            <a:extLst xmlns:a="http://schemas.openxmlformats.org/drawingml/2006/main">
              <a:ext uri="{FF2B5EF4-FFF2-40B4-BE49-F238E27FC236}">
                <a16:creationId xmlns:a16="http://schemas.microsoft.com/office/drawing/2014/main" id="{AD37A253-5F7E-4D56-B274-E09C692A8DD0}"/>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09</a:t>
            </a:r>
          </a:p>
        </p:txBody>
      </p:sp>
      <p:sp>
        <p:nvSpPr>
          <p:cNvPr id="3" name="자가노동 비용을 뺀 연소득, 단위 만원">
            <a:extLst xmlns:a="http://schemas.openxmlformats.org/drawingml/2006/main">
              <a:ext uri="{FF2B5EF4-FFF2-40B4-BE49-F238E27FC236}">
                <a16:creationId xmlns:a16="http://schemas.microsoft.com/office/drawing/2014/main" id="{1224099C-ED72-4E88-AC0D-A63A54D28D84}"/>
              </a:ext>
            </a:extLst>
          </p:cNvPr>
          <p:cNvSpPr>
            <a:spLocks xmlns:a="http://schemas.openxmlformats.org/drawingml/2006/main" noGrp="1"/>
          </p:cNvSpPr>
          <p:nvPr/>
        </p:nvSpPr>
        <p:spPr>
          <a:xfrm xmlns:a="http://schemas.openxmlformats.org/drawingml/2006/main">
            <a:off x="685800" y="15525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66A61"/>
                </a:solidFill>
                <a:latin typeface="Malgun Gothic"/>
                <a:ea typeface="Malgun Gothic"/>
                <a:cs typeface="Malgun Gothic"/>
              </a:defRPr>
            </a:defPPr>
          </a:lstStyle>
          <a:p xmlns:a="http://schemas.openxmlformats.org/drawingml/2006/main">
            <a:pPr algn="l">
              <a:defRPr sz="2100" b="0">
                <a:solidFill>
                  <a:srgbClr val="666A61"/>
                </a:solidFill>
                <a:latin typeface="Malgun Gothic"/>
                <a:ea typeface="Malgun Gothic"/>
                <a:cs typeface="Malgun Gothic"/>
              </a:defRPr>
            </a:pPr>
            <a:r>
              <a:rPr sz="2100" b="0">
                <a:solidFill>
                  <a:srgbClr val="666A61"/>
                </a:solidFill>
                <a:latin typeface="Malgun Gothic"/>
                <a:ea typeface="Malgun Gothic"/>
                <a:cs typeface="Malgun Gothic"/>
              </a:rPr>
              <a:t>자가노동 비용을 뺀 연소득, 단위 만원</a:t>
            </a:r>
          </a:p>
        </p:txBody>
      </p:sp>
      <p:graphicFrame>
        <p:nvGraphicFramePr>
          <p:cNvPr id="4" name="Chart">
            <a:extLst xmlns:a="http://schemas.openxmlformats.org/drawingml/2006/main">
              <a:ext uri="{FF2B5EF4-FFF2-40B4-BE49-F238E27FC236}">
                <a16:creationId xmlns:a16="http://schemas.microsoft.com/office/drawing/2014/main" id="{70F8420E-3B7E-444F-B63A-D20E97B0CF08}"/>
              </a:ext>
            </a:extLst>
          </p:cNvPr>
          <p:cNvGraphicFramePr/>
          <p:nvPr/>
        </p:nvGraphicFramePr>
        <p:xfrm>
          <a:off xmlns:a="http://schemas.openxmlformats.org/drawingml/2006/main" x="628650" y="2162175"/>
          <a:ext xmlns:a="http://schemas.openxmlformats.org/drawingml/2006/main" cx="10858500" cy="3133725"/>
        </p:xfrm>
        <a:graphic xmlns:a="http://schemas.openxmlformats.org/drawingml/2006/main">
          <a:graphicData uri="http://schemas.openxmlformats.org/drawingml/2006/chart">
            <c:chart xmlns:r="http://schemas.openxmlformats.org/officeDocument/2006/relationships" xmlns:c="http://schemas.openxmlformats.org/drawingml/2006/chart" r:id="Raf5af94a57cd4428"/>
          </a:graphicData>
        </a:graphic>
      </p:graphicFrame>
      <p:sp>
        <p:nvSpPr>
          <p:cNvPr id="5" name="저온 영향은 생산 −10%, 현금 운영비 +15%로 사용자가 설정했습니다.&#10;가격·저온의 실">
            <a:extLst xmlns:a="http://schemas.openxmlformats.org/drawingml/2006/main">
              <a:ext uri="{FF2B5EF4-FFF2-40B4-BE49-F238E27FC236}">
                <a16:creationId xmlns:a16="http://schemas.microsoft.com/office/drawing/2014/main" id="{A75E0DC4-9759-47F5-85FC-BC2CFFE6B5AC}"/>
              </a:ext>
            </a:extLst>
          </p:cNvPr>
          <p:cNvSpPr>
            <a:spLocks xmlns:a="http://schemas.openxmlformats.org/drawingml/2006/main" noGrp="1"/>
          </p:cNvSpPr>
          <p:nvPr/>
        </p:nvSpPr>
        <p:spPr>
          <a:xfrm xmlns:a="http://schemas.openxmlformats.org/drawingml/2006/main">
            <a:off x="685800" y="57054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저온 영향은 생산 −10%, 현금 운영비 +15%로 사용자가 설정했습니다.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가격·저온의 실제 효과를 입증한 예측은 아닙니다.</a:t>
            </a:r>
          </a:p>
        </p:txBody>
      </p:sp>
    </p:spTree>
    <p:extLst>
      <p:ext uri="{BB962C8B-B14F-4D97-AF65-F5344CB8AC3E}">
        <p14:creationId xmlns:p14="http://schemas.microsoft.com/office/powerpoint/2010/main" val="263238887"/>
      </p:ext>
    </p:extLst>
  </p:cSld>
</p:sld>
</file>

<file path=ppt/slides/slide10.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1" name="과거의 보통값이 더 정확한 경우가 많았습니다">
            <a:extLst xmlns:a="http://schemas.openxmlformats.org/drawingml/2006/main">
              <a:ext uri="{FF2B5EF4-FFF2-40B4-BE49-F238E27FC236}">
                <a16:creationId xmlns:a16="http://schemas.microsoft.com/office/drawing/2014/main" id="{18DEB4A4-DBAC-467A-855C-304A52194DA6}"/>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과거의 보통값이 더 정확한 경우가 많았습니다</a:t>
            </a:r>
          </a:p>
        </p:txBody>
      </p:sp>
      <p:sp>
        <p:nvSpPr>
          <p:cNvPr id="2" name="10">
            <a:extLst xmlns:a="http://schemas.openxmlformats.org/drawingml/2006/main">
              <a:ext uri="{FF2B5EF4-FFF2-40B4-BE49-F238E27FC236}">
                <a16:creationId xmlns:a16="http://schemas.microsoft.com/office/drawing/2014/main" id="{457EDE5C-E20C-4A29-8B4D-C996E683C098}"/>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10</a:t>
            </a:r>
          </a:p>
        </p:txBody>
      </p:sp>
      <p:sp>
        <p:nvSpPr>
          <p:cNvPr id="3" name="생산량">
            <a:extLst xmlns:a="http://schemas.openxmlformats.org/drawingml/2006/main">
              <a:ext uri="{FF2B5EF4-FFF2-40B4-BE49-F238E27FC236}">
                <a16:creationId xmlns:a16="http://schemas.microsoft.com/office/drawing/2014/main" id="{F3111986-8B54-418D-BE61-1DDEDC538265}"/>
              </a:ext>
            </a:extLst>
          </p:cNvPr>
          <p:cNvSpPr>
            <a:spLocks xmlns:a="http://schemas.openxmlformats.org/drawingml/2006/main" noGrp="1"/>
          </p:cNvSpPr>
          <p:nvPr/>
        </p:nvSpPr>
        <p:spPr>
          <a:xfrm xmlns:a="http://schemas.openxmlformats.org/drawingml/2006/main">
            <a:off x="685800" y="2047875"/>
            <a:ext cx="28765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생산량</a:t>
            </a:r>
          </a:p>
        </p:txBody>
      </p:sp>
      <p:sp>
        <p:nvSpPr>
          <p:cNvPr id="4" name="공개 소득조사에서는 과거 중앙값의 오차가 가장 작았습니다.">
            <a:extLst xmlns:a="http://schemas.openxmlformats.org/drawingml/2006/main">
              <a:ext uri="{FF2B5EF4-FFF2-40B4-BE49-F238E27FC236}">
                <a16:creationId xmlns:a16="http://schemas.microsoft.com/office/drawing/2014/main" id="{11D11B1B-13A0-4FD7-A496-F98EE336FA90}"/>
              </a:ext>
            </a:extLst>
          </p:cNvPr>
          <p:cNvSpPr>
            <a:spLocks xmlns:a="http://schemas.openxmlformats.org/drawingml/2006/main" noGrp="1"/>
          </p:cNvSpPr>
          <p:nvPr/>
        </p:nvSpPr>
        <p:spPr>
          <a:xfrm xmlns:a="http://schemas.openxmlformats.org/drawingml/2006/main">
            <a:off x="3781425" y="2019300"/>
            <a:ext cx="75819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공개 소득조사에서는 과거 중앙값의 오차가 가장 작았습니다.</a:t>
            </a:r>
          </a:p>
        </p:txBody>
      </p:sp>
      <p:sp>
        <p:nvSpPr>
          <p:cNvPr id="5" name="">
            <a:extLst xmlns:a="http://schemas.openxmlformats.org/drawingml/2006/main">
              <a:ext uri="{FF2B5EF4-FFF2-40B4-BE49-F238E27FC236}">
                <a16:creationId xmlns:a16="http://schemas.microsoft.com/office/drawing/2014/main" id="{108D7DCF-1A12-4C99-85E6-3806FE7AD696}"/>
              </a:ext>
            </a:extLst>
          </p:cNvPr>
          <p:cNvSpPr>
            <a:spLocks xmlns:a="http://schemas.openxmlformats.org/drawingml/2006/main" noGrp="1"/>
          </p:cNvSpPr>
          <p:nvPr/>
        </p:nvSpPr>
        <p:spPr>
          <a:xfrm xmlns:a="http://schemas.openxmlformats.org/drawingml/2006/main">
            <a:off x="685800" y="3152775"/>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6" name="첫 출하 시점">
            <a:extLst xmlns:a="http://schemas.openxmlformats.org/drawingml/2006/main">
              <a:ext uri="{FF2B5EF4-FFF2-40B4-BE49-F238E27FC236}">
                <a16:creationId xmlns:a16="http://schemas.microsoft.com/office/drawing/2014/main" id="{C2CFD8ED-085C-4FA5-A0FB-5B374193C11B}"/>
              </a:ext>
            </a:extLst>
          </p:cNvPr>
          <p:cNvSpPr>
            <a:spLocks xmlns:a="http://schemas.openxmlformats.org/drawingml/2006/main" noGrp="1"/>
          </p:cNvSpPr>
          <p:nvPr/>
        </p:nvSpPr>
        <p:spPr>
          <a:xfrm xmlns:a="http://schemas.openxmlformats.org/drawingml/2006/main">
            <a:off x="685800" y="3476625"/>
            <a:ext cx="2876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첫 출하 시점</a:t>
            </a:r>
          </a:p>
        </p:txBody>
      </p:sp>
      <p:sp>
        <p:nvSpPr>
          <p:cNvPr id="7" name="농가 기록에서도 품목·정식월의 중앙값이 더 정확했습니다.">
            <a:extLst xmlns:a="http://schemas.openxmlformats.org/drawingml/2006/main">
              <a:ext uri="{FF2B5EF4-FFF2-40B4-BE49-F238E27FC236}">
                <a16:creationId xmlns:a16="http://schemas.microsoft.com/office/drawing/2014/main" id="{ADADE419-1E3D-4350-A33A-AD91D8EC1B82}"/>
              </a:ext>
            </a:extLst>
          </p:cNvPr>
          <p:cNvSpPr>
            <a:spLocks xmlns:a="http://schemas.openxmlformats.org/drawingml/2006/main" noGrp="1"/>
          </p:cNvSpPr>
          <p:nvPr/>
        </p:nvSpPr>
        <p:spPr>
          <a:xfrm xmlns:a="http://schemas.openxmlformats.org/drawingml/2006/main">
            <a:off x="3781425" y="3448050"/>
            <a:ext cx="75819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농가 기록에서도 품목·정식월의 중앙값이 더 정확했습니다.</a:t>
            </a:r>
          </a:p>
        </p:txBody>
      </p:sp>
      <p:sp>
        <p:nvSpPr>
          <p:cNvPr id="8" name="">
            <a:extLst xmlns:a="http://schemas.openxmlformats.org/drawingml/2006/main">
              <a:ext uri="{FF2B5EF4-FFF2-40B4-BE49-F238E27FC236}">
                <a16:creationId xmlns:a16="http://schemas.microsoft.com/office/drawing/2014/main" id="{460A1F34-A916-49CF-AA86-A852B30EDA0D}"/>
              </a:ext>
            </a:extLst>
          </p:cNvPr>
          <p:cNvSpPr>
            <a:spLocks xmlns:a="http://schemas.openxmlformats.org/drawingml/2006/main" noGrp="1"/>
          </p:cNvSpPr>
          <p:nvPr/>
        </p:nvSpPr>
        <p:spPr>
          <a:xfrm xmlns:a="http://schemas.openxmlformats.org/drawingml/2006/main">
            <a:off x="685800" y="459105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9" name="판매가격">
            <a:extLst xmlns:a="http://schemas.openxmlformats.org/drawingml/2006/main">
              <a:ext uri="{FF2B5EF4-FFF2-40B4-BE49-F238E27FC236}">
                <a16:creationId xmlns:a16="http://schemas.microsoft.com/office/drawing/2014/main" id="{65BDB6A2-4387-40B0-BED9-D355D57D8122}"/>
              </a:ext>
            </a:extLst>
          </p:cNvPr>
          <p:cNvSpPr>
            <a:spLocks xmlns:a="http://schemas.openxmlformats.org/drawingml/2006/main" noGrp="1"/>
          </p:cNvSpPr>
          <p:nvPr/>
        </p:nvSpPr>
        <p:spPr>
          <a:xfrm xmlns:a="http://schemas.openxmlformats.org/drawingml/2006/main">
            <a:off x="685800" y="4924425"/>
            <a:ext cx="2876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판매가격</a:t>
            </a:r>
          </a:p>
        </p:txBody>
      </p:sp>
      <p:sp>
        <p:nvSpPr>
          <p:cNvPr id="10" name="2025년 평가에서는 같은 달의 최근 가격이 더 나았습니다.">
            <a:extLst xmlns:a="http://schemas.openxmlformats.org/drawingml/2006/main">
              <a:ext uri="{FF2B5EF4-FFF2-40B4-BE49-F238E27FC236}">
                <a16:creationId xmlns:a16="http://schemas.microsoft.com/office/drawing/2014/main" id="{EA237CDA-350A-4E53-BC83-D47E32420DF2}"/>
              </a:ext>
            </a:extLst>
          </p:cNvPr>
          <p:cNvSpPr>
            <a:spLocks xmlns:a="http://schemas.openxmlformats.org/drawingml/2006/main" noGrp="1"/>
          </p:cNvSpPr>
          <p:nvPr/>
        </p:nvSpPr>
        <p:spPr>
          <a:xfrm xmlns:a="http://schemas.openxmlformats.org/drawingml/2006/main">
            <a:off x="3781425" y="4895850"/>
            <a:ext cx="75819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2025년 평가에서는 같은 달의 최근 가격이 더 나았습니다.</a:t>
            </a:r>
          </a:p>
        </p:txBody>
      </p:sp>
    </p:spTree>
    <p:extLst>
      <p:ext uri="{BB962C8B-B14F-4D97-AF65-F5344CB8AC3E}">
        <p14:creationId xmlns:p14="http://schemas.microsoft.com/office/powerpoint/2010/main" val="937305004"/>
      </p:ext>
    </p:extLst>
  </p:cSld>
</p:sld>
</file>

<file path=ppt/slides/slide11.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농가 기록의 극단값부터 확인해야 합니다">
            <a:extLst xmlns:a="http://schemas.openxmlformats.org/drawingml/2006/main">
              <a:ext uri="{FF2B5EF4-FFF2-40B4-BE49-F238E27FC236}">
                <a16:creationId xmlns:a16="http://schemas.microsoft.com/office/drawing/2014/main" id="{EA7A98F9-CDBC-4EF8-881A-89493844EE37}"/>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농가 기록의 극단값부터 확인해야 합니다</a:t>
            </a:r>
          </a:p>
        </p:txBody>
      </p:sp>
      <p:sp>
        <p:nvSpPr>
          <p:cNvPr id="2" name="11">
            <a:extLst xmlns:a="http://schemas.openxmlformats.org/drawingml/2006/main">
              <a:ext uri="{FF2B5EF4-FFF2-40B4-BE49-F238E27FC236}">
                <a16:creationId xmlns:a16="http://schemas.microsoft.com/office/drawing/2014/main" id="{60BE0EE4-96A9-4D02-AB5C-2DACE76F3259}"/>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11</a:t>
            </a:r>
          </a:p>
        </p:txBody>
      </p:sp>
      <p:sp>
        <p:nvSpPr>
          <p:cNvPr id="3" name="딸기 출하 기록 1건">
            <a:extLst xmlns:a="http://schemas.openxmlformats.org/drawingml/2006/main">
              <a:ext uri="{FF2B5EF4-FFF2-40B4-BE49-F238E27FC236}">
                <a16:creationId xmlns:a16="http://schemas.microsoft.com/office/drawing/2014/main" id="{EA7E6E83-6295-4E79-BE99-AAC8ABBAF2D4}"/>
              </a:ext>
            </a:extLst>
          </p:cNvPr>
          <p:cNvSpPr>
            <a:spLocks xmlns:a="http://schemas.openxmlformats.org/drawingml/2006/main" noGrp="1"/>
          </p:cNvSpPr>
          <p:nvPr/>
        </p:nvSpPr>
        <p:spPr>
          <a:xfrm xmlns:a="http://schemas.openxmlformats.org/drawingml/2006/main">
            <a:off x="685800" y="18669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66A61"/>
                </a:solidFill>
                <a:latin typeface="Malgun Gothic"/>
                <a:ea typeface="Malgun Gothic"/>
                <a:cs typeface="Malgun Gothic"/>
              </a:defRPr>
            </a:defPPr>
          </a:lstStyle>
          <a:p xmlns:a="http://schemas.openxmlformats.org/drawingml/2006/main">
            <a:pPr algn="l">
              <a:defRPr sz="2250" b="0">
                <a:solidFill>
                  <a:srgbClr val="666A61"/>
                </a:solidFill>
                <a:latin typeface="Malgun Gothic"/>
                <a:ea typeface="Malgun Gothic"/>
                <a:cs typeface="Malgun Gothic"/>
              </a:defRPr>
            </a:pPr>
            <a:r>
              <a:rPr sz="2250" b="0">
                <a:solidFill>
                  <a:srgbClr val="666A61"/>
                </a:solidFill>
                <a:latin typeface="Malgun Gothic"/>
                <a:ea typeface="Malgun Gothic"/>
                <a:cs typeface="Malgun Gothic"/>
              </a:rPr>
              <a:t>딸기 출하 기록 1건</a:t>
            </a:r>
          </a:p>
        </p:txBody>
      </p:sp>
      <p:sp>
        <p:nvSpPr>
          <p:cNvPr id="4" name="약 1,460만 kg">
            <a:extLst xmlns:a="http://schemas.openxmlformats.org/drawingml/2006/main">
              <a:ext uri="{FF2B5EF4-FFF2-40B4-BE49-F238E27FC236}">
                <a16:creationId xmlns:a16="http://schemas.microsoft.com/office/drawing/2014/main" id="{4F77313B-75FA-4FA3-85DA-170688465B98}"/>
              </a:ext>
            </a:extLst>
          </p:cNvPr>
          <p:cNvSpPr>
            <a:spLocks xmlns:a="http://schemas.openxmlformats.org/drawingml/2006/main" noGrp="1"/>
          </p:cNvSpPr>
          <p:nvPr/>
        </p:nvSpPr>
        <p:spPr>
          <a:xfrm xmlns:a="http://schemas.openxmlformats.org/drawingml/2006/main">
            <a:off x="685800" y="2400300"/>
            <a:ext cx="10572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C45E2A"/>
                </a:solidFill>
                <a:latin typeface="Malgun Gothic"/>
                <a:ea typeface="Malgun Gothic"/>
                <a:cs typeface="Malgun Gothic"/>
              </a:defRPr>
            </a:defPPr>
          </a:lstStyle>
          <a:p xmlns:a="http://schemas.openxmlformats.org/drawingml/2006/main">
            <a:pPr algn="l">
              <a:defRPr sz="5550" b="1">
                <a:solidFill>
                  <a:srgbClr val="C45E2A"/>
                </a:solidFill>
                <a:latin typeface="Malgun Gothic"/>
                <a:ea typeface="Malgun Gothic"/>
                <a:cs typeface="Malgun Gothic"/>
              </a:defRPr>
            </a:pPr>
            <a:r>
              <a:rPr sz="5550" b="1">
                <a:solidFill>
                  <a:srgbClr val="C45E2A"/>
                </a:solidFill>
                <a:latin typeface="Malgun Gothic"/>
                <a:ea typeface="Malgun Gothic"/>
                <a:cs typeface="Malgun Gothic"/>
              </a:rPr>
              <a:t>약 1,460만 kg</a:t>
            </a:r>
          </a:p>
        </p:txBody>
      </p:sp>
      <p:sp>
        <p:nvSpPr>
          <p:cNvPr id="5" name="5품목 매출 기록 중 1건">
            <a:extLst xmlns:a="http://schemas.openxmlformats.org/drawingml/2006/main">
              <a:ext uri="{FF2B5EF4-FFF2-40B4-BE49-F238E27FC236}">
                <a16:creationId xmlns:a16="http://schemas.microsoft.com/office/drawing/2014/main" id="{941B8100-7160-48CD-B104-209468C481B7}"/>
              </a:ext>
            </a:extLst>
          </p:cNvPr>
          <p:cNvSpPr>
            <a:spLocks xmlns:a="http://schemas.openxmlformats.org/drawingml/2006/main" noGrp="1"/>
          </p:cNvSpPr>
          <p:nvPr/>
        </p:nvSpPr>
        <p:spPr>
          <a:xfrm xmlns:a="http://schemas.openxmlformats.org/drawingml/2006/main">
            <a:off x="685800" y="385762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66A61"/>
                </a:solidFill>
                <a:latin typeface="Malgun Gothic"/>
                <a:ea typeface="Malgun Gothic"/>
                <a:cs typeface="Malgun Gothic"/>
              </a:defRPr>
            </a:defPPr>
          </a:lstStyle>
          <a:p xmlns:a="http://schemas.openxmlformats.org/drawingml/2006/main">
            <a:pPr algn="l">
              <a:defRPr sz="2250" b="0">
                <a:solidFill>
                  <a:srgbClr val="666A61"/>
                </a:solidFill>
                <a:latin typeface="Malgun Gothic"/>
                <a:ea typeface="Malgun Gothic"/>
                <a:cs typeface="Malgun Gothic"/>
              </a:defRPr>
            </a:pPr>
            <a:r>
              <a:rPr sz="2250" b="0">
                <a:solidFill>
                  <a:srgbClr val="666A61"/>
                </a:solidFill>
                <a:latin typeface="Malgun Gothic"/>
                <a:ea typeface="Malgun Gothic"/>
                <a:cs typeface="Malgun Gothic"/>
              </a:rPr>
              <a:t>5품목 매출 기록 중 1건</a:t>
            </a:r>
          </a:p>
        </p:txBody>
      </p:sp>
      <p:sp>
        <p:nvSpPr>
          <p:cNvPr id="6" name="약 2,336억원">
            <a:extLst xmlns:a="http://schemas.openxmlformats.org/drawingml/2006/main">
              <a:ext uri="{FF2B5EF4-FFF2-40B4-BE49-F238E27FC236}">
                <a16:creationId xmlns:a16="http://schemas.microsoft.com/office/drawing/2014/main" id="{B22B75A7-310E-45C2-8EAE-F00487ADE56B}"/>
              </a:ext>
            </a:extLst>
          </p:cNvPr>
          <p:cNvSpPr>
            <a:spLocks xmlns:a="http://schemas.openxmlformats.org/drawingml/2006/main" noGrp="1"/>
          </p:cNvSpPr>
          <p:nvPr/>
        </p:nvSpPr>
        <p:spPr>
          <a:xfrm xmlns:a="http://schemas.openxmlformats.org/drawingml/2006/main">
            <a:off x="685800" y="4352925"/>
            <a:ext cx="10572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C45E2A"/>
                </a:solidFill>
                <a:latin typeface="Malgun Gothic"/>
                <a:ea typeface="Malgun Gothic"/>
                <a:cs typeface="Malgun Gothic"/>
              </a:defRPr>
            </a:defPPr>
          </a:lstStyle>
          <a:p xmlns:a="http://schemas.openxmlformats.org/drawingml/2006/main">
            <a:pPr algn="l">
              <a:defRPr sz="5550" b="1">
                <a:solidFill>
                  <a:srgbClr val="C45E2A"/>
                </a:solidFill>
                <a:latin typeface="Malgun Gothic"/>
                <a:ea typeface="Malgun Gothic"/>
                <a:cs typeface="Malgun Gothic"/>
              </a:defRPr>
            </a:pPr>
            <a:r>
              <a:rPr sz="5550" b="1">
                <a:solidFill>
                  <a:srgbClr val="C45E2A"/>
                </a:solidFill>
                <a:latin typeface="Malgun Gothic"/>
                <a:ea typeface="Malgun Gothic"/>
                <a:cs typeface="Malgun Gothic"/>
              </a:rPr>
              <a:t>약 2,336억원</a:t>
            </a:r>
          </a:p>
        </p:txBody>
      </p:sp>
      <p:sp>
        <p:nvSpPr>
          <p:cNvPr id="7" name="이 한 행을 제외하면 평가 점수가 크게 달라집니다.&#10;원기록의 전체 결과를 보존하고, 현장에">
            <a:extLst xmlns:a="http://schemas.openxmlformats.org/drawingml/2006/main">
              <a:ext uri="{FF2B5EF4-FFF2-40B4-BE49-F238E27FC236}">
                <a16:creationId xmlns:a16="http://schemas.microsoft.com/office/drawing/2014/main" id="{D05BA2D6-E517-4E97-8274-E9A7916E4DC0}"/>
              </a:ext>
            </a:extLst>
          </p:cNvPr>
          <p:cNvSpPr>
            <a:spLocks xmlns:a="http://schemas.openxmlformats.org/drawingml/2006/main" noGrp="1"/>
          </p:cNvSpPr>
          <p:nvPr/>
        </p:nvSpPr>
        <p:spPr>
          <a:xfrm xmlns:a="http://schemas.openxmlformats.org/drawingml/2006/main">
            <a:off x="685800" y="5810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이 한 행을 제외하면 평가 점수가 크게 달라집니다.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원기록의 전체 결과를 보존하고, 현장에서 단위와 집계 방식을 확인해야 합니다.</a:t>
            </a:r>
          </a:p>
        </p:txBody>
      </p:sp>
    </p:spTree>
    <p:extLst>
      <p:ext uri="{BB962C8B-B14F-4D97-AF65-F5344CB8AC3E}">
        <p14:creationId xmlns:p14="http://schemas.microsoft.com/office/powerpoint/2010/main" val="1558297032"/>
      </p:ext>
    </p:extLst>
  </p:cSld>
</p:sld>
</file>

<file path=ppt/slides/slide12.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7" name="일주일 뒤 작물 높이를 예측합니다">
            <a:extLst xmlns:a="http://schemas.openxmlformats.org/drawingml/2006/main">
              <a:ext uri="{FF2B5EF4-FFF2-40B4-BE49-F238E27FC236}">
                <a16:creationId xmlns:a16="http://schemas.microsoft.com/office/drawing/2014/main" id="{C6A992DF-5EF6-432F-B869-CEFBD542AEB8}"/>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일주일 뒤 작물 높이를 예측합니다</a:t>
            </a:r>
          </a:p>
        </p:txBody>
      </p:sp>
      <p:sp>
        <p:nvSpPr>
          <p:cNvPr id="2" name="12">
            <a:extLst xmlns:a="http://schemas.openxmlformats.org/drawingml/2006/main">
              <a:ext uri="{FF2B5EF4-FFF2-40B4-BE49-F238E27FC236}">
                <a16:creationId xmlns:a16="http://schemas.microsoft.com/office/drawing/2014/main" id="{CF7C7790-97DE-4F58-B8F0-10FE522CC050}"/>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12</a:t>
            </a:r>
          </a:p>
        </p:txBody>
      </p:sp>
      <p:sp>
        <p:nvSpPr>
          <p:cNvPr id="3" name="실제 21개 시설, 7일 간격 관측 40쌍의 평균 예측 오차 (mm)">
            <a:extLst xmlns:a="http://schemas.openxmlformats.org/drawingml/2006/main">
              <a:ext uri="{FF2B5EF4-FFF2-40B4-BE49-F238E27FC236}">
                <a16:creationId xmlns:a16="http://schemas.microsoft.com/office/drawing/2014/main" id="{905F047F-1339-4227-9E2D-1410E4DFCFD1}"/>
              </a:ext>
            </a:extLst>
          </p:cNvPr>
          <p:cNvSpPr>
            <a:spLocks xmlns:a="http://schemas.openxmlformats.org/drawingml/2006/main" noGrp="1"/>
          </p:cNvSpPr>
          <p:nvPr/>
        </p:nvSpPr>
        <p:spPr>
          <a:xfrm xmlns:a="http://schemas.openxmlformats.org/drawingml/2006/main">
            <a:off x="685800" y="15716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66A61"/>
                </a:solidFill>
                <a:latin typeface="Malgun Gothic"/>
                <a:ea typeface="Malgun Gothic"/>
                <a:cs typeface="Malgun Gothic"/>
              </a:defRPr>
            </a:defPPr>
          </a:lstStyle>
          <a:p xmlns:a="http://schemas.openxmlformats.org/drawingml/2006/main">
            <a:pPr algn="l">
              <a:defRPr sz="2100" b="0">
                <a:solidFill>
                  <a:srgbClr val="666A61"/>
                </a:solidFill>
                <a:latin typeface="Malgun Gothic"/>
                <a:ea typeface="Malgun Gothic"/>
                <a:cs typeface="Malgun Gothic"/>
              </a:defRPr>
            </a:pPr>
            <a:r>
              <a:rPr sz="2100" b="0">
                <a:solidFill>
                  <a:srgbClr val="666A61"/>
                </a:solidFill>
                <a:latin typeface="Malgun Gothic"/>
                <a:ea typeface="Malgun Gothic"/>
                <a:cs typeface="Malgun Gothic"/>
              </a:rPr>
              <a:t>실제 21개 시설, 7일 간격 관측 40쌍의 평균 예측 오차 (mm)</a:t>
            </a:r>
          </a:p>
        </p:txBody>
      </p:sp>
      <p:graphicFrame>
        <p:nvGraphicFramePr>
          <p:cNvPr id="4" name="Chart">
            <a:extLst xmlns:a="http://schemas.openxmlformats.org/drawingml/2006/main">
              <a:ext uri="{FF2B5EF4-FFF2-40B4-BE49-F238E27FC236}">
                <a16:creationId xmlns:a16="http://schemas.microsoft.com/office/drawing/2014/main" id="{EA46207E-F464-4730-8428-442DCE0FC324}"/>
              </a:ext>
            </a:extLst>
          </p:cNvPr>
          <p:cNvGraphicFramePr/>
          <p:nvPr/>
        </p:nvGraphicFramePr>
        <p:xfrm>
          <a:off xmlns:a="http://schemas.openxmlformats.org/drawingml/2006/main" x="628650" y="2324100"/>
          <a:ext xmlns:a="http://schemas.openxmlformats.org/drawingml/2006/main" cx="10858500" cy="2819400"/>
        </p:xfrm>
        <a:graphic xmlns:a="http://schemas.openxmlformats.org/drawingml/2006/main">
          <a:graphicData uri="http://schemas.openxmlformats.org/drawingml/2006/chart">
            <c:chart xmlns:r="http://schemas.openxmlformats.org/officeDocument/2006/relationships" xmlns:c="http://schemas.openxmlformats.org/drawingml/2006/chart" r:id="Raedcffc51d8649ee"/>
          </a:graphicData>
        </a:graphic>
      </p:graphicFrame>
      <p:sp>
        <p:nvSpPr>
          <p:cNvPr id="5" name="환경을 더해도 생육 기록만 쓴 결과보다 좋아지지 않았습니다.">
            <a:extLst xmlns:a="http://schemas.openxmlformats.org/drawingml/2006/main">
              <a:ext uri="{FF2B5EF4-FFF2-40B4-BE49-F238E27FC236}">
                <a16:creationId xmlns:a16="http://schemas.microsoft.com/office/drawing/2014/main" id="{1A6660C3-7BE1-4BC5-B79E-6621BDD77907}"/>
              </a:ext>
            </a:extLst>
          </p:cNvPr>
          <p:cNvSpPr>
            <a:spLocks xmlns:a="http://schemas.openxmlformats.org/drawingml/2006/main" noGrp="1"/>
          </p:cNvSpPr>
          <p:nvPr/>
        </p:nvSpPr>
        <p:spPr>
          <a:xfrm xmlns:a="http://schemas.openxmlformats.org/drawingml/2006/main">
            <a:off x="685800" y="5524500"/>
            <a:ext cx="1057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47B56"/>
                </a:solidFill>
                <a:latin typeface="Malgun Gothic"/>
                <a:ea typeface="Malgun Gothic"/>
                <a:cs typeface="Malgun Gothic"/>
              </a:defRPr>
            </a:defPPr>
          </a:lstStyle>
          <a:p xmlns:a="http://schemas.openxmlformats.org/drawingml/2006/main">
            <a:pPr algn="l">
              <a:defRPr sz="2325" b="1">
                <a:solidFill>
                  <a:srgbClr val="247B56"/>
                </a:solidFill>
                <a:latin typeface="Malgun Gothic"/>
                <a:ea typeface="Malgun Gothic"/>
                <a:cs typeface="Malgun Gothic"/>
              </a:defRPr>
            </a:pPr>
            <a:r>
              <a:rPr sz="2325" b="1">
                <a:solidFill>
                  <a:srgbClr val="247B56"/>
                </a:solidFill>
                <a:latin typeface="Malgun Gothic"/>
                <a:ea typeface="Malgun Gothic"/>
                <a:cs typeface="Malgun Gothic"/>
              </a:rPr>
              <a:t>환경을 더해도 생육 기록만 쓴 결과보다 좋아지지 않았습니다.</a:t>
            </a:r>
          </a:p>
        </p:txBody>
      </p:sp>
      <p:sp>
        <p:nvSpPr>
          <p:cNvPr id="6" name="숫자는 작을수록 좋습니다. 수확량이 아닌 다음 방문의 시설 평균 높이를 예측했습니다.">
            <a:extLst xmlns:a="http://schemas.openxmlformats.org/drawingml/2006/main">
              <a:ext uri="{FF2B5EF4-FFF2-40B4-BE49-F238E27FC236}">
                <a16:creationId xmlns:a16="http://schemas.microsoft.com/office/drawing/2014/main" id="{6275538B-C20D-4CE8-9C90-189CD172B24F}"/>
              </a:ext>
            </a:extLst>
          </p:cNvPr>
          <p:cNvSpPr>
            <a:spLocks xmlns:a="http://schemas.openxmlformats.org/drawingml/2006/main" noGrp="1"/>
          </p:cNvSpPr>
          <p:nvPr/>
        </p:nvSpPr>
        <p:spPr>
          <a:xfrm xmlns:a="http://schemas.openxmlformats.org/drawingml/2006/main">
            <a:off x="685800" y="60388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숫자는 작을수록 좋습니다. 수확량이 아닌 다음 방문의 시설 평균 높이를 예측했습니다.</a:t>
            </a:r>
          </a:p>
        </p:txBody>
      </p:sp>
    </p:spTree>
    <p:extLst>
      <p:ext uri="{BB962C8B-B14F-4D97-AF65-F5344CB8AC3E}">
        <p14:creationId xmlns:p14="http://schemas.microsoft.com/office/powerpoint/2010/main" val="1110349649"/>
      </p:ext>
    </p:extLst>
  </p:cSld>
</p:sld>
</file>

<file path=ppt/slides/slide13.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대시보드에서 내 계획을 바꿔 봅니다">
            <a:extLst xmlns:a="http://schemas.openxmlformats.org/drawingml/2006/main">
              <a:ext uri="{FF2B5EF4-FFF2-40B4-BE49-F238E27FC236}">
                <a16:creationId xmlns:a16="http://schemas.microsoft.com/office/drawing/2014/main" id="{759F5A37-4089-4B35-92F4-E25EC1D4C659}"/>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대시보드에서 내 계획을 바꿔 봅니다</a:t>
            </a:r>
          </a:p>
        </p:txBody>
      </p:sp>
      <p:sp>
        <p:nvSpPr>
          <p:cNvPr id="2" name="13">
            <a:extLst xmlns:a="http://schemas.openxmlformats.org/drawingml/2006/main">
              <a:ext uri="{FF2B5EF4-FFF2-40B4-BE49-F238E27FC236}">
                <a16:creationId xmlns:a16="http://schemas.microsoft.com/office/drawing/2014/main" id="{7B927C95-3D3B-4BA1-B9CF-F9A8FA96364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13</a:t>
            </a:r>
          </a:p>
        </p:txBody>
      </p:sp>
      <p:pic>
        <p:nvPicPr>
          <p:cNvPr id="3" name="">
            <a:extLst xmlns:a="http://schemas.openxmlformats.org/drawingml/2006/main">
              <a:ext uri="{FF2B5EF4-FFF2-40B4-BE49-F238E27FC236}">
                <a16:creationId xmlns:a16="http://schemas.microsoft.com/office/drawing/2014/main" id="{2D6CFEFA-EF76-47F6-845E-56A704C0F002}"/>
              </a:ext>
            </a:extLst>
          </p:cNvPr>
          <p:cNvPicPr>
            <a:picLocks xmlns:a="http://schemas.openxmlformats.org/drawingml/2006/main" noChangeAspect="1"/>
          </p:cNvPicPr>
          <p:nvPr/>
        </p:nvPicPr>
        <p:blipFill>
          <a:blip xmlns:r="http://schemas.openxmlformats.org/officeDocument/2006/relationships" xmlns:a="http://schemas.openxmlformats.org/drawingml/2006/main" r:embed="R86a1884d628a4f2f"/>
          <a:stretch xmlns:a="http://schemas.openxmlformats.org/drawingml/2006/main"/>
        </p:blipFill>
        <p:spPr>
          <a:xfrm xmlns:a="http://schemas.openxmlformats.org/drawingml/2006/main">
            <a:off x="901823" y="1552575"/>
            <a:ext cx="10388353" cy="4533900"/>
          </a:xfrm>
          <a:prstGeom xmlns:a="http://schemas.openxmlformats.org/drawingml/2006/main" prst="rect">
            <a:avLst/>
          </a:prstGeom>
        </p:spPr>
      </p:pic>
      <p:sp>
        <p:nvSpPr>
          <p:cNvPr id="4" name="계산에 사용한 자료와 가정까지 내려받을 수 있습니다.">
            <a:extLst xmlns:a="http://schemas.openxmlformats.org/drawingml/2006/main">
              <a:ext uri="{FF2B5EF4-FFF2-40B4-BE49-F238E27FC236}">
                <a16:creationId xmlns:a16="http://schemas.microsoft.com/office/drawing/2014/main" id="{B55B994B-9CA0-401C-8BFE-846155EF5719}"/>
              </a:ext>
            </a:extLst>
          </p:cNvPr>
          <p:cNvSpPr>
            <a:spLocks xmlns:a="http://schemas.openxmlformats.org/drawingml/2006/main" noGrp="1"/>
          </p:cNvSpPr>
          <p:nvPr/>
        </p:nvSpPr>
        <p:spPr>
          <a:xfrm xmlns:a="http://schemas.openxmlformats.org/drawingml/2006/main">
            <a:off x="685800" y="61722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66A61"/>
                </a:solidFill>
                <a:latin typeface="Malgun Gothic"/>
                <a:ea typeface="Malgun Gothic"/>
                <a:cs typeface="Malgun Gothic"/>
              </a:defRPr>
            </a:defPPr>
          </a:lstStyle>
          <a:p xmlns:a="http://schemas.openxmlformats.org/drawingml/2006/main">
            <a:pPr algn="l">
              <a:defRPr sz="1800" b="0">
                <a:solidFill>
                  <a:srgbClr val="666A61"/>
                </a:solidFill>
                <a:latin typeface="Malgun Gothic"/>
                <a:ea typeface="Malgun Gothic"/>
                <a:cs typeface="Malgun Gothic"/>
              </a:defRPr>
            </a:pPr>
            <a:r>
              <a:rPr sz="1800" b="0">
                <a:solidFill>
                  <a:srgbClr val="666A61"/>
                </a:solidFill>
                <a:latin typeface="Malgun Gothic"/>
                <a:ea typeface="Malgun Gothic"/>
                <a:cs typeface="Malgun Gothic"/>
              </a:rPr>
              <a:t>계산에 사용한 자료와 가정까지 내려받을 수 있습니다.</a:t>
            </a:r>
          </a:p>
        </p:txBody>
      </p:sp>
    </p:spTree>
    <p:extLst>
      <p:ext uri="{BB962C8B-B14F-4D97-AF65-F5344CB8AC3E}">
        <p14:creationId xmlns:p14="http://schemas.microsoft.com/office/powerpoint/2010/main" val="444899848"/>
      </p:ext>
    </p:extLst>
  </p:cSld>
</p:sld>
</file>

<file path=ppt/slides/slide14.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9" name="다음 단계는 안심구역의 실제 자료 검증">
            <a:extLst xmlns:a="http://schemas.openxmlformats.org/drawingml/2006/main">
              <a:ext uri="{FF2B5EF4-FFF2-40B4-BE49-F238E27FC236}">
                <a16:creationId xmlns:a16="http://schemas.microsoft.com/office/drawing/2014/main" id="{5A299073-326B-4EE2-9DED-C5B3D434FC9E}"/>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다음 단계는 안심구역의 실제 자료 검증</a:t>
            </a:r>
          </a:p>
        </p:txBody>
      </p:sp>
      <p:sp>
        <p:nvSpPr>
          <p:cNvPr id="2" name="14">
            <a:extLst xmlns:a="http://schemas.openxmlformats.org/drawingml/2006/main">
              <a:ext uri="{FF2B5EF4-FFF2-40B4-BE49-F238E27FC236}">
                <a16:creationId xmlns:a16="http://schemas.microsoft.com/office/drawing/2014/main" id="{8EB291A0-3430-4E0B-91F5-BCED8671ACC9}"/>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14</a:t>
            </a:r>
          </a:p>
        </p:txBody>
      </p:sp>
      <p:sp>
        <p:nvSpPr>
          <p:cNvPr id="3" name="미개방 원자료">
            <a:extLst xmlns:a="http://schemas.openxmlformats.org/drawingml/2006/main">
              <a:ext uri="{FF2B5EF4-FFF2-40B4-BE49-F238E27FC236}">
                <a16:creationId xmlns:a16="http://schemas.microsoft.com/office/drawing/2014/main" id="{D12E1CE7-D8BE-435F-B54C-F93FCA81EC4A}"/>
              </a:ext>
            </a:extLst>
          </p:cNvPr>
          <p:cNvSpPr>
            <a:spLocks xmlns:a="http://schemas.openxmlformats.org/drawingml/2006/main" noGrp="1"/>
          </p:cNvSpPr>
          <p:nvPr/>
        </p:nvSpPr>
        <p:spPr>
          <a:xfrm xmlns:a="http://schemas.openxmlformats.org/drawingml/2006/main">
            <a:off x="685800" y="1828800"/>
            <a:ext cx="4981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666A61"/>
                </a:solidFill>
                <a:latin typeface="Malgun Gothic"/>
                <a:ea typeface="Malgun Gothic"/>
                <a:cs typeface="Malgun Gothic"/>
              </a:defRPr>
            </a:defPPr>
          </a:lstStyle>
          <a:p xmlns:a="http://schemas.openxmlformats.org/drawingml/2006/main">
            <a:pPr algn="l">
              <a:defRPr sz="2400" b="0">
                <a:solidFill>
                  <a:srgbClr val="666A61"/>
                </a:solidFill>
                <a:latin typeface="Malgun Gothic"/>
                <a:ea typeface="Malgun Gothic"/>
                <a:cs typeface="Malgun Gothic"/>
              </a:defRPr>
            </a:pPr>
            <a:r>
              <a:rPr sz="2400" b="0">
                <a:solidFill>
                  <a:srgbClr val="666A61"/>
                </a:solidFill>
                <a:latin typeface="Malgun Gothic"/>
                <a:ea typeface="Malgun Gothic"/>
                <a:cs typeface="Malgun Gothic"/>
              </a:rPr>
              <a:t>미개방 원자료</a:t>
            </a:r>
          </a:p>
        </p:txBody>
      </p:sp>
      <p:sp>
        <p:nvSpPr>
          <p:cNvPr id="4" name="현재 0행">
            <a:extLst xmlns:a="http://schemas.openxmlformats.org/drawingml/2006/main">
              <a:ext uri="{FF2B5EF4-FFF2-40B4-BE49-F238E27FC236}">
                <a16:creationId xmlns:a16="http://schemas.microsoft.com/office/drawing/2014/main" id="{DE7BDC8E-5F34-4C0B-942C-86AF1155716D}"/>
              </a:ext>
            </a:extLst>
          </p:cNvPr>
          <p:cNvSpPr>
            <a:spLocks xmlns:a="http://schemas.openxmlformats.org/drawingml/2006/main" noGrp="1"/>
          </p:cNvSpPr>
          <p:nvPr/>
        </p:nvSpPr>
        <p:spPr>
          <a:xfrm xmlns:a="http://schemas.openxmlformats.org/drawingml/2006/main">
            <a:off x="685800" y="2438400"/>
            <a:ext cx="5219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C45E2A"/>
                </a:solidFill>
                <a:latin typeface="Malgun Gothic"/>
                <a:ea typeface="Malgun Gothic"/>
                <a:cs typeface="Malgun Gothic"/>
              </a:defRPr>
            </a:defPPr>
          </a:lstStyle>
          <a:p xmlns:a="http://schemas.openxmlformats.org/drawingml/2006/main">
            <a:pPr algn="l">
              <a:defRPr sz="5550" b="1">
                <a:solidFill>
                  <a:srgbClr val="C45E2A"/>
                </a:solidFill>
                <a:latin typeface="Malgun Gothic"/>
                <a:ea typeface="Malgun Gothic"/>
                <a:cs typeface="Malgun Gothic"/>
              </a:defRPr>
            </a:pPr>
            <a:r>
              <a:rPr sz="5550" b="1">
                <a:solidFill>
                  <a:srgbClr val="C45E2A"/>
                </a:solidFill>
                <a:latin typeface="Malgun Gothic"/>
                <a:ea typeface="Malgun Gothic"/>
                <a:cs typeface="Malgun Gothic"/>
              </a:rPr>
              <a:t>현재 0행</a:t>
            </a:r>
          </a:p>
        </p:txBody>
      </p:sp>
      <p:sp>
        <p:nvSpPr>
          <p:cNvPr id="5" name="79개 항목의 명세를 연결하고&#10;가상 80작기로 실행을 확인했습니다.">
            <a:extLst xmlns:a="http://schemas.openxmlformats.org/drawingml/2006/main">
              <a:ext uri="{FF2B5EF4-FFF2-40B4-BE49-F238E27FC236}">
                <a16:creationId xmlns:a16="http://schemas.microsoft.com/office/drawing/2014/main" id="{A4FFC77C-AF26-4D13-9C0E-B09E0E590D1B}"/>
              </a:ext>
            </a:extLst>
          </p:cNvPr>
          <p:cNvSpPr>
            <a:spLocks xmlns:a="http://schemas.openxmlformats.org/drawingml/2006/main" noGrp="1"/>
          </p:cNvSpPr>
          <p:nvPr/>
        </p:nvSpPr>
        <p:spPr>
          <a:xfrm xmlns:a="http://schemas.openxmlformats.org/drawingml/2006/main">
            <a:off x="685800" y="4086225"/>
            <a:ext cx="54864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79개 항목의 명세를 연결하고</a:t>
            </a:r>
          </a:p>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가상 80작기로 실행을 확인했습니다.</a:t>
            </a:r>
          </a:p>
        </p:txBody>
      </p:sp>
      <p:sp>
        <p:nvSpPr>
          <p:cNvPr id="6" name="현장에서 할 일">
            <a:extLst xmlns:a="http://schemas.openxmlformats.org/drawingml/2006/main">
              <a:ext uri="{FF2B5EF4-FFF2-40B4-BE49-F238E27FC236}">
                <a16:creationId xmlns:a16="http://schemas.microsoft.com/office/drawing/2014/main" id="{DC8D4FCD-580D-47D2-85EC-27D46EF9283D}"/>
              </a:ext>
            </a:extLst>
          </p:cNvPr>
          <p:cNvSpPr>
            <a:spLocks xmlns:a="http://schemas.openxmlformats.org/drawingml/2006/main" noGrp="1"/>
          </p:cNvSpPr>
          <p:nvPr/>
        </p:nvSpPr>
        <p:spPr>
          <a:xfrm xmlns:a="http://schemas.openxmlformats.org/drawingml/2006/main">
            <a:off x="6943725" y="1828800"/>
            <a:ext cx="4524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247B56"/>
                </a:solidFill>
                <a:latin typeface="Malgun Gothic"/>
                <a:ea typeface="Malgun Gothic"/>
                <a:cs typeface="Malgun Gothic"/>
              </a:defRPr>
            </a:defPPr>
          </a:lstStyle>
          <a:p xmlns:a="http://schemas.openxmlformats.org/drawingml/2006/main">
            <a:pPr algn="l">
              <a:defRPr sz="2550" b="1">
                <a:solidFill>
                  <a:srgbClr val="247B56"/>
                </a:solidFill>
                <a:latin typeface="Malgun Gothic"/>
                <a:ea typeface="Malgun Gothic"/>
                <a:cs typeface="Malgun Gothic"/>
              </a:defRPr>
            </a:pPr>
            <a:r>
              <a:rPr sz="2550" b="1">
                <a:solidFill>
                  <a:srgbClr val="247B56"/>
                </a:solidFill>
                <a:latin typeface="Malgun Gothic"/>
                <a:ea typeface="Malgun Gothic"/>
                <a:cs typeface="Malgun Gothic"/>
              </a:rPr>
              <a:t>현장에서 할 일</a:t>
            </a:r>
          </a:p>
        </p:txBody>
      </p:sp>
      <p:sp>
        <p:nvSpPr>
          <p:cNvPr id="7" name="실제 파일의 단위 확인&#10;농가별로 묶어 성능 검증&#10;허용된 결과만 반출">
            <a:extLst xmlns:a="http://schemas.openxmlformats.org/drawingml/2006/main">
              <a:ext uri="{FF2B5EF4-FFF2-40B4-BE49-F238E27FC236}">
                <a16:creationId xmlns:a16="http://schemas.microsoft.com/office/drawing/2014/main" id="{48BC8E56-8B88-49D2-B090-80EE9EE64219}"/>
              </a:ext>
            </a:extLst>
          </p:cNvPr>
          <p:cNvSpPr>
            <a:spLocks xmlns:a="http://schemas.openxmlformats.org/drawingml/2006/main" noGrp="1"/>
          </p:cNvSpPr>
          <p:nvPr/>
        </p:nvSpPr>
        <p:spPr>
          <a:xfrm xmlns:a="http://schemas.openxmlformats.org/drawingml/2006/main">
            <a:off x="6943725" y="2800350"/>
            <a:ext cx="4619625"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실제 파일의 단위 확인</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농가별로 묶어 성능 검증</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허용된 결과만 반출</a:t>
            </a:r>
          </a:p>
        </p:txBody>
      </p:sp>
      <p:sp>
        <p:nvSpPr>
          <p:cNvPr id="8" name="기획과 실행 코드는 준비했습니다. 대회 원자료의 예측 성능은 현장 실행 후 제시합니다.">
            <a:extLst xmlns:a="http://schemas.openxmlformats.org/drawingml/2006/main">
              <a:ext uri="{FF2B5EF4-FFF2-40B4-BE49-F238E27FC236}">
                <a16:creationId xmlns:a16="http://schemas.microsoft.com/office/drawing/2014/main" id="{EF43B3BA-4B21-42D7-92E1-72EC1544A1C1}"/>
              </a:ext>
            </a:extLst>
          </p:cNvPr>
          <p:cNvSpPr>
            <a:spLocks xmlns:a="http://schemas.openxmlformats.org/drawingml/2006/main" noGrp="1"/>
          </p:cNvSpPr>
          <p:nvPr/>
        </p:nvSpPr>
        <p:spPr>
          <a:xfrm xmlns:a="http://schemas.openxmlformats.org/drawingml/2006/main">
            <a:off x="685800" y="59531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기획과 실행 코드는 준비했습니다. 대회 원자료의 예측 성능은 현장 실행 후 제시합니다.</a:t>
            </a:r>
          </a:p>
        </p:txBody>
      </p:sp>
    </p:spTree>
    <p:extLst>
      <p:ext uri="{BB962C8B-B14F-4D97-AF65-F5344CB8AC3E}">
        <p14:creationId xmlns:p14="http://schemas.microsoft.com/office/powerpoint/2010/main" val="1921414227"/>
      </p:ext>
    </p:extLst>
  </p:cSld>
</p:sld>
</file>

<file path=ppt/slides/slide15.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농업 원자료의 확보 범위">
            <a:extLst xmlns:a="http://schemas.openxmlformats.org/drawingml/2006/main">
              <a:ext uri="{FF2B5EF4-FFF2-40B4-BE49-F238E27FC236}">
                <a16:creationId xmlns:a16="http://schemas.microsoft.com/office/drawing/2014/main" id="{E4C9F69B-EB12-4077-A2E0-441614565468}"/>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농업 원자료의 확보 범위</a:t>
            </a:r>
          </a:p>
        </p:txBody>
      </p:sp>
      <p:sp>
        <p:nvSpPr>
          <p:cNvPr id="2" name="근거 자료  15">
            <a:extLst xmlns:a="http://schemas.openxmlformats.org/drawingml/2006/main">
              <a:ext uri="{FF2B5EF4-FFF2-40B4-BE49-F238E27FC236}">
                <a16:creationId xmlns:a16="http://schemas.microsoft.com/office/drawing/2014/main" id="{9B019272-3B48-4CFA-B955-3CB34C923AA9}"/>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15</a:t>
            </a:r>
          </a:p>
        </p:txBody>
      </p:sp>
      <p:graphicFrame>
        <p:nvGraphicFramePr>
          <p:cNvPr id="3" name="">
            <a:extLst xmlns:a="http://schemas.openxmlformats.org/drawingml/2006/main">
              <a:ext uri="{FF2B5EF4-FFF2-40B4-BE49-F238E27FC236}">
                <a16:creationId xmlns:a16="http://schemas.microsoft.com/office/drawing/2014/main" id="{405193B7-BE3E-41CB-8F02-5C5E8117E189}"/>
              </a:ext>
            </a:extLst>
          </p:cNvPr>
          <p:cNvGraphicFramePr/>
          <p:nvPr/>
        </p:nvGraphicFramePr>
        <p:xfrm>
          <a:off xmlns:a="http://schemas.openxmlformats.org/drawingml/2006/main" x="685800" y="1762125"/>
          <a:ext xmlns:a="http://schemas.openxmlformats.org/drawingml/2006/main" cx="10820400" cy="3543300"/>
        </p:xfrm>
        <a:graphic xmlns:a="http://schemas.openxmlformats.org/drawingml/2006/main">
          <a:graphicData uri="http://schemas.openxmlformats.org/drawingml/2006/table">
            <a:tbl>
              <a:tblPr/>
              <a:tblGrid>
                <a:gridCol w="3638550"/>
                <a:gridCol w="3352800"/>
                <a:gridCol w="3829050"/>
              </a:tblGrid>
              <a:tr h="708660">
                <a:tc>
                  <a:txBody>
                    <a:bodyPr lIns="114300" tIns="114300" rIns="114300" bIns="114300"/>
                    <a:lstStyle/>
                    <a:p>
                      <a:r>
                        <a:rPr sz="2025" b="1">
                          <a:solidFill>
                            <a:srgbClr val="163D30"/>
                          </a:solidFill>
                          <a:latin typeface="Malgun Gothic"/>
                          <a:ea typeface="Malgun Gothic"/>
                          <a:cs typeface="Malgun Gothic"/>
                        </a:rPr>
                        <a:t>자료</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확보 규모</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사용 범위</a:t>
                      </a:r>
                    </a:p>
                  </a:txBody>
                  <a:tcPr marL="91440" marR="91440" marT="45720" marB="45720" anchor="ctr">
                    <a:solidFill>
                      <a:srgbClr val="E6EDDE"/>
                    </a:solidFill>
                  </a:tcPr>
                </a:tc>
              </a:tr>
              <a:tr h="708660">
                <a:tc>
                  <a:txBody>
                    <a:bodyPr lIns="114300" tIns="114300" rIns="114300" bIns="114300"/>
                    <a:lstStyle/>
                    <a:p>
                      <a:r>
                        <a:rPr sz="2025" b="0">
                          <a:solidFill>
                            <a:srgbClr val="163D30"/>
                          </a:solidFill>
                          <a:latin typeface="Malgun Gothic"/>
                          <a:ea typeface="Malgun Gothic"/>
                          <a:cs typeface="Malgun Gothic"/>
                        </a:rPr>
                        <a:t>농촌진흥청 소득조사</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2020~2024년</a:t>
                      </a:r>
                    </a:p>
                    <a:p>
                      <a:r>
                        <a:rPr sz="2025" b="0">
                          <a:solidFill>
                            <a:srgbClr val="163D30"/>
                          </a:solidFill>
                          <a:latin typeface="Malgun Gothic"/>
                          <a:ea typeface="Malgun Gothic"/>
                          <a:cs typeface="Malgun Gothic"/>
                        </a:rPr>
                        <a:t>266개 집계행</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연간 생산·비용 기준</a:t>
                      </a:r>
                    </a:p>
                  </a:txBody>
                  <a:tcPr marL="91440" marR="91440" marT="45720" marB="45720" anchor="ctr">
                    <a:solidFill>
                      <a:srgbClr val="F6F3EB"/>
                    </a:solidFill>
                  </a:tcPr>
                </a:tc>
              </a:tr>
              <a:tr h="708660">
                <a:tc>
                  <a:txBody>
                    <a:bodyPr lIns="114300" tIns="114300" rIns="114300" bIns="114300"/>
                    <a:lstStyle/>
                    <a:p>
                      <a:r>
                        <a:rPr sz="2025" b="0">
                          <a:solidFill>
                            <a:srgbClr val="163D30"/>
                          </a:solidFill>
                          <a:latin typeface="Malgun Gothic"/>
                          <a:ea typeface="Malgun Gothic"/>
                          <a:cs typeface="Malgun Gothic"/>
                        </a:rPr>
                        <a:t>농가 큐레이션</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딸기 77작기</a:t>
                      </a:r>
                    </a:p>
                    <a:p>
                      <a:r>
                        <a:rPr sz="2025" b="0">
                          <a:solidFill>
                            <a:srgbClr val="163D30"/>
                          </a:solidFill>
                          <a:latin typeface="Malgun Gothic"/>
                          <a:ea typeface="Malgun Gothic"/>
                          <a:cs typeface="Malgun Gothic"/>
                        </a:rPr>
                        <a:t>5품목 매출 192작기</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기록된 출하량·매출</a:t>
                      </a:r>
                    </a:p>
                  </a:txBody>
                  <a:tcPr marL="91440" marR="91440" marT="45720" marB="45720" anchor="ctr">
                    <a:solidFill>
                      <a:srgbClr val="F6F3EB"/>
                    </a:solidFill>
                  </a:tcPr>
                </a:tc>
              </a:tr>
              <a:tr h="708660">
                <a:tc>
                  <a:txBody>
                    <a:bodyPr lIns="114300" tIns="114300" rIns="114300" bIns="114300"/>
                    <a:lstStyle/>
                    <a:p>
                      <a:r>
                        <a:rPr sz="2025" b="0">
                          <a:solidFill>
                            <a:srgbClr val="163D30"/>
                          </a:solidFill>
                          <a:latin typeface="Malgun Gothic"/>
                          <a:ea typeface="Malgun Gothic"/>
                          <a:cs typeface="Malgun Gothic"/>
                        </a:rPr>
                        <a:t>스마트팜 API</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238시설</a:t>
                      </a:r>
                    </a:p>
                    <a:p>
                      <a:r>
                        <a:rPr sz="2025" b="0">
                          <a:solidFill>
                            <a:srgbClr val="163D30"/>
                          </a:solidFill>
                          <a:latin typeface="Malgun Gothic"/>
                          <a:ea typeface="Malgun Gothic"/>
                          <a:cs typeface="Malgun Gothic"/>
                        </a:rPr>
                        <a:t>578시설·연도 / 651작기</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시설 정보와 관측자료</a:t>
                      </a:r>
                    </a:p>
                  </a:txBody>
                  <a:tcPr marL="91440" marR="91440" marT="45720" marB="45720" anchor="ctr">
                    <a:solidFill>
                      <a:srgbClr val="F6F3EB"/>
                    </a:solidFill>
                  </a:tcPr>
                </a:tc>
              </a:tr>
              <a:tr h="708660">
                <a:tc>
                  <a:txBody>
                    <a:bodyPr lIns="114300" tIns="114300" rIns="114300" bIns="114300"/>
                    <a:lstStyle/>
                    <a:p>
                      <a:r>
                        <a:rPr sz="2025" b="0">
                          <a:solidFill>
                            <a:srgbClr val="163D30"/>
                          </a:solidFill>
                          <a:latin typeface="Malgun Gothic"/>
                          <a:ea typeface="Malgun Gothic"/>
                          <a:cs typeface="Malgun Gothic"/>
                        </a:rPr>
                        <a:t>ADP 농가 자료</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237작기</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첫 출하 기록까지의 일수</a:t>
                      </a:r>
                    </a:p>
                  </a:txBody>
                  <a:tcPr marL="91440" marR="91440" marT="45720" marB="45720" anchor="ctr">
                    <a:solidFill>
                      <a:srgbClr val="F6F3EB"/>
                    </a:solidFill>
                  </a:tcPr>
                </a:tc>
              </a:tr>
            </a:tbl>
          </a:graphicData>
        </a:graphic>
      </p:graphicFrame>
      <p:sp>
        <p:nvSpPr>
          <p:cNvPr id="4" name="행 수, 시설 수, 작기 수는 서로 다른 단위입니다.&#10;작기는 한 번의 재배 기간을 뜻합니다">
            <a:extLst xmlns:a="http://schemas.openxmlformats.org/drawingml/2006/main">
              <a:ext uri="{FF2B5EF4-FFF2-40B4-BE49-F238E27FC236}">
                <a16:creationId xmlns:a16="http://schemas.microsoft.com/office/drawing/2014/main" id="{94731CC3-56D6-41B0-88AD-9CD9BE182E88}"/>
              </a:ext>
            </a:extLst>
          </p:cNvPr>
          <p:cNvSpPr>
            <a:spLocks xmlns:a="http://schemas.openxmlformats.org/drawingml/2006/main" noGrp="1"/>
          </p:cNvSpPr>
          <p:nvPr/>
        </p:nvSpPr>
        <p:spPr>
          <a:xfrm xmlns:a="http://schemas.openxmlformats.org/drawingml/2006/main">
            <a:off x="685800" y="56864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행 수, 시설 수, 작기 수는 서로 다른 단위입니다.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작기는 한 번의 재배 기간을 뜻합니다.</a:t>
            </a:r>
          </a:p>
        </p:txBody>
      </p:sp>
    </p:spTree>
    <p:extLst>
      <p:ext uri="{BB962C8B-B14F-4D97-AF65-F5344CB8AC3E}">
        <p14:creationId xmlns:p14="http://schemas.microsoft.com/office/powerpoint/2010/main" val="1927082548"/>
      </p:ext>
    </p:extLst>
  </p:cSld>
</p:sld>
</file>

<file path=ppt/slides/slide16.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가격·기후·설비 자료의 확보 범위">
            <a:extLst xmlns:a="http://schemas.openxmlformats.org/drawingml/2006/main">
              <a:ext uri="{FF2B5EF4-FFF2-40B4-BE49-F238E27FC236}">
                <a16:creationId xmlns:a16="http://schemas.microsoft.com/office/drawing/2014/main" id="{93973739-75D8-4DAB-AC4F-62BC826C4CAA}"/>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가격·기후·설비 자료의 확보 범위</a:t>
            </a:r>
          </a:p>
        </p:txBody>
      </p:sp>
      <p:sp>
        <p:nvSpPr>
          <p:cNvPr id="2" name="근거 자료  16">
            <a:extLst xmlns:a="http://schemas.openxmlformats.org/drawingml/2006/main">
              <a:ext uri="{FF2B5EF4-FFF2-40B4-BE49-F238E27FC236}">
                <a16:creationId xmlns:a16="http://schemas.microsoft.com/office/drawing/2014/main" id="{1170B5A6-7165-49ED-8AAB-4E36F3D1BBCF}"/>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16</a:t>
            </a:r>
          </a:p>
        </p:txBody>
      </p:sp>
      <p:graphicFrame>
        <p:nvGraphicFramePr>
          <p:cNvPr id="3" name="">
            <a:extLst xmlns:a="http://schemas.openxmlformats.org/drawingml/2006/main">
              <a:ext uri="{FF2B5EF4-FFF2-40B4-BE49-F238E27FC236}">
                <a16:creationId xmlns:a16="http://schemas.microsoft.com/office/drawing/2014/main" id="{74EA7D26-B493-4CF1-B768-A84BC31190FC}"/>
              </a:ext>
            </a:extLst>
          </p:cNvPr>
          <p:cNvGraphicFramePr/>
          <p:nvPr/>
        </p:nvGraphicFramePr>
        <p:xfrm>
          <a:off xmlns:a="http://schemas.openxmlformats.org/drawingml/2006/main" x="685800" y="1762125"/>
          <a:ext xmlns:a="http://schemas.openxmlformats.org/drawingml/2006/main" cx="10820400" cy="3667125"/>
        </p:xfrm>
        <a:graphic xmlns:a="http://schemas.openxmlformats.org/drawingml/2006/main">
          <a:graphicData uri="http://schemas.openxmlformats.org/drawingml/2006/table">
            <a:tbl>
              <a:tblPr/>
              <a:tblGrid>
                <a:gridCol w="3095625"/>
                <a:gridCol w="3962400"/>
                <a:gridCol w="3762375"/>
              </a:tblGrid>
              <a:tr h="733425">
                <a:tc>
                  <a:txBody>
                    <a:bodyPr lIns="114300" tIns="114300" rIns="114300" bIns="114300"/>
                    <a:lstStyle/>
                    <a:p>
                      <a:r>
                        <a:rPr sz="2025" b="1">
                          <a:solidFill>
                            <a:srgbClr val="163D30"/>
                          </a:solidFill>
                          <a:latin typeface="Malgun Gothic"/>
                          <a:ea typeface="Malgun Gothic"/>
                          <a:cs typeface="Malgun Gothic"/>
                        </a:rPr>
                        <a:t>자료</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확보 범위</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해석</a:t>
                      </a:r>
                    </a:p>
                  </a:txBody>
                  <a:tcPr marL="91440" marR="91440" marT="45720" marB="45720" anchor="ctr">
                    <a:solidFill>
                      <a:srgbClr val="E6EDDE"/>
                    </a:solidFill>
                  </a:tcPr>
                </a:tc>
              </a:tr>
              <a:tr h="733425">
                <a:tc>
                  <a:txBody>
                    <a:bodyPr lIns="114300" tIns="114300" rIns="114300" bIns="114300"/>
                    <a:lstStyle/>
                    <a:p>
                      <a:r>
                        <a:rPr sz="2025" b="0">
                          <a:solidFill>
                            <a:srgbClr val="163D30"/>
                          </a:solidFill>
                          <a:latin typeface="Malgun Gothic"/>
                          <a:ea typeface="Malgun Gothic"/>
                          <a:cs typeface="Malgun Gothic"/>
                        </a:rPr>
                        <a:t>KAMIS 가격</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월별 가격 814개</a:t>
                      </a:r>
                    </a:p>
                    <a:p>
                      <a:r>
                        <a:rPr sz="2025" b="0">
                          <a:solidFill>
                            <a:srgbClr val="163D30"/>
                          </a:solidFill>
                          <a:latin typeface="Malgun Gothic"/>
                          <a:ea typeface="Malgun Gothic"/>
                          <a:cs typeface="Malgun Gothic"/>
                        </a:rPr>
                        <a:t>kg 가격 574개 사용</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농가수취가격과 다름</a:t>
                      </a:r>
                    </a:p>
                  </a:txBody>
                  <a:tcPr marL="91440" marR="91440" marT="45720" marB="45720" anchor="ctr">
                    <a:solidFill>
                      <a:srgbClr val="F6F3EB"/>
                    </a:solidFill>
                  </a:tcPr>
                </a:tc>
              </a:tr>
              <a:tr h="733425">
                <a:tc>
                  <a:txBody>
                    <a:bodyPr lIns="114300" tIns="114300" rIns="114300" bIns="114300"/>
                    <a:lstStyle/>
                    <a:p>
                      <a:r>
                        <a:rPr sz="2025" b="0">
                          <a:solidFill>
                            <a:srgbClr val="163D30"/>
                          </a:solidFill>
                          <a:latin typeface="Malgun Gothic"/>
                          <a:ea typeface="Malgun Gothic"/>
                          <a:cs typeface="Malgun Gothic"/>
                        </a:rPr>
                        <a:t>기상청 평년값</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219지점 × 12개월</a:t>
                      </a:r>
                    </a:p>
                    <a:p>
                      <a:r>
                        <a:rPr sz="2025" b="0">
                          <a:solidFill>
                            <a:srgbClr val="163D30"/>
                          </a:solidFill>
                          <a:latin typeface="Malgun Gothic"/>
                          <a:ea typeface="Malgun Gothic"/>
                          <a:cs typeface="Malgun Gothic"/>
                        </a:rPr>
                        <a:t>2,628개 기후값</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1991~2020년 평년</a:t>
                      </a:r>
                    </a:p>
                    <a:p>
                      <a:r>
                        <a:rPr sz="2025" b="0">
                          <a:solidFill>
                            <a:srgbClr val="163D30"/>
                          </a:solidFill>
                          <a:latin typeface="Malgun Gothic"/>
                          <a:ea typeface="Malgun Gothic"/>
                          <a:cs typeface="Malgun Gothic"/>
                        </a:rPr>
                        <a:t>미래 예보와 다름</a:t>
                      </a:r>
                    </a:p>
                  </a:txBody>
                  <a:tcPr marL="91440" marR="91440" marT="45720" marB="45720" anchor="ctr">
                    <a:solidFill>
                      <a:srgbClr val="F6F3EB"/>
                    </a:solidFill>
                  </a:tcPr>
                </a:tc>
              </a:tr>
              <a:tr h="733425">
                <a:tc>
                  <a:txBody>
                    <a:bodyPr lIns="114300" tIns="114300" rIns="114300" bIns="114300"/>
                    <a:lstStyle/>
                    <a:p>
                      <a:r>
                        <a:rPr sz="2025" b="0">
                          <a:solidFill>
                            <a:srgbClr val="163D30"/>
                          </a:solidFill>
                          <a:latin typeface="Malgun Gothic"/>
                          <a:ea typeface="Malgun Gothic"/>
                          <a:cs typeface="Malgun Gothic"/>
                        </a:rPr>
                        <a:t>공개 장비 가격</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등록 패키지 3종</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실제 설치 견적 확인 필요</a:t>
                      </a:r>
                    </a:p>
                  </a:txBody>
                  <a:tcPr marL="91440" marR="91440" marT="45720" marB="45720" anchor="ctr">
                    <a:solidFill>
                      <a:srgbClr val="F6F3EB"/>
                    </a:solidFill>
                  </a:tcPr>
                </a:tc>
              </a:tr>
              <a:tr h="733425">
                <a:tc>
                  <a:txBody>
                    <a:bodyPr lIns="114300" tIns="114300" rIns="114300" bIns="114300"/>
                    <a:lstStyle/>
                    <a:p>
                      <a:r>
                        <a:rPr sz="2025" b="0">
                          <a:solidFill>
                            <a:srgbClr val="163D30"/>
                          </a:solidFill>
                          <a:latin typeface="Malgun Gothic"/>
                          <a:ea typeface="Malgun Gothic"/>
                          <a:cs typeface="Malgun Gothic"/>
                        </a:rPr>
                        <a:t>대회 미개방 자료</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79개 항목의 명세</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원자료는 안심구역 분석</a:t>
                      </a:r>
                    </a:p>
                  </a:txBody>
                  <a:tcPr marL="91440" marR="91440" marT="45720" marB="45720" anchor="ctr">
                    <a:solidFill>
                      <a:srgbClr val="F6F3EB"/>
                    </a:solidFill>
                  </a:tcPr>
                </a:tc>
              </a:tr>
            </a:tbl>
          </a:graphicData>
        </a:graphic>
      </p:graphicFrame>
      <p:sp>
        <p:nvSpPr>
          <p:cNvPr id="4" name="품목은 딸기부터 시연하며, 기준자료가 있는 5개 품목으로 확장할 수 있습니다.">
            <a:extLst xmlns:a="http://schemas.openxmlformats.org/drawingml/2006/main">
              <a:ext uri="{FF2B5EF4-FFF2-40B4-BE49-F238E27FC236}">
                <a16:creationId xmlns:a16="http://schemas.microsoft.com/office/drawing/2014/main" id="{8984F5E6-11AB-46E3-94CC-110130D07FE7}"/>
              </a:ext>
            </a:extLst>
          </p:cNvPr>
          <p:cNvSpPr>
            <a:spLocks xmlns:a="http://schemas.openxmlformats.org/drawingml/2006/main" noGrp="1"/>
          </p:cNvSpPr>
          <p:nvPr/>
        </p:nvSpPr>
        <p:spPr>
          <a:xfrm xmlns:a="http://schemas.openxmlformats.org/drawingml/2006/main">
            <a:off x="685800" y="59150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품목은 딸기부터 시연하며, 기준자료가 있는 5개 품목으로 확장할 수 있습니다.</a:t>
            </a:r>
          </a:p>
        </p:txBody>
      </p:sp>
    </p:spTree>
    <p:extLst>
      <p:ext uri="{BB962C8B-B14F-4D97-AF65-F5344CB8AC3E}">
        <p14:creationId xmlns:p14="http://schemas.microsoft.com/office/powerpoint/2010/main" val="1762104823"/>
      </p:ext>
    </p:extLst>
  </p:cSld>
</p:sld>
</file>

<file path=ppt/slides/slide17.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2" name="같은 시설과 같은 재배 기간을 연결합니다">
            <a:extLst xmlns:a="http://schemas.openxmlformats.org/drawingml/2006/main">
              <a:ext uri="{FF2B5EF4-FFF2-40B4-BE49-F238E27FC236}">
                <a16:creationId xmlns:a16="http://schemas.microsoft.com/office/drawing/2014/main" id="{525B7B9B-376D-4F87-9DC2-0BBC5309A9F2}"/>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같은 시설과 같은 재배 기간을 연결합니다</a:t>
            </a:r>
          </a:p>
        </p:txBody>
      </p:sp>
      <p:sp>
        <p:nvSpPr>
          <p:cNvPr id="2" name="근거 자료  17">
            <a:extLst xmlns:a="http://schemas.openxmlformats.org/drawingml/2006/main">
              <a:ext uri="{FF2B5EF4-FFF2-40B4-BE49-F238E27FC236}">
                <a16:creationId xmlns:a16="http://schemas.microsoft.com/office/drawing/2014/main" id="{FEFA8E4B-90D8-485D-80A4-4D0A337ACDC1}"/>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17</a:t>
            </a:r>
          </a:p>
        </p:txBody>
      </p:sp>
      <p:sp>
        <p:nvSpPr>
          <p:cNvPr id="3" name="시설의 재배 기간">
            <a:extLst xmlns:a="http://schemas.openxmlformats.org/drawingml/2006/main">
              <a:ext uri="{FF2B5EF4-FFF2-40B4-BE49-F238E27FC236}">
                <a16:creationId xmlns:a16="http://schemas.microsoft.com/office/drawing/2014/main" id="{7BFE9A70-B889-43C0-875D-9829004F489C}"/>
              </a:ext>
            </a:extLst>
          </p:cNvPr>
          <p:cNvSpPr>
            <a:spLocks xmlns:a="http://schemas.openxmlformats.org/drawingml/2006/main" noGrp="1"/>
          </p:cNvSpPr>
          <p:nvPr/>
        </p:nvSpPr>
        <p:spPr>
          <a:xfrm xmlns:a="http://schemas.openxmlformats.org/drawingml/2006/main">
            <a:off x="685800" y="18573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247B56"/>
                </a:solidFill>
                <a:latin typeface="Malgun Gothic"/>
                <a:ea typeface="Malgun Gothic"/>
                <a:cs typeface="Malgun Gothic"/>
              </a:defRPr>
            </a:defPPr>
          </a:lstStyle>
          <a:p xmlns:a="http://schemas.openxmlformats.org/drawingml/2006/main">
            <a:pPr algn="l">
              <a:defRPr sz="2625" b="1">
                <a:solidFill>
                  <a:srgbClr val="247B56"/>
                </a:solidFill>
                <a:latin typeface="Malgun Gothic"/>
                <a:ea typeface="Malgun Gothic"/>
                <a:cs typeface="Malgun Gothic"/>
              </a:defRPr>
            </a:pPr>
            <a:r>
              <a:rPr sz="2625" b="1">
                <a:solidFill>
                  <a:srgbClr val="247B56"/>
                </a:solidFill>
                <a:latin typeface="Malgun Gothic"/>
                <a:ea typeface="Malgun Gothic"/>
                <a:cs typeface="Malgun Gothic"/>
              </a:rPr>
              <a:t>시설의 재배 기간</a:t>
            </a:r>
          </a:p>
        </p:txBody>
      </p:sp>
      <p:sp>
        <p:nvSpPr>
          <p:cNvPr id="4" name="같은 시설의 조사일이 그 기간 안에 들어오면 연결">
            <a:extLst xmlns:a="http://schemas.openxmlformats.org/drawingml/2006/main">
              <a:ext uri="{FF2B5EF4-FFF2-40B4-BE49-F238E27FC236}">
                <a16:creationId xmlns:a16="http://schemas.microsoft.com/office/drawing/2014/main" id="{A6FAF525-7126-4E88-8F51-07FFE8AFAD0B}"/>
              </a:ext>
            </a:extLst>
          </p:cNvPr>
          <p:cNvSpPr>
            <a:spLocks xmlns:a="http://schemas.openxmlformats.org/drawingml/2006/main" noGrp="1"/>
          </p:cNvSpPr>
          <p:nvPr/>
        </p:nvSpPr>
        <p:spPr>
          <a:xfrm xmlns:a="http://schemas.openxmlformats.org/drawingml/2006/main">
            <a:off x="685800" y="2552700"/>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63D30"/>
                </a:solidFill>
                <a:latin typeface="Malgun Gothic"/>
                <a:ea typeface="Malgun Gothic"/>
                <a:cs typeface="Malgun Gothic"/>
              </a:defRPr>
            </a:defPPr>
          </a:lstStyle>
          <a:p xmlns:a="http://schemas.openxmlformats.org/drawingml/2006/main">
            <a:pPr algn="l">
              <a:defRPr sz="2550" b="0">
                <a:solidFill>
                  <a:srgbClr val="163D30"/>
                </a:solidFill>
                <a:latin typeface="Malgun Gothic"/>
                <a:ea typeface="Malgun Gothic"/>
                <a:cs typeface="Malgun Gothic"/>
              </a:defRPr>
            </a:pPr>
            <a:r>
              <a:rPr sz="2550" b="0">
                <a:solidFill>
                  <a:srgbClr val="163D30"/>
                </a:solidFill>
                <a:latin typeface="Malgun Gothic"/>
                <a:ea typeface="Malgun Gothic"/>
                <a:cs typeface="Malgun Gothic"/>
              </a:rPr>
              <a:t>같은 시설의 조사일이 그 기간 안에 들어오면 연결</a:t>
            </a:r>
          </a:p>
        </p:txBody>
      </p:sp>
      <p:sp>
        <p:nvSpPr>
          <p:cNvPr id="5" name="두 기간에 동시에 걸리거나 뜻이 모호한 기록은 제외">
            <a:extLst xmlns:a="http://schemas.openxmlformats.org/drawingml/2006/main">
              <a:ext uri="{FF2B5EF4-FFF2-40B4-BE49-F238E27FC236}">
                <a16:creationId xmlns:a16="http://schemas.microsoft.com/office/drawing/2014/main" id="{1BE7B667-4EC7-4730-8EA2-257B3B9AA145}"/>
              </a:ext>
            </a:extLst>
          </p:cNvPr>
          <p:cNvSpPr>
            <a:spLocks xmlns:a="http://schemas.openxmlformats.org/drawingml/2006/main" noGrp="1"/>
          </p:cNvSpPr>
          <p:nvPr/>
        </p:nvSpPr>
        <p:spPr>
          <a:xfrm xmlns:a="http://schemas.openxmlformats.org/drawingml/2006/main">
            <a:off x="685800" y="34099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C45E2A"/>
                </a:solidFill>
                <a:latin typeface="Malgun Gothic"/>
                <a:ea typeface="Malgun Gothic"/>
                <a:cs typeface="Malgun Gothic"/>
              </a:defRPr>
            </a:defPPr>
          </a:lstStyle>
          <a:p xmlns:a="http://schemas.openxmlformats.org/drawingml/2006/main">
            <a:pPr algn="l">
              <a:defRPr sz="2325" b="1">
                <a:solidFill>
                  <a:srgbClr val="C45E2A"/>
                </a:solidFill>
                <a:latin typeface="Malgun Gothic"/>
                <a:ea typeface="Malgun Gothic"/>
                <a:cs typeface="Malgun Gothic"/>
              </a:defRPr>
            </a:pPr>
            <a:r>
              <a:rPr sz="2325" b="1">
                <a:solidFill>
                  <a:srgbClr val="C45E2A"/>
                </a:solidFill>
                <a:latin typeface="Malgun Gothic"/>
                <a:ea typeface="Malgun Gothic"/>
                <a:cs typeface="Malgun Gothic"/>
              </a:rPr>
              <a:t>두 기간에 동시에 걸리거나 뜻이 모호한 기록은 제외</a:t>
            </a:r>
          </a:p>
        </p:txBody>
      </p:sp>
      <p:sp>
        <p:nvSpPr>
          <p:cNvPr id="6" name="">
            <a:extLst xmlns:a="http://schemas.openxmlformats.org/drawingml/2006/main">
              <a:ext uri="{FF2B5EF4-FFF2-40B4-BE49-F238E27FC236}">
                <a16:creationId xmlns:a16="http://schemas.microsoft.com/office/drawing/2014/main" id="{0E26959B-8C17-4D3A-B56E-675E67F61269}"/>
              </a:ext>
            </a:extLst>
          </p:cNvPr>
          <p:cNvSpPr>
            <a:spLocks xmlns:a="http://schemas.openxmlformats.org/drawingml/2006/main" noGrp="1"/>
          </p:cNvSpPr>
          <p:nvPr/>
        </p:nvSpPr>
        <p:spPr>
          <a:xfrm xmlns:a="http://schemas.openxmlformats.org/drawingml/2006/main">
            <a:off x="685800" y="443865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7" name="딸기 출하 / 5품목 매출">
            <a:extLst xmlns:a="http://schemas.openxmlformats.org/drawingml/2006/main">
              <a:ext uri="{FF2B5EF4-FFF2-40B4-BE49-F238E27FC236}">
                <a16:creationId xmlns:a16="http://schemas.microsoft.com/office/drawing/2014/main" id="{BC6E217E-8A92-4B5C-B837-6E74CB366BD8}"/>
              </a:ext>
            </a:extLst>
          </p:cNvPr>
          <p:cNvSpPr>
            <a:spLocks xmlns:a="http://schemas.openxmlformats.org/drawingml/2006/main" noGrp="1"/>
          </p:cNvSpPr>
          <p:nvPr/>
        </p:nvSpPr>
        <p:spPr>
          <a:xfrm xmlns:a="http://schemas.openxmlformats.org/drawingml/2006/main">
            <a:off x="685800" y="4800600"/>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딸기 출하 / 5품목 매출</a:t>
            </a:r>
          </a:p>
        </p:txBody>
      </p:sp>
      <p:sp>
        <p:nvSpPr>
          <p:cNvPr id="8" name="kg/작기, 원/작기">
            <a:extLst xmlns:a="http://schemas.openxmlformats.org/drawingml/2006/main">
              <a:ext uri="{FF2B5EF4-FFF2-40B4-BE49-F238E27FC236}">
                <a16:creationId xmlns:a16="http://schemas.microsoft.com/office/drawing/2014/main" id="{0AA28CE5-5801-4D77-9723-395E9DC11621}"/>
              </a:ext>
            </a:extLst>
          </p:cNvPr>
          <p:cNvSpPr>
            <a:spLocks xmlns:a="http://schemas.openxmlformats.org/drawingml/2006/main" noGrp="1"/>
          </p:cNvSpPr>
          <p:nvPr/>
        </p:nvSpPr>
        <p:spPr>
          <a:xfrm xmlns:a="http://schemas.openxmlformats.org/drawingml/2006/main">
            <a:off x="6096000" y="4762500"/>
            <a:ext cx="5410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kg/작기, 원/작기</a:t>
            </a:r>
          </a:p>
        </p:txBody>
      </p:sp>
      <p:sp>
        <p:nvSpPr>
          <p:cNvPr id="9" name="소득조사">
            <a:extLst xmlns:a="http://schemas.openxmlformats.org/drawingml/2006/main">
              <a:ext uri="{FF2B5EF4-FFF2-40B4-BE49-F238E27FC236}">
                <a16:creationId xmlns:a16="http://schemas.microsoft.com/office/drawing/2014/main" id="{23AC9B60-245D-4142-8E72-3F9243E588AC}"/>
              </a:ext>
            </a:extLst>
          </p:cNvPr>
          <p:cNvSpPr>
            <a:spLocks xmlns:a="http://schemas.openxmlformats.org/drawingml/2006/main" noGrp="1"/>
          </p:cNvSpPr>
          <p:nvPr/>
        </p:nvSpPr>
        <p:spPr>
          <a:xfrm xmlns:a="http://schemas.openxmlformats.org/drawingml/2006/main">
            <a:off x="685800" y="5410200"/>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66A61"/>
                </a:solidFill>
                <a:latin typeface="Malgun Gothic"/>
                <a:ea typeface="Malgun Gothic"/>
                <a:cs typeface="Malgun Gothic"/>
              </a:defRPr>
            </a:defPPr>
          </a:lstStyle>
          <a:p xmlns:a="http://schemas.openxmlformats.org/drawingml/2006/main">
            <a:pPr algn="l">
              <a:defRPr sz="2175" b="0">
                <a:solidFill>
                  <a:srgbClr val="666A61"/>
                </a:solidFill>
                <a:latin typeface="Malgun Gothic"/>
                <a:ea typeface="Malgun Gothic"/>
                <a:cs typeface="Malgun Gothic"/>
              </a:defRPr>
            </a:pPr>
            <a:r>
              <a:rPr sz="2175" b="0">
                <a:solidFill>
                  <a:srgbClr val="666A61"/>
                </a:solidFill>
                <a:latin typeface="Malgun Gothic"/>
                <a:ea typeface="Malgun Gothic"/>
                <a:cs typeface="Malgun Gothic"/>
              </a:rPr>
              <a:t>소득조사</a:t>
            </a:r>
          </a:p>
        </p:txBody>
      </p:sp>
      <p:sp>
        <p:nvSpPr>
          <p:cNvPr id="10" name="kg/1,000㎡/연간 1기작">
            <a:extLst xmlns:a="http://schemas.openxmlformats.org/drawingml/2006/main">
              <a:ext uri="{FF2B5EF4-FFF2-40B4-BE49-F238E27FC236}">
                <a16:creationId xmlns:a16="http://schemas.microsoft.com/office/drawing/2014/main" id="{DA0C7208-DF50-46E5-B5ED-975F51ABC3C7}"/>
              </a:ext>
            </a:extLst>
          </p:cNvPr>
          <p:cNvSpPr>
            <a:spLocks xmlns:a="http://schemas.openxmlformats.org/drawingml/2006/main" noGrp="1"/>
          </p:cNvSpPr>
          <p:nvPr/>
        </p:nvSpPr>
        <p:spPr>
          <a:xfrm xmlns:a="http://schemas.openxmlformats.org/drawingml/2006/main">
            <a:off x="6096000" y="5372100"/>
            <a:ext cx="5410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kg/1,000㎡/연간 1기작</a:t>
            </a:r>
          </a:p>
        </p:txBody>
      </p:sp>
      <p:sp>
        <p:nvSpPr>
          <p:cNvPr id="11" name="평·㎡ 정의가 충돌한 매출 자료에서는 면적 입력을 제외했습니다.&#10;작기 총량을 연간 생산량으">
            <a:extLst xmlns:a="http://schemas.openxmlformats.org/drawingml/2006/main">
              <a:ext uri="{FF2B5EF4-FFF2-40B4-BE49-F238E27FC236}">
                <a16:creationId xmlns:a16="http://schemas.microsoft.com/office/drawing/2014/main" id="{218056B6-74F4-45E8-86AE-BDBBFDADA3C0}"/>
              </a:ext>
            </a:extLst>
          </p:cNvPr>
          <p:cNvSpPr>
            <a:spLocks xmlns:a="http://schemas.openxmlformats.org/drawingml/2006/main" noGrp="1"/>
          </p:cNvSpPr>
          <p:nvPr/>
        </p:nvSpPr>
        <p:spPr>
          <a:xfrm xmlns:a="http://schemas.openxmlformats.org/drawingml/2006/main">
            <a:off x="685800" y="5981700"/>
            <a:ext cx="9525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66A61"/>
                </a:solidFill>
                <a:latin typeface="Malgun Gothic"/>
                <a:ea typeface="Malgun Gothic"/>
                <a:cs typeface="Malgun Gothic"/>
              </a:defRPr>
            </a:defPPr>
          </a:lstStyle>
          <a:p xmlns:a="http://schemas.openxmlformats.org/drawingml/2006/main">
            <a:pPr algn="l">
              <a:defRPr sz="1800" b="0">
                <a:solidFill>
                  <a:srgbClr val="666A61"/>
                </a:solidFill>
                <a:latin typeface="Malgun Gothic"/>
                <a:ea typeface="Malgun Gothic"/>
                <a:cs typeface="Malgun Gothic"/>
              </a:defRPr>
            </a:pPr>
            <a:r>
              <a:rPr sz="1800" b="0">
                <a:solidFill>
                  <a:srgbClr val="666A61"/>
                </a:solidFill>
                <a:latin typeface="Malgun Gothic"/>
                <a:ea typeface="Malgun Gothic"/>
                <a:cs typeface="Malgun Gothic"/>
              </a:rPr>
              <a:t>평·㎡ 정의가 충돌한 매출 자료에서는 면적 입력을 제외했습니다.</a:t>
            </a:r>
          </a:p>
          <a:p xmlns:a="http://schemas.openxmlformats.org/drawingml/2006/main">
            <a:pPr algn="l">
              <a:defRPr sz="1800" b="0">
                <a:solidFill>
                  <a:srgbClr val="666A61"/>
                </a:solidFill>
                <a:latin typeface="Malgun Gothic"/>
                <a:ea typeface="Malgun Gothic"/>
                <a:cs typeface="Malgun Gothic"/>
              </a:defRPr>
            </a:pPr>
            <a:r>
              <a:rPr sz="1800" b="0">
                <a:solidFill>
                  <a:srgbClr val="666A61"/>
                </a:solidFill>
                <a:latin typeface="Malgun Gothic"/>
                <a:ea typeface="Malgun Gothic"/>
                <a:cs typeface="Malgun Gothic"/>
              </a:rPr>
              <a:t>작기 총량을 연간 생산량으로 자동 대입하지 않습니다.</a:t>
            </a:r>
          </a:p>
        </p:txBody>
      </p:sp>
    </p:spTree>
    <p:extLst>
      <p:ext uri="{BB962C8B-B14F-4D97-AF65-F5344CB8AC3E}">
        <p14:creationId xmlns:p14="http://schemas.microsoft.com/office/powerpoint/2010/main" val="148835670"/>
      </p:ext>
    </p:extLst>
  </p:cSld>
</p:sld>
</file>

<file path=ppt/slides/slide18.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중앙값과 같은 조건에서 비교했습니다">
            <a:extLst xmlns:a="http://schemas.openxmlformats.org/drawingml/2006/main">
              <a:ext uri="{FF2B5EF4-FFF2-40B4-BE49-F238E27FC236}">
                <a16:creationId xmlns:a16="http://schemas.microsoft.com/office/drawing/2014/main" id="{9C28473B-6978-4360-8667-E1C8F283B416}"/>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중앙값과 같은 조건에서 비교했습니다</a:t>
            </a:r>
          </a:p>
        </p:txBody>
      </p:sp>
      <p:sp>
        <p:nvSpPr>
          <p:cNvPr id="2" name="근거 자료  18">
            <a:extLst xmlns:a="http://schemas.openxmlformats.org/drawingml/2006/main">
              <a:ext uri="{FF2B5EF4-FFF2-40B4-BE49-F238E27FC236}">
                <a16:creationId xmlns:a16="http://schemas.microsoft.com/office/drawing/2014/main" id="{892DE07E-BA20-4C5F-A48A-EB5B3508D402}"/>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18</a:t>
            </a:r>
          </a:p>
        </p:txBody>
      </p:sp>
      <p:sp>
        <p:nvSpPr>
          <p:cNvPr id="3" name="평균 예측 오차, 작을수록 좋음. 생산 49행, 출하 170작기·127시설">
            <a:extLst xmlns:a="http://schemas.openxmlformats.org/drawingml/2006/main">
              <a:ext uri="{FF2B5EF4-FFF2-40B4-BE49-F238E27FC236}">
                <a16:creationId xmlns:a16="http://schemas.microsoft.com/office/drawing/2014/main" id="{2132B0D7-45EA-482D-93A6-B184BD813F12}"/>
              </a:ext>
            </a:extLst>
          </p:cNvPr>
          <p:cNvSpPr>
            <a:spLocks xmlns:a="http://schemas.openxmlformats.org/drawingml/2006/main" noGrp="1"/>
          </p:cNvSpPr>
          <p:nvPr/>
        </p:nvSpPr>
        <p:spPr>
          <a:xfrm xmlns:a="http://schemas.openxmlformats.org/drawingml/2006/main">
            <a:off x="685800" y="15335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평균 예측 오차, 작을수록 좋음. 생산 49행, 출하 170작기·127시설</a:t>
            </a:r>
          </a:p>
        </p:txBody>
      </p:sp>
      <p:graphicFrame>
        <p:nvGraphicFramePr>
          <p:cNvPr id="4" name="">
            <a:extLst xmlns:a="http://schemas.openxmlformats.org/drawingml/2006/main">
              <a:ext uri="{FF2B5EF4-FFF2-40B4-BE49-F238E27FC236}">
                <a16:creationId xmlns:a16="http://schemas.microsoft.com/office/drawing/2014/main" id="{2D8FA4EC-024C-4055-A55D-C38065566FF5}"/>
              </a:ext>
            </a:extLst>
          </p:cNvPr>
          <p:cNvGraphicFramePr/>
          <p:nvPr/>
        </p:nvGraphicFramePr>
        <p:xfrm>
          <a:off xmlns:a="http://schemas.openxmlformats.org/drawingml/2006/main" x="685800" y="2057400"/>
          <a:ext xmlns:a="http://schemas.openxmlformats.org/drawingml/2006/main" cx="10820400" cy="3381375"/>
        </p:xfrm>
        <a:graphic xmlns:a="http://schemas.openxmlformats.org/drawingml/2006/main">
          <a:graphicData uri="http://schemas.openxmlformats.org/drawingml/2006/table">
            <a:tbl>
              <a:tblPr/>
              <a:tblGrid>
                <a:gridCol w="3790950"/>
                <a:gridCol w="3724275"/>
                <a:gridCol w="3305175"/>
              </a:tblGrid>
              <a:tr h="676275">
                <a:tc>
                  <a:txBody>
                    <a:bodyPr lIns="114300" tIns="114300" rIns="114300" bIns="114300"/>
                    <a:lstStyle/>
                    <a:p>
                      <a:r>
                        <a:rPr sz="2100" b="1">
                          <a:solidFill>
                            <a:srgbClr val="163D30"/>
                          </a:solidFill>
                          <a:latin typeface="Malgun Gothic"/>
                          <a:ea typeface="Malgun Gothic"/>
                          <a:cs typeface="Malgun Gothic"/>
                        </a:rPr>
                        <a:t>방법</a:t>
                      </a:r>
                    </a:p>
                  </a:txBody>
                  <a:tcPr marL="91440" marR="91440" marT="45720" marB="45720" anchor="ctr">
                    <a:solidFill>
                      <a:srgbClr val="E6EDDE"/>
                    </a:solidFill>
                  </a:tcPr>
                </a:tc>
                <a:tc>
                  <a:txBody>
                    <a:bodyPr lIns="114300" tIns="114300" rIns="114300" bIns="114300"/>
                    <a:lstStyle/>
                    <a:p>
                      <a:r>
                        <a:rPr sz="2100" b="1">
                          <a:solidFill>
                            <a:srgbClr val="163D30"/>
                          </a:solidFill>
                          <a:latin typeface="Malgun Gothic"/>
                          <a:ea typeface="Malgun Gothic"/>
                          <a:cs typeface="Malgun Gothic"/>
                        </a:rPr>
                        <a:t>소득조사 생산량</a:t>
                      </a:r>
                    </a:p>
                    <a:p>
                      <a:r>
                        <a:rPr sz="2100" b="1">
                          <a:solidFill>
                            <a:srgbClr val="163D30"/>
                          </a:solidFill>
                          <a:latin typeface="Malgun Gothic"/>
                          <a:ea typeface="Malgun Gothic"/>
                          <a:cs typeface="Malgun Gothic"/>
                        </a:rPr>
                        <a:t>kg/1,000㎡</a:t>
                      </a:r>
                    </a:p>
                  </a:txBody>
                  <a:tcPr marL="91440" marR="91440" marT="45720" marB="45720" anchor="ctr">
                    <a:solidFill>
                      <a:srgbClr val="E6EDDE"/>
                    </a:solidFill>
                  </a:tcPr>
                </a:tc>
                <a:tc>
                  <a:txBody>
                    <a:bodyPr lIns="114300" tIns="114300" rIns="114300" bIns="114300"/>
                    <a:lstStyle/>
                    <a:p>
                      <a:r>
                        <a:rPr sz="2100" b="1">
                          <a:solidFill>
                            <a:srgbClr val="163D30"/>
                          </a:solidFill>
                          <a:latin typeface="Malgun Gothic"/>
                          <a:ea typeface="Malgun Gothic"/>
                          <a:cs typeface="Malgun Gothic"/>
                        </a:rPr>
                        <a:t>첫 출하 기록</a:t>
                      </a:r>
                    </a:p>
                    <a:p>
                      <a:r>
                        <a:rPr sz="2100" b="1">
                          <a:solidFill>
                            <a:srgbClr val="163D30"/>
                          </a:solidFill>
                          <a:latin typeface="Malgun Gothic"/>
                          <a:ea typeface="Malgun Gothic"/>
                          <a:cs typeface="Malgun Gothic"/>
                        </a:rPr>
                        <a:t>일</a:t>
                      </a:r>
                    </a:p>
                  </a:txBody>
                  <a:tcPr marL="91440" marR="91440" marT="45720" marB="45720" anchor="ctr">
                    <a:solidFill>
                      <a:srgbClr val="E6EDDE"/>
                    </a:solidFill>
                  </a:tcPr>
                </a:tc>
              </a:tr>
              <a:tr h="676275">
                <a:tc>
                  <a:txBody>
                    <a:bodyPr lIns="114300" tIns="114300" rIns="114300" bIns="114300"/>
                    <a:lstStyle/>
                    <a:p>
                      <a:r>
                        <a:rPr sz="2100" b="0">
                          <a:solidFill>
                            <a:srgbClr val="163D30"/>
                          </a:solidFill>
                          <a:latin typeface="Malgun Gothic"/>
                          <a:ea typeface="Malgun Gothic"/>
                          <a:cs typeface="Malgun Gothic"/>
                        </a:rPr>
                        <a:t>중앙값 기준</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775.7</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20.52</a:t>
                      </a:r>
                    </a:p>
                  </a:txBody>
                  <a:tcPr marL="91440" marR="91440" marT="45720" marB="45720" anchor="ctr">
                    <a:solidFill>
                      <a:srgbClr val="F6F3EB"/>
                    </a:solidFill>
                  </a:tcPr>
                </a:tc>
              </a:tr>
              <a:tr h="676275">
                <a:tc>
                  <a:txBody>
                    <a:bodyPr lIns="114300" tIns="114300" rIns="114300" bIns="114300"/>
                    <a:lstStyle/>
                    <a:p>
                      <a:r>
                        <a:rPr sz="2100" b="0">
                          <a:solidFill>
                            <a:srgbClr val="163D30"/>
                          </a:solidFill>
                          <a:latin typeface="Malgun Gothic"/>
                          <a:ea typeface="Malgun Gothic"/>
                          <a:cs typeface="Malgun Gothic"/>
                        </a:rPr>
                        <a:t>XGBoost</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1,241.6</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20.81</a:t>
                      </a:r>
                    </a:p>
                  </a:txBody>
                  <a:tcPr marL="91440" marR="91440" marT="45720" marB="45720" anchor="ctr">
                    <a:solidFill>
                      <a:srgbClr val="F6F3EB"/>
                    </a:solidFill>
                  </a:tcPr>
                </a:tc>
              </a:tr>
              <a:tr h="676275">
                <a:tc>
                  <a:txBody>
                    <a:bodyPr lIns="114300" tIns="114300" rIns="114300" bIns="114300"/>
                    <a:lstStyle/>
                    <a:p>
                      <a:r>
                        <a:rPr sz="2100" b="0">
                          <a:solidFill>
                            <a:srgbClr val="163D30"/>
                          </a:solidFill>
                          <a:latin typeface="Malgun Gothic"/>
                          <a:ea typeface="Malgun Gothic"/>
                          <a:cs typeface="Malgun Gothic"/>
                        </a:rPr>
                        <a:t>CatBoost</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1,483.5</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22.41</a:t>
                      </a:r>
                    </a:p>
                  </a:txBody>
                  <a:tcPr marL="91440" marR="91440" marT="45720" marB="45720" anchor="ctr">
                    <a:solidFill>
                      <a:srgbClr val="F6F3EB"/>
                    </a:solidFill>
                  </a:tcPr>
                </a:tc>
              </a:tr>
              <a:tr h="676275">
                <a:tc>
                  <a:txBody>
                    <a:bodyPr lIns="114300" tIns="114300" rIns="114300" bIns="114300"/>
                    <a:lstStyle/>
                    <a:p>
                      <a:r>
                        <a:rPr sz="2100" b="0">
                          <a:solidFill>
                            <a:srgbClr val="163D30"/>
                          </a:solidFill>
                          <a:latin typeface="Malgun Gothic"/>
                          <a:ea typeface="Malgun Gothic"/>
                          <a:cs typeface="Malgun Gothic"/>
                        </a:rPr>
                        <a:t>LimiX</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1,441.0</a:t>
                      </a:r>
                    </a:p>
                  </a:txBody>
                  <a:tcPr marL="91440" marR="91440" marT="45720" marB="45720" anchor="ctr">
                    <a:solidFill>
                      <a:srgbClr val="F6F3EB"/>
                    </a:solidFill>
                  </a:tcPr>
                </a:tc>
                <a:tc>
                  <a:txBody>
                    <a:bodyPr lIns="114300" tIns="114300" rIns="114300" bIns="114300"/>
                    <a:lstStyle/>
                    <a:p>
                      <a:r>
                        <a:rPr sz="2100" b="0">
                          <a:solidFill>
                            <a:srgbClr val="163D30"/>
                          </a:solidFill>
                          <a:latin typeface="Malgun Gothic"/>
                          <a:ea typeface="Malgun Gothic"/>
                          <a:cs typeface="Malgun Gothic"/>
                        </a:rPr>
                        <a:t>20.63</a:t>
                      </a:r>
                    </a:p>
                  </a:txBody>
                  <a:tcPr marL="91440" marR="91440" marT="45720" marB="45720" anchor="ctr">
                    <a:solidFill>
                      <a:srgbClr val="F6F3EB"/>
                    </a:solidFill>
                  </a:tcPr>
                </a:tc>
              </a:tr>
            </a:tbl>
          </a:graphicData>
        </a:graphic>
      </p:graphicFrame>
      <p:sp>
        <p:nvSpPr>
          <p:cNvPr id="5" name="모델 선택용 평가이며 별도의 최종 검증은 남아 있습니다.&#10;출하 시점은 첫 기록일이며 실제 ">
            <a:extLst xmlns:a="http://schemas.openxmlformats.org/drawingml/2006/main">
              <a:ext uri="{FF2B5EF4-FFF2-40B4-BE49-F238E27FC236}">
                <a16:creationId xmlns:a16="http://schemas.microsoft.com/office/drawing/2014/main" id="{3282749A-D750-478C-9E4B-42358686205B}"/>
              </a:ext>
            </a:extLst>
          </p:cNvPr>
          <p:cNvSpPr>
            <a:spLocks xmlns:a="http://schemas.openxmlformats.org/drawingml/2006/main" noGrp="1"/>
          </p:cNvSpPr>
          <p:nvPr/>
        </p:nvSpPr>
        <p:spPr>
          <a:xfrm xmlns:a="http://schemas.openxmlformats.org/drawingml/2006/main">
            <a:off x="685800" y="57816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모델 선택용 평가이며 별도의 최종 검증은 남아 있습니다.</a:t>
            </a:r>
          </a:p>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출하 시점은 첫 기록일이며 실제 첫 수확일과 다를 수 있습니다.</a:t>
            </a:r>
          </a:p>
        </p:txBody>
      </p:sp>
    </p:spTree>
    <p:extLst>
      <p:ext uri="{BB962C8B-B14F-4D97-AF65-F5344CB8AC3E}">
        <p14:creationId xmlns:p14="http://schemas.microsoft.com/office/powerpoint/2010/main" val="481758202"/>
      </p:ext>
    </p:extLst>
  </p:cSld>
</p:sld>
</file>

<file path=ppt/slides/slide19.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극단값을 뺀 점수는 별도 분석입니다">
            <a:extLst xmlns:a="http://schemas.openxmlformats.org/drawingml/2006/main">
              <a:ext uri="{FF2B5EF4-FFF2-40B4-BE49-F238E27FC236}">
                <a16:creationId xmlns:a16="http://schemas.microsoft.com/office/drawing/2014/main" id="{BF66EAC0-9B21-484C-9318-2CA4F572EB02}"/>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극단값을 뺀 점수는 별도 분석입니다</a:t>
            </a:r>
          </a:p>
        </p:txBody>
      </p:sp>
      <p:sp>
        <p:nvSpPr>
          <p:cNvPr id="2" name="근거 자료  19">
            <a:extLst xmlns:a="http://schemas.openxmlformats.org/drawingml/2006/main">
              <a:ext uri="{FF2B5EF4-FFF2-40B4-BE49-F238E27FC236}">
                <a16:creationId xmlns:a16="http://schemas.microsoft.com/office/drawing/2014/main" id="{B3238DCA-DDB3-4361-9C8C-6C70998F4584}"/>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19</a:t>
            </a:r>
          </a:p>
        </p:txBody>
      </p:sp>
      <p:graphicFrame>
        <p:nvGraphicFramePr>
          <p:cNvPr id="3" name="">
            <a:extLst xmlns:a="http://schemas.openxmlformats.org/drawingml/2006/main">
              <a:ext uri="{FF2B5EF4-FFF2-40B4-BE49-F238E27FC236}">
                <a16:creationId xmlns:a16="http://schemas.microsoft.com/office/drawing/2014/main" id="{CD940D3F-BBFD-452D-B5A1-7B7C15247A1F}"/>
              </a:ext>
            </a:extLst>
          </p:cNvPr>
          <p:cNvGraphicFramePr/>
          <p:nvPr/>
        </p:nvGraphicFramePr>
        <p:xfrm>
          <a:off xmlns:a="http://schemas.openxmlformats.org/drawingml/2006/main" x="685800" y="1828800"/>
          <a:ext xmlns:a="http://schemas.openxmlformats.org/drawingml/2006/main" cx="10820400" cy="2895600"/>
        </p:xfrm>
        <a:graphic xmlns:a="http://schemas.openxmlformats.org/drawingml/2006/main">
          <a:graphicData uri="http://schemas.openxmlformats.org/drawingml/2006/table">
            <a:tbl>
              <a:tblPr/>
              <a:tblGrid>
                <a:gridCol w="2552700"/>
                <a:gridCol w="4133850"/>
                <a:gridCol w="4133850"/>
              </a:tblGrid>
              <a:tr h="965200">
                <a:tc>
                  <a:txBody>
                    <a:bodyPr lIns="114300" tIns="114300" rIns="114300" bIns="114300"/>
                    <a:lstStyle/>
                    <a:p>
                      <a:r>
                        <a:rPr sz="2025" b="1">
                          <a:solidFill>
                            <a:srgbClr val="163D30"/>
                          </a:solidFill>
                          <a:latin typeface="Malgun Gothic"/>
                          <a:ea typeface="Malgun Gothic"/>
                          <a:cs typeface="Malgun Gothic"/>
                        </a:rPr>
                        <a:t>실험</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전체 기록의 최저 오차</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1행 제외 후 최저 오차</a:t>
                      </a:r>
                    </a:p>
                  </a:txBody>
                  <a:tcPr marL="91440" marR="91440" marT="45720" marB="45720" anchor="ctr">
                    <a:solidFill>
                      <a:srgbClr val="E6EDDE"/>
                    </a:solidFill>
                  </a:tcPr>
                </a:tc>
              </a:tr>
              <a:tr h="965200">
                <a:tc>
                  <a:txBody>
                    <a:bodyPr lIns="114300" tIns="114300" rIns="114300" bIns="114300"/>
                    <a:lstStyle/>
                    <a:p>
                      <a:r>
                        <a:rPr sz="2025" b="0">
                          <a:solidFill>
                            <a:srgbClr val="163D30"/>
                          </a:solidFill>
                          <a:latin typeface="Malgun Gothic"/>
                          <a:ea typeface="Malgun Gothic"/>
                          <a:cs typeface="Malgun Gothic"/>
                        </a:rPr>
                        <a:t>딸기 출하량</a:t>
                      </a:r>
                    </a:p>
                    <a:p>
                      <a:r>
                        <a:rPr sz="2025" b="0">
                          <a:solidFill>
                            <a:srgbClr val="163D30"/>
                          </a:solidFill>
                          <a:latin typeface="Malgun Gothic"/>
                          <a:ea typeface="Malgun Gothic"/>
                          <a:cs typeface="Malgun Gothic"/>
                        </a:rPr>
                        <a:t>77작기</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195,256 kg/작기</a:t>
                      </a:r>
                    </a:p>
                    <a:p>
                      <a:r>
                        <a:rPr sz="2025" b="0">
                          <a:solidFill>
                            <a:srgbClr val="163D30"/>
                          </a:solidFill>
                          <a:latin typeface="Malgun Gothic"/>
                          <a:ea typeface="Malgun Gothic"/>
                          <a:cs typeface="Malgun Gothic"/>
                        </a:rPr>
                        <a:t>XGBoost</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5,047 kg/작기</a:t>
                      </a:r>
                    </a:p>
                    <a:p>
                      <a:r>
                        <a:rPr sz="2025" b="0">
                          <a:solidFill>
                            <a:srgbClr val="163D30"/>
                          </a:solidFill>
                          <a:latin typeface="Malgun Gothic"/>
                          <a:ea typeface="Malgun Gothic"/>
                          <a:cs typeface="Malgun Gothic"/>
                        </a:rPr>
                        <a:t>LimiX, 76작기</a:t>
                      </a:r>
                    </a:p>
                  </a:txBody>
                  <a:tcPr marL="91440" marR="91440" marT="45720" marB="45720" anchor="ctr">
                    <a:solidFill>
                      <a:srgbClr val="F6F3EB"/>
                    </a:solidFill>
                  </a:tcPr>
                </a:tc>
              </a:tr>
              <a:tr h="965200">
                <a:tc>
                  <a:txBody>
                    <a:bodyPr lIns="114300" tIns="114300" rIns="114300" bIns="114300"/>
                    <a:lstStyle/>
                    <a:p>
                      <a:r>
                        <a:rPr sz="2025" b="0">
                          <a:solidFill>
                            <a:srgbClr val="163D30"/>
                          </a:solidFill>
                          <a:latin typeface="Malgun Gothic"/>
                          <a:ea typeface="Malgun Gothic"/>
                          <a:cs typeface="Malgun Gothic"/>
                        </a:rPr>
                        <a:t>5품목 매출</a:t>
                      </a:r>
                    </a:p>
                    <a:p>
                      <a:r>
                        <a:rPr sz="2025" b="0">
                          <a:solidFill>
                            <a:srgbClr val="163D30"/>
                          </a:solidFill>
                          <a:latin typeface="Malgun Gothic"/>
                          <a:ea typeface="Malgun Gothic"/>
                          <a:cs typeface="Malgun Gothic"/>
                        </a:rPr>
                        <a:t>192작기</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13.52억원/작기</a:t>
                      </a:r>
                    </a:p>
                    <a:p>
                      <a:r>
                        <a:rPr sz="2025" b="0">
                          <a:solidFill>
                            <a:srgbClr val="163D30"/>
                          </a:solidFill>
                          <a:latin typeface="Malgun Gothic"/>
                          <a:ea typeface="Malgun Gothic"/>
                          <a:cs typeface="Malgun Gothic"/>
                        </a:rPr>
                        <a:t>품목별 중앙값</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1.37억원/작기</a:t>
                      </a:r>
                    </a:p>
                    <a:p>
                      <a:r>
                        <a:rPr sz="2025" b="0">
                          <a:solidFill>
                            <a:srgbClr val="163D30"/>
                          </a:solidFill>
                          <a:latin typeface="Malgun Gothic"/>
                          <a:ea typeface="Malgun Gothic"/>
                          <a:cs typeface="Malgun Gothic"/>
                        </a:rPr>
                        <a:t>XGBoost, 191작기</a:t>
                      </a:r>
                    </a:p>
                  </a:txBody>
                  <a:tcPr marL="91440" marR="91440" marT="45720" marB="45720" anchor="ctr">
                    <a:solidFill>
                      <a:srgbClr val="F6F3EB"/>
                    </a:solidFill>
                  </a:tcPr>
                </a:tc>
              </a:tr>
            </a:tbl>
          </a:graphicData>
        </a:graphic>
      </p:graphicFrame>
      <p:sp>
        <p:nvSpPr>
          <p:cNvPr id="4" name="원본 전체 결과를 주 결과로 보존했습니다.">
            <a:extLst xmlns:a="http://schemas.openxmlformats.org/drawingml/2006/main">
              <a:ext uri="{FF2B5EF4-FFF2-40B4-BE49-F238E27FC236}">
                <a16:creationId xmlns:a16="http://schemas.microsoft.com/office/drawing/2014/main" id="{5E4CAB14-EE22-4CC8-9229-D11CBDF361FE}"/>
              </a:ext>
            </a:extLst>
          </p:cNvPr>
          <p:cNvSpPr>
            <a:spLocks xmlns:a="http://schemas.openxmlformats.org/drawingml/2006/main" noGrp="1"/>
          </p:cNvSpPr>
          <p:nvPr/>
        </p:nvSpPr>
        <p:spPr>
          <a:xfrm xmlns:a="http://schemas.openxmlformats.org/drawingml/2006/main">
            <a:off x="685800" y="511492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247B56"/>
                </a:solidFill>
                <a:latin typeface="Malgun Gothic"/>
                <a:ea typeface="Malgun Gothic"/>
                <a:cs typeface="Malgun Gothic"/>
              </a:defRPr>
            </a:defPPr>
          </a:lstStyle>
          <a:p xmlns:a="http://schemas.openxmlformats.org/drawingml/2006/main">
            <a:pPr algn="l">
              <a:defRPr sz="2475" b="1">
                <a:solidFill>
                  <a:srgbClr val="247B56"/>
                </a:solidFill>
                <a:latin typeface="Malgun Gothic"/>
                <a:ea typeface="Malgun Gothic"/>
                <a:cs typeface="Malgun Gothic"/>
              </a:defRPr>
            </a:pPr>
            <a:r>
              <a:rPr sz="2475" b="1">
                <a:solidFill>
                  <a:srgbClr val="247B56"/>
                </a:solidFill>
                <a:latin typeface="Malgun Gothic"/>
                <a:ea typeface="Malgun Gothic"/>
                <a:cs typeface="Malgun Gothic"/>
              </a:rPr>
              <a:t>원본 전체 결과를 주 결과로 보존했습니다.</a:t>
            </a:r>
          </a:p>
        </p:txBody>
      </p:sp>
      <p:sp>
        <p:nvSpPr>
          <p:cNvPr id="5" name="기록이 있는 농가의 선택 편향과 큰 오차가 남아 있습니다.&#10;극단값 제거를 신규 농가의 성능">
            <a:extLst xmlns:a="http://schemas.openxmlformats.org/drawingml/2006/main">
              <a:ext uri="{FF2B5EF4-FFF2-40B4-BE49-F238E27FC236}">
                <a16:creationId xmlns:a16="http://schemas.microsoft.com/office/drawing/2014/main" id="{A8E39724-CE96-42E5-B18A-0CEAE2E2984C}"/>
              </a:ext>
            </a:extLst>
          </p:cNvPr>
          <p:cNvSpPr>
            <a:spLocks xmlns:a="http://schemas.openxmlformats.org/drawingml/2006/main" noGrp="1"/>
          </p:cNvSpPr>
          <p:nvPr/>
        </p:nvSpPr>
        <p:spPr>
          <a:xfrm xmlns:a="http://schemas.openxmlformats.org/drawingml/2006/main">
            <a:off x="6858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기록이 있는 농가의 선택 편향과 큰 오차가 남아 있습니다.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극단값 제거를 신규 농가의 성능 향상으로 해석하지 않습니다.</a:t>
            </a:r>
          </a:p>
        </p:txBody>
      </p:sp>
    </p:spTree>
    <p:extLst>
      <p:ext uri="{BB962C8B-B14F-4D97-AF65-F5344CB8AC3E}">
        <p14:creationId xmlns:p14="http://schemas.microsoft.com/office/powerpoint/2010/main" val="1975996098"/>
      </p:ext>
    </p:extLst>
  </p:cSld>
</p:sld>
</file>

<file path=ppt/slides/slide20.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확인한 장비 등록 가격 3종">
            <a:extLst xmlns:a="http://schemas.openxmlformats.org/drawingml/2006/main">
              <a:ext uri="{FF2B5EF4-FFF2-40B4-BE49-F238E27FC236}">
                <a16:creationId xmlns:a16="http://schemas.microsoft.com/office/drawing/2014/main" id="{52118FBF-CA52-455F-928D-23A31918120C}"/>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확인한 장비 등록 가격 3종</a:t>
            </a:r>
          </a:p>
        </p:txBody>
      </p:sp>
      <p:sp>
        <p:nvSpPr>
          <p:cNvPr id="2" name="근거 자료  20">
            <a:extLst xmlns:a="http://schemas.openxmlformats.org/drawingml/2006/main">
              <a:ext uri="{FF2B5EF4-FFF2-40B4-BE49-F238E27FC236}">
                <a16:creationId xmlns:a16="http://schemas.microsoft.com/office/drawing/2014/main" id="{934A296C-5B88-4C90-9ECD-E24EE12D76BC}"/>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20</a:t>
            </a:r>
          </a:p>
        </p:txBody>
      </p:sp>
      <p:graphicFrame>
        <p:nvGraphicFramePr>
          <p:cNvPr id="3" name="">
            <a:extLst xmlns:a="http://schemas.openxmlformats.org/drawingml/2006/main">
              <a:ext uri="{FF2B5EF4-FFF2-40B4-BE49-F238E27FC236}">
                <a16:creationId xmlns:a16="http://schemas.microsoft.com/office/drawing/2014/main" id="{B1E5CD14-0FD1-4738-9B96-F5CE465A3F2F}"/>
              </a:ext>
            </a:extLst>
          </p:cNvPr>
          <p:cNvGraphicFramePr/>
          <p:nvPr/>
        </p:nvGraphicFramePr>
        <p:xfrm>
          <a:off xmlns:a="http://schemas.openxmlformats.org/drawingml/2006/main" x="685800" y="1762125"/>
          <a:ext xmlns:a="http://schemas.openxmlformats.org/drawingml/2006/main" cx="10820400" cy="3000375"/>
        </p:xfrm>
        <a:graphic xmlns:a="http://schemas.openxmlformats.org/drawingml/2006/main">
          <a:graphicData uri="http://schemas.openxmlformats.org/drawingml/2006/table">
            <a:tbl>
              <a:tblPr/>
              <a:tblGrid>
                <a:gridCol w="4667250"/>
                <a:gridCol w="2305050"/>
                <a:gridCol w="3848100"/>
              </a:tblGrid>
              <a:tr h="750094">
                <a:tc>
                  <a:txBody>
                    <a:bodyPr lIns="114300" tIns="114300" rIns="114300" bIns="114300"/>
                    <a:lstStyle/>
                    <a:p>
                      <a:r>
                        <a:rPr sz="2025" b="1">
                          <a:solidFill>
                            <a:srgbClr val="163D30"/>
                          </a:solidFill>
                          <a:latin typeface="Malgun Gothic"/>
                          <a:ea typeface="Malgun Gothic"/>
                          <a:cs typeface="Malgun Gothic"/>
                        </a:rPr>
                        <a:t>공개 장비 패키지</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기본 가격</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구성 또는 선택 항목</a:t>
                      </a:r>
                    </a:p>
                  </a:txBody>
                  <a:tcPr marL="91440" marR="91440" marT="45720" marB="45720" anchor="ctr">
                    <a:solidFill>
                      <a:srgbClr val="E6EDDE"/>
                    </a:solidFill>
                  </a:tcPr>
                </a:tc>
              </a:tr>
              <a:tr h="750094">
                <a:tc>
                  <a:txBody>
                    <a:bodyPr lIns="114300" tIns="114300" rIns="114300" bIns="114300"/>
                    <a:lstStyle/>
                    <a:p>
                      <a:r>
                        <a:rPr sz="2025" b="0">
                          <a:solidFill>
                            <a:srgbClr val="163D30"/>
                          </a:solidFill>
                          <a:latin typeface="Malgun Gothic"/>
                          <a:ea typeface="Malgun Gothic"/>
                          <a:cs typeface="Malgun Gothic"/>
                        </a:rPr>
                        <a:t>CRONOUS-AV-CR01</a:t>
                      </a:r>
                    </a:p>
                    <a:p>
                      <a:r>
                        <a:rPr sz="2025" b="0">
                          <a:solidFill>
                            <a:srgbClr val="163D30"/>
                          </a:solidFill>
                          <a:latin typeface="Malgun Gothic"/>
                          <a:ea typeface="Malgun Gothic"/>
                          <a:cs typeface="Malgun Gothic"/>
                        </a:rPr>
                        <a:t>환경제어 구성</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2,090.3만원</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온습도·CO₂</a:t>
                      </a:r>
                    </a:p>
                    <a:p>
                      <a:r>
                        <a:rPr sz="2025" b="0">
                          <a:solidFill>
                            <a:srgbClr val="163D30"/>
                          </a:solidFill>
                          <a:latin typeface="Malgun Gothic"/>
                          <a:ea typeface="Malgun Gothic"/>
                          <a:cs typeface="Malgun Gothic"/>
                        </a:rPr>
                        <a:t>토양 센서 포함</a:t>
                      </a:r>
                    </a:p>
                  </a:txBody>
                  <a:tcPr marL="91440" marR="91440" marT="45720" marB="45720" anchor="ctr">
                    <a:solidFill>
                      <a:srgbClr val="F6F3EB"/>
                    </a:solidFill>
                  </a:tcPr>
                </a:tc>
              </a:tr>
              <a:tr h="750094">
                <a:tc>
                  <a:txBody>
                    <a:bodyPr lIns="114300" tIns="114300" rIns="114300" bIns="114300"/>
                    <a:lstStyle/>
                    <a:p>
                      <a:r>
                        <a:rPr sz="2025" b="0">
                          <a:solidFill>
                            <a:srgbClr val="163D30"/>
                          </a:solidFill>
                          <a:latin typeface="Malgun Gothic"/>
                          <a:ea typeface="Malgun Gothic"/>
                          <a:cs typeface="Malgun Gothic"/>
                        </a:rPr>
                        <a:t>옹달샘300</a:t>
                      </a:r>
                    </a:p>
                    <a:p>
                      <a:r>
                        <a:rPr sz="2025" b="0">
                          <a:solidFill>
                            <a:srgbClr val="163D30"/>
                          </a:solidFill>
                          <a:latin typeface="Malgun Gothic"/>
                          <a:ea typeface="Malgun Gothic"/>
                          <a:cs typeface="Malgun Gothic"/>
                        </a:rPr>
                        <a:t>양액 공급 구성</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327만원</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일사 센서 40만원</a:t>
                      </a:r>
                    </a:p>
                  </a:txBody>
                  <a:tcPr marL="91440" marR="91440" marT="45720" marB="45720" anchor="ctr">
                    <a:solidFill>
                      <a:srgbClr val="F6F3EB"/>
                    </a:solidFill>
                  </a:tcPr>
                </a:tc>
              </a:tr>
              <a:tr h="750094">
                <a:tc>
                  <a:txBody>
                    <a:bodyPr lIns="114300" tIns="114300" rIns="114300" bIns="114300"/>
                    <a:lstStyle/>
                    <a:p>
                      <a:r>
                        <a:rPr sz="2025" b="0">
                          <a:solidFill>
                            <a:srgbClr val="163D30"/>
                          </a:solidFill>
                          <a:latin typeface="Malgun Gothic"/>
                          <a:ea typeface="Malgun Gothic"/>
                          <a:cs typeface="Malgun Gothic"/>
                        </a:rPr>
                        <a:t>MAGMA1000V20</a:t>
                      </a:r>
                    </a:p>
                    <a:p>
                      <a:r>
                        <a:rPr sz="2025" b="0">
                          <a:solidFill>
                            <a:srgbClr val="163D30"/>
                          </a:solidFill>
                          <a:latin typeface="Malgun Gothic"/>
                          <a:ea typeface="Malgun Gothic"/>
                          <a:cs typeface="Malgun Gothic"/>
                        </a:rPr>
                        <a:t>양액 공급 구성</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1,500만원</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선택한 옵션만 합산</a:t>
                      </a:r>
                    </a:p>
                  </a:txBody>
                  <a:tcPr marL="91440" marR="91440" marT="45720" marB="45720" anchor="ctr">
                    <a:solidFill>
                      <a:srgbClr val="F6F3EB"/>
                    </a:solidFill>
                  </a:tcPr>
                </a:tc>
              </a:tr>
            </a:tbl>
          </a:graphicData>
        </a:graphic>
      </p:graphicFrame>
      <p:sp>
        <p:nvSpPr>
          <p:cNvPr id="4" name="패키지에 포함된 구성품을 다시 더하지 않습니다.">
            <a:extLst xmlns:a="http://schemas.openxmlformats.org/drawingml/2006/main">
              <a:ext uri="{FF2B5EF4-FFF2-40B4-BE49-F238E27FC236}">
                <a16:creationId xmlns:a16="http://schemas.microsoft.com/office/drawing/2014/main" id="{B0DC2A75-1C19-4BDA-9E31-B6E30865C6CE}"/>
              </a:ext>
            </a:extLst>
          </p:cNvPr>
          <p:cNvSpPr>
            <a:spLocks xmlns:a="http://schemas.openxmlformats.org/drawingml/2006/main" noGrp="1"/>
          </p:cNvSpPr>
          <p:nvPr/>
        </p:nvSpPr>
        <p:spPr>
          <a:xfrm xmlns:a="http://schemas.openxmlformats.org/drawingml/2006/main">
            <a:off x="685800" y="5124450"/>
            <a:ext cx="10572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7B56"/>
                </a:solidFill>
                <a:latin typeface="Malgun Gothic"/>
                <a:ea typeface="Malgun Gothic"/>
                <a:cs typeface="Malgun Gothic"/>
              </a:defRPr>
            </a:defPPr>
          </a:lstStyle>
          <a:p xmlns:a="http://schemas.openxmlformats.org/drawingml/2006/main">
            <a:pPr algn="l">
              <a:defRPr sz="2400" b="1">
                <a:solidFill>
                  <a:srgbClr val="247B56"/>
                </a:solidFill>
                <a:latin typeface="Malgun Gothic"/>
                <a:ea typeface="Malgun Gothic"/>
                <a:cs typeface="Malgun Gothic"/>
              </a:defRPr>
            </a:pPr>
            <a:r>
              <a:rPr sz="2400" b="1">
                <a:solidFill>
                  <a:srgbClr val="247B56"/>
                </a:solidFill>
                <a:latin typeface="Malgun Gothic"/>
                <a:ea typeface="Malgun Gothic"/>
                <a:cs typeface="Malgun Gothic"/>
              </a:rPr>
              <a:t>패키지에 포함된 구성품을 다시 더하지 않습니다.</a:t>
            </a:r>
          </a:p>
        </p:txBody>
      </p:sp>
      <p:sp>
        <p:nvSpPr>
          <p:cNvPr id="5" name="설치비와 부가세 포함 여부, 호환성, 필요 수량, 수명은 현장 확인이 필요합니다.">
            <a:extLst xmlns:a="http://schemas.openxmlformats.org/drawingml/2006/main">
              <a:ext uri="{FF2B5EF4-FFF2-40B4-BE49-F238E27FC236}">
                <a16:creationId xmlns:a16="http://schemas.microsoft.com/office/drawing/2014/main" id="{054E9076-1F74-4AEB-8604-B3EEA7A09995}"/>
              </a:ext>
            </a:extLst>
          </p:cNvPr>
          <p:cNvSpPr>
            <a:spLocks xmlns:a="http://schemas.openxmlformats.org/drawingml/2006/main" noGrp="1"/>
          </p:cNvSpPr>
          <p:nvPr/>
        </p:nvSpPr>
        <p:spPr>
          <a:xfrm xmlns:a="http://schemas.openxmlformats.org/drawingml/2006/main">
            <a:off x="685800" y="58483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설치비와 부가세 포함 여부, 호환성, 필요 수량, 수명은 현장 확인이 필요합니다.</a:t>
            </a:r>
          </a:p>
        </p:txBody>
      </p:sp>
    </p:spTree>
    <p:extLst>
      <p:ext uri="{BB962C8B-B14F-4D97-AF65-F5344CB8AC3E}">
        <p14:creationId xmlns:p14="http://schemas.microsoft.com/office/powerpoint/2010/main" val="557686416"/>
      </p:ext>
    </p:extLst>
  </p:cSld>
</p:sld>
</file>

<file path=ppt/slides/slide21.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가격 예측도 단순 기준보다 오차가 컸습니다">
            <a:extLst xmlns:a="http://schemas.openxmlformats.org/drawingml/2006/main">
              <a:ext uri="{FF2B5EF4-FFF2-40B4-BE49-F238E27FC236}">
                <a16:creationId xmlns:a16="http://schemas.microsoft.com/office/drawing/2014/main" id="{E4A23514-EFB1-4245-9A9D-6E86B6C7483C}"/>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가격 예측도 단순 기준보다 오차가 컸습니다</a:t>
            </a:r>
          </a:p>
        </p:txBody>
      </p:sp>
      <p:sp>
        <p:nvSpPr>
          <p:cNvPr id="2" name="근거 자료  21">
            <a:extLst xmlns:a="http://schemas.openxmlformats.org/drawingml/2006/main">
              <a:ext uri="{FF2B5EF4-FFF2-40B4-BE49-F238E27FC236}">
                <a16:creationId xmlns:a16="http://schemas.microsoft.com/office/drawing/2014/main" id="{1FF84864-87CE-4E28-844F-924ADB6A1D54}"/>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21</a:t>
            </a:r>
          </a:p>
        </p:txBody>
      </p:sp>
      <p:sp>
        <p:nvSpPr>
          <p:cNvPr id="3" name="2021~2023년 학습, 2024년 선택, 2025년 평가">
            <a:extLst xmlns:a="http://schemas.openxmlformats.org/drawingml/2006/main">
              <a:ext uri="{FF2B5EF4-FFF2-40B4-BE49-F238E27FC236}">
                <a16:creationId xmlns:a16="http://schemas.microsoft.com/office/drawing/2014/main" id="{D9D6BFE6-A29E-477A-B649-9E043710AFBB}"/>
              </a:ext>
            </a:extLst>
          </p:cNvPr>
          <p:cNvSpPr>
            <a:spLocks xmlns:a="http://schemas.openxmlformats.org/drawingml/2006/main" noGrp="1"/>
          </p:cNvSpPr>
          <p:nvPr/>
        </p:nvSpPr>
        <p:spPr>
          <a:xfrm xmlns:a="http://schemas.openxmlformats.org/drawingml/2006/main">
            <a:off x="685800" y="1666875"/>
            <a:ext cx="106203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2021~2023년 학습, 2024년 선택, 2025년 평가</a:t>
            </a:r>
          </a:p>
        </p:txBody>
      </p:sp>
      <p:graphicFrame>
        <p:nvGraphicFramePr>
          <p:cNvPr id="4" name="">
            <a:extLst xmlns:a="http://schemas.openxmlformats.org/drawingml/2006/main">
              <a:ext uri="{FF2B5EF4-FFF2-40B4-BE49-F238E27FC236}">
                <a16:creationId xmlns:a16="http://schemas.microsoft.com/office/drawing/2014/main" id="{7380A60D-A72E-41DE-91ED-7C4216E142A4}"/>
              </a:ext>
            </a:extLst>
          </p:cNvPr>
          <p:cNvGraphicFramePr/>
          <p:nvPr/>
        </p:nvGraphicFramePr>
        <p:xfrm>
          <a:off xmlns:a="http://schemas.openxmlformats.org/drawingml/2006/main" x="685800" y="2609850"/>
          <a:ext xmlns:a="http://schemas.openxmlformats.org/drawingml/2006/main" cx="10820400" cy="2095500"/>
        </p:xfrm>
        <a:graphic xmlns:a="http://schemas.openxmlformats.org/drawingml/2006/main">
          <a:graphicData uri="http://schemas.openxmlformats.org/drawingml/2006/table">
            <a:tbl>
              <a:tblPr/>
              <a:tblGrid>
                <a:gridCol w="7181850"/>
                <a:gridCol w="3638550"/>
              </a:tblGrid>
              <a:tr h="698500">
                <a:tc>
                  <a:txBody>
                    <a:bodyPr lIns="114300" tIns="114300" rIns="114300" bIns="114300"/>
                    <a:lstStyle/>
                    <a:p>
                      <a:r>
                        <a:rPr sz="2250" b="1">
                          <a:solidFill>
                            <a:srgbClr val="163D30"/>
                          </a:solidFill>
                          <a:latin typeface="Malgun Gothic"/>
                          <a:ea typeface="Malgun Gothic"/>
                          <a:cs typeface="Malgun Gothic"/>
                        </a:rPr>
                        <a:t>2025년 106개 관측 비교</a:t>
                      </a:r>
                    </a:p>
                  </a:txBody>
                  <a:tcPr marL="91440" marR="91440" marT="45720" marB="45720" anchor="ctr">
                    <a:solidFill>
                      <a:srgbClr val="E6EDDE"/>
                    </a:solidFill>
                  </a:tcPr>
                </a:tc>
                <a:tc>
                  <a:txBody>
                    <a:bodyPr lIns="114300" tIns="114300" rIns="114300" bIns="114300"/>
                    <a:lstStyle/>
                    <a:p>
                      <a:r>
                        <a:rPr sz="2250" b="1">
                          <a:solidFill>
                            <a:srgbClr val="163D30"/>
                          </a:solidFill>
                          <a:latin typeface="Malgun Gothic"/>
                          <a:ea typeface="Malgun Gothic"/>
                          <a:cs typeface="Malgun Gothic"/>
                        </a:rPr>
                        <a:t>평균 오차 원/kg</a:t>
                      </a:r>
                    </a:p>
                  </a:txBody>
                  <a:tcPr marL="91440" marR="91440" marT="45720" marB="45720" anchor="ctr">
                    <a:solidFill>
                      <a:srgbClr val="E6EDDE"/>
                    </a:solidFill>
                  </a:tcPr>
                </a:tc>
              </a:tr>
              <a:tr h="698500">
                <a:tc>
                  <a:txBody>
                    <a:bodyPr lIns="114300" tIns="114300" rIns="114300" bIns="114300"/>
                    <a:lstStyle/>
                    <a:p>
                      <a:r>
                        <a:rPr sz="2250" b="0">
                          <a:solidFill>
                            <a:srgbClr val="163D30"/>
                          </a:solidFill>
                          <a:latin typeface="Malgun Gothic"/>
                          <a:ea typeface="Malgun Gothic"/>
                          <a:cs typeface="Malgun Gothic"/>
                        </a:rPr>
                        <a:t>선택한 가격 모형</a:t>
                      </a:r>
                    </a:p>
                  </a:txBody>
                  <a:tcPr marL="91440" marR="91440" marT="45720" marB="45720" anchor="ctr">
                    <a:solidFill>
                      <a:srgbClr val="F6F3EB"/>
                    </a:solidFill>
                  </a:tcPr>
                </a:tc>
                <a:tc>
                  <a:txBody>
                    <a:bodyPr lIns="114300" tIns="114300" rIns="114300" bIns="114300"/>
                    <a:lstStyle/>
                    <a:p>
                      <a:r>
                        <a:rPr sz="2250" b="0">
                          <a:solidFill>
                            <a:srgbClr val="163D30"/>
                          </a:solidFill>
                          <a:latin typeface="Malgun Gothic"/>
                          <a:ea typeface="Malgun Gothic"/>
                          <a:cs typeface="Malgun Gothic"/>
                        </a:rPr>
                        <a:t>1,249.16</a:t>
                      </a:r>
                    </a:p>
                  </a:txBody>
                  <a:tcPr marL="91440" marR="91440" marT="45720" marB="45720" anchor="ctr">
                    <a:solidFill>
                      <a:srgbClr val="F6F3EB"/>
                    </a:solidFill>
                  </a:tcPr>
                </a:tc>
              </a:tr>
              <a:tr h="698500">
                <a:tc>
                  <a:txBody>
                    <a:bodyPr lIns="114300" tIns="114300" rIns="114300" bIns="114300"/>
                    <a:lstStyle/>
                    <a:p>
                      <a:r>
                        <a:rPr sz="2250" b="0">
                          <a:solidFill>
                            <a:srgbClr val="163D30"/>
                          </a:solidFill>
                          <a:latin typeface="Malgun Gothic"/>
                          <a:ea typeface="Malgun Gothic"/>
                          <a:cs typeface="Malgun Gothic"/>
                        </a:rPr>
                        <a:t>같은 달의 최근 가격</a:t>
                      </a:r>
                    </a:p>
                  </a:txBody>
                  <a:tcPr marL="91440" marR="91440" marT="45720" marB="45720" anchor="ctr">
                    <a:solidFill>
                      <a:srgbClr val="F6F3EB"/>
                    </a:solidFill>
                  </a:tcPr>
                </a:tc>
                <a:tc>
                  <a:txBody>
                    <a:bodyPr lIns="114300" tIns="114300" rIns="114300" bIns="114300"/>
                    <a:lstStyle/>
                    <a:p>
                      <a:r>
                        <a:rPr sz="2250" b="0">
                          <a:solidFill>
                            <a:srgbClr val="163D30"/>
                          </a:solidFill>
                          <a:latin typeface="Malgun Gothic"/>
                          <a:ea typeface="Malgun Gothic"/>
                          <a:cs typeface="Malgun Gothic"/>
                        </a:rPr>
                        <a:t>1,061.62</a:t>
                      </a:r>
                    </a:p>
                  </a:txBody>
                  <a:tcPr marL="91440" marR="91440" marT="45720" marB="45720" anchor="ctr">
                    <a:solidFill>
                      <a:srgbClr val="F6F3EB"/>
                    </a:solidFill>
                  </a:tcPr>
                </a:tc>
              </a:tr>
            </a:tbl>
          </a:graphicData>
        </a:graphic>
      </p:graphicFrame>
      <p:sp>
        <p:nvSpPr>
          <p:cNvPr id="5" name="2026년 가격 곡선은 2025년 말 기준의 보관된 전망입니다.&#10;현재 시점의 예측이나 20">
            <a:extLst xmlns:a="http://schemas.openxmlformats.org/drawingml/2006/main">
              <a:ext uri="{FF2B5EF4-FFF2-40B4-BE49-F238E27FC236}">
                <a16:creationId xmlns:a16="http://schemas.microsoft.com/office/drawing/2014/main" id="{90D9FCF2-B3AA-4BEB-AC1F-82E06811EBA4}"/>
              </a:ext>
            </a:extLst>
          </p:cNvPr>
          <p:cNvSpPr>
            <a:spLocks xmlns:a="http://schemas.openxmlformats.org/drawingml/2006/main" noGrp="1"/>
          </p:cNvSpPr>
          <p:nvPr/>
        </p:nvSpPr>
        <p:spPr>
          <a:xfrm xmlns:a="http://schemas.openxmlformats.org/drawingml/2006/main">
            <a:off x="685800" y="55530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66A61"/>
                </a:solidFill>
                <a:latin typeface="Malgun Gothic"/>
                <a:ea typeface="Malgun Gothic"/>
                <a:cs typeface="Malgun Gothic"/>
              </a:defRPr>
            </a:defPPr>
          </a:lstStyle>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2026년 가격 곡선은 2025년 말 기준의 보관된 전망입니다.</a:t>
            </a:r>
          </a:p>
          <a:p xmlns:a="http://schemas.openxmlformats.org/drawingml/2006/main">
            <a:pPr algn="l">
              <a:defRPr sz="2025" b="0">
                <a:solidFill>
                  <a:srgbClr val="666A61"/>
                </a:solidFill>
                <a:latin typeface="Malgun Gothic"/>
                <a:ea typeface="Malgun Gothic"/>
                <a:cs typeface="Malgun Gothic"/>
              </a:defRPr>
            </a:pPr>
            <a:r>
              <a:rPr sz="2025" b="0">
                <a:solidFill>
                  <a:srgbClr val="666A61"/>
                </a:solidFill>
                <a:latin typeface="Malgun Gothic"/>
                <a:ea typeface="Malgun Gothic"/>
                <a:cs typeface="Malgun Gothic"/>
              </a:rPr>
              <a:t>현재 시점의 예측이나 2027년 검증 결과로 제시하지 않습니다.</a:t>
            </a:r>
          </a:p>
        </p:txBody>
      </p:sp>
    </p:spTree>
    <p:extLst>
      <p:ext uri="{BB962C8B-B14F-4D97-AF65-F5344CB8AC3E}">
        <p14:creationId xmlns:p14="http://schemas.microsoft.com/office/powerpoint/2010/main" val="1476504857"/>
      </p:ext>
    </p:extLst>
  </p:cSld>
</p:sld>
</file>

<file path=ppt/slides/slide22.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9" name="소득과 투자 회수는 계산 기준이 다릅니다">
            <a:extLst xmlns:a="http://schemas.openxmlformats.org/drawingml/2006/main">
              <a:ext uri="{FF2B5EF4-FFF2-40B4-BE49-F238E27FC236}">
                <a16:creationId xmlns:a16="http://schemas.microsoft.com/office/drawing/2014/main" id="{D7983031-4B70-4BDE-911C-3787FA4E3A63}"/>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소득과 투자 회수는 계산 기준이 다릅니다</a:t>
            </a:r>
          </a:p>
        </p:txBody>
      </p:sp>
      <p:sp>
        <p:nvSpPr>
          <p:cNvPr id="2" name="근거 자료  22">
            <a:extLst xmlns:a="http://schemas.openxmlformats.org/drawingml/2006/main">
              <a:ext uri="{FF2B5EF4-FFF2-40B4-BE49-F238E27FC236}">
                <a16:creationId xmlns:a16="http://schemas.microsoft.com/office/drawing/2014/main" id="{E0FBF3A8-789B-43D5-BFC1-550EB62E1C4C}"/>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22</a:t>
            </a:r>
          </a:p>
        </p:txBody>
      </p:sp>
      <p:sp>
        <p:nvSpPr>
          <p:cNvPr id="3" name="소득">
            <a:extLst xmlns:a="http://schemas.openxmlformats.org/drawingml/2006/main">
              <a:ext uri="{FF2B5EF4-FFF2-40B4-BE49-F238E27FC236}">
                <a16:creationId xmlns:a16="http://schemas.microsoft.com/office/drawing/2014/main" id="{012F7C44-4454-4C49-AA2D-CCF62166C96E}"/>
              </a:ext>
            </a:extLst>
          </p:cNvPr>
          <p:cNvSpPr>
            <a:spLocks xmlns:a="http://schemas.openxmlformats.org/drawingml/2006/main" noGrp="1"/>
          </p:cNvSpPr>
          <p:nvPr/>
        </p:nvSpPr>
        <p:spPr>
          <a:xfrm xmlns:a="http://schemas.openxmlformats.org/drawingml/2006/main">
            <a:off x="685800" y="1952625"/>
            <a:ext cx="266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247B56"/>
                </a:solidFill>
                <a:latin typeface="Malgun Gothic"/>
                <a:ea typeface="Malgun Gothic"/>
                <a:cs typeface="Malgun Gothic"/>
              </a:defRPr>
            </a:defPPr>
          </a:lstStyle>
          <a:p xmlns:a="http://schemas.openxmlformats.org/drawingml/2006/main">
            <a:pPr algn="l">
              <a:defRPr sz="2925" b="1">
                <a:solidFill>
                  <a:srgbClr val="247B56"/>
                </a:solidFill>
                <a:latin typeface="Malgun Gothic"/>
                <a:ea typeface="Malgun Gothic"/>
                <a:cs typeface="Malgun Gothic"/>
              </a:defRPr>
            </a:pPr>
            <a:r>
              <a:rPr sz="2925" b="1">
                <a:solidFill>
                  <a:srgbClr val="247B56"/>
                </a:solidFill>
                <a:latin typeface="Malgun Gothic"/>
                <a:ea typeface="Malgun Gothic"/>
                <a:cs typeface="Malgun Gothic"/>
              </a:rPr>
              <a:t>소득</a:t>
            </a:r>
          </a:p>
        </p:txBody>
      </p:sp>
      <p:sp>
        <p:nvSpPr>
          <p:cNvPr id="4" name="매출에서 경영비와 자가노동 비용을 뺍니다.&#10;경영비에는 감가상각이 들어 있습니다.">
            <a:extLst xmlns:a="http://schemas.openxmlformats.org/drawingml/2006/main">
              <a:ext uri="{FF2B5EF4-FFF2-40B4-BE49-F238E27FC236}">
                <a16:creationId xmlns:a16="http://schemas.microsoft.com/office/drawing/2014/main" id="{392B73D6-8F21-4E1A-8A47-BB1191B27E23}"/>
              </a:ext>
            </a:extLst>
          </p:cNvPr>
          <p:cNvSpPr>
            <a:spLocks xmlns:a="http://schemas.openxmlformats.org/drawingml/2006/main" noGrp="1"/>
          </p:cNvSpPr>
          <p:nvPr/>
        </p:nvSpPr>
        <p:spPr>
          <a:xfrm xmlns:a="http://schemas.openxmlformats.org/drawingml/2006/main">
            <a:off x="3638550" y="1924050"/>
            <a:ext cx="78486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매출에서 경영비와 자가노동 비용을 뺍니다.</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경영비에는 감가상각이 들어 있습니다.</a:t>
            </a:r>
          </a:p>
        </p:txBody>
      </p:sp>
      <p:sp>
        <p:nvSpPr>
          <p:cNvPr id="5" name="">
            <a:extLst xmlns:a="http://schemas.openxmlformats.org/drawingml/2006/main">
              <a:ext uri="{FF2B5EF4-FFF2-40B4-BE49-F238E27FC236}">
                <a16:creationId xmlns:a16="http://schemas.microsoft.com/office/drawing/2014/main" id="{7874151E-F9BC-41E4-81BB-CEEE3A1E78D6}"/>
              </a:ext>
            </a:extLst>
          </p:cNvPr>
          <p:cNvSpPr>
            <a:spLocks xmlns:a="http://schemas.openxmlformats.org/drawingml/2006/main" noGrp="1"/>
          </p:cNvSpPr>
          <p:nvPr/>
        </p:nvSpPr>
        <p:spPr>
          <a:xfrm xmlns:a="http://schemas.openxmlformats.org/drawingml/2006/main">
            <a:off x="685800" y="340995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6" name="투자 회수">
            <a:extLst xmlns:a="http://schemas.openxmlformats.org/drawingml/2006/main">
              <a:ext uri="{FF2B5EF4-FFF2-40B4-BE49-F238E27FC236}">
                <a16:creationId xmlns:a16="http://schemas.microsoft.com/office/drawing/2014/main" id="{4F476CC5-F239-4492-BDB9-BF9BA948450E}"/>
              </a:ext>
            </a:extLst>
          </p:cNvPr>
          <p:cNvSpPr>
            <a:spLocks xmlns:a="http://schemas.openxmlformats.org/drawingml/2006/main" noGrp="1"/>
          </p:cNvSpPr>
          <p:nvPr/>
        </p:nvSpPr>
        <p:spPr>
          <a:xfrm xmlns:a="http://schemas.openxmlformats.org/drawingml/2006/main">
            <a:off x="685800" y="3876675"/>
            <a:ext cx="266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247B56"/>
                </a:solidFill>
                <a:latin typeface="Malgun Gothic"/>
                <a:ea typeface="Malgun Gothic"/>
                <a:cs typeface="Malgun Gothic"/>
              </a:defRPr>
            </a:defPPr>
          </a:lstStyle>
          <a:p xmlns:a="http://schemas.openxmlformats.org/drawingml/2006/main">
            <a:pPr algn="l">
              <a:defRPr sz="2925" b="1">
                <a:solidFill>
                  <a:srgbClr val="247B56"/>
                </a:solidFill>
                <a:latin typeface="Malgun Gothic"/>
                <a:ea typeface="Malgun Gothic"/>
                <a:cs typeface="Malgun Gothic"/>
              </a:defRPr>
            </a:pPr>
            <a:r>
              <a:rPr sz="2925" b="1">
                <a:solidFill>
                  <a:srgbClr val="247B56"/>
                </a:solidFill>
                <a:latin typeface="Malgun Gothic"/>
                <a:ea typeface="Malgun Gothic"/>
                <a:cs typeface="Malgun Gothic"/>
              </a:rPr>
              <a:t>투자 회수</a:t>
            </a:r>
          </a:p>
        </p:txBody>
      </p:sp>
      <p:sp>
        <p:nvSpPr>
          <p:cNvPr id="7" name="매출에서 실제 현금 운영비를 빼고,&#10;투자·교체 지출과 비교합니다.">
            <a:extLst xmlns:a="http://schemas.openxmlformats.org/drawingml/2006/main">
              <a:ext uri="{FF2B5EF4-FFF2-40B4-BE49-F238E27FC236}">
                <a16:creationId xmlns:a16="http://schemas.microsoft.com/office/drawing/2014/main" id="{4118168B-41BC-498C-B0F1-F2531CC244B2}"/>
              </a:ext>
            </a:extLst>
          </p:cNvPr>
          <p:cNvSpPr>
            <a:spLocks xmlns:a="http://schemas.openxmlformats.org/drawingml/2006/main" noGrp="1"/>
          </p:cNvSpPr>
          <p:nvPr/>
        </p:nvSpPr>
        <p:spPr>
          <a:xfrm xmlns:a="http://schemas.openxmlformats.org/drawingml/2006/main">
            <a:off x="3638550" y="3838575"/>
            <a:ext cx="78486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매출에서 실제 현금 운영비를 빼고,</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투자·교체 지출과 비교합니다.</a:t>
            </a:r>
          </a:p>
        </p:txBody>
      </p:sp>
      <p:sp>
        <p:nvSpPr>
          <p:cNvPr id="8" name="기존 시설 개량은 도입 후와 기존 유지의 차이를 계산합니다.&#10;세금·대출·보조금·운전자금·기">
            <a:extLst xmlns:a="http://schemas.openxmlformats.org/drawingml/2006/main">
              <a:ext uri="{FF2B5EF4-FFF2-40B4-BE49-F238E27FC236}">
                <a16:creationId xmlns:a16="http://schemas.microsoft.com/office/drawing/2014/main" id="{67C45448-3871-4DA5-92E2-DFCCDD1A3430}"/>
              </a:ext>
            </a:extLst>
          </p:cNvPr>
          <p:cNvSpPr>
            <a:spLocks xmlns:a="http://schemas.openxmlformats.org/drawingml/2006/main" noGrp="1"/>
          </p:cNvSpPr>
          <p:nvPr/>
        </p:nvSpPr>
        <p:spPr>
          <a:xfrm xmlns:a="http://schemas.openxmlformats.org/drawingml/2006/main">
            <a:off x="685800" y="57245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기존 시설 개량은 도입 후와 기존 유지의 차이를 계산합니다.</a:t>
            </a:r>
          </a:p>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세금·대출·보조금·운전자금·기말 처분가치는 이 예시에서 제외했습니다.</a:t>
            </a:r>
          </a:p>
        </p:txBody>
      </p:sp>
    </p:spTree>
    <p:extLst>
      <p:ext uri="{BB962C8B-B14F-4D97-AF65-F5344CB8AC3E}">
        <p14:creationId xmlns:p14="http://schemas.microsoft.com/office/powerpoint/2010/main" val="485229259"/>
      </p:ext>
    </p:extLst>
  </p:cSld>
</p:sld>
</file>

<file path=ppt/slides/slide23.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딸기 시연에 사용한 값">
            <a:extLst xmlns:a="http://schemas.openxmlformats.org/drawingml/2006/main">
              <a:ext uri="{FF2B5EF4-FFF2-40B4-BE49-F238E27FC236}">
                <a16:creationId xmlns:a16="http://schemas.microsoft.com/office/drawing/2014/main" id="{B3E12DC6-8CDB-4733-A3E6-A8A1A6EF21E9}"/>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딸기 시연에 사용한 값</a:t>
            </a:r>
          </a:p>
        </p:txBody>
      </p:sp>
      <p:sp>
        <p:nvSpPr>
          <p:cNvPr id="2" name="근거 자료  23">
            <a:extLst xmlns:a="http://schemas.openxmlformats.org/drawingml/2006/main">
              <a:ext uri="{FF2B5EF4-FFF2-40B4-BE49-F238E27FC236}">
                <a16:creationId xmlns:a16="http://schemas.microsoft.com/office/drawing/2014/main" id="{966AFC71-95E7-4F09-A1B0-F8B6AE85D147}"/>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23</a:t>
            </a:r>
          </a:p>
        </p:txBody>
      </p:sp>
      <p:graphicFrame>
        <p:nvGraphicFramePr>
          <p:cNvPr id="3" name="">
            <a:extLst xmlns:a="http://schemas.openxmlformats.org/drawingml/2006/main">
              <a:ext uri="{FF2B5EF4-FFF2-40B4-BE49-F238E27FC236}">
                <a16:creationId xmlns:a16="http://schemas.microsoft.com/office/drawing/2014/main" id="{48614DDB-C6D5-45F8-96F3-A56523B3F662}"/>
              </a:ext>
            </a:extLst>
          </p:cNvPr>
          <p:cNvGraphicFramePr/>
          <p:nvPr/>
        </p:nvGraphicFramePr>
        <p:xfrm>
          <a:off xmlns:a="http://schemas.openxmlformats.org/drawingml/2006/main" x="685800" y="1733550"/>
          <a:ext xmlns:a="http://schemas.openxmlformats.org/drawingml/2006/main" cx="10820400" cy="3476625"/>
        </p:xfrm>
        <a:graphic xmlns:a="http://schemas.openxmlformats.org/drawingml/2006/main">
          <a:graphicData uri="http://schemas.openxmlformats.org/drawingml/2006/table">
            <a:tbl>
              <a:tblPr/>
              <a:tblGrid>
                <a:gridCol w="7096125"/>
                <a:gridCol w="3724275"/>
              </a:tblGrid>
              <a:tr h="579438">
                <a:tc>
                  <a:txBody>
                    <a:bodyPr lIns="114300" tIns="114300" rIns="114300" bIns="114300"/>
                    <a:lstStyle/>
                    <a:p>
                      <a:r>
                        <a:rPr sz="2025" b="1">
                          <a:solidFill>
                            <a:srgbClr val="163D30"/>
                          </a:solidFill>
                          <a:latin typeface="Malgun Gothic"/>
                          <a:ea typeface="Malgun Gothic"/>
                          <a:cs typeface="Malgun Gothic"/>
                        </a:rPr>
                        <a:t>전국 시설딸기 수경, 1,000㎡</a:t>
                      </a:r>
                    </a:p>
                  </a:txBody>
                  <a:tcPr marL="91440" marR="91440" marT="45720" marB="45720" anchor="ctr">
                    <a:solidFill>
                      <a:srgbClr val="E6EDDE"/>
                    </a:solidFill>
                  </a:tcPr>
                </a:tc>
                <a:tc>
                  <a:txBody>
                    <a:bodyPr lIns="114300" tIns="114300" rIns="114300" bIns="114300"/>
                    <a:lstStyle/>
                    <a:p>
                      <a:r>
                        <a:rPr sz="2025" b="1">
                          <a:solidFill>
                            <a:srgbClr val="163D30"/>
                          </a:solidFill>
                          <a:latin typeface="Malgun Gothic"/>
                          <a:ea typeface="Malgun Gothic"/>
                          <a:cs typeface="Malgun Gothic"/>
                        </a:rPr>
                        <a:t>연간 1기작 기준</a:t>
                      </a:r>
                    </a:p>
                  </a:txBody>
                  <a:tcPr marL="91440" marR="91440" marT="45720" marB="45720" anchor="ctr">
                    <a:solidFill>
                      <a:srgbClr val="E6EDDE"/>
                    </a:solidFill>
                  </a:tcPr>
                </a:tc>
              </a:tr>
              <a:tr h="579438">
                <a:tc>
                  <a:txBody>
                    <a:bodyPr lIns="114300" tIns="114300" rIns="114300" bIns="114300"/>
                    <a:lstStyle/>
                    <a:p>
                      <a:r>
                        <a:rPr sz="2025" b="0">
                          <a:solidFill>
                            <a:srgbClr val="163D30"/>
                          </a:solidFill>
                          <a:latin typeface="Malgun Gothic"/>
                          <a:ea typeface="Malgun Gothic"/>
                          <a:cs typeface="Malgun Gothic"/>
                        </a:rPr>
                        <a:t>출하량</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3,344.5 kg</a:t>
                      </a:r>
                    </a:p>
                  </a:txBody>
                  <a:tcPr marL="91440" marR="91440" marT="45720" marB="45720" anchor="ctr">
                    <a:solidFill>
                      <a:srgbClr val="F6F3EB"/>
                    </a:solidFill>
                  </a:tcPr>
                </a:tc>
              </a:tr>
              <a:tr h="579438">
                <a:tc>
                  <a:txBody>
                    <a:bodyPr lIns="114300" tIns="114300" rIns="114300" bIns="114300"/>
                    <a:lstStyle/>
                    <a:p>
                      <a:r>
                        <a:rPr sz="2025" b="0">
                          <a:solidFill>
                            <a:srgbClr val="163D30"/>
                          </a:solidFill>
                          <a:latin typeface="Malgun Gothic"/>
                          <a:ea typeface="Malgun Gothic"/>
                          <a:cs typeface="Malgun Gothic"/>
                        </a:rPr>
                        <a:t>농가수취단가</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10,868 원/kg</a:t>
                      </a:r>
                    </a:p>
                  </a:txBody>
                  <a:tcPr marL="91440" marR="91440" marT="45720" marB="45720" anchor="ctr">
                    <a:solidFill>
                      <a:srgbClr val="F6F3EB"/>
                    </a:solidFill>
                  </a:tcPr>
                </a:tc>
              </a:tr>
              <a:tr h="579438">
                <a:tc>
                  <a:txBody>
                    <a:bodyPr lIns="114300" tIns="114300" rIns="114300" bIns="114300"/>
                    <a:lstStyle/>
                    <a:p>
                      <a:r>
                        <a:rPr sz="2025" b="0">
                          <a:solidFill>
                            <a:srgbClr val="163D30"/>
                          </a:solidFill>
                          <a:latin typeface="Malgun Gothic"/>
                          <a:ea typeface="Malgun Gothic"/>
                          <a:cs typeface="Malgun Gothic"/>
                        </a:rPr>
                        <a:t>경영비 / 그중 감가상각</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2,078.3 / 479.0 만원</a:t>
                      </a:r>
                    </a:p>
                  </a:txBody>
                  <a:tcPr marL="91440" marR="91440" marT="45720" marB="45720" anchor="ctr">
                    <a:solidFill>
                      <a:srgbClr val="F6F3EB"/>
                    </a:solidFill>
                  </a:tcPr>
                </a:tc>
              </a:tr>
              <a:tr h="579438">
                <a:tc>
                  <a:txBody>
                    <a:bodyPr lIns="114300" tIns="114300" rIns="114300" bIns="114300"/>
                    <a:lstStyle/>
                    <a:p>
                      <a:r>
                        <a:rPr sz="2025" b="0">
                          <a:solidFill>
                            <a:srgbClr val="163D30"/>
                          </a:solidFill>
                          <a:latin typeface="Malgun Gothic"/>
                          <a:ea typeface="Malgun Gothic"/>
                          <a:cs typeface="Malgun Gothic"/>
                        </a:rPr>
                        <a:t>자가노동 기회비용</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1,209.8 만원</a:t>
                      </a:r>
                    </a:p>
                  </a:txBody>
                  <a:tcPr marL="91440" marR="91440" marT="45720" marB="45720" anchor="ctr">
                    <a:solidFill>
                      <a:srgbClr val="F6F3EB"/>
                    </a:solidFill>
                  </a:tcPr>
                </a:tc>
              </a:tr>
              <a:tr h="579438">
                <a:tc>
                  <a:txBody>
                    <a:bodyPr lIns="114300" tIns="114300" rIns="114300" bIns="114300"/>
                    <a:lstStyle/>
                    <a:p>
                      <a:r>
                        <a:rPr sz="2025" b="0">
                          <a:solidFill>
                            <a:srgbClr val="163D30"/>
                          </a:solidFill>
                          <a:latin typeface="Malgun Gothic"/>
                          <a:ea typeface="Malgun Gothic"/>
                          <a:cs typeface="Malgun Gothic"/>
                        </a:rPr>
                        <a:t>설치 / 추가 부가세 / 기타 투자</a:t>
                      </a:r>
                    </a:p>
                  </a:txBody>
                  <a:tcPr marL="91440" marR="91440" marT="45720" marB="45720" anchor="ctr">
                    <a:solidFill>
                      <a:srgbClr val="F6F3EB"/>
                    </a:solidFill>
                  </a:tcPr>
                </a:tc>
                <a:tc>
                  <a:txBody>
                    <a:bodyPr lIns="114300" tIns="114300" rIns="114300" bIns="114300"/>
                    <a:lstStyle/>
                    <a:p>
                      <a:r>
                        <a:rPr sz="2025" b="0">
                          <a:solidFill>
                            <a:srgbClr val="163D30"/>
                          </a:solidFill>
                          <a:latin typeface="Malgun Gothic"/>
                          <a:ea typeface="Malgun Gothic"/>
                          <a:cs typeface="Malgun Gothic"/>
                        </a:rPr>
                        <a:t>500 / 295.7 / 8,000 만원</a:t>
                      </a:r>
                    </a:p>
                  </a:txBody>
                  <a:tcPr marL="91440" marR="91440" marT="45720" marB="45720" anchor="ctr">
                    <a:solidFill>
                      <a:srgbClr val="F6F3EB"/>
                    </a:solidFill>
                  </a:tcPr>
                </a:tc>
              </a:tr>
            </a:tbl>
          </a:graphicData>
        </a:graphic>
      </p:graphicFrame>
      <p:sp>
        <p:nvSpPr>
          <p:cNvPr id="4" name="생산량은 2023·2024년 조사 2행의 중앙값입니다.&#10;가격·비용은 2024년 조사값이며,">
            <a:extLst xmlns:a="http://schemas.openxmlformats.org/drawingml/2006/main">
              <a:ext uri="{FF2B5EF4-FFF2-40B4-BE49-F238E27FC236}">
                <a16:creationId xmlns:a16="http://schemas.microsoft.com/office/drawing/2014/main" id="{4A728B32-4A34-4801-B953-98CE6BD4786E}"/>
              </a:ext>
            </a:extLst>
          </p:cNvPr>
          <p:cNvSpPr>
            <a:spLocks xmlns:a="http://schemas.openxmlformats.org/drawingml/2006/main" noGrp="1"/>
          </p:cNvSpPr>
          <p:nvPr/>
        </p:nvSpPr>
        <p:spPr>
          <a:xfrm xmlns:a="http://schemas.openxmlformats.org/drawingml/2006/main">
            <a:off x="685800" y="56578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생산량은 2023·2024년 조사 2행의 중앙값입니다.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가격·비용은 2024년 조사값이며, 2027년 계획의 시연 가정으로 사용했습니다.</a:t>
            </a:r>
          </a:p>
        </p:txBody>
      </p:sp>
    </p:spTree>
    <p:extLst>
      <p:ext uri="{BB962C8B-B14F-4D97-AF65-F5344CB8AC3E}">
        <p14:creationId xmlns:p14="http://schemas.microsoft.com/office/powerpoint/2010/main" val="906706917"/>
      </p:ext>
    </p:extLst>
  </p:cSld>
</p:sld>
</file>

<file path=ppt/slides/slide24.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조건별 회수기간과 10년 투자 가치">
            <a:extLst xmlns:a="http://schemas.openxmlformats.org/drawingml/2006/main">
              <a:ext uri="{FF2B5EF4-FFF2-40B4-BE49-F238E27FC236}">
                <a16:creationId xmlns:a16="http://schemas.microsoft.com/office/drawing/2014/main" id="{63E1B8B6-6101-4BEA-A23D-1402CEE3192E}"/>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조건별 회수기간과 10년 투자 가치</a:t>
            </a:r>
          </a:p>
        </p:txBody>
      </p:sp>
      <p:sp>
        <p:nvSpPr>
          <p:cNvPr id="2" name="근거 자료  24">
            <a:extLst xmlns:a="http://schemas.openxmlformats.org/drawingml/2006/main">
              <a:ext uri="{FF2B5EF4-FFF2-40B4-BE49-F238E27FC236}">
                <a16:creationId xmlns:a16="http://schemas.microsoft.com/office/drawing/2014/main" id="{32C44B3F-1848-482C-B925-A95AB01B9D74}"/>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24</a:t>
            </a:r>
          </a:p>
        </p:txBody>
      </p:sp>
      <p:graphicFrame>
        <p:nvGraphicFramePr>
          <p:cNvPr id="3" name="">
            <a:extLst xmlns:a="http://schemas.openxmlformats.org/drawingml/2006/main">
              <a:ext uri="{FF2B5EF4-FFF2-40B4-BE49-F238E27FC236}">
                <a16:creationId xmlns:a16="http://schemas.microsoft.com/office/drawing/2014/main" id="{C7E60858-52D2-419B-B82F-4078EDC24423}"/>
              </a:ext>
            </a:extLst>
          </p:cNvPr>
          <p:cNvGraphicFramePr/>
          <p:nvPr/>
        </p:nvGraphicFramePr>
        <p:xfrm>
          <a:off xmlns:a="http://schemas.openxmlformats.org/drawingml/2006/main" x="685800" y="1752600"/>
          <a:ext xmlns:a="http://schemas.openxmlformats.org/drawingml/2006/main" cx="10820400" cy="3324225"/>
        </p:xfrm>
        <a:graphic xmlns:a="http://schemas.openxmlformats.org/drawingml/2006/main">
          <a:graphicData uri="http://schemas.openxmlformats.org/drawingml/2006/table">
            <a:tbl>
              <a:tblPr/>
              <a:tblGrid>
                <a:gridCol w="3962400"/>
                <a:gridCol w="2286000"/>
                <a:gridCol w="2286000"/>
                <a:gridCol w="2286000"/>
              </a:tblGrid>
              <a:tr h="664845">
                <a:tc>
                  <a:txBody>
                    <a:bodyPr lIns="114300" tIns="114300" rIns="114300" bIns="114300"/>
                    <a:lstStyle/>
                    <a:p>
                      <a:r>
                        <a:rPr sz="1950" b="1">
                          <a:solidFill>
                            <a:srgbClr val="163D30"/>
                          </a:solidFill>
                          <a:latin typeface="Malgun Gothic"/>
                          <a:ea typeface="Malgun Gothic"/>
                          <a:cs typeface="Malgun Gothic"/>
                        </a:rPr>
                        <a:t>조건</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불리</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기준</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유리</a:t>
                      </a:r>
                    </a:p>
                  </a:txBody>
                  <a:tcPr marL="91440" marR="91440" marT="45720" marB="45720" anchor="ctr">
                    <a:solidFill>
                      <a:srgbClr val="E6EDDE"/>
                    </a:solidFill>
                  </a:tcPr>
                </a:tc>
              </a:tr>
              <a:tr h="664845">
                <a:tc>
                  <a:txBody>
                    <a:bodyPr lIns="114300" tIns="114300" rIns="114300" bIns="114300"/>
                    <a:lstStyle/>
                    <a:p>
                      <a:r>
                        <a:rPr sz="1950" b="0">
                          <a:solidFill>
                            <a:srgbClr val="163D30"/>
                          </a:solidFill>
                          <a:latin typeface="Malgun Gothic"/>
                          <a:ea typeface="Malgun Gothic"/>
                          <a:cs typeface="Malgun Gothic"/>
                        </a:rPr>
                        <a:t>생산량 / 판매단가 변화</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−10% / −20%</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변화 없음</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+10% / +20%</a:t>
                      </a:r>
                    </a:p>
                  </a:txBody>
                  <a:tcPr marL="91440" marR="91440" marT="45720" marB="45720" anchor="ctr">
                    <a:solidFill>
                      <a:srgbClr val="F6F3EB"/>
                    </a:solidFill>
                  </a:tcPr>
                </a:tc>
              </a:tr>
              <a:tr h="664845">
                <a:tc>
                  <a:txBody>
                    <a:bodyPr lIns="114300" tIns="114300" rIns="114300" bIns="114300"/>
                    <a:lstStyle/>
                    <a:p>
                      <a:r>
                        <a:rPr sz="1950" b="0">
                          <a:solidFill>
                            <a:srgbClr val="163D30"/>
                          </a:solidFill>
                          <a:latin typeface="Malgun Gothic"/>
                          <a:ea typeface="Malgun Gothic"/>
                          <a:cs typeface="Malgun Gothic"/>
                        </a:rPr>
                        <a:t>현금 운영비 변화</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+10%</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변화 없음</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−10%</a:t>
                      </a:r>
                    </a:p>
                  </a:txBody>
                  <a:tcPr marL="91440" marR="91440" marT="45720" marB="45720" anchor="ctr">
                    <a:solidFill>
                      <a:srgbClr val="F6F3EB"/>
                    </a:solidFill>
                  </a:tcPr>
                </a:tc>
              </a:tr>
              <a:tr h="664845">
                <a:tc>
                  <a:txBody>
                    <a:bodyPr lIns="114300" tIns="114300" rIns="114300" bIns="114300"/>
                    <a:lstStyle/>
                    <a:p>
                      <a:r>
                        <a:rPr sz="1950" b="0">
                          <a:solidFill>
                            <a:srgbClr val="163D30"/>
                          </a:solidFill>
                          <a:latin typeface="Malgun Gothic"/>
                          <a:ea typeface="Malgun Gothic"/>
                          <a:cs typeface="Malgun Gothic"/>
                        </a:rPr>
                        <a:t>투자 회수</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10년 내 못 함</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6년</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4년</a:t>
                      </a:r>
                    </a:p>
                  </a:txBody>
                  <a:tcPr marL="91440" marR="91440" marT="45720" marB="45720" anchor="ctr">
                    <a:solidFill>
                      <a:srgbClr val="F6F3EB"/>
                    </a:solidFill>
                  </a:tcPr>
                </a:tc>
              </a:tr>
              <a:tr h="664845">
                <a:tc>
                  <a:txBody>
                    <a:bodyPr lIns="114300" tIns="114300" rIns="114300" bIns="114300"/>
                    <a:lstStyle/>
                    <a:p>
                      <a:r>
                        <a:rPr sz="1950" b="0">
                          <a:solidFill>
                            <a:srgbClr val="163D30"/>
                          </a:solidFill>
                          <a:latin typeface="Malgun Gothic"/>
                          <a:ea typeface="Malgun Gothic"/>
                          <a:cs typeface="Malgun Gothic"/>
                        </a:rPr>
                        <a:t>10년 순현재가치</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−4,295만원</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5,257만원</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15,988만원</a:t>
                      </a:r>
                    </a:p>
                  </a:txBody>
                  <a:tcPr marL="91440" marR="91440" marT="45720" marB="45720" anchor="ctr">
                    <a:solidFill>
                      <a:srgbClr val="F6F3EB"/>
                    </a:solidFill>
                  </a:tcPr>
                </a:tc>
              </a:tr>
            </a:tbl>
          </a:graphicData>
        </a:graphic>
      </p:graphicFrame>
      <p:sp>
        <p:nvSpPr>
          <p:cNvPr id="4" name="할인율 4%, 교체비 0, 자가노동 차감 전 현금흐름입니다.&#10;2,000회 가정 실험의 순현">
            <a:extLst xmlns:a="http://schemas.openxmlformats.org/drawingml/2006/main">
              <a:ext uri="{FF2B5EF4-FFF2-40B4-BE49-F238E27FC236}">
                <a16:creationId xmlns:a16="http://schemas.microsoft.com/office/drawing/2014/main" id="{9A9B30B2-8304-41F9-A9E9-A2C2273B998A}"/>
              </a:ext>
            </a:extLst>
          </p:cNvPr>
          <p:cNvSpPr>
            <a:spLocks xmlns:a="http://schemas.openxmlformats.org/drawingml/2006/main" noGrp="1"/>
          </p:cNvSpPr>
          <p:nvPr/>
        </p:nvSpPr>
        <p:spPr>
          <a:xfrm xmlns:a="http://schemas.openxmlformats.org/drawingml/2006/main">
            <a:off x="685800" y="53911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66A61"/>
                </a:solidFill>
                <a:latin typeface="Malgun Gothic"/>
                <a:ea typeface="Malgun Gothic"/>
                <a:cs typeface="Malgun Gothic"/>
              </a:defRPr>
            </a:defPPr>
          </a:lstStyle>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할인율 4%, 교체비 0, 자가노동 차감 전 현금흐름입니다.</a:t>
            </a:r>
          </a:p>
          <a:p xmlns:a="http://schemas.openxmlformats.org/drawingml/2006/main">
            <a:pPr algn="l">
              <a:defRPr sz="1950" b="0">
                <a:solidFill>
                  <a:srgbClr val="666A61"/>
                </a:solidFill>
                <a:latin typeface="Malgun Gothic"/>
                <a:ea typeface="Malgun Gothic"/>
                <a:cs typeface="Malgun Gothic"/>
              </a:defRPr>
            </a:pPr>
            <a:r>
              <a:rPr sz="1950" b="0">
                <a:solidFill>
                  <a:srgbClr val="666A61"/>
                </a:solidFill>
                <a:latin typeface="Malgun Gothic"/>
                <a:ea typeface="Malgun Gothic"/>
                <a:cs typeface="Malgun Gothic"/>
              </a:rPr>
              <a:t>2,000회 가정 실험의 순현재가치 5~95백분위는 792~9,921만원입니다.</a:t>
            </a:r>
          </a:p>
        </p:txBody>
      </p:sp>
      <p:sp>
        <p:nvSpPr>
          <p:cNvPr id="5" name="이 범위는 설정한 가정의 분포이며, 성공 확률이나 신뢰구간이 아닙니다.">
            <a:extLst xmlns:a="http://schemas.openxmlformats.org/drawingml/2006/main">
              <a:ext uri="{FF2B5EF4-FFF2-40B4-BE49-F238E27FC236}">
                <a16:creationId xmlns:a16="http://schemas.microsoft.com/office/drawing/2014/main" id="{02AC88F3-DACD-4243-AB07-53721D06DF2D}"/>
              </a:ext>
            </a:extLst>
          </p:cNvPr>
          <p:cNvSpPr>
            <a:spLocks xmlns:a="http://schemas.openxmlformats.org/drawingml/2006/main" noGrp="1"/>
          </p:cNvSpPr>
          <p:nvPr/>
        </p:nvSpPr>
        <p:spPr>
          <a:xfrm xmlns:a="http://schemas.openxmlformats.org/drawingml/2006/main">
            <a:off x="685800" y="61341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C45E2A"/>
                </a:solidFill>
                <a:latin typeface="Malgun Gothic"/>
                <a:ea typeface="Malgun Gothic"/>
                <a:cs typeface="Malgun Gothic"/>
              </a:defRPr>
            </a:defPPr>
          </a:lstStyle>
          <a:p xmlns:a="http://schemas.openxmlformats.org/drawingml/2006/main">
            <a:pPr algn="l">
              <a:defRPr sz="1800" b="1">
                <a:solidFill>
                  <a:srgbClr val="C45E2A"/>
                </a:solidFill>
                <a:latin typeface="Malgun Gothic"/>
                <a:ea typeface="Malgun Gothic"/>
                <a:cs typeface="Malgun Gothic"/>
              </a:defRPr>
            </a:pPr>
            <a:r>
              <a:rPr sz="1800" b="1">
                <a:solidFill>
                  <a:srgbClr val="C45E2A"/>
                </a:solidFill>
                <a:latin typeface="Malgun Gothic"/>
                <a:ea typeface="Malgun Gothic"/>
                <a:cs typeface="Malgun Gothic"/>
              </a:rPr>
              <a:t>이 범위는 설정한 가정의 분포이며, 성공 확률이나 신뢰구간이 아닙니다.</a:t>
            </a:r>
          </a:p>
        </p:txBody>
      </p:sp>
    </p:spTree>
    <p:extLst>
      <p:ext uri="{BB962C8B-B14F-4D97-AF65-F5344CB8AC3E}">
        <p14:creationId xmlns:p14="http://schemas.microsoft.com/office/powerpoint/2010/main" val="899900478"/>
      </p:ext>
    </p:extLst>
  </p:cSld>
</p:sld>
</file>

<file path=ppt/slides/slide25.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가격과 저온 가정의 연결 근거">
            <a:extLst xmlns:a="http://schemas.openxmlformats.org/drawingml/2006/main">
              <a:ext uri="{FF2B5EF4-FFF2-40B4-BE49-F238E27FC236}">
                <a16:creationId xmlns:a16="http://schemas.microsoft.com/office/drawing/2014/main" id="{073A6786-A30A-44D4-B718-182B7049AB66}"/>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가격과 저온 가정의 연결 근거</a:t>
            </a:r>
          </a:p>
        </p:txBody>
      </p:sp>
      <p:sp>
        <p:nvSpPr>
          <p:cNvPr id="2" name="근거 자료  25">
            <a:extLst xmlns:a="http://schemas.openxmlformats.org/drawingml/2006/main">
              <a:ext uri="{FF2B5EF4-FFF2-40B4-BE49-F238E27FC236}">
                <a16:creationId xmlns:a16="http://schemas.microsoft.com/office/drawing/2014/main" id="{37A84789-F941-4F8F-88AF-81B59C50DF70}"/>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25</a:t>
            </a:r>
          </a:p>
        </p:txBody>
      </p:sp>
      <p:sp>
        <p:nvSpPr>
          <p:cNvPr id="3" name="가격">
            <a:extLst xmlns:a="http://schemas.openxmlformats.org/drawingml/2006/main">
              <a:ext uri="{FF2B5EF4-FFF2-40B4-BE49-F238E27FC236}">
                <a16:creationId xmlns:a16="http://schemas.microsoft.com/office/drawing/2014/main" id="{180B79D0-B4BB-42F2-A5AF-84CFC06B9470}"/>
              </a:ext>
            </a:extLst>
          </p:cNvPr>
          <p:cNvSpPr>
            <a:spLocks xmlns:a="http://schemas.openxmlformats.org/drawingml/2006/main" noGrp="1"/>
          </p:cNvSpPr>
          <p:nvPr/>
        </p:nvSpPr>
        <p:spPr>
          <a:xfrm xmlns:a="http://schemas.openxmlformats.org/drawingml/2006/main">
            <a:off x="685800" y="1743075"/>
            <a:ext cx="21240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247B56"/>
                </a:solidFill>
                <a:latin typeface="Malgun Gothic"/>
                <a:ea typeface="Malgun Gothic"/>
                <a:cs typeface="Malgun Gothic"/>
              </a:defRPr>
            </a:defPPr>
          </a:lstStyle>
          <a:p xmlns:a="http://schemas.openxmlformats.org/drawingml/2006/main">
            <a:pPr algn="l">
              <a:defRPr sz="2625" b="1">
                <a:solidFill>
                  <a:srgbClr val="247B56"/>
                </a:solidFill>
                <a:latin typeface="Malgun Gothic"/>
                <a:ea typeface="Malgun Gothic"/>
                <a:cs typeface="Malgun Gothic"/>
              </a:defRPr>
            </a:pPr>
            <a:r>
              <a:rPr sz="2625" b="1">
                <a:solidFill>
                  <a:srgbClr val="247B56"/>
                </a:solidFill>
                <a:latin typeface="Malgun Gothic"/>
                <a:ea typeface="Malgun Gothic"/>
                <a:cs typeface="Malgun Gothic"/>
              </a:rPr>
              <a:t>가격</a:t>
            </a:r>
          </a:p>
        </p:txBody>
      </p:sp>
      <p:sp>
        <p:nvSpPr>
          <p:cNvPr id="4" name="설향 상품의 1·2·3·4·12월을 같은 비중으로 비교&#10;2026년 전망 / 2025년 실제">
            <a:extLst xmlns:a="http://schemas.openxmlformats.org/drawingml/2006/main">
              <a:ext uri="{FF2B5EF4-FFF2-40B4-BE49-F238E27FC236}">
                <a16:creationId xmlns:a16="http://schemas.microsoft.com/office/drawing/2014/main" id="{4A7FC7F0-521F-4436-9A27-EB6E8DEBD4FF}"/>
              </a:ext>
            </a:extLst>
          </p:cNvPr>
          <p:cNvSpPr>
            <a:spLocks xmlns:a="http://schemas.openxmlformats.org/drawingml/2006/main" noGrp="1"/>
          </p:cNvSpPr>
          <p:nvPr/>
        </p:nvSpPr>
        <p:spPr>
          <a:xfrm xmlns:a="http://schemas.openxmlformats.org/drawingml/2006/main">
            <a:off x="2847975" y="1724025"/>
            <a:ext cx="86391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설향 상품의 1·2·3·4·12월을 같은 비중으로 비교</a:t>
            </a:r>
          </a:p>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2026년 전망 / 2025년 실제 평균으로 +8.6% 가정</a:t>
            </a:r>
          </a:p>
        </p:txBody>
      </p:sp>
      <p:sp>
        <p:nvSpPr>
          <p:cNvPr id="5" name="저온">
            <a:extLst xmlns:a="http://schemas.openxmlformats.org/drawingml/2006/main">
              <a:ext uri="{FF2B5EF4-FFF2-40B4-BE49-F238E27FC236}">
                <a16:creationId xmlns:a16="http://schemas.microsoft.com/office/drawing/2014/main" id="{FC132F74-3D53-492F-8530-9B2FC1E5E161}"/>
              </a:ext>
            </a:extLst>
          </p:cNvPr>
          <p:cNvSpPr>
            <a:spLocks xmlns:a="http://schemas.openxmlformats.org/drawingml/2006/main" noGrp="1"/>
          </p:cNvSpPr>
          <p:nvPr/>
        </p:nvSpPr>
        <p:spPr>
          <a:xfrm xmlns:a="http://schemas.openxmlformats.org/drawingml/2006/main">
            <a:off x="685800" y="3067050"/>
            <a:ext cx="21240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247B56"/>
                </a:solidFill>
                <a:latin typeface="Malgun Gothic"/>
                <a:ea typeface="Malgun Gothic"/>
                <a:cs typeface="Malgun Gothic"/>
              </a:defRPr>
            </a:defPPr>
          </a:lstStyle>
          <a:p xmlns:a="http://schemas.openxmlformats.org/drawingml/2006/main">
            <a:pPr algn="l">
              <a:defRPr sz="2625" b="1">
                <a:solidFill>
                  <a:srgbClr val="247B56"/>
                </a:solidFill>
                <a:latin typeface="Malgun Gothic"/>
                <a:ea typeface="Malgun Gothic"/>
                <a:cs typeface="Malgun Gothic"/>
              </a:defRPr>
            </a:pPr>
            <a:r>
              <a:rPr sz="2625" b="1">
                <a:solidFill>
                  <a:srgbClr val="247B56"/>
                </a:solidFill>
                <a:latin typeface="Malgun Gothic"/>
                <a:ea typeface="Malgun Gothic"/>
                <a:cs typeface="Malgun Gothic"/>
              </a:rPr>
              <a:t>저온</a:t>
            </a:r>
          </a:p>
        </p:txBody>
      </p:sp>
      <p:sp>
        <p:nvSpPr>
          <p:cNvPr id="6" name="대구 1월 평년기온 1.1°C를 참고&#10;연간 생산 −10%, 현금 운영비 +15%는 사용자 ">
            <a:extLst xmlns:a="http://schemas.openxmlformats.org/drawingml/2006/main">
              <a:ext uri="{FF2B5EF4-FFF2-40B4-BE49-F238E27FC236}">
                <a16:creationId xmlns:a16="http://schemas.microsoft.com/office/drawing/2014/main" id="{D127F8DD-B2D3-4EDF-A440-9662658AF13E}"/>
              </a:ext>
            </a:extLst>
          </p:cNvPr>
          <p:cNvSpPr>
            <a:spLocks xmlns:a="http://schemas.openxmlformats.org/drawingml/2006/main" noGrp="1"/>
          </p:cNvSpPr>
          <p:nvPr/>
        </p:nvSpPr>
        <p:spPr>
          <a:xfrm xmlns:a="http://schemas.openxmlformats.org/drawingml/2006/main">
            <a:off x="2847975" y="3048000"/>
            <a:ext cx="86391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대구 1월 평년기온 1.1°C를 참고</a:t>
            </a:r>
          </a:p>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연간 생산 −10%, 현금 운영비 +15%는 사용자 가정</a:t>
            </a:r>
          </a:p>
        </p:txBody>
      </p:sp>
      <p:graphicFrame>
        <p:nvGraphicFramePr>
          <p:cNvPr id="7" name="">
            <a:extLst xmlns:a="http://schemas.openxmlformats.org/drawingml/2006/main">
              <a:ext uri="{FF2B5EF4-FFF2-40B4-BE49-F238E27FC236}">
                <a16:creationId xmlns:a16="http://schemas.microsoft.com/office/drawing/2014/main" id="{299CCE21-CC57-4C7B-9640-EA8C616424E6}"/>
              </a:ext>
            </a:extLst>
          </p:cNvPr>
          <p:cNvGraphicFramePr/>
          <p:nvPr/>
        </p:nvGraphicFramePr>
        <p:xfrm>
          <a:off xmlns:a="http://schemas.openxmlformats.org/drawingml/2006/main" x="685800" y="4467225"/>
          <a:ext xmlns:a="http://schemas.openxmlformats.org/drawingml/2006/main" cx="10820400" cy="1571625"/>
        </p:xfrm>
        <a:graphic xmlns:a="http://schemas.openxmlformats.org/drawingml/2006/main">
          <a:graphicData uri="http://schemas.openxmlformats.org/drawingml/2006/table">
            <a:tbl>
              <a:tblPr/>
              <a:tblGrid>
                <a:gridCol w="3781425"/>
                <a:gridCol w="2143125"/>
                <a:gridCol w="2143125"/>
                <a:gridCol w="2752725"/>
              </a:tblGrid>
              <a:tr h="523875">
                <a:tc>
                  <a:txBody>
                    <a:bodyPr lIns="114300" tIns="114300" rIns="114300" bIns="114300"/>
                    <a:lstStyle/>
                    <a:p>
                      <a:r>
                        <a:rPr sz="1950" b="1">
                          <a:solidFill>
                            <a:srgbClr val="163D30"/>
                          </a:solidFill>
                          <a:latin typeface="Malgun Gothic"/>
                          <a:ea typeface="Malgun Gothic"/>
                          <a:cs typeface="Malgun Gothic"/>
                        </a:rPr>
                        <a:t>연소득 / 회수</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기준</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가격 상승</a:t>
                      </a:r>
                    </a:p>
                  </a:txBody>
                  <a:tcPr marL="91440" marR="91440" marT="45720" marB="45720" anchor="ctr">
                    <a:solidFill>
                      <a:srgbClr val="E6EDDE"/>
                    </a:solidFill>
                  </a:tcPr>
                </a:tc>
                <a:tc>
                  <a:txBody>
                    <a:bodyPr lIns="114300" tIns="114300" rIns="114300" bIns="114300"/>
                    <a:lstStyle/>
                    <a:p>
                      <a:r>
                        <a:rPr sz="1950" b="1">
                          <a:solidFill>
                            <a:srgbClr val="163D30"/>
                          </a:solidFill>
                          <a:latin typeface="Malgun Gothic"/>
                          <a:ea typeface="Malgun Gothic"/>
                          <a:cs typeface="Malgun Gothic"/>
                        </a:rPr>
                        <a:t>가격 상승 + 저온</a:t>
                      </a:r>
                    </a:p>
                  </a:txBody>
                  <a:tcPr marL="91440" marR="91440" marT="45720" marB="45720" anchor="ctr">
                    <a:solidFill>
                      <a:srgbClr val="E6EDDE"/>
                    </a:solidFill>
                  </a:tcPr>
                </a:tc>
              </a:tr>
              <a:tr h="523875">
                <a:tc>
                  <a:txBody>
                    <a:bodyPr lIns="114300" tIns="114300" rIns="114300" bIns="114300"/>
                    <a:lstStyle/>
                    <a:p>
                      <a:r>
                        <a:rPr sz="1950" b="0">
                          <a:solidFill>
                            <a:srgbClr val="163D30"/>
                          </a:solidFill>
                          <a:latin typeface="Malgun Gothic"/>
                          <a:ea typeface="Malgun Gothic"/>
                          <a:cs typeface="Malgun Gothic"/>
                        </a:rPr>
                        <a:t>자가노동 차감 후</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346.7만원</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659.2만원</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24.6만원</a:t>
                      </a:r>
                    </a:p>
                  </a:txBody>
                  <a:tcPr marL="91440" marR="91440" marT="45720" marB="45720" anchor="ctr">
                    <a:solidFill>
                      <a:srgbClr val="F6F3EB"/>
                    </a:solidFill>
                  </a:tcPr>
                </a:tc>
              </a:tr>
              <a:tr h="523875">
                <a:tc>
                  <a:txBody>
                    <a:bodyPr lIns="114300" tIns="114300" rIns="114300" bIns="114300"/>
                    <a:lstStyle/>
                    <a:p>
                      <a:r>
                        <a:rPr sz="1950" b="0">
                          <a:solidFill>
                            <a:srgbClr val="163D30"/>
                          </a:solidFill>
                          <a:latin typeface="Malgun Gothic"/>
                          <a:ea typeface="Malgun Gothic"/>
                          <a:cs typeface="Malgun Gothic"/>
                        </a:rPr>
                        <a:t>현금흐름 기준 회수</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6년</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5년</a:t>
                      </a:r>
                    </a:p>
                  </a:txBody>
                  <a:tcPr marL="91440" marR="91440" marT="45720" marB="45720" anchor="ctr">
                    <a:solidFill>
                      <a:srgbClr val="F6F3EB"/>
                    </a:solidFill>
                  </a:tcPr>
                </a:tc>
                <a:tc>
                  <a:txBody>
                    <a:bodyPr lIns="114300" tIns="114300" rIns="114300" bIns="114300"/>
                    <a:lstStyle/>
                    <a:p>
                      <a:r>
                        <a:rPr sz="1950" b="0">
                          <a:solidFill>
                            <a:srgbClr val="163D30"/>
                          </a:solidFill>
                          <a:latin typeface="Malgun Gothic"/>
                          <a:ea typeface="Malgun Gothic"/>
                          <a:cs typeface="Malgun Gothic"/>
                        </a:rPr>
                        <a:t>7년</a:t>
                      </a:r>
                    </a:p>
                  </a:txBody>
                  <a:tcPr marL="91440" marR="91440" marT="45720" marB="45720" anchor="ctr">
                    <a:solidFill>
                      <a:srgbClr val="F6F3EB"/>
                    </a:solidFill>
                  </a:tcPr>
                </a:tc>
              </a:tr>
            </a:tbl>
          </a:graphicData>
        </a:graphic>
      </p:graphicFrame>
    </p:spTree>
    <p:extLst>
      <p:ext uri="{BB962C8B-B14F-4D97-AF65-F5344CB8AC3E}">
        <p14:creationId xmlns:p14="http://schemas.microsoft.com/office/powerpoint/2010/main" val="353290285"/>
      </p:ext>
    </p:extLst>
  </p:cSld>
</p:sld>
</file>

<file path=ppt/slides/slide26.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생육 점검 모델은 과거 관측만 사용합니다">
            <a:extLst xmlns:a="http://schemas.openxmlformats.org/drawingml/2006/main">
              <a:ext uri="{FF2B5EF4-FFF2-40B4-BE49-F238E27FC236}">
                <a16:creationId xmlns:a16="http://schemas.microsoft.com/office/drawing/2014/main" id="{9DC345EA-97CB-4F3A-A6B6-C6004997A6B0}"/>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생육 점검 모델은 과거 관측만 사용합니다</a:t>
            </a:r>
          </a:p>
        </p:txBody>
      </p:sp>
      <p:sp>
        <p:nvSpPr>
          <p:cNvPr id="2" name="근거 자료  26">
            <a:extLst xmlns:a="http://schemas.openxmlformats.org/drawingml/2006/main">
              <a:ext uri="{FF2B5EF4-FFF2-40B4-BE49-F238E27FC236}">
                <a16:creationId xmlns:a16="http://schemas.microsoft.com/office/drawing/2014/main" id="{2C62D646-FB20-4269-9027-B3694706636F}"/>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26</a:t>
            </a:r>
          </a:p>
        </p:txBody>
      </p:sp>
      <p:sp>
        <p:nvSpPr>
          <p:cNvPr id="3" name="현재 생육 기록 9개">
            <a:extLst xmlns:a="http://schemas.openxmlformats.org/drawingml/2006/main">
              <a:ext uri="{FF2B5EF4-FFF2-40B4-BE49-F238E27FC236}">
                <a16:creationId xmlns:a16="http://schemas.microsoft.com/office/drawing/2014/main" id="{AD273E91-60BF-4309-9E2B-2968A7EC6F08}"/>
              </a:ext>
            </a:extLst>
          </p:cNvPr>
          <p:cNvSpPr>
            <a:spLocks xmlns:a="http://schemas.openxmlformats.org/drawingml/2006/main" noGrp="1"/>
          </p:cNvSpPr>
          <p:nvPr/>
        </p:nvSpPr>
        <p:spPr>
          <a:xfrm xmlns:a="http://schemas.openxmlformats.org/drawingml/2006/main">
            <a:off x="685800" y="1800225"/>
            <a:ext cx="10620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현재 생육 기록 9개</a:t>
            </a:r>
          </a:p>
        </p:txBody>
      </p:sp>
      <p:sp>
        <p:nvSpPr>
          <p:cNvPr id="4" name="초장, 잎, 관부, 조사 시기, 정식 후 일수 등">
            <a:extLst xmlns:a="http://schemas.openxmlformats.org/drawingml/2006/main">
              <a:ext uri="{FF2B5EF4-FFF2-40B4-BE49-F238E27FC236}">
                <a16:creationId xmlns:a16="http://schemas.microsoft.com/office/drawing/2014/main" id="{DC8536A1-C18B-4CED-9949-BC2E112FFEAE}"/>
              </a:ext>
            </a:extLst>
          </p:cNvPr>
          <p:cNvSpPr>
            <a:spLocks xmlns:a="http://schemas.openxmlformats.org/drawingml/2006/main" noGrp="1"/>
          </p:cNvSpPr>
          <p:nvPr/>
        </p:nvSpPr>
        <p:spPr>
          <a:xfrm xmlns:a="http://schemas.openxmlformats.org/drawingml/2006/main">
            <a:off x="685800" y="2438400"/>
            <a:ext cx="10620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초장, 잎, 관부, 조사 시기, 정식 후 일수 등</a:t>
            </a:r>
          </a:p>
        </p:txBody>
      </p:sp>
      <p:sp>
        <p:nvSpPr>
          <p:cNvPr id="5" name="이전 환경 요약 24개">
            <a:extLst xmlns:a="http://schemas.openxmlformats.org/drawingml/2006/main">
              <a:ext uri="{FF2B5EF4-FFF2-40B4-BE49-F238E27FC236}">
                <a16:creationId xmlns:a16="http://schemas.microsoft.com/office/drawing/2014/main" id="{B49C39F3-CED0-4D01-A323-CD92F25FCC0D}"/>
              </a:ext>
            </a:extLst>
          </p:cNvPr>
          <p:cNvSpPr>
            <a:spLocks xmlns:a="http://schemas.openxmlformats.org/drawingml/2006/main" noGrp="1"/>
          </p:cNvSpPr>
          <p:nvPr/>
        </p:nvSpPr>
        <p:spPr>
          <a:xfrm xmlns:a="http://schemas.openxmlformats.org/drawingml/2006/main">
            <a:off x="685800" y="3438525"/>
            <a:ext cx="10620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이전 환경 요약 24개</a:t>
            </a:r>
          </a:p>
        </p:txBody>
      </p:sp>
      <p:sp>
        <p:nvSpPr>
          <p:cNvPr id="6" name="온도·습도·CO₂의 직전 7일과 28일&#10;평균·최소·최대·유효 관측일수">
            <a:extLst xmlns:a="http://schemas.openxmlformats.org/drawingml/2006/main">
              <a:ext uri="{FF2B5EF4-FFF2-40B4-BE49-F238E27FC236}">
                <a16:creationId xmlns:a16="http://schemas.microsoft.com/office/drawing/2014/main" id="{9E3B19D5-F758-4B90-B5F6-0ECF868F68F3}"/>
              </a:ext>
            </a:extLst>
          </p:cNvPr>
          <p:cNvSpPr>
            <a:spLocks xmlns:a="http://schemas.openxmlformats.org/drawingml/2006/main" noGrp="1"/>
          </p:cNvSpPr>
          <p:nvPr/>
        </p:nvSpPr>
        <p:spPr>
          <a:xfrm xmlns:a="http://schemas.openxmlformats.org/drawingml/2006/main">
            <a:off x="685800" y="4095750"/>
            <a:ext cx="106203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63D30"/>
                </a:solidFill>
                <a:latin typeface="Malgun Gothic"/>
                <a:ea typeface="Malgun Gothic"/>
                <a:cs typeface="Malgun Gothic"/>
              </a:defRPr>
            </a:defPPr>
          </a:lstStyle>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온도·습도·CO₂의 직전 7일과 28일</a:t>
            </a:r>
          </a:p>
          <a:p xmlns:a="http://schemas.openxmlformats.org/drawingml/2006/main">
            <a:pPr algn="l">
              <a:defRPr sz="2325" b="0">
                <a:solidFill>
                  <a:srgbClr val="163D30"/>
                </a:solidFill>
                <a:latin typeface="Malgun Gothic"/>
                <a:ea typeface="Malgun Gothic"/>
                <a:cs typeface="Malgun Gothic"/>
              </a:defRPr>
            </a:pPr>
            <a:r>
              <a:rPr sz="2325" b="0">
                <a:solidFill>
                  <a:srgbClr val="163D30"/>
                </a:solidFill>
                <a:latin typeface="Malgun Gothic"/>
                <a:ea typeface="Malgun Gothic"/>
                <a:cs typeface="Malgun Gothic"/>
              </a:rPr>
              <a:t>평균·최소·최대·유효 관측일수</a:t>
            </a:r>
          </a:p>
        </p:txBody>
      </p:sp>
      <p:sp>
        <p:nvSpPr>
          <p:cNvPr id="7" name="현재일과 미래 환경은 제외했습니다. 같은 식물의 성장량을 뜻하지 않습니다.&#10;누적 일사량·생">
            <a:extLst xmlns:a="http://schemas.openxmlformats.org/drawingml/2006/main">
              <a:ext uri="{FF2B5EF4-FFF2-40B4-BE49-F238E27FC236}">
                <a16:creationId xmlns:a16="http://schemas.microsoft.com/office/drawing/2014/main" id="{607B08D4-3556-474A-9C22-B931ADCE3BC6}"/>
              </a:ext>
            </a:extLst>
          </p:cNvPr>
          <p:cNvSpPr>
            <a:spLocks xmlns:a="http://schemas.openxmlformats.org/drawingml/2006/main" noGrp="1"/>
          </p:cNvSpPr>
          <p:nvPr/>
        </p:nvSpPr>
        <p:spPr>
          <a:xfrm xmlns:a="http://schemas.openxmlformats.org/drawingml/2006/main">
            <a:off x="6858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6A61"/>
                </a:solidFill>
                <a:latin typeface="Malgun Gothic"/>
                <a:ea typeface="Malgun Gothic"/>
                <a:cs typeface="Malgun Gothic"/>
              </a:defRPr>
            </a:defPPr>
          </a:lstStyle>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현재일과 미래 환경은 제외했습니다. 같은 식물의 성장량을 뜻하지 않습니다.</a:t>
            </a:r>
          </a:p>
          <a:p xmlns:a="http://schemas.openxmlformats.org/drawingml/2006/main">
            <a:pPr algn="l">
              <a:defRPr sz="1875" b="0">
                <a:solidFill>
                  <a:srgbClr val="666A61"/>
                </a:solidFill>
                <a:latin typeface="Malgun Gothic"/>
                <a:ea typeface="Malgun Gothic"/>
                <a:cs typeface="Malgun Gothic"/>
              </a:defRPr>
            </a:pPr>
            <a:r>
              <a:rPr sz="1875" b="0">
                <a:solidFill>
                  <a:srgbClr val="666A61"/>
                </a:solidFill>
                <a:latin typeface="Malgun Gothic"/>
                <a:ea typeface="Malgun Gothic"/>
                <a:cs typeface="Malgun Gothic"/>
              </a:rPr>
              <a:t>누적 일사량·생육도일·기상특보 효과는 자료가 없어 검증하지 않았습니다.</a:t>
            </a:r>
          </a:p>
        </p:txBody>
      </p:sp>
    </p:spTree>
    <p:extLst>
      <p:ext uri="{BB962C8B-B14F-4D97-AF65-F5344CB8AC3E}">
        <p14:creationId xmlns:p14="http://schemas.microsoft.com/office/powerpoint/2010/main" val="697281297"/>
      </p:ext>
    </p:extLst>
  </p:cSld>
</p:sld>
</file>

<file path=ppt/slides/slide27.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안심구역에서 실행할 모델 입력과 목표">
            <a:extLst xmlns:a="http://schemas.openxmlformats.org/drawingml/2006/main">
              <a:ext uri="{FF2B5EF4-FFF2-40B4-BE49-F238E27FC236}">
                <a16:creationId xmlns:a16="http://schemas.microsoft.com/office/drawing/2014/main" id="{6CE6579E-C336-4977-9446-D7717A7A2FDE}"/>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안심구역에서 실행할 모델 입력과 목표</a:t>
            </a:r>
          </a:p>
        </p:txBody>
      </p:sp>
      <p:sp>
        <p:nvSpPr>
          <p:cNvPr id="2" name="근거 자료  27">
            <a:extLst xmlns:a="http://schemas.openxmlformats.org/drawingml/2006/main">
              <a:ext uri="{FF2B5EF4-FFF2-40B4-BE49-F238E27FC236}">
                <a16:creationId xmlns:a16="http://schemas.microsoft.com/office/drawing/2014/main" id="{A03F6B48-0297-45FD-805E-E1C9D8A9C69D}"/>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27</a:t>
            </a:r>
          </a:p>
        </p:txBody>
      </p:sp>
      <p:sp>
        <p:nvSpPr>
          <p:cNvPr id="3" name="도입 전 계획 입력 7개">
            <a:extLst xmlns:a="http://schemas.openxmlformats.org/drawingml/2006/main">
              <a:ext uri="{FF2B5EF4-FFF2-40B4-BE49-F238E27FC236}">
                <a16:creationId xmlns:a16="http://schemas.microsoft.com/office/drawing/2014/main" id="{CE39D9D7-A631-4D94-873C-1F067A786460}"/>
              </a:ext>
            </a:extLst>
          </p:cNvPr>
          <p:cNvSpPr>
            <a:spLocks xmlns:a="http://schemas.openxmlformats.org/drawingml/2006/main" noGrp="1"/>
          </p:cNvSpPr>
          <p:nvPr/>
        </p:nvSpPr>
        <p:spPr>
          <a:xfrm xmlns:a="http://schemas.openxmlformats.org/drawingml/2006/main">
            <a:off x="685800" y="1762125"/>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도입 전 계획 입력 7개</a:t>
            </a:r>
          </a:p>
        </p:txBody>
      </p:sp>
      <p:sp>
        <p:nvSpPr>
          <p:cNvPr id="4" name="품목, 지역, 온실 유형, 온실 규모, 면적,&#10;예정 시작 연도, 예정 시작 월">
            <a:extLst xmlns:a="http://schemas.openxmlformats.org/drawingml/2006/main">
              <a:ext uri="{FF2B5EF4-FFF2-40B4-BE49-F238E27FC236}">
                <a16:creationId xmlns:a16="http://schemas.microsoft.com/office/drawing/2014/main" id="{01C6E2F6-478F-4CFE-9C3D-D443CBE7C45E}"/>
              </a:ext>
            </a:extLst>
          </p:cNvPr>
          <p:cNvSpPr>
            <a:spLocks xmlns:a="http://schemas.openxmlformats.org/drawingml/2006/main" noGrp="1"/>
          </p:cNvSpPr>
          <p:nvPr/>
        </p:nvSpPr>
        <p:spPr>
          <a:xfrm xmlns:a="http://schemas.openxmlformats.org/drawingml/2006/main">
            <a:off x="685800" y="2476500"/>
            <a:ext cx="10572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3D30"/>
                </a:solidFill>
                <a:latin typeface="Malgun Gothic"/>
                <a:ea typeface="Malgun Gothic"/>
                <a:cs typeface="Malgun Gothic"/>
              </a:defRPr>
            </a:defPPr>
          </a:lstStyle>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품목, 지역, 온실 유형, 온실 규모, 면적,</a:t>
            </a:r>
          </a:p>
          <a:p xmlns:a="http://schemas.openxmlformats.org/drawingml/2006/main">
            <a:pPr algn="l">
              <a:defRPr sz="2400" b="0">
                <a:solidFill>
                  <a:srgbClr val="163D30"/>
                </a:solidFill>
                <a:latin typeface="Malgun Gothic"/>
                <a:ea typeface="Malgun Gothic"/>
                <a:cs typeface="Malgun Gothic"/>
              </a:defRPr>
            </a:pPr>
            <a:r>
              <a:rPr sz="2400" b="0">
                <a:solidFill>
                  <a:srgbClr val="163D30"/>
                </a:solidFill>
                <a:latin typeface="Malgun Gothic"/>
                <a:ea typeface="Malgun Gothic"/>
                <a:cs typeface="Malgun Gothic"/>
              </a:rPr>
              <a:t>예정 시작 연도, 예정 시작 월</a:t>
            </a:r>
          </a:p>
        </p:txBody>
      </p:sp>
      <p:sp>
        <p:nvSpPr>
          <p:cNvPr id="5" name="출하량과 총수입을 각각 학습">
            <a:extLst xmlns:a="http://schemas.openxmlformats.org/drawingml/2006/main">
              <a:ext uri="{FF2B5EF4-FFF2-40B4-BE49-F238E27FC236}">
                <a16:creationId xmlns:a16="http://schemas.microsoft.com/office/drawing/2014/main" id="{A14FFFD8-02E0-45BB-A04F-B69CA682D770}"/>
              </a:ext>
            </a:extLst>
          </p:cNvPr>
          <p:cNvSpPr>
            <a:spLocks xmlns:a="http://schemas.openxmlformats.org/drawingml/2006/main" noGrp="1"/>
          </p:cNvSpPr>
          <p:nvPr/>
        </p:nvSpPr>
        <p:spPr>
          <a:xfrm xmlns:a="http://schemas.openxmlformats.org/drawingml/2006/main">
            <a:off x="685800" y="40957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47B56"/>
                </a:solidFill>
                <a:latin typeface="Malgun Gothic"/>
                <a:ea typeface="Malgun Gothic"/>
                <a:cs typeface="Malgun Gothic"/>
              </a:defRPr>
            </a:defPPr>
          </a:lstStyle>
          <a:p xmlns:a="http://schemas.openxmlformats.org/drawingml/2006/main">
            <a:pPr algn="l">
              <a:defRPr sz="2700" b="1">
                <a:solidFill>
                  <a:srgbClr val="247B56"/>
                </a:solidFill>
                <a:latin typeface="Malgun Gothic"/>
                <a:ea typeface="Malgun Gothic"/>
                <a:cs typeface="Malgun Gothic"/>
              </a:defRPr>
            </a:pPr>
            <a:r>
              <a:rPr sz="2700" b="1">
                <a:solidFill>
                  <a:srgbClr val="247B56"/>
                </a:solidFill>
                <a:latin typeface="Malgun Gothic"/>
                <a:ea typeface="Malgun Gothic"/>
                <a:cs typeface="Malgun Gothic"/>
              </a:rPr>
              <a:t>출하량과 총수입을 각각 학습</a:t>
            </a:r>
          </a:p>
        </p:txBody>
      </p:sp>
      <p:sp>
        <p:nvSpPr>
          <p:cNvPr id="6" name="출하량 kg와 총수입 원은&#10;0·결측을 구분해 목표별로 검사합니다.&#10;총수입은 매출이며 순이익">
            <a:extLst xmlns:a="http://schemas.openxmlformats.org/drawingml/2006/main">
              <a:ext uri="{FF2B5EF4-FFF2-40B4-BE49-F238E27FC236}">
                <a16:creationId xmlns:a16="http://schemas.microsoft.com/office/drawing/2014/main" id="{82DF3E8A-BB0F-4351-9086-759F797AD86E}"/>
              </a:ext>
            </a:extLst>
          </p:cNvPr>
          <p:cNvSpPr>
            <a:spLocks xmlns:a="http://schemas.openxmlformats.org/drawingml/2006/main" noGrp="1"/>
          </p:cNvSpPr>
          <p:nvPr/>
        </p:nvSpPr>
        <p:spPr>
          <a:xfrm xmlns:a="http://schemas.openxmlformats.org/drawingml/2006/main">
            <a:off x="685800" y="4733925"/>
            <a:ext cx="1057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3D30"/>
                </a:solidFill>
                <a:latin typeface="Malgun Gothic"/>
                <a:ea typeface="Malgun Gothic"/>
                <a:cs typeface="Malgun Gothic"/>
              </a:defRPr>
            </a:defPPr>
          </a:lstStyle>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출하량 kg와 총수입 원은</a:t>
            </a:r>
          </a:p>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0·결측을 구분해 목표별로 검사합니다.</a:t>
            </a:r>
          </a:p>
          <a:p xmlns:a="http://schemas.openxmlformats.org/drawingml/2006/main">
            <a:pPr algn="l">
              <a:defRPr sz="2250" b="0">
                <a:solidFill>
                  <a:srgbClr val="163D30"/>
                </a:solidFill>
                <a:latin typeface="Malgun Gothic"/>
                <a:ea typeface="Malgun Gothic"/>
                <a:cs typeface="Malgun Gothic"/>
              </a:defRPr>
            </a:pPr>
            <a:r>
              <a:rPr sz="2250" b="0">
                <a:solidFill>
                  <a:srgbClr val="163D30"/>
                </a:solidFill>
                <a:latin typeface="Malgun Gothic"/>
                <a:ea typeface="Malgun Gothic"/>
                <a:cs typeface="Malgun Gothic"/>
              </a:rPr>
              <a:t>총수입은 매출이며 순이익과 다릅니다.</a:t>
            </a:r>
          </a:p>
        </p:txBody>
      </p:sp>
      <p:sp>
        <p:nvSpPr>
          <p:cNvPr id="7" name="79개 명세 항목 검사, 가상 40시설·80작기, CPU 실행 묶음을 준비했습니다.">
            <a:extLst xmlns:a="http://schemas.openxmlformats.org/drawingml/2006/main">
              <a:ext uri="{FF2B5EF4-FFF2-40B4-BE49-F238E27FC236}">
                <a16:creationId xmlns:a16="http://schemas.microsoft.com/office/drawing/2014/main" id="{7DC61B33-20AD-4EDD-84BF-885B3B1BA397}"/>
              </a:ext>
            </a:extLst>
          </p:cNvPr>
          <p:cNvSpPr>
            <a:spLocks xmlns:a="http://schemas.openxmlformats.org/drawingml/2006/main" noGrp="1"/>
          </p:cNvSpPr>
          <p:nvPr/>
        </p:nvSpPr>
        <p:spPr>
          <a:xfrm xmlns:a="http://schemas.openxmlformats.org/drawingml/2006/main">
            <a:off x="685800" y="61626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66A61"/>
                </a:solidFill>
                <a:latin typeface="Malgun Gothic"/>
                <a:ea typeface="Malgun Gothic"/>
                <a:cs typeface="Malgun Gothic"/>
              </a:defRPr>
            </a:defPPr>
          </a:lstStyle>
          <a:p xmlns:a="http://schemas.openxmlformats.org/drawingml/2006/main">
            <a:pPr algn="l">
              <a:defRPr sz="1800" b="0">
                <a:solidFill>
                  <a:srgbClr val="666A61"/>
                </a:solidFill>
                <a:latin typeface="Malgun Gothic"/>
                <a:ea typeface="Malgun Gothic"/>
                <a:cs typeface="Malgun Gothic"/>
              </a:defRPr>
            </a:pPr>
            <a:r>
              <a:rPr sz="1800" b="0">
                <a:solidFill>
                  <a:srgbClr val="666A61"/>
                </a:solidFill>
                <a:latin typeface="Malgun Gothic"/>
                <a:ea typeface="Malgun Gothic"/>
                <a:cs typeface="Malgun Gothic"/>
              </a:rPr>
              <a:t>79개 명세 항목 검사, 가상 40시설·80작기, CPU 실행 묶음을 준비했습니다.</a:t>
            </a:r>
          </a:p>
        </p:txBody>
      </p:sp>
    </p:spTree>
    <p:extLst>
      <p:ext uri="{BB962C8B-B14F-4D97-AF65-F5344CB8AC3E}">
        <p14:creationId xmlns:p14="http://schemas.microsoft.com/office/powerpoint/2010/main" val="862769183"/>
      </p:ext>
    </p:extLst>
  </p:cSld>
</p:sld>
</file>

<file path=ppt/slides/slide28.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4" name="더 확보해야 할 자료와 검증 계획">
            <a:extLst xmlns:a="http://schemas.openxmlformats.org/drawingml/2006/main">
              <a:ext uri="{FF2B5EF4-FFF2-40B4-BE49-F238E27FC236}">
                <a16:creationId xmlns:a16="http://schemas.microsoft.com/office/drawing/2014/main" id="{10E685DB-16D4-4D83-8718-F4FE6BCBA6FB}"/>
              </a:ext>
            </a:extLst>
          </p:cNvPr>
          <p:cNvSpPr>
            <a:spLocks xmlns:a="http://schemas.openxmlformats.org/drawingml/2006/main" noGrp="1"/>
          </p:cNvSpPr>
          <p:nvPr/>
        </p:nvSpPr>
        <p:spPr>
          <a:xfrm xmlns:a="http://schemas.openxmlformats.org/drawingml/2006/main">
            <a:off x="685800" y="4953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63D30"/>
                </a:solidFill>
                <a:latin typeface="Malgun Gothic"/>
                <a:ea typeface="Malgun Gothic"/>
                <a:cs typeface="Malgun Gothic"/>
              </a:defRPr>
            </a:defPPr>
          </a:lstStyle>
          <a:p xmlns:a="http://schemas.openxmlformats.org/drawingml/2006/main">
            <a:pPr algn="l">
              <a:defRPr sz="3450" b="1">
                <a:solidFill>
                  <a:srgbClr val="163D30"/>
                </a:solidFill>
                <a:latin typeface="Malgun Gothic"/>
                <a:ea typeface="Malgun Gothic"/>
                <a:cs typeface="Malgun Gothic"/>
              </a:defRPr>
            </a:pPr>
            <a:r>
              <a:rPr sz="3450" b="1">
                <a:solidFill>
                  <a:srgbClr val="163D30"/>
                </a:solidFill>
                <a:latin typeface="Malgun Gothic"/>
                <a:ea typeface="Malgun Gothic"/>
                <a:cs typeface="Malgun Gothic"/>
              </a:rPr>
              <a:t>더 확보해야 할 자료와 검증 계획</a:t>
            </a:r>
          </a:p>
        </p:txBody>
      </p:sp>
      <p:sp>
        <p:nvSpPr>
          <p:cNvPr id="2" name="근거 자료  28">
            <a:extLst xmlns:a="http://schemas.openxmlformats.org/drawingml/2006/main">
              <a:ext uri="{FF2B5EF4-FFF2-40B4-BE49-F238E27FC236}">
                <a16:creationId xmlns:a16="http://schemas.microsoft.com/office/drawing/2014/main" id="{90E194D1-773A-474C-AF20-8358F174862A}"/>
              </a:ext>
            </a:extLst>
          </p:cNvPr>
          <p:cNvSpPr>
            <a:spLocks xmlns:a="http://schemas.openxmlformats.org/drawingml/2006/main" noGrp="1"/>
          </p:cNvSpPr>
          <p:nvPr/>
        </p:nvSpPr>
        <p:spPr>
          <a:xfrm xmlns:a="http://schemas.openxmlformats.org/drawingml/2006/main">
            <a:off x="9810750" y="6391275"/>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666A61"/>
                </a:solidFill>
                <a:latin typeface="Malgun Gothic"/>
                <a:ea typeface="Malgun Gothic"/>
                <a:cs typeface="Malgun Gothic"/>
              </a:defRPr>
            </a:defPPr>
          </a:lstStyle>
          <a:p xmlns:a="http://schemas.openxmlformats.org/drawingml/2006/main">
            <a:pPr algn="r">
              <a:defRPr sz="1350" b="0">
                <a:solidFill>
                  <a:srgbClr val="666A61"/>
                </a:solidFill>
                <a:latin typeface="Malgun Gothic"/>
                <a:ea typeface="Malgun Gothic"/>
                <a:cs typeface="Malgun Gothic"/>
              </a:defRPr>
            </a:pPr>
            <a:r>
              <a:rPr sz="1350" b="0">
                <a:solidFill>
                  <a:srgbClr val="666A61"/>
                </a:solidFill>
                <a:latin typeface="Malgun Gothic"/>
                <a:ea typeface="Malgun Gothic"/>
                <a:cs typeface="Malgun Gothic"/>
              </a:rPr>
              <a:t>근거 자료  28</a:t>
            </a:r>
          </a:p>
        </p:txBody>
      </p:sp>
      <p:sp>
        <p:nvSpPr>
          <p:cNvPr id="3" name="실제 비용의 뜻">
            <a:extLst xmlns:a="http://schemas.openxmlformats.org/drawingml/2006/main">
              <a:ext uri="{FF2B5EF4-FFF2-40B4-BE49-F238E27FC236}">
                <a16:creationId xmlns:a16="http://schemas.microsoft.com/office/drawing/2014/main" id="{1B93CDB6-0CB8-43FE-A04C-38E351B8DAE2}"/>
              </a:ext>
            </a:extLst>
          </p:cNvPr>
          <p:cNvSpPr>
            <a:spLocks xmlns:a="http://schemas.openxmlformats.org/drawingml/2006/main" noGrp="1"/>
          </p:cNvSpPr>
          <p:nvPr/>
        </p:nvSpPr>
        <p:spPr>
          <a:xfrm xmlns:a="http://schemas.openxmlformats.org/drawingml/2006/main">
            <a:off x="685800" y="1724025"/>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247B56"/>
                </a:solidFill>
                <a:latin typeface="Malgun Gothic"/>
                <a:ea typeface="Malgun Gothic"/>
                <a:cs typeface="Malgun Gothic"/>
              </a:defRPr>
            </a:defPPr>
          </a:lstStyle>
          <a:p xmlns:a="http://schemas.openxmlformats.org/drawingml/2006/main">
            <a:pPr algn="l">
              <a:defRPr sz="2475" b="1">
                <a:solidFill>
                  <a:srgbClr val="247B56"/>
                </a:solidFill>
                <a:latin typeface="Malgun Gothic"/>
                <a:ea typeface="Malgun Gothic"/>
                <a:cs typeface="Malgun Gothic"/>
              </a:defRPr>
            </a:pPr>
            <a:r>
              <a:rPr sz="2475" b="1">
                <a:solidFill>
                  <a:srgbClr val="247B56"/>
                </a:solidFill>
                <a:latin typeface="Malgun Gothic"/>
                <a:ea typeface="Malgun Gothic"/>
                <a:cs typeface="Malgun Gothic"/>
              </a:rPr>
              <a:t>실제 비용의 뜻</a:t>
            </a:r>
          </a:p>
        </p:txBody>
      </p:sp>
      <p:sp>
        <p:nvSpPr>
          <p:cNvPr id="4" name="기간·중복·누계 여부를 확인해 순이익 정답 검증">
            <a:extLst xmlns:a="http://schemas.openxmlformats.org/drawingml/2006/main">
              <a:ext uri="{FF2B5EF4-FFF2-40B4-BE49-F238E27FC236}">
                <a16:creationId xmlns:a16="http://schemas.microsoft.com/office/drawing/2014/main" id="{4C7245E3-5E15-4E75-B2BB-19B952ADDCA2}"/>
              </a:ext>
            </a:extLst>
          </p:cNvPr>
          <p:cNvSpPr>
            <a:spLocks xmlns:a="http://schemas.openxmlformats.org/drawingml/2006/main" noGrp="1"/>
          </p:cNvSpPr>
          <p:nvPr/>
        </p:nvSpPr>
        <p:spPr>
          <a:xfrm xmlns:a="http://schemas.openxmlformats.org/drawingml/2006/main">
            <a:off x="4295775" y="1724025"/>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기간·중복·누계 여부를 확인해 순이익 정답 검증</a:t>
            </a:r>
          </a:p>
        </p:txBody>
      </p:sp>
      <p:sp>
        <p:nvSpPr>
          <p:cNvPr id="5" name="">
            <a:extLst xmlns:a="http://schemas.openxmlformats.org/drawingml/2006/main">
              <a:ext uri="{FF2B5EF4-FFF2-40B4-BE49-F238E27FC236}">
                <a16:creationId xmlns:a16="http://schemas.microsoft.com/office/drawing/2014/main" id="{17E2934C-CC7D-439B-A1A7-CCFE68C83A32}"/>
              </a:ext>
            </a:extLst>
          </p:cNvPr>
          <p:cNvSpPr>
            <a:spLocks xmlns:a="http://schemas.openxmlformats.org/drawingml/2006/main" noGrp="1"/>
          </p:cNvSpPr>
          <p:nvPr/>
        </p:nvSpPr>
        <p:spPr>
          <a:xfrm xmlns:a="http://schemas.openxmlformats.org/drawingml/2006/main">
            <a:off x="685800" y="2524125"/>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6" name="현장 설치 견적">
            <a:extLst xmlns:a="http://schemas.openxmlformats.org/drawingml/2006/main">
              <a:ext uri="{FF2B5EF4-FFF2-40B4-BE49-F238E27FC236}">
                <a16:creationId xmlns:a16="http://schemas.microsoft.com/office/drawing/2014/main" id="{09EAC704-62C9-4A8D-8B59-07F62D0A860A}"/>
              </a:ext>
            </a:extLst>
          </p:cNvPr>
          <p:cNvSpPr>
            <a:spLocks xmlns:a="http://schemas.openxmlformats.org/drawingml/2006/main" noGrp="1"/>
          </p:cNvSpPr>
          <p:nvPr/>
        </p:nvSpPr>
        <p:spPr>
          <a:xfrm xmlns:a="http://schemas.openxmlformats.org/drawingml/2006/main">
            <a:off x="685800" y="2781300"/>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247B56"/>
                </a:solidFill>
                <a:latin typeface="Malgun Gothic"/>
                <a:ea typeface="Malgun Gothic"/>
                <a:cs typeface="Malgun Gothic"/>
              </a:defRPr>
            </a:defPPr>
          </a:lstStyle>
          <a:p xmlns:a="http://schemas.openxmlformats.org/drawingml/2006/main">
            <a:pPr algn="l">
              <a:defRPr sz="2475" b="1">
                <a:solidFill>
                  <a:srgbClr val="247B56"/>
                </a:solidFill>
                <a:latin typeface="Malgun Gothic"/>
                <a:ea typeface="Malgun Gothic"/>
                <a:cs typeface="Malgun Gothic"/>
              </a:defRPr>
            </a:pPr>
            <a:r>
              <a:rPr sz="2475" b="1">
                <a:solidFill>
                  <a:srgbClr val="247B56"/>
                </a:solidFill>
                <a:latin typeface="Malgun Gothic"/>
                <a:ea typeface="Malgun Gothic"/>
                <a:cs typeface="Malgun Gothic"/>
              </a:rPr>
              <a:t>현장 설치 견적</a:t>
            </a:r>
          </a:p>
        </p:txBody>
      </p:sp>
      <p:sp>
        <p:nvSpPr>
          <p:cNvPr id="7" name="설치·유지보수·교체 비용을 반영">
            <a:extLst xmlns:a="http://schemas.openxmlformats.org/drawingml/2006/main">
              <a:ext uri="{FF2B5EF4-FFF2-40B4-BE49-F238E27FC236}">
                <a16:creationId xmlns:a16="http://schemas.microsoft.com/office/drawing/2014/main" id="{F143EF01-DF1F-4B74-94F3-EA51C2CD6880}"/>
              </a:ext>
            </a:extLst>
          </p:cNvPr>
          <p:cNvSpPr>
            <a:spLocks xmlns:a="http://schemas.openxmlformats.org/drawingml/2006/main" noGrp="1"/>
          </p:cNvSpPr>
          <p:nvPr/>
        </p:nvSpPr>
        <p:spPr>
          <a:xfrm xmlns:a="http://schemas.openxmlformats.org/drawingml/2006/main">
            <a:off x="4295775" y="2781300"/>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설치·유지보수·교체 비용을 반영</a:t>
            </a:r>
          </a:p>
        </p:txBody>
      </p:sp>
      <p:sp>
        <p:nvSpPr>
          <p:cNvPr id="8" name="">
            <a:extLst xmlns:a="http://schemas.openxmlformats.org/drawingml/2006/main">
              <a:ext uri="{FF2B5EF4-FFF2-40B4-BE49-F238E27FC236}">
                <a16:creationId xmlns:a16="http://schemas.microsoft.com/office/drawing/2014/main" id="{4C6721FA-7702-4CA8-BFA8-769E1F433913}"/>
              </a:ext>
            </a:extLst>
          </p:cNvPr>
          <p:cNvSpPr>
            <a:spLocks xmlns:a="http://schemas.openxmlformats.org/drawingml/2006/main" noGrp="1"/>
          </p:cNvSpPr>
          <p:nvPr/>
        </p:nvSpPr>
        <p:spPr>
          <a:xfrm xmlns:a="http://schemas.openxmlformats.org/drawingml/2006/main">
            <a:off x="685800" y="3581400"/>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9" name="장비 도입 이력">
            <a:extLst xmlns:a="http://schemas.openxmlformats.org/drawingml/2006/main">
              <a:ext uri="{FF2B5EF4-FFF2-40B4-BE49-F238E27FC236}">
                <a16:creationId xmlns:a16="http://schemas.microsoft.com/office/drawing/2014/main" id="{E54994D1-177F-4FFC-A1D5-4EAFBD4979D7}"/>
              </a:ext>
            </a:extLst>
          </p:cNvPr>
          <p:cNvSpPr>
            <a:spLocks xmlns:a="http://schemas.openxmlformats.org/drawingml/2006/main" noGrp="1"/>
          </p:cNvSpPr>
          <p:nvPr/>
        </p:nvSpPr>
        <p:spPr>
          <a:xfrm xmlns:a="http://schemas.openxmlformats.org/drawingml/2006/main">
            <a:off x="685800" y="3838575"/>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247B56"/>
                </a:solidFill>
                <a:latin typeface="Malgun Gothic"/>
                <a:ea typeface="Malgun Gothic"/>
                <a:cs typeface="Malgun Gothic"/>
              </a:defRPr>
            </a:defPPr>
          </a:lstStyle>
          <a:p xmlns:a="http://schemas.openxmlformats.org/drawingml/2006/main">
            <a:pPr algn="l">
              <a:defRPr sz="2475" b="1">
                <a:solidFill>
                  <a:srgbClr val="247B56"/>
                </a:solidFill>
                <a:latin typeface="Malgun Gothic"/>
                <a:ea typeface="Malgun Gothic"/>
                <a:cs typeface="Malgun Gothic"/>
              </a:defRPr>
            </a:pPr>
            <a:r>
              <a:rPr sz="2475" b="1">
                <a:solidFill>
                  <a:srgbClr val="247B56"/>
                </a:solidFill>
                <a:latin typeface="Malgun Gothic"/>
                <a:ea typeface="Malgun Gothic"/>
                <a:cs typeface="Malgun Gothic"/>
              </a:rPr>
              <a:t>장비 도입 이력</a:t>
            </a:r>
          </a:p>
        </p:txBody>
      </p:sp>
      <p:sp>
        <p:nvSpPr>
          <p:cNvPr id="10" name="농가별 구성과 도입 시점을 생산 기록과 연결">
            <a:extLst xmlns:a="http://schemas.openxmlformats.org/drawingml/2006/main">
              <a:ext uri="{FF2B5EF4-FFF2-40B4-BE49-F238E27FC236}">
                <a16:creationId xmlns:a16="http://schemas.microsoft.com/office/drawing/2014/main" id="{10E0A788-6DA5-4491-ACFB-A400F25F4602}"/>
              </a:ext>
            </a:extLst>
          </p:cNvPr>
          <p:cNvSpPr>
            <a:spLocks xmlns:a="http://schemas.openxmlformats.org/drawingml/2006/main" noGrp="1"/>
          </p:cNvSpPr>
          <p:nvPr/>
        </p:nvSpPr>
        <p:spPr>
          <a:xfrm xmlns:a="http://schemas.openxmlformats.org/drawingml/2006/main">
            <a:off x="4295775" y="3838575"/>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농가별 구성과 도입 시점을 생산 기록과 연결</a:t>
            </a:r>
          </a:p>
        </p:txBody>
      </p:sp>
      <p:sp>
        <p:nvSpPr>
          <p:cNvPr id="11" name="">
            <a:extLst xmlns:a="http://schemas.openxmlformats.org/drawingml/2006/main">
              <a:ext uri="{FF2B5EF4-FFF2-40B4-BE49-F238E27FC236}">
                <a16:creationId xmlns:a16="http://schemas.microsoft.com/office/drawing/2014/main" id="{26646528-59AE-466D-AE86-42596E756983}"/>
              </a:ext>
            </a:extLst>
          </p:cNvPr>
          <p:cNvSpPr>
            <a:spLocks xmlns:a="http://schemas.openxmlformats.org/drawingml/2006/main" noGrp="1"/>
          </p:cNvSpPr>
          <p:nvPr/>
        </p:nvSpPr>
        <p:spPr>
          <a:xfrm xmlns:a="http://schemas.openxmlformats.org/drawingml/2006/main">
            <a:off x="685800" y="4638675"/>
            <a:ext cx="10820400" cy="0"/>
          </a:xfrm>
          <a:prstGeom xmlns:a="http://schemas.openxmlformats.org/drawingml/2006/main" prst="line">
            <a:avLst/>
          </a:prstGeom>
          <a:noFill xmlns:a="http://schemas.openxmlformats.org/drawingml/2006/main"/>
          <a:ln xmlns:a="http://schemas.openxmlformats.org/drawingml/2006/main" w="12383">
            <a:solidFill>
              <a:srgbClr val="D6DACE"/>
            </a:solidFill>
          </a:ln>
        </p:spPr>
      </p:sp>
      <p:sp>
        <p:nvSpPr>
          <p:cNvPr id="12" name="다음 연도와 새 농가">
            <a:extLst xmlns:a="http://schemas.openxmlformats.org/drawingml/2006/main">
              <a:ext uri="{FF2B5EF4-FFF2-40B4-BE49-F238E27FC236}">
                <a16:creationId xmlns:a16="http://schemas.microsoft.com/office/drawing/2014/main" id="{D0821AA9-71E1-4718-B1C8-214EDB897FA5}"/>
              </a:ext>
            </a:extLst>
          </p:cNvPr>
          <p:cNvSpPr>
            <a:spLocks xmlns:a="http://schemas.openxmlformats.org/drawingml/2006/main" noGrp="1"/>
          </p:cNvSpPr>
          <p:nvPr/>
        </p:nvSpPr>
        <p:spPr>
          <a:xfrm xmlns:a="http://schemas.openxmlformats.org/drawingml/2006/main">
            <a:off x="685800" y="4895850"/>
            <a:ext cx="3228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247B56"/>
                </a:solidFill>
                <a:latin typeface="Malgun Gothic"/>
                <a:ea typeface="Malgun Gothic"/>
                <a:cs typeface="Malgun Gothic"/>
              </a:defRPr>
            </a:defPPr>
          </a:lstStyle>
          <a:p xmlns:a="http://schemas.openxmlformats.org/drawingml/2006/main">
            <a:pPr algn="l">
              <a:defRPr sz="2475" b="1">
                <a:solidFill>
                  <a:srgbClr val="247B56"/>
                </a:solidFill>
                <a:latin typeface="Malgun Gothic"/>
                <a:ea typeface="Malgun Gothic"/>
                <a:cs typeface="Malgun Gothic"/>
              </a:defRPr>
            </a:pPr>
            <a:r>
              <a:rPr sz="2475" b="1">
                <a:solidFill>
                  <a:srgbClr val="247B56"/>
                </a:solidFill>
                <a:latin typeface="Malgun Gothic"/>
                <a:ea typeface="Malgun Gothic"/>
                <a:cs typeface="Malgun Gothic"/>
              </a:rPr>
              <a:t>다음 연도와 새 농가</a:t>
            </a:r>
          </a:p>
        </p:txBody>
      </p:sp>
      <p:sp>
        <p:nvSpPr>
          <p:cNvPr id="13" name="같은 시설을 학습과 평가에 나누지 않고 검증">
            <a:extLst xmlns:a="http://schemas.openxmlformats.org/drawingml/2006/main">
              <a:ext uri="{FF2B5EF4-FFF2-40B4-BE49-F238E27FC236}">
                <a16:creationId xmlns:a16="http://schemas.microsoft.com/office/drawing/2014/main" id="{E5821BDD-A10B-468F-AB9E-A3C07E956818}"/>
              </a:ext>
            </a:extLst>
          </p:cNvPr>
          <p:cNvSpPr>
            <a:spLocks xmlns:a="http://schemas.openxmlformats.org/drawingml/2006/main" noGrp="1"/>
          </p:cNvSpPr>
          <p:nvPr/>
        </p:nvSpPr>
        <p:spPr>
          <a:xfrm xmlns:a="http://schemas.openxmlformats.org/drawingml/2006/main">
            <a:off x="4295775" y="4895850"/>
            <a:ext cx="72104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63D30"/>
                </a:solidFill>
                <a:latin typeface="Malgun Gothic"/>
                <a:ea typeface="Malgun Gothic"/>
                <a:cs typeface="Malgun Gothic"/>
              </a:defRPr>
            </a:defPPr>
          </a:lstStyle>
          <a:p xmlns:a="http://schemas.openxmlformats.org/drawingml/2006/main">
            <a:pPr algn="l">
              <a:defRPr sz="2175" b="0">
                <a:solidFill>
                  <a:srgbClr val="163D30"/>
                </a:solidFill>
                <a:latin typeface="Malgun Gothic"/>
                <a:ea typeface="Malgun Gothic"/>
                <a:cs typeface="Malgun Gothic"/>
              </a:defRPr>
            </a:pPr>
            <a:r>
              <a:rPr sz="2175" b="0">
                <a:solidFill>
                  <a:srgbClr val="163D30"/>
                </a:solidFill>
                <a:latin typeface="Malgun Gothic"/>
                <a:ea typeface="Malgun Gothic"/>
                <a:cs typeface="Malgun Gothic"/>
              </a:rPr>
              <a:t>같은 시설을 학습과 평가에 나누지 않고 검증</a:t>
            </a:r>
          </a:p>
        </p:txBody>
      </p:sp>
    </p:spTree>
    <p:extLst>
      <p:ext uri="{BB962C8B-B14F-4D97-AF65-F5344CB8AC3E}">
        <p14:creationId xmlns:p14="http://schemas.microsoft.com/office/powerpoint/2010/main" val="5457782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2026-10-10T08:28:51.0080000Z</dcterms:created>
  <dcterms:modified xsi:type="dcterms:W3CDTF">2026-10-10T08:28:51.0080000Z</dcterms:modified>
</coreProperties>
</file>