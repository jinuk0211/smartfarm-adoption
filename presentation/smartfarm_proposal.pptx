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slides/charts/chart1.xml" ContentType="application/vnd.openxmlformats-officedocument.drawingml.chart+xml"/>
  <Override PartName="/ppt/slides/charts/chart2.xml" ContentType="application/vnd.openxmlformats-officedocument.drawingml.chart+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slides/charts/chart3.xml" ContentType="application/vnd.openxmlformats-officedocument.drawingml.chart+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slides/charts/chart4.xml" ContentType="application/vnd.openxmlformats-officedocument.drawingml.chart+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d042b1cfe3ea44fa" /><Relationship Type="http://schemas.openxmlformats.org/officeDocument/2006/relationships/extended-properties" Target="/docProps/app.xml" Id="R52bdb1d8abf54627" /><Relationship Type="http://schemas.openxmlformats.org/officeDocument/2006/relationships/officeDocument" Target="/ppt/presentation.xml" Id="R6361cfe727ac4932" /></Relationships>
</file>

<file path=ppt/presentation.xml><?xml version="1.0" encoding="utf-8"?>
<p:presentation xmlns:p="http://schemas.openxmlformats.org/presentationml/2006/main">
  <p:sldMasterIdLst>
    <p:sldMasterId xmlns:r="http://schemas.openxmlformats.org/officeDocument/2006/relationships" id="2147483648" r:id="Rbfaf58611ba3476d"/>
  </p:sldMasterIdLst>
  <p:notesMasterIdLst>
    <p:notesMasterId xmlns:r="http://schemas.openxmlformats.org/officeDocument/2006/relationships" r:id="R396f3f31ad5f4968"/>
  </p:notesMasterIdLst>
  <p:sldIdLst>
    <p:sldId xmlns:r="http://schemas.openxmlformats.org/officeDocument/2006/relationships" id="256" r:id="R265531ae5dbc4920"/>
    <p:sldId xmlns:r="http://schemas.openxmlformats.org/officeDocument/2006/relationships" id="257" r:id="Reab660050fe246fc"/>
    <p:sldId xmlns:r="http://schemas.openxmlformats.org/officeDocument/2006/relationships" id="258" r:id="R9c39fd1b12a44493"/>
    <p:sldId xmlns:r="http://schemas.openxmlformats.org/officeDocument/2006/relationships" id="259" r:id="Rf298b68b3e6c4ae9"/>
    <p:sldId xmlns:r="http://schemas.openxmlformats.org/officeDocument/2006/relationships" id="260" r:id="R026a9749c96b4736"/>
    <p:sldId xmlns:r="http://schemas.openxmlformats.org/officeDocument/2006/relationships" id="261" r:id="R549f54279eba47f3"/>
    <p:sldId xmlns:r="http://schemas.openxmlformats.org/officeDocument/2006/relationships" id="262" r:id="R58f36270d67b48ec"/>
    <p:sldId xmlns:r="http://schemas.openxmlformats.org/officeDocument/2006/relationships" id="263" r:id="R5d0dbbe8d80d46bb"/>
    <p:sldId xmlns:r="http://schemas.openxmlformats.org/officeDocument/2006/relationships" id="264" r:id="R10b3c515ce7f46d7"/>
    <p:sldId xmlns:r="http://schemas.openxmlformats.org/officeDocument/2006/relationships" id="265" r:id="R549a00b5c8814e18"/>
    <p:sldId xmlns:r="http://schemas.openxmlformats.org/officeDocument/2006/relationships" id="266" r:id="R3673dcfa88b54c00"/>
    <p:sldId xmlns:r="http://schemas.openxmlformats.org/officeDocument/2006/relationships" id="267" r:id="R14c2a4caf0c44b25"/>
    <p:sldId xmlns:r="http://schemas.openxmlformats.org/officeDocument/2006/relationships" id="268" r:id="R08deecd91861414a"/>
    <p:sldId xmlns:r="http://schemas.openxmlformats.org/officeDocument/2006/relationships" id="269" r:id="R6270d993e38842e7"/>
    <p:sldId xmlns:r="http://schemas.openxmlformats.org/officeDocument/2006/relationships" id="270" r:id="Rfd1a974f1e4d4079"/>
    <p:sldId xmlns:r="http://schemas.openxmlformats.org/officeDocument/2006/relationships" id="271" r:id="R0e1ea9e091484804"/>
    <p:sldId xmlns:r="http://schemas.openxmlformats.org/officeDocument/2006/relationships" id="272" r:id="R98a90fc8bb8f4a19"/>
    <p:sldId xmlns:r="http://schemas.openxmlformats.org/officeDocument/2006/relationships" id="273" r:id="R642d1964abaf4ea1"/>
    <p:sldId xmlns:r="http://schemas.openxmlformats.org/officeDocument/2006/relationships" id="274" r:id="R270d11dd8b3b491a"/>
    <p:sldId xmlns:r="http://schemas.openxmlformats.org/officeDocument/2006/relationships" id="275" r:id="R43fde039bd6540b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bf0a127296fb483c" /><Relationship Type="http://schemas.openxmlformats.org/officeDocument/2006/relationships/slideMaster" Target="/ppt/slideMasters/slideMaster1.xml" Id="Rbfaf58611ba3476d" /><Relationship Type="http://schemas.openxmlformats.org/officeDocument/2006/relationships/notesMaster" Target="/ppt/notesMasters/notesMaster1.xml" Id="R396f3f31ad5f4968" /><Relationship Type="http://schemas.openxmlformats.org/officeDocument/2006/relationships/presProps" Target="/ppt/presProps.xml" Id="Rfff3cd01b90d4cbe" /><Relationship Type="http://schemas.openxmlformats.org/officeDocument/2006/relationships/tableStyles" Target="/ppt/tableStyles.xml" Id="Rd5201a737c1e49fe" /><Relationship Type="http://schemas.openxmlformats.org/officeDocument/2006/relationships/slide" Target="/ppt/slides/slide1.xml" Id="R265531ae5dbc4920" /><Relationship Type="http://schemas.openxmlformats.org/officeDocument/2006/relationships/slide" Target="/ppt/slides/slide2.xml" Id="Reab660050fe246fc" /><Relationship Type="http://schemas.openxmlformats.org/officeDocument/2006/relationships/slide" Target="/ppt/slides/slide3.xml" Id="R9c39fd1b12a44493" /><Relationship Type="http://schemas.openxmlformats.org/officeDocument/2006/relationships/slide" Target="/ppt/slides/slide4.xml" Id="Rf298b68b3e6c4ae9" /><Relationship Type="http://schemas.openxmlformats.org/officeDocument/2006/relationships/slide" Target="/ppt/slides/slide5.xml" Id="R026a9749c96b4736" /><Relationship Type="http://schemas.openxmlformats.org/officeDocument/2006/relationships/slide" Target="/ppt/slides/slide6.xml" Id="R549f54279eba47f3" /><Relationship Type="http://schemas.openxmlformats.org/officeDocument/2006/relationships/slide" Target="/ppt/slides/slide7.xml" Id="R58f36270d67b48ec" /><Relationship Type="http://schemas.openxmlformats.org/officeDocument/2006/relationships/slide" Target="/ppt/slides/slide8.xml" Id="R5d0dbbe8d80d46bb" /><Relationship Type="http://schemas.openxmlformats.org/officeDocument/2006/relationships/slide" Target="/ppt/slides/slide9.xml" Id="R10b3c515ce7f46d7" /><Relationship Type="http://schemas.openxmlformats.org/officeDocument/2006/relationships/slide" Target="/ppt/slides/slide10.xml" Id="R549a00b5c8814e18" /><Relationship Type="http://schemas.openxmlformats.org/officeDocument/2006/relationships/slide" Target="/ppt/slides/slide11.xml" Id="R3673dcfa88b54c00" /><Relationship Type="http://schemas.openxmlformats.org/officeDocument/2006/relationships/slide" Target="/ppt/slides/slide12.xml" Id="R14c2a4caf0c44b25" /><Relationship Type="http://schemas.openxmlformats.org/officeDocument/2006/relationships/slide" Target="/ppt/slides/slide13.xml" Id="R08deecd91861414a" /><Relationship Type="http://schemas.openxmlformats.org/officeDocument/2006/relationships/slide" Target="/ppt/slides/slide14.xml" Id="R6270d993e38842e7" /><Relationship Type="http://schemas.openxmlformats.org/officeDocument/2006/relationships/slide" Target="/ppt/slides/slide15.xml" Id="Rfd1a974f1e4d4079" /><Relationship Type="http://schemas.openxmlformats.org/officeDocument/2006/relationships/slide" Target="/ppt/slides/slide16.xml" Id="R0e1ea9e091484804" /><Relationship Type="http://schemas.openxmlformats.org/officeDocument/2006/relationships/slide" Target="/ppt/slides/slide17.xml" Id="R98a90fc8bb8f4a19" /><Relationship Type="http://schemas.openxmlformats.org/officeDocument/2006/relationships/slide" Target="/ppt/slides/slide18.xml" Id="R642d1964abaf4ea1" /><Relationship Type="http://schemas.openxmlformats.org/officeDocument/2006/relationships/slide" Target="/ppt/slides/slide19.xml" Id="R270d11dd8b3b491a" /><Relationship Type="http://schemas.openxmlformats.org/officeDocument/2006/relationships/slide" Target="/ppt/slides/slide20.xml" Id="R43fde039bd6540b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349ccef0330a44d9"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ff0789f2126d4fdc" /><Relationship Type="http://schemas.openxmlformats.org/officeDocument/2006/relationships/notesMaster" Target="/ppt/notesMasters/notesMaster1.xml" Id="R51d35029dfea4873" /></Relationships>
</file>

<file path=ppt/notesSlides/_rels/notesSlide2.xml.rels>&#65279;<?xml version="1.0" encoding="utf-8"?><Relationships xmlns="http://schemas.openxmlformats.org/package/2006/relationships"><Relationship Type="http://schemas.openxmlformats.org/officeDocument/2006/relationships/slide" Target="/ppt/slides/slide2.xml" Id="R50f7158dc46e4b0e" /><Relationship Type="http://schemas.openxmlformats.org/officeDocument/2006/relationships/notesMaster" Target="/ppt/notesMasters/notesMaster1.xml" Id="Ree96fbb2543a465b" /></Relationships>
</file>

<file path=ppt/notesSlides/_rels/notesSlide3.xml.rels>&#65279;<?xml version="1.0" encoding="utf-8"?><Relationships xmlns="http://schemas.openxmlformats.org/package/2006/relationships"><Relationship Type="http://schemas.openxmlformats.org/officeDocument/2006/relationships/slide" Target="/ppt/slides/slide3.xml" Id="R58539ef49a694b7d" /><Relationship Type="http://schemas.openxmlformats.org/officeDocument/2006/relationships/notesMaster" Target="/ppt/notesMasters/notesMaster1.xml" Id="R0a48cce70c284af5" /></Relationships>
</file>

<file path=ppt/notesSlides/_rels/notesSlide4.xml.rels>&#65279;<?xml version="1.0" encoding="utf-8"?><Relationships xmlns="http://schemas.openxmlformats.org/package/2006/relationships"><Relationship Type="http://schemas.openxmlformats.org/officeDocument/2006/relationships/slide" Target="/ppt/slides/slide4.xml" Id="R92eaf090d69341c7" /><Relationship Type="http://schemas.openxmlformats.org/officeDocument/2006/relationships/notesMaster" Target="/ppt/notesMasters/notesMaster1.xml" Id="R1662e3957ac848dc" /></Relationships>
</file>

<file path=ppt/notesSlides/_rels/notesSlide5.xml.rels>&#65279;<?xml version="1.0" encoding="utf-8"?><Relationships xmlns="http://schemas.openxmlformats.org/package/2006/relationships"><Relationship Type="http://schemas.openxmlformats.org/officeDocument/2006/relationships/slide" Target="/ppt/slides/slide5.xml" Id="R34d19a4bf99f4780" /><Relationship Type="http://schemas.openxmlformats.org/officeDocument/2006/relationships/notesMaster" Target="/ppt/notesMasters/notesMaster1.xml" Id="Raa10a729627c4187" /></Relationships>
</file>

<file path=ppt/notesSlides/_rels/notesSlide6.xml.rels>&#65279;<?xml version="1.0" encoding="utf-8"?><Relationships xmlns="http://schemas.openxmlformats.org/package/2006/relationships"><Relationship Type="http://schemas.openxmlformats.org/officeDocument/2006/relationships/slide" Target="/ppt/slides/slide6.xml" Id="R1a543723e0e54ebf" /><Relationship Type="http://schemas.openxmlformats.org/officeDocument/2006/relationships/notesMaster" Target="/ppt/notesMasters/notesMaster1.xml" Id="R096bff7380524f15" /></Relationships>
</file>

<file path=ppt/notesSlides/_rels/notesSlide7.xml.rels>&#65279;<?xml version="1.0" encoding="utf-8"?><Relationships xmlns="http://schemas.openxmlformats.org/package/2006/relationships"><Relationship Type="http://schemas.openxmlformats.org/officeDocument/2006/relationships/slide" Target="/ppt/slides/slide7.xml" Id="Rf978333c17b84ba5" /><Relationship Type="http://schemas.openxmlformats.org/officeDocument/2006/relationships/notesMaster" Target="/ppt/notesMasters/notesMaster1.xml" Id="Rd05d4d008d394d02" /></Relationships>
</file>

<file path=ppt/notesSlides/_rels/notesSlide8.xml.rels>&#65279;<?xml version="1.0" encoding="utf-8"?><Relationships xmlns="http://schemas.openxmlformats.org/package/2006/relationships"><Relationship Type="http://schemas.openxmlformats.org/officeDocument/2006/relationships/slide" Target="/ppt/slides/slide8.xml" Id="R402003714e2a4028" /><Relationship Type="http://schemas.openxmlformats.org/officeDocument/2006/relationships/notesMaster" Target="/ppt/notesMasters/notesMaster1.xml" Id="Rd5b36dc2a07e40fe" /></Relationships>
</file>

<file path=ppt/notesSlides/_rels/notesSlide9.xml.rels>&#65279;<?xml version="1.0" encoding="utf-8"?><Relationships xmlns="http://schemas.openxmlformats.org/package/2006/relationships"><Relationship Type="http://schemas.openxmlformats.org/officeDocument/2006/relationships/slide" Target="/ppt/slides/slide9.xml" Id="R7bbd694f92d14615" /><Relationship Type="http://schemas.openxmlformats.org/officeDocument/2006/relationships/notesMaster" Target="/ppt/notesMasters/notesMaster1.xml" Id="Red692659d5a54c9e"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379ed5ff309043fc" /><Relationship Type="http://schemas.openxmlformats.org/officeDocument/2006/relationships/notesMaster" Target="/ppt/notesMasters/notesMaster1.xml" Id="R410236396a7c49a8"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07df2e15aa4b4114" /><Relationship Type="http://schemas.openxmlformats.org/officeDocument/2006/relationships/notesMaster" Target="/ppt/notesMasters/notesMaster1.xml" Id="Rebeff55d11654541"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532e3eb717304956" /><Relationship Type="http://schemas.openxmlformats.org/officeDocument/2006/relationships/notesMaster" Target="/ppt/notesMasters/notesMaster1.xml" Id="R492221302dc54265"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69622fa7c1f14bcc" /><Relationship Type="http://schemas.openxmlformats.org/officeDocument/2006/relationships/notesMaster" Target="/ppt/notesMasters/notesMaster1.xml" Id="R01b01dedf96e4ca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4b996a56cf924ed2" /><Relationship Type="http://schemas.openxmlformats.org/officeDocument/2006/relationships/notesMaster" Target="/ppt/notesMasters/notesMaster1.xml" Id="Ra9d2951141544d0b"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99c53353f3cf4f75" /><Relationship Type="http://schemas.openxmlformats.org/officeDocument/2006/relationships/notesMaster" Target="/ppt/notesMasters/notesMaster1.xml" Id="Re0465a792e4f45f5"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7459d3a85d54e3b" /><Relationship Type="http://schemas.openxmlformats.org/officeDocument/2006/relationships/notesMaster" Target="/ppt/notesMasters/notesMaster1.xml" Id="R5ac925a8cdcf469c"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a567f14c6b2420c" /><Relationship Type="http://schemas.openxmlformats.org/officeDocument/2006/relationships/notesMaster" Target="/ppt/notesMasters/notesMaster1.xml" Id="Rbd5f4a5fe7be4b41"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b326eb8a278b4823" /><Relationship Type="http://schemas.openxmlformats.org/officeDocument/2006/relationships/notesMaster" Target="/ppt/notesMasters/notesMaster1.xml" Id="R22d4e7c455ec4cb9"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a92186e7801d4150" /><Relationship Type="http://schemas.openxmlformats.org/officeDocument/2006/relationships/notesMaster" Target="/ppt/notesMasters/notesMaster1.xml" Id="R2b7a72c0d2f048d9"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8b5a82072d47489d" /><Relationship Type="http://schemas.openxmlformats.org/officeDocument/2006/relationships/notesMaster" Target="/ppt/notesMasters/notesMaster1.xml" Id="Ra226f08b7826458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사용자의 스마트팜 도입 시뮬레이터 참고 이미지와 전 과정 구현·PPT 요청에 따른 제안서. 이 문서는 개별 농가 투자 성과를 보장하지 않는다. 실제 공개자료 모델 실험과 가정을 둔 경제성 계산, 명세 기반 현장 실행 코드를 구분한다.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대상 사용자는 신규 시설을 계획하거나 기존 시설의 장비 개량을 검토하는 농가이다. 제품 요구와 계산 범위는 제공된 참고 이미지와 현재 app.py, src/economics.py에 근거한다.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출처: reports/completion_audit.md (https://github.com/jinuk0211/smartfarm-adoption), reports/dsz_model_method.md (https://github.com/jinuk0211/smartfarm-adoption), reports/inseason_model_notes.md (https://github.com/jinuk0211/smartfarm-adoption). 실제 공개자료 경로와 미개방 현장 경로를 구분한다. 도입 후 센서값을 도입 전 예측 입력으로 사용하지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reports/curation_model_summary.md (https://github.com/jinuk0211/smartfarm-adoption)</a:t>
            </a:r>
          </a:p>
          <a:p xmlns:a="http://schemas.openxmlformats.org/drawingml/2006/main">
            <a:r>
              <a:t>reports/rda_acquisition.md (https://github.com/jinuk0211/smartfarm-adoption)</a:t>
            </a:r>
          </a:p>
          <a:p xmlns:a="http://schemas.openxmlformats.org/drawingml/2006/main">
            <a:r>
              <a:t>reports/api_ready.md (https://github.com/jinuk0211/smartfarm-adoption)</a:t>
            </a:r>
          </a:p>
          <a:p xmlns:a="http://schemas.openxmlformats.org/drawingml/2006/main">
            <a:r>
              <a:t>reports/kamis_acquisition.md (https://github.com/jinuk0211/smartfarm-adoption)</a:t>
            </a:r>
          </a:p>
          <a:p xmlns:a="http://schemas.openxmlformats.org/drawingml/2006/main">
            <a:r>
              <a:t>reports/climate_normals_acquisition.md (https://github.com/jinuk0211/smartfarm-adoption)</a:t>
            </a:r>
          </a:p>
          <a:p xmlns:a="http://schemas.openxmlformats.org/drawingml/2006/main">
            <a:r>
              <a:t>reports/inseason_model_notes.md (https://github.com/jinuk0211/smartfarm-adoption)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reports/strawberry_curation_schema_audit.md (https://github.com/jinuk0211/smartfarm-adoption)</a:t>
            </a:r>
          </a:p>
          <a:p xmlns:a="http://schemas.openxmlformats.org/drawingml/2006/main">
            <a:r>
              <a:t>reports/regional_curation_schema_audit.md (https://github.com/jinuk0211/smartfarm-adoption)</a:t>
            </a:r>
          </a:p>
          <a:p xmlns:a="http://schemas.openxmlformats.org/drawingml/2006/main">
            <a:r>
              <a:t>reports/dsz_schema_contract.md (https://github.com/jinuk0211/smartfarm-adoption)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reports/dsz_model_method.md (https://github.com/jinuk0211/smartfarm-adoption)</a:t>
            </a:r>
          </a:p>
          <a:p xmlns:a="http://schemas.openxmlformats.org/drawingml/2006/main">
            <a:r>
              <a:t>reports/curation_model_summary.md (https://github.com/jinuk0211/smartfarm-adoption)</a:t>
            </a:r>
          </a:p>
          <a:p xmlns:a="http://schemas.openxmlformats.org/drawingml/2006/main">
            <a:r>
              <a:t>reports/inseason_model_notes.md (https://github.com/jinuk0211/smartfarm-adoption). 이 장의 7개 계획 특성은 DSZ 경로에 해당한다. 공개 큐레이션 딸기 모델은 9개, 매출 모델은 7개로 각 자료의 계약을 따른다.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reports/curation_model_summary.md (https://github.com/jinuk0211/smartfarm-adoption)</a:t>
            </a:r>
          </a:p>
          <a:p xmlns:a="http://schemas.openxmlformats.org/drawingml/2006/main">
            <a:r>
              <a:t>reports/adp_timing_experiment.md (https://github.com/jinuk0211/smartfarm-adoption)</a:t>
            </a:r>
          </a:p>
          <a:p xmlns:a="http://schemas.openxmlformats.org/drawingml/2006/main">
            <a:r>
              <a:t>reports/model_report.md (https://github.com/jinuk0211/smartfarm-adoption)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reports/model_report.md (https://github.com/jinuk0211/smartfarm-adoption)</a:t>
            </a:r>
          </a:p>
          <a:p xmlns:a="http://schemas.openxmlformats.org/drawingml/2006/main">
            <a:r>
              <a:t>reports/limix_experiment.md (https://github.com/jinuk0211/smartfarm-adoption)</a:t>
            </a:r>
          </a:p>
          <a:p xmlns:a="http://schemas.openxmlformats.org/drawingml/2006/main">
            <a:r>
              <a:t>reports/adp_timing_experiment.md (https://github.com/jinuk0211/smartfarm-adoption). RDA 2024 지역 평가 중 비교 가능한 49행. ADP 170작기·127시설 그룹. 아래 MAE는 평균 절대 오차이며 작을수록 좋다.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reports/curation_model_summary.md (https://github.com/jinuk0211/smartfarm-adoption)</a:t>
            </a:r>
          </a:p>
          <a:p xmlns:a="http://schemas.openxmlformats.org/drawingml/2006/main">
            <a:r>
              <a:t>reports/curation_cross_source_anomalies.md (https://github.com/jinuk0211/smartfarm-adoption). 딸기 극단값 14,604,000kg와 매출 극단값 233,563,333,310원. 원본 주 결과를 보존하고 동일 시설 분할의 민감도만 별도 제시. 탐색 평가로 신규 농가 투자판단 성능을 입증하지 않는다.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공식 출처 https://www.smartfarmkorea.net/company/equipmentInfo.do</a:t>
            </a:r>
          </a:p>
          <a:p xmlns:a="http://schemas.openxmlformats.org/drawingml/2006/main">
            <a:r>
              <a:t>수집 기록 reports/equipment_source_check_2026-10-10.json (https://github.com/jinuk0211/smartfarm-adoption)</a:t>
            </a:r>
          </a:p>
          <a:p xmlns:a="http://schemas.openxmlformats.org/drawingml/2006/main">
            <a:r>
              <a:t>2026-10-10 공개 상세 페이지 5126,6337,6688의 표준가격표. 등록된 가격이며 현장 설치 견적을 의미하지 않는다. 표 내 수량과 행 가격의 의미가 모호한 경우 패키지 총액을 사용한다.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reports/kamis_acquisition.md (https://github.com/jinuk0211/smartfarm-adoption)</a:t>
            </a:r>
          </a:p>
          <a:p xmlns:a="http://schemas.openxmlformats.org/drawingml/2006/main">
            <a:r>
              <a:t>KAMIS 공식 https://www.kamis.or.kr/</a:t>
            </a:r>
          </a:p>
          <a:p xmlns:a="http://schemas.openxmlformats.org/drawingml/2006/main">
            <a:r>
              <a:t>최종 추가 모델 근거: artifacts/price_forecast_metrics.json, reports/price_forecast_notes.md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reports/model_report.md (https://github.com/jinuk0211/smartfarm-adoption)</a:t>
            </a:r>
          </a:p>
          <a:p xmlns:a="http://schemas.openxmlformats.org/drawingml/2006/main">
            <a:r>
              <a:t>src/economics.py. 감가상각은 경영비에 포함하며 현금비용 계산에서 제거한다. 초기 투자와 교체비는 해당 연도 현금 지출. 가족노동 기회비용은 별도. 세금·금융조달·보조금·운전자금·기말 처분가치를 제외한다.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전체 입력과 출처 해시를 보존한다. {"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불리","yield_multiplier":0.9,"price_multiplier":0.8,"cash_cost_multiplier":1.1},{"name":"기준","yield_multiplier":1,"price_multiplier":1,"cash_cost_multiplier":1},{"name":"유리","yield_multiplier":1.1,"price_multiplier":1.2,"cash_cost_multiplier":0.9}],"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a:t>
            </a:r>
          </a:p>
          <a:p xmlns:a="http://schemas.openxmlformats.org/drawingml/2006/main">
            <a:r>
              <a:t>가정 실제 농가 사업계획·견적이 아닌 기능 시연 예시</a:t>
            </a:r>
          </a:p>
          <a:p xmlns:a="http://schemas.openxmlformats.org/drawingml/2006/main">
            <a:r>
              <a:t>전국 시설딸기(수경) 조사 기준. 2027년 쿼리도 과거 중앙값을 사용하며 연도별 성장효과를 학습한 값이 아님</a:t>
            </a:r>
          </a:p>
          <a:p xmlns:a="http://schemas.openxmlformats.org/drawingml/2006/main">
            <a:r>
              <a:t>장비 가격은 공개 등록 표준가격. 설치5백만원·추가 부가세2,957,300원·기타 투자8천만원은 명시적 가정</a:t>
            </a:r>
          </a:p>
          <a:p xmlns:a="http://schemas.openxmlformats.org/drawingml/2006/main">
            <a:r>
              <a:t>추가 부가세는 장비와 설치비가 세전이라는 예시 가정의 10%. 실제 세법 적용·공제·환급 여부 미반영</a:t>
            </a:r>
          </a:p>
          <a:p xmlns:a="http://schemas.openxmlformats.org/drawingml/2006/main">
            <a:r>
              <a:t>기타8천만원은 장비/설치비와 중복 없는 온실·토목·기타 투자 가정. 정부75,000원/㎡ 기준은 사용하지 않음</a:t>
            </a:r>
          </a:p>
          <a:p xmlns:a="http://schemas.openxmlformats.org/drawingml/2006/main">
            <a:r>
              <a:t>10년 동안 같은 연간 조건 유지, 교체비0 가정. 실제 장비 수명이나 유지보수 보장이 아님</a:t>
            </a:r>
          </a:p>
          <a:p xmlns:a="http://schemas.openxmlformats.org/drawingml/2006/main">
            <a:r>
              <a:t>기준단가·운영비·감가상각·자가노동은2024년 조사값. 미래가격/비용 상승률 자동반영 없음</a:t>
            </a:r>
          </a:p>
          <a:p xmlns:a="http://schemas.openxmlformats.org/drawingml/2006/main">
            <a:r>
              <a:t>초기투자비 회수는 가족노동 기회비용 차감 전 현금흐름. 세금·금융조달·보조금·운전자금·처분가치 제외</a:t>
            </a:r>
          </a:p>
          <a:p xmlns:a="http://schemas.openxmlformats.org/drawingml/2006/main">
            <a:r>
              <a:t>장비 설치에 따른 생산성 증가 가정 없음. 가격전망은 별도 도매가격 실험으로 농가수취가격 자동대체 없음</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artifacts/planning_demo.json. 세 시나리오 입력 [{"name":"불리","yield_multiplier":0.9,"price_multiplier":0.8,"cash_cost_multiplier":1.1},{"name":"기준","yield_multiplier":1,"price_multiplier":1,"cash_cost_multiplier":1},{"name":"유리","yield_multiplier":1.1,"price_multiplier":1.2,"cash_cost_multiplier":0.9}]. 초기투자 회수는 가족노동 기회비용 차감 전 현금흐름. 10년, 할인율4%, 교체비0, 연간조건 고정. 민감도 가정 {"distribution":"independent symmetric triangular multipliers centered at 1","relative_half_widths":{"yield":0.1,"price":0.2,"cash_cost":0.1},"n_samples":2000,"seed":42,"correlation":"Independent yield/price/cash-cost factors; no estimated correlations","time_behavior":"Each draw remains constant over the full horizon, not independent annual shocks","fixed_inputs":"Capex, depreciation, baseline existing-operation cash flow, replacements and discount rate","interpretation":"Assumption-distribution percentiles, NOT calibrated confidence intervals or success probabilities","bep_definition":"Annual kg needed for undiscounted payback by the chosen horizon; family labor is separate","exclusions":["tax","financing cash flows","grants","working-capital changes","terminal resale value"]}. 모든 결과 [{"name":"불리","assumptions":{"name":"불리","yield_multiplier":0.9,"price_multiplier":0.8,"cash_cost_multiplier":1.1},"annual_yield_kg":3010.05,"farmgate_price_krw_per_kg":8694.4,"annual_revenue_krw":26170578.72,"annual_cash_operating_cost_krw":17592480.400000002,"annual_depreciation_krw":4789801,"annual_income_before_family_labor_krw":3788297.3199999966,"annual_family_labor_opportunity_cost_krw":12098260,"annual_income_after_family_labor_krw":-8309962.680000003,"annual_cash_surplus_before_replacements_krw":8578098.319999997,"annual_incremental_cash_flow_before_replacements_krw":8578098.319999997,"annual_incremental_income_krw":null,"maximum_capex_for_horizon_payback_krw":85780983.19999996,"maximum_capex_for_nonnegative_npv_krw":69576061.45858042,"required_annual_yield_for_horizon_payback_kg":3317.711446448289,"additional_yield_required_kg":307.66144644828864,"cash_flows_krw":[-112530300,8578098.319999997,8578098.319999997,8578098.319999997,8578098.319999997,8578098.319999997,8578098.319999997,8578098.319999997,8578098.319999997,8578098.319999997,8578098.319999997],"cumulative_cash_flows_krw":[-112530300,-103952201.68,-95374103.36000001,-86796005.04000002,-78217906.72000003,-69639808.40000004,-61061710.08000004,-52483611.76000005,-43905513.44000006,-35327415.120000064,-26749316.800000068],"payback_year":null,"recovered_by_horizon":false,"npv_krw":-42954238.54141958,"undiscounted_balance_krw":-26749316.800000068},{"name":"기준","assumptions":{"name":"기준","yield_multiplier":1,"price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name":"유리","assumptions":{"name":"유리","yield_multiplier":1.1,"price_multiplier":1.2,"cash_cost_multiplier":0.9},"annual_yield_kg":3678.9500000000003,"farmgate_price_krw_per_kg":13041.6,"annual_revenue_krw":47979394.32000001,"annual_cash_operating_cost_krw":14393847.6,"annual_depreciation_krw":4789801,"annual_income_before_family_labor_krw":28795745.720000006,"annual_family_labor_opportunity_cost_krw":12098260,"annual_income_after_family_labor_krw":16697485.720000006,"annual_cash_surplus_before_replacements_krw":33585546.720000006,"annual_incremental_cash_flow_before_replacements_krw":33585546.720000006,"annual_incremental_income_krw":null,"maximum_capex_for_horizon_payback_krw":335855467.20000005,"maximum_capex_for_nonnegative_npv_krw":272408869.13857913,"required_annual_yield_for_horizon_payback_kg":1966.5437983069562,"additional_yield_required_kg":0,"cash_flows_krw":[-112530300,33585546.720000006,33585546.720000006,33585546.720000006,33585546.720000006,33585546.720000006,33585546.720000006,33585546.720000006,33585546.720000006,33585546.720000006,33585546.720000006],"cumulative_cash_flows_krw":[-112530300,-78944753.28,-45359206.559999995,-11773659.839999989,21811886.880000018,55397433.600000024,88982980.32000002,122568527.04000002,156154073.76000002,189739620.48000002,223325167.20000002],"payback_year":4,"recovered_by_horizon":true,"npv_krw":159878569.13857913,"undiscounted_balance_krw":223325167.20000002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근거 artifacts/planning_reference_scenarios.json. {"market_assumption":{"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_assumption":{"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comparisons":[{"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기존 계획","price_multiplier":1,"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null,"weather":null}},"results":{"mode":"new","area_m2":1000,"period_basis":"년1기작/10a","cycles_per_year":1,"initial_capex_krw":112530300,"horizon_years":10,"discount_rate":0.04,"scenarios":[{"name":"기존 계획","assumptions":{"name":"기존 계획","price_multiplier":1,"yield_multiplier":1,"cash_cost_multiplier":1},"annual_yield_kg":3344.5,"farmgate_price_krw_per_kg":10868,"annual_revenue_krw":36348026,"annual_cash_operating_cost_krw":15993164,"annual_depreciation_krw":4789801,"annual_income_before_family_labor_krw":15565061,"annual_family_labor_opportunity_cost_krw":12098260,"annual_income_after_family_labor_krw":3466801,"annual_cash_surplus_before_replacements_krw":20354862,"annual_incremental_cash_flow_before_replacements_krw":20354862,"annual_incremental_income_krw":null,"maximum_capex_for_horizon_payback_krw":203548620,"maximum_capex_for_nonnegative_npv_krw":165096164.285154,"required_annual_yield_for_horizon_payback_kg":2507.010857563489,"additional_yield_required_kg":0,"cash_flows_krw":[-112530300,20354862,20354862,20354862,20354862,20354862,20354862,20354862,20354862,20354862,20354862],"cumulative_cash_flows_krw":[-112530300,-92175438,-71820576,-51465714,-31110852,-10755990,9598872,29953734,50308596,70663458,91018320],"payback_year":6,"recovered_by_horizon":true,"npv_krw":52565864.28515403,"undiscounted_balance_krw":91018320}],"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도매가격 상대변화 적용 가정","price_multiplier":1.0859887338098562,"yield_multiplier":1,"cash_cost_multiplier":1}],"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forecast"},"weather":null}},"results":{"mode":"new","area_m2":1000,"period_basis":"년1기작/10a","cycles_per_year":1,"initial_capex_krw":112530300,"horizon_years":10,"discount_rate":0.04,"scenarios":[{"name":"도매가격 상대변화 적용 가정","assumptions":{"name":"도매가격 상대변화 적용 가정","price_multiplier":1.0859887338098562,"yield_multiplier":1,"cash_cost_multiplier":1},"annual_yield_kg":3344.5,"farmgate_price_krw_per_kg":11802.525559045516,"annual_revenue_krw":39473546.73222773,"annual_cash_operating_cost_krw":15993164,"annual_depreciation_krw":4789801,"annual_income_before_family_labor_krw":18690581.732227728,"annual_family_labor_opportunity_cost_krw":12098260,"annual_income_after_family_labor_krw":6592321.732227728,"annual_cash_surplus_before_replacements_krw":23480382.732227728,"annual_incremental_cash_flow_before_replacements_krw":23480382.732227728,"annual_incremental_income_krw":null,"maximum_capex_for_horizon_payback_krw":234803827.32227728,"maximum_capex_for_nonnegative_npv_krw":190446937.20046654,"required_annual_yield_for_horizon_payback_kg":2308.5054011273355,"additional_yield_required_kg":0,"cash_flows_krw":[-112530300,23480382.732227728,23480382.732227728,23480382.732227728,23480382.732227728,23480382.732227728,23480382.732227728,23480382.732227728,23480382.732227728,23480382.732227728,23480382.732227728],"cumulative_cash_flows_krw":[-112530300,-89049917.26777227,-65569534.535544544,-42089151.80331682,-18608769.07108909,4871613.661138639,28351996.393366367,51832379.125594094,75312761.85782182,98793144.59004955,122273527.32227728],"payback_year":5,"recovered_by_horizon":true,"npv_krw":77916637.20046654,"undiscounted_balance_krw":122273527.32227728}],"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puts":{"benchmark":{"farmgate_price_krw_per_kg":10868,"operating_cost_krw_per_1000m2":20782965,"depreciation_krw_per_1000m2":4789801,"family_labor_cost_krw_per_1000m2":12098260,"yield_kg_per_1000m2":3344.5,"period_basis":"년1기작/10a"},"area_m2":1000,"cycles_per_year":1,"initial_capex_krw":112530300,"horizon_years":10,"discount_rate":0.04,"mode":"new","replacements_krw":{},"scenarios":[{"name":"상대가격 + 저온 영향 가정","price_multiplier":1.0859887338098562,"yield_multiplier":0.9,"cash_cost_multiplier":1.15}],"reference":{"crop":"딸기","source_category":"시설딸기(수경)","region":"전국","year":2024,"planned_year":2027,"source_url":"https://www.nongsaro.go.kr/portal/bsFileDownload.do?atchmnflGroupEsntlCode=BS000000045358&amp;atchmnflSn=0","source_page":95,"yield_mode":"실험 모델","model_prediction":{"status":"aggregate_reference_only","yield_kg_per_1000m2":3344.5,"model":"historical_median","n_reference_rows":2,"latest_source_year":2024,"period_basis":"년1기작/10a","warning":"Regional/crop survey reference, not a prediction validated for an individual prospective farm or a causal installation effect"}},"capital_cost_basis":{"equipment":{"lines":[{"equipment_id":"5126","name":"CRONOUS-AV-CR01 환경제어 구성","quantity":1,"option_ids":[],"package_price_krw":20903000,"options_price_per_package_krw":0,"line_total_krw":20903000,"source_url":"https://www.smartfarmkorea.net/company/selectEquipment.do?menuId=","checked_date":"2026-10-10"},{"equipment_id":"6337","name":"옹달샘300 양액 공급 구성","quantity":1,"option_ids":["6337-option-1"],"package_price_krw":3270000,"options_price_per_package_krw":400000,"line_total_krw":3670000,"source_url":"https://www.smartfarmkorea.net/company/selectEquipment.do?menuId=","checked_date":"2026-10-10"}],"equipment_subtotal_krw":24573000,"installation_krw":5000000,"additional_vat_krw":2957300,"initial_capex_krw":32530300,"unresolved_cost_inputs":[],"status":"planning_assumption","is_verified_quote":false,"scope":"선택 장비와 명시한 설치비·추가 부가세만 포함. 온실 신축·토목·기타 설비·호환성 검토는 별도.","limitations":["업체 등록 표준가격이며 실제 계약·설치 견적이 아닙니다.","등록가격의 부가세·설치비 포함 여부는 확인되지 않았습니다.","구성품 가격을 재합산하지 않고 공개된 묶음 합계를 사용합니다.","옵션은 명시적으로 선택하며 선택한 옵션은 묶음 수량만큼 계산합니다.","장비 간 호환성, 재배면적별 필요 수량, 수확 증가 효과와 수명은 검증되지 않았습니다."]},"other_capex_krw":80000000,"total_initial_capex_krw":112530300},"reference_scenario":{"market":{"factor":1.0859887338098562,"crop":"딸기","variety":"설향","grade":"상품","method":"forecast_krw_per_kg","comparison":[{"month":1,"actual_2025_krw_per_kg":16452,"forecast_2026_krw_per_kg":18267.19466104195},{"month":2,"actual_2025_krw_per_kg":14333,"forecast_2026_krw_per_kg":15290.749000904},{"month":3,"actual_2025_krw_per_kg":10253,"forecast_2026_krw_per_kg":12088.859402846494},{"month":4,"actual_2025_krw_per_kg":8759,"forecast_2026_krw_per_kg":10330.928011570706},{"month":12,"actual_2025_krw_per_kg":20359,"forecast_2026_krw_per_kg":20210.89453280112}],"actual_mean_krw_per_kg":14031.2,"forecast_mean_krw_per_kg":15237.725121832855,"weighting":"Equal monthly weights, equivalent to assumed equal sold kg across chosen months","forecast_origin":"2025-12-31","forecast_year":2026,"interpretation":"User-chosen relative-change transfer to farmgate reference; not direct wholesale pricing or a current forecast"},"weather":{"condition":"저온","station_id":860,"station_name":"대구","month":1,"normal_period":"1991–2020","normal_mean_temperature_c":1.1,"normal_monthly_precipitation_mm":18.6,"user_yield_change_percent":-10,"user_cash_cost_change_percent":15,"scope":"annual_total_effect","interpretation":"평년 기후 참고 + 사용자 영향 가정. 미래 기상예보·학습된 영향 아님","source_url":"https://data.kma.go.kr/normals/info1.do"}}},"results":{"mode":"new","area_m2":1000,"period_basis":"년1기작/10a","cycles_per_year":1,"initial_capex_krw":112530300,"horizon_years":10,"discount_rate":0.04,"scenarios":[{"name":"상대가격 + 저온 영향 가정","assumptions":{"name":"상대가격 + 저온 영향 가정","price_multiplier":1.0859887338098562,"yield_multiplier":0.9,"cash_cost_multiplier":1.15},"annual_yield_kg":3010.05,"farmgate_price_krw_per_kg":11802.525559045516,"annual_revenue_krw":35526192.059004955,"annual_cash_operating_cost_krw":18392138.599999998,"annual_depreciation_krw":4789801,"annual_income_before_family_labor_krw":12344252.459004957,"annual_family_labor_opportunity_cost_krw":12098260,"annual_income_after_family_labor_krw":245992.45900495723,"annual_cash_surplus_before_replacements_krw":17134053.459004957,"annual_incremental_cash_flow_before_replacements_krw":17134053.459004957,"annual_incremental_income_krw":null,"maximum_capex_for_horizon_payback_krw":171340534.59004956,"maximum_capex_for_nonnegative_npv_krw":138972521.88388672,"required_annual_yield_for_horizon_payback_kg":2511.7648296283323,"additional_yield_required_kg":0,"cash_flows_krw":[-112530300,17134053.459004957,17134053.459004957,17134053.459004957,17134053.459004957,17134053.459004957,17134053.459004957,17134053.459004957,17134053.459004957,17134053.459004957,17134053.459004957],"cumulative_cash_flows_krw":[-112530300,-95396246.54099505,-78262193.0819901,-61128139.62298514,-43994086.163980186,-26860032.70497523,-9725979.245970272,7408074.213034686,24542127.672039643,41676181.1310446,58810234.59004955],"payback_year":7,"recovered_by_horizon":true,"npv_krw":26442221.883886714,"undiscounted_balance_krw":58810234.59004955}],"interpretation":"Assumption scenarios, not confidence intervals or causal equipment effects","exclusions":["tax","financing cash flows","grants","working-capital changes","terminal resale value"],"cost_note":"Operating cost includes depreciation; cash cost excludes it. Family labor is a separate opportunity cost."}}],"interpretation":"조건별 계산 연결 시연. 도매-농가 상대변화 전달·날씨 영향 수치는 사용자 가정이며 정확도 검증된 2027년 예측이 아님","source_sha256":{"artifacts/price_forecast_metrics.json":"5c383aa1bd0c8787a249996124153775dd1a58da7caac3875d25df3607a41681","artifacts/price_forecast_holdout_predictions.csv":"6cac4483e2f25ef90b0f37a49e1922994607517c3e58645bcf6db067181b689c","artifacts/price_forecast_forecast.csv":"ac41c538800f5fcf4e4423d58d68953d1a3b64733bfa3f1e67b905dd3eca1493","data/processed/climate_normals_monthly.csv":"438bd0a350f970e2f31c0bc8ab540b51eb980d2fec03d81a93f1073cadb36aa9","src/scenario_assumptions.py":"0a0cd4be7116cd95475ca1f47d459d3c7de136d1aadf6a7db8e2525553d09944","scripts/run_reference_scenarios.py":"b9a84442f2e6ec293656a91c86054c4cdfc9fd263a5f6b67d3da832f36f7e00f"}}</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reports/inseason_model_notes.md (https://github.com/jinuk0211/smartfarm-adoption)</a:t>
            </a:r>
          </a:p>
          <a:p xmlns:a="http://schemas.openxmlformats.org/drawingml/2006/main">
            <a:r>
              <a:t>artifacts/inseason_metrics.json. {"study":"strawberry_observed_visit_height_7d","status":"actual_data_pilot_completed","generated_at":"2026-10-10T06:47:46.104846+00:00","target":"7일 뒤 시설·방문 관측 표본 평균 초장","target_unit":"mm","source_counts":{"growth_raw_rows":2529,"environment_raw_rows":9774,"height_raw_rows_mm":252,"height_visits":187,"visits_without_cycle":1,"visits_ambiguous_cycle":0,"conflicting_growth_sample_rows_excluded":0,"conflicting_environment_day_rows_excluded":0,"exact_seven_day_pairs":40,"pairs_with_prior_temperature_28d":40,"facilities":21,"temperature_days_28d_min":18,"temperature_days_28d_median":27,"temperature_days_28d_max":28,"height_unit":"mm","horizon_days":7},"cohort":{"pairs":40,"facilities":21,"horizon_days":7,"folds":5},"feature_groups":{"growth":["height_mm","leaf_count","leaf_length_mm","leaf_width_mm","crown_diameter_mm","day_of_year","days_after_planting","previous_visit_gap_days","previous_height_delta_mm"],"prior_environment":["temperature_c_7d_mean","temperature_c_7d_min","temperature_c_7d_max","temperature_c_7d_count","temperature_c_28d_mean","temperature_c_28d_min","temperature_c_28d_max","temperature_c_28d_count","humidity_pct_7d_mean","humidity_pct_7d_min","humidity_pct_7d_max","humidity_pct_7d_count","humidity_pct_28d_mean","humidity_pct_28d_min","humidity_pct_28d_max","humidity_pct_28d_count","co2_ppm_7d_mean","co2_ppm_7d_min","co2_ppm_7d_max","co2_ppm_7d_count","co2_ppm_28d_mean","co2_ppm_28d_min","co2_ppm_28d_max","co2_ppm_28d_count"]},"environment_units":{"temperature_c":"°C","humidity_pct":"%","co2_ppm":"ppm"},"feature_count":33,"models":[{"model":"current_height","mae_mm":36.079166666666666,"rmse_mm":45.92062142678627,"median_absolute_error_mm":24,"n_scored":40,"fold_mae_mm":{"0":56.479166666666664,"1":40.541666666666664,"2":27,"3":29.0625,"4":27.3125}},{"model":"catboost_growth","mae_mm":32.607384212432535,"rmse_mm":41.105035645802886,"median_absolute_error_mm":28.39139033868824,"n_scored":40,"fold_mae_mm":{"0":47.23733944884858,"1":38.53465288379644,"2":25.452962354706457,"3":31.739428428356398,"4":20.072537946454823}},{"model":"catboost_growth_environment","mae_mm":34.786178667408024,"rmse_mm":43.04013158412155,"median_absolute_error_mm":31.308795682006235,"n_scored":40,"fold_mae_mm":{"0":51.323939935841395,"1":39.08287110972536,"2":23.753829855866528,"3":30.986052368486874,"4":28.784200067119976}},{"model":"xgboost_growth_environment","mae_mm":34.589417345325145,"rmse_mm":42.29869377173107,"median_absolute_error_mm":28.7378511428833,"n_scored":40,"fold_mae_mm":{"0":48.82260195414225,"1":46.171511928240456,"2":18.749809935688972,"3":28.14502251148224,"4":31.05814039707184}}],"best_model":"catboost_growth","illustrative_holdout_examples":[{"group":1,"pairs":10,"current_height_mm_mean":233.5,"observed_next_height_mm_mean":284.1333333333333,"predicted_next_height_mm_mean":264.6519092482094},{"group":2,"pairs":10,"current_height_mm_mean":324.8,"observed_next_height_mm_mean":333.1833333333333,"predicted_next_height_mm_mean":340.070591957401},{"group":3,"pairs":10,"current_height_mm_mean":362.35,"observed_next_height_mm_mean":370.7,"predicted_next_height_mm_mean":368.39330199731836},{"group":4,"pairs":10,"current_height_mm_mean":402.5,"observed_next_height_mm_mean":384.15,"predicted_next_height_mm_mean":394.5818915074793}],"limitations":["정확히 7일 간격으로 관측된 방문 쌍만 평가한 소규모 후향 실험이다. 불규칙 방문 농가 전체를 대표하지 않는다.","같은 개체의 연속 성장량이 아닌 시설·방문별 관측 표본 평균 초장(mm)을 예측한다. 표본 구성이 달라질 수 있다.","환경 분석일자를 관측일의 대리값으로 사용했다. 실제 과거 수신 시각/지연은 없어 실시간 가용성을 입증하지 않는다.","온도·습도의 7/28일 최소·최대는 기간 내 일평균 값의 최소·최대이며 순간 최저·최고 온도가 아니다. CO₂는 분석일자별 농도 기록을 요약하며 원본의 하루 내 집계 방식은 명시되지 않았다.","일사량·외부온도·기상특보·태풍은 이 큐레이션 원본에 없어 누적 일사량, GDD 및 기상 예측은 만들지 않았다.","mm 원문 값을 유지하고 의심 값의 임의 단위 환산이나 이상치 제거를 하지 않았다.","시설 분리 교차검증은 미래 연도 검증이 아니다. 모델 선택과 성능 보고에 같은 OOF 평가를 사용해 별도 외부검증이 필요하다.","운영 중 보조 실험이며 도입 전 수확량·투자수익 모델에는 관측 환경/생육 값을 넣지 않는다."],"source_hashes":{"data/processed/strawberry_curation_growth.csv":"fa9c47868d3c96d142580b56ad2e90b3f3e2e4ce604f7351e037a4c96875cf6f","data/processed/strawberry_curation_environment.csv":"b7aa4ca2fb6d52e755816b1c6e20c7192a57c654b32ff0ae05c546123bbb550f","data/raw/smartfarm_curation_docs/Strawberry_Growth_Env_Shipping_Definition.hwp":"e86d0bc61eabce71890a8a7c406d0ee98102c6f37afa4687681eb3966ed64197","src/inseason_model.py":"c52aa8d098e6f9579047642c57ce5d68dbd2f4681051341302e15d9ff1303a2d","scripts/run_inseason_model.py":"df181d24a14b342d4834b268c12b84708295c241f1788d9f3ac35df602e1a360"},"private_oof_sha256":"80e2507cccd372cb986dfcc2662ad673df739cc4f3bd99cd393df7a656e67346","private_oof_rows_not_published":tr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실제 앱 http://127.0.0.1:8512/</a:t>
            </a:r>
          </a:p>
          <a:p xmlns:a="http://schemas.openxmlformats.org/drawingml/2006/main">
            <a:r>
              <a:t>스크린샷 C:\Users\tgc04\Desktop\insurance\workspace\smartfarm_adoption\artifacts\dashboard_preview\scenario-results.png</a:t>
            </a:r>
          </a:p>
          <a:p xmlns:a="http://schemas.openxmlformats.org/drawingml/2006/main">
            <a:r>
              <a:t>공개 저장소 https://github.com/jinuk0211/smartfarm-adoption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reports/dsz_schema_contract.md (https://github.com/jinuk0211/smartfarm-adoption)</a:t>
            </a:r>
          </a:p>
          <a:p xmlns:a="http://schemas.openxmlformats.org/drawingml/2006/main">
            <a:r>
              <a:t>reports/dsz_model_method.md (https://github.com/jinuk0211/smartfarm-adoption)</a:t>
            </a:r>
          </a:p>
          <a:p xmlns:a="http://schemas.openxmlformats.org/drawingml/2006/main">
            <a:r>
              <a:t>reports/dsz_onsite_guide.md (https://github.com/jinuk0211/smartfarm-adoption)</a:t>
            </a:r>
          </a:p>
          <a:p xmlns:a="http://schemas.openxmlformats.org/drawingml/2006/main">
            <a:r>
              <a:t>artifacts/dsz_verification.json. 79필드 명세와 합성40시설80작기 실행, CPU오프라인 패키지 준비. 환경별 반입 승인은 별도이며 실제 원자료 성능 미평가.</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reports/api_record_semantics.md (https://github.com/jinuk0211/smartfarm-adoption)</a:t>
            </a:r>
          </a:p>
          <a:p xmlns:a="http://schemas.openxmlformats.org/drawingml/2006/main">
            <a:r>
              <a:t>reports/capex_acquisition.md (https://github.com/jinuk0211/smartfarm-adoption)</a:t>
            </a:r>
          </a:p>
          <a:p xmlns:a="http://schemas.openxmlformats.org/drawingml/2006/main">
            <a:r>
              <a:t>reports/curation_cross_source_anomalies.md (https://github.com/jinuk0211/smartfarm-adoption). 장비 도입 효과, ROI 검증 및 외부 성능에는 연결된 실제 관측이 필요하다.</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제안 범위: 스마트팜 도입 계획을 비교하는 프로토타입. 공개자료 실험과 출처 추적, 명세 기반 현장 실행, 계산 가정의 투명성. 실제 투자 효과와 순이익 예측의 외부 검증은 향후 단계.</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beda65acc2b4281"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d748cfcff3645b6"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3cb00fdcff0a4725"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7eff692636e04e93"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14cf8294666f4217"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713d709c8aab42f9"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F64BE663-B5FC-4FE3-9E72-6D66DD1F295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29FD7E63-D4B6-47A9-8F0D-59A236060427}"/>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E49EE157-ED1B-46D2-8399-84CDCFB5C686}"/>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C29DEA30-91A7-4577-996D-84B76B01A91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E015B6C4-05BD-4D65-BD1F-DD0AE70F1BBD}"/>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23250CD5-F285-4403-AB5C-E9E0C871EE1C}"/>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853BC455-4EA2-4A7F-A393-E65ABD3E11B4}"/>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AA49ED45-1FB1-4236-B603-1119CC1F35F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314A37B5-66BB-4505-AFBF-3E4D78170B7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nSpc>
                <a:spcPct val="110000"/>
              </a:lnSpc>
              <a:spcBef>
                <a:spcPts val="0"/>
              </a:spcBef>
              <a:spcAft>
                <a:spcPts val="0"/>
              </a:spcAft>
              <a:buNone/>
            </a:lvl1pPr>
            <a:lvl2pPr marL="0" indent="0">
              <a:lnSpc>
                <a:spcPct val="110000"/>
              </a:lnSpc>
              <a:spcBef>
                <a:spcPts val="0"/>
              </a:spcBef>
              <a:spcAft>
                <a:spcPts val="0"/>
              </a:spcAft>
              <a:buNone/>
            </a:lvl2pPr>
            <a:lvl3pPr marL="0" indent="0">
              <a:lnSpc>
                <a:spcPct val="110000"/>
              </a:lnSpc>
              <a:spcBef>
                <a:spcPts val="0"/>
              </a:spcBef>
              <a:spcAft>
                <a:spcPts val="0"/>
              </a:spcAft>
              <a:buNone/>
            </a:lvl3pPr>
            <a:lvl4pPr marL="0" indent="0">
              <a:lnSpc>
                <a:spcPct val="110000"/>
              </a:lnSpc>
              <a:spcBef>
                <a:spcPts val="0"/>
              </a:spcBef>
              <a:spcAft>
                <a:spcPts val="0"/>
              </a:spcAft>
              <a:buNone/>
            </a:lvl4pPr>
            <a:lvl5pPr marL="0" indent="0">
              <a:lnSpc>
                <a:spcPct val="110000"/>
              </a:lnSpc>
              <a:spcBef>
                <a:spcPts val="0"/>
              </a:spcBef>
              <a:spcAft>
                <a:spcPts val="0"/>
              </a:spcAft>
              <a:buNone/>
            </a:lvl5pPr>
            <a:lvl6pPr marL="0" indent="0">
              <a:lnSpc>
                <a:spcPct val="110000"/>
              </a:lnSpc>
              <a:spcBef>
                <a:spcPts val="0"/>
              </a:spcBef>
              <a:spcAft>
                <a:spcPts val="0"/>
              </a:spcAft>
              <a:buNone/>
            </a:lvl6pPr>
            <a:lvl7pPr marL="0" indent="0">
              <a:lnSpc>
                <a:spcPct val="110000"/>
              </a:lnSpc>
              <a:spcBef>
                <a:spcPts val="0"/>
              </a:spcBef>
              <a:spcAft>
                <a:spcPts val="0"/>
              </a:spcAft>
              <a:buNone/>
            </a:lvl7pPr>
            <a:lvl8pPr marL="0" indent="0">
              <a:lnSpc>
                <a:spcPct val="110000"/>
              </a:lnSpc>
              <a:spcBef>
                <a:spcPts val="0"/>
              </a:spcBef>
              <a:spcAft>
                <a:spcPts val="0"/>
              </a:spcAft>
              <a:buNone/>
            </a:lvl8pPr>
            <a:lvl9pPr marL="0" indent="0">
              <a:lnSpc>
                <a:spcPct val="110000"/>
              </a:lnSpc>
              <a:spcBef>
                <a:spcPts val="0"/>
              </a:spcBef>
              <a:spcAft>
                <a:spcPts val="0"/>
              </a:spcAft>
              <a:buNone/>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47E1592-D00F-4AA0-A815-BEE188A409A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nSpc>
                <a:spcPct val="110000"/>
              </a:lnSpc>
              <a:spcBef>
                <a:spcPts val="0"/>
              </a:spcBef>
              <a:spcAft>
                <a:spcPts val="1200"/>
              </a:spcAft>
              <a:buChar char="•"/>
            </a:lvl1pPr>
            <a:lvl2pPr marL="533400" indent="-228600">
              <a:lnSpc>
                <a:spcPct val="110000"/>
              </a:lnSpc>
              <a:spcBef>
                <a:spcPts val="0"/>
              </a:spcBef>
              <a:spcAft>
                <a:spcPts val="1200"/>
              </a:spcAft>
              <a:buChar char="•"/>
            </a:lvl2pPr>
            <a:lvl3pPr marL="838200" indent="-228600">
              <a:lnSpc>
                <a:spcPct val="110000"/>
              </a:lnSpc>
              <a:spcBef>
                <a:spcPts val="0"/>
              </a:spcBef>
              <a:spcAft>
                <a:spcPts val="1200"/>
              </a:spcAft>
              <a:buChar char="•"/>
            </a:lvl3pPr>
            <a:lvl4pPr marL="1143000" indent="-228600">
              <a:lnSpc>
                <a:spcPct val="110000"/>
              </a:lnSpc>
              <a:spcBef>
                <a:spcPts val="0"/>
              </a:spcBef>
              <a:spcAft>
                <a:spcPts val="1200"/>
              </a:spcAft>
              <a:buChar char="•"/>
            </a:lvl4pPr>
            <a:lvl5pPr marL="1447800" indent="-228600">
              <a:lnSpc>
                <a:spcPct val="110000"/>
              </a:lnSpc>
              <a:spcBef>
                <a:spcPts val="0"/>
              </a:spcBef>
              <a:spcAft>
                <a:spcPts val="1200"/>
              </a:spcAft>
              <a:buChar char="•"/>
            </a:lvl5pPr>
            <a:lvl6pPr marL="1752600" indent="-228600">
              <a:lnSpc>
                <a:spcPct val="110000"/>
              </a:lnSpc>
              <a:spcBef>
                <a:spcPts val="0"/>
              </a:spcBef>
              <a:spcAft>
                <a:spcPts val="1200"/>
              </a:spcAft>
              <a:buChar char="•"/>
            </a:lvl6pPr>
            <a:lvl7pPr marL="2057400" indent="-228600">
              <a:lnSpc>
                <a:spcPct val="110000"/>
              </a:lnSpc>
              <a:spcBef>
                <a:spcPts val="0"/>
              </a:spcBef>
              <a:spcAft>
                <a:spcPts val="1200"/>
              </a:spcAft>
              <a:buChar char="•"/>
            </a:lvl7pPr>
            <a:lvl8pPr marL="2362200" indent="-228600">
              <a:lnSpc>
                <a:spcPct val="110000"/>
              </a:lnSpc>
              <a:spcBef>
                <a:spcPts val="0"/>
              </a:spcBef>
              <a:spcAft>
                <a:spcPts val="1200"/>
              </a:spcAft>
              <a:buChar char="•"/>
            </a:lvl8pPr>
            <a:lvl9pPr marL="2667000" indent="-228600">
              <a:lnSpc>
                <a:spcPct val="110000"/>
              </a:lnSpc>
              <a:spcBef>
                <a:spcPts val="0"/>
              </a:spcBef>
              <a:spcAft>
                <a:spcPts val="1200"/>
              </a:spcAft>
              <a:buChar cha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cc7418324096489c" /><Relationship Type="http://schemas.openxmlformats.org/officeDocument/2006/relationships/slideLayout" Target="/ppt/slideLayouts/slideLayout1.xml" Id="Rd319fd411db54ecb" /><Relationship Type="http://schemas.openxmlformats.org/officeDocument/2006/relationships/slideLayout" Target="/ppt/slideLayouts/slideLayout2.xml" Id="Rc74c122cb7cb4e66" /><Relationship Type="http://schemas.openxmlformats.org/officeDocument/2006/relationships/slideLayout" Target="/ppt/slideLayouts/slideLayout3.xml" Id="R72f014a5014e4619" /><Relationship Type="http://schemas.openxmlformats.org/officeDocument/2006/relationships/slideLayout" Target="/ppt/slideLayouts/slideLayout4.xml" Id="R7cb42f049db641a8" /><Relationship Type="http://schemas.openxmlformats.org/officeDocument/2006/relationships/slideLayout" Target="/ppt/slideLayouts/slideLayout5.xml" Id="Rccfea312dd62489d" /><Relationship Type="http://schemas.openxmlformats.org/officeDocument/2006/relationships/slideLayout" Target="/ppt/slideLayouts/slideLayout6.xml" Id="R99f52fccf2c648f8"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d319fd411db54ecb"/>
    <p:sldLayoutId xmlns:r="http://schemas.openxmlformats.org/officeDocument/2006/relationships" id="2147483650" r:id="Rc74c122cb7cb4e66"/>
    <p:sldLayoutId xmlns:r="http://schemas.openxmlformats.org/officeDocument/2006/relationships" id="2147483651" r:id="R72f014a5014e4619"/>
    <p:sldLayoutId xmlns:r="http://schemas.openxmlformats.org/officeDocument/2006/relationships" id="2147483652" r:id="R7cb42f049db641a8"/>
    <p:sldLayoutId xmlns:r="http://schemas.openxmlformats.org/officeDocument/2006/relationships" id="2147483653" r:id="Rccfea312dd62489d"/>
    <p:sldLayoutId xmlns:r="http://schemas.openxmlformats.org/officeDocument/2006/relationships" id="2147483654" r:id="R99f52fccf2c648f8"/>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72338c4627344548" /><Relationship Type="http://schemas.openxmlformats.org/officeDocument/2006/relationships/notesSlide" Target="/ppt/notesSlides/notesSlide1.xml" Id="Racf67998122242fb"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e8ff853ec79a4e18" /><Relationship Type="http://schemas.openxmlformats.org/officeDocument/2006/relationships/notesSlide" Target="/ppt/notesSlides/notesSlide2.xml" Id="R3c527a905f734f0b"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8d9f4113dfde4617" /><Relationship Type="http://schemas.openxmlformats.org/officeDocument/2006/relationships/notesSlide" Target="/ppt/notesSlides/notesSlide3.xml" Id="Rdefd9c6120c24a94"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73f8afc5057146a1" /><Relationship Type="http://schemas.openxmlformats.org/officeDocument/2006/relationships/notesSlide" Target="/ppt/notesSlides/notesSlide4.xml" Id="R419479037e5a4635"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84291dfdfb4e4e8d" /><Relationship Type="http://schemas.openxmlformats.org/officeDocument/2006/relationships/notesSlide" Target="/ppt/notesSlides/notesSlide5.xml" Id="Rfc5a9c0a816a4f88"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cb28dafadc5748dd" /><Relationship Type="http://schemas.openxmlformats.org/officeDocument/2006/relationships/notesSlide" Target="/ppt/notesSlides/notesSlide6.xml" Id="R0d948f7c1ead41ed"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0f366ada94a9491f" /><Relationship Type="http://schemas.openxmlformats.org/officeDocument/2006/relationships/notesSlide" Target="/ppt/notesSlides/notesSlide7.xml" Id="Ra956740bcdd542ed"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13c925922eec4b3a" /><Relationship Type="http://schemas.openxmlformats.org/officeDocument/2006/relationships/chart" Target="/ppt/slides/charts/chart1.xml" Id="R40bc7a25abfd4cbb" /><Relationship Type="http://schemas.openxmlformats.org/officeDocument/2006/relationships/chart" Target="/ppt/slides/charts/chart2.xml" Id="R6a42ef219ec84ea1" /><Relationship Type="http://schemas.openxmlformats.org/officeDocument/2006/relationships/notesSlide" Target="/ppt/notesSlides/notesSlide8.xml" Id="R83aef9e0385b4f2b"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d87bdd3e4f7d4603" /><Relationship Type="http://schemas.openxmlformats.org/officeDocument/2006/relationships/notesSlide" Target="/ppt/notesSlides/notesSlide9.xml" Id="R42f8995ecb3f48a4"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b25647129024d71" /><Relationship Type="http://schemas.openxmlformats.org/officeDocument/2006/relationships/notesSlide" Target="/ppt/notesSlides/notesSlide10.xml" Id="R7810f1985b0840c3"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f42d9a9201074a14" /><Relationship Type="http://schemas.openxmlformats.org/officeDocument/2006/relationships/notesSlide" Target="/ppt/notesSlides/notesSlide11.xml" Id="R7e602e04773e48d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d28d093c6dca4fae" /><Relationship Type="http://schemas.openxmlformats.org/officeDocument/2006/relationships/notesSlide" Target="/ppt/notesSlides/notesSlide12.xml" Id="R12eda4f89299479a"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85b50af7ff8a462d" /><Relationship Type="http://schemas.openxmlformats.org/officeDocument/2006/relationships/notesSlide" Target="/ppt/notesSlides/notesSlide13.xml" Id="Rc8757dd46b8a4273"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495407335e9b4a15" /><Relationship Type="http://schemas.openxmlformats.org/officeDocument/2006/relationships/chart" Target="/ppt/slides/charts/chart3.xml" Id="R360cae3223cc408a" /><Relationship Type="http://schemas.openxmlformats.org/officeDocument/2006/relationships/notesSlide" Target="/ppt/notesSlides/notesSlide14.xml" Id="R3d6c7ac065314e6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05d5b0203104142" /><Relationship Type="http://schemas.openxmlformats.org/officeDocument/2006/relationships/notesSlide" Target="/ppt/notesSlides/notesSlide15.xml" Id="R98678b5daa88461e"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3e1a838de784a2f" /><Relationship Type="http://schemas.openxmlformats.org/officeDocument/2006/relationships/chart" Target="/ppt/slides/charts/chart4.xml" Id="Rfa3005531be54925" /><Relationship Type="http://schemas.openxmlformats.org/officeDocument/2006/relationships/notesSlide" Target="/ppt/notesSlides/notesSlide16.xml" Id="Rf5116916cf464d97"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b155837d87b946d3" /><Relationship Type="http://schemas.openxmlformats.org/officeDocument/2006/relationships/image" Target="/ppt/media/image.png" Id="R867762db282f451a" /><Relationship Type="http://schemas.openxmlformats.org/officeDocument/2006/relationships/notesSlide" Target="/ppt/notesSlides/notesSlide17.xml" Id="Rd462bb47c66f4970"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2ef0e2f1f5694f29" /><Relationship Type="http://schemas.openxmlformats.org/officeDocument/2006/relationships/notesSlide" Target="/ppt/notesSlides/notesSlide18.xml" Id="Re238fdca7bd34af5"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a49e8a56a8ef4309" /><Relationship Type="http://schemas.openxmlformats.org/officeDocument/2006/relationships/notesSlide" Target="/ppt/notesSlides/notesSlide19.xml" Id="Rca4ccc43712049f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c5c6f9d9b01d42ae" /><Relationship Type="http://schemas.openxmlformats.org/officeDocument/2006/relationships/notesSlide" Target="/ppt/notesSlides/notesSlide20.xml" Id="R1103ac162178490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MAE</c:v>
          </c:tx>
          <c:spPr>
            <a:solidFill xmlns:a="http://schemas.openxmlformats.org/drawingml/2006/main">
              <a:srgbClr val="15734C"/>
            </a:solidFill>
          </c:spPr>
          <c:cat>
            <c:strRef>
              <c:f>'Chart Data'!$A$2:$A$5</c:f>
              <c:strCache>
                <c:ptCount val="4"/>
                <c:pt idx="0">
                  <c:v>기준선</c:v>
                </c:pt>
                <c:pt idx="1">
                  <c:v>XGBoost</c:v>
                </c:pt>
                <c:pt idx="2">
                  <c:v>CatBoost</c:v>
                </c:pt>
                <c:pt idx="3">
                  <c:v>LimiX</c:v>
                </c:pt>
              </c:strCache>
            </c:strRef>
          </c:cat>
          <c:val>
            <c:numRef>
              <c:f>'Chart Data'!$B$2:$B$5</c:f>
              <c:numCache>
                <c:formatCode>General</c:formatCode>
                <c:ptCount val="4"/>
                <c:pt idx="0">
                  <c:v>775.67</c:v>
                </c:pt>
                <c:pt idx="1">
                  <c:v>1241.64</c:v>
                </c:pt>
                <c:pt idx="2">
                  <c:v>1483.48</c:v>
                </c:pt>
                <c:pt idx="3">
                  <c:v>1440.97</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650">
                  <a:solidFill>
                    <a:srgbClr val="17392F"/>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17392F"/>
                </a:solidFill>
                <a:latin typeface="Malgun Gothic"/>
                <a:ea typeface="Malgun Gothic"/>
                <a:cs typeface="Malgun Gothic"/>
              </a:defRPr>
            </a:pPr>
          </a:p>
        </c:txPr>
        <c:crossAx val="48672768"/>
      </c:catAx>
      <c:valAx>
        <c:axId val="48672768"/>
        <c:scaling>
          <c:orientation val="minMax"/>
          <c:min val="0"/>
        </c:scaling>
        <c:delete val="0"/>
        <c:axPos val="l"/>
        <c:majorGridlines>
          <c:spPr>
            <a:ln xmlns:a="http://schemas.openxmlformats.org/drawingml/2006/main" w="9525">
              <a:solidFill>
                <a:srgbClr val="CAD8CC"/>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2736B"/>
                </a:solidFill>
                <a:latin typeface="Malgun Gothic"/>
                <a:ea typeface="Malgun Gothic"/>
                <a:cs typeface="Malgun Gothic"/>
              </a:defRPr>
            </a:pPr>
          </a:p>
        </c:txPr>
        <c:crossAx val="48650112"/>
        <c:crossBetween val="between"/>
      </c:valAx>
      <c:spPr>
        <a:solidFill xmlns:a="http://schemas.openxmlformats.org/drawingml/2006/main">
          <a:srgbClr val="FBFCF8"/>
        </a:solidFill>
      </c:spPr>
    </c:plotArea>
    <c:plotVisOnly val="1"/>
  </c:chart>
  <c:spPr>
    <a:solidFill xmlns:a="http://schemas.openxmlformats.org/drawingml/2006/main">
      <a:srgbClr val="FBFCF8"/>
    </a:solidFill>
    <a:ln xmlns:a="http://schemas.openxmlformats.org/drawingml/2006/main" w="0">
      <a:noFill/>
    </a:ln>
  </c:spPr>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MAE</c:v>
          </c:tx>
          <c:spPr>
            <a:solidFill xmlns:a="http://schemas.openxmlformats.org/drawingml/2006/main">
              <a:srgbClr val="D77126"/>
            </a:solidFill>
          </c:spPr>
          <c:cat>
            <c:strRef>
              <c:f>'Chart Data'!$A$2:$A$5</c:f>
              <c:strCache>
                <c:ptCount val="4"/>
                <c:pt idx="0">
                  <c:v>기준선</c:v>
                </c:pt>
                <c:pt idx="1">
                  <c:v>XGBoost</c:v>
                </c:pt>
                <c:pt idx="2">
                  <c:v>CatBoost</c:v>
                </c:pt>
                <c:pt idx="3">
                  <c:v>LimiX</c:v>
                </c:pt>
              </c:strCache>
            </c:strRef>
          </c:cat>
          <c:val>
            <c:numRef>
              <c:f>'Chart Data'!$B$2:$B$5</c:f>
              <c:numCache>
                <c:formatCode>General</c:formatCode>
                <c:ptCount val="4"/>
                <c:pt idx="0">
                  <c:v>20.51765</c:v>
                </c:pt>
                <c:pt idx="1">
                  <c:v>20.8078</c:v>
                </c:pt>
                <c:pt idx="2">
                  <c:v>22.4085</c:v>
                </c:pt>
                <c:pt idx="3">
                  <c:v>20.6272</c:v>
                </c:pt>
              </c:numCache>
            </c:numRef>
          </c:val>
        </c:ser>
        <c:dLbls>
          <c:numFmt formatCode="0.0" sourceLinked="0"/>
          <c:txPr>
            <a:bodyPr xmlns:a="http://schemas.openxmlformats.org/drawingml/2006/main" anchorCtr="1"/>
            <a:lstStyle xmlns:a="http://schemas.openxmlformats.org/drawingml/2006/main"/>
            <a:p xmlns:a="http://schemas.openxmlformats.org/drawingml/2006/main">
              <a:pPr>
                <a:defRPr sz="1650">
                  <a:solidFill>
                    <a:srgbClr val="17392F"/>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9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17392F"/>
                </a:solidFill>
                <a:latin typeface="Malgun Gothic"/>
                <a:ea typeface="Malgun Gothic"/>
                <a:cs typeface="Malgun Gothic"/>
              </a:defRPr>
            </a:pPr>
          </a:p>
        </c:txPr>
        <c:crossAx val="48672768"/>
      </c:catAx>
      <c:valAx>
        <c:axId val="48672768"/>
        <c:scaling>
          <c:orientation val="minMax"/>
          <c:min val="0"/>
        </c:scaling>
        <c:delete val="0"/>
        <c:axPos val="l"/>
        <c:majorGridlines>
          <c:spPr>
            <a:ln xmlns:a="http://schemas.openxmlformats.org/drawingml/2006/main" w="9525">
              <a:solidFill>
                <a:srgbClr val="CAD8CC"/>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2736B"/>
                </a:solidFill>
                <a:latin typeface="Malgun Gothic"/>
                <a:ea typeface="Malgun Gothic"/>
                <a:cs typeface="Malgun Gothic"/>
              </a:defRPr>
            </a:pPr>
          </a:p>
        </c:txPr>
        <c:crossAx val="48650112"/>
        <c:crossBetween val="between"/>
      </c:valAx>
      <c:spPr>
        <a:solidFill xmlns:a="http://schemas.openxmlformats.org/drawingml/2006/main">
          <a:srgbClr val="FBFCF8"/>
        </a:solidFill>
      </c:spPr>
    </c:plotArea>
    <c:plotVisOnly val="1"/>
  </c:chart>
  <c:spPr>
    <a:solidFill xmlns:a="http://schemas.openxmlformats.org/drawingml/2006/main">
      <a:srgbClr val="FBFCF8"/>
    </a:solidFill>
    <a:ln xmlns:a="http://schemas.openxmlformats.org/drawingml/2006/main" w="0">
      <a:noFill/>
    </a:ln>
  </c:spPr>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lineChart>
        <c:grouping val="standard"/>
        <c:varyColors val="0"/>
        <c:ser>
          <c:idx val="0"/>
          <c:order val="0"/>
          <c:tx>
            <c:v>불리</c:v>
          </c:tx>
          <c:spPr>
            <a:ln xmlns:a="http://schemas.openxmlformats.org/drawingml/2006/main" w="28575">
              <a:solidFill>
                <a:srgbClr val="A95143"/>
              </a:solidFill>
              <a:prstDash val="solid"/>
            </a:ln>
          </c:spPr>
          <c:marker>
            <c:symbol val="none"/>
          </c:marker>
          <c:cat>
            <c:strRef>
              <c:f>'Chart Data'!$A$2:$A$12</c:f>
              <c:strCache>
                <c:ptCount val="11"/>
                <c:pt idx="0">
                  <c:v>0년</c:v>
                </c:pt>
                <c:pt idx="1">
                  <c:v>1년</c:v>
                </c:pt>
                <c:pt idx="2">
                  <c:v>2년</c:v>
                </c:pt>
                <c:pt idx="3">
                  <c:v>3년</c:v>
                </c:pt>
                <c:pt idx="4">
                  <c:v>4년</c:v>
                </c:pt>
                <c:pt idx="5">
                  <c:v>5년</c:v>
                </c:pt>
                <c:pt idx="6">
                  <c:v>6년</c:v>
                </c:pt>
                <c:pt idx="7">
                  <c:v>7년</c:v>
                </c:pt>
                <c:pt idx="8">
                  <c:v>8년</c:v>
                </c:pt>
                <c:pt idx="9">
                  <c:v>9년</c:v>
                </c:pt>
                <c:pt idx="10">
                  <c:v>10년</c:v>
                </c:pt>
              </c:strCache>
            </c:strRef>
          </c:cat>
          <c:val>
            <c:numRef>
              <c:f>'Chart Data'!$B$2:$B$12</c:f>
              <c:numCache>
                <c:formatCode>#,##0</c:formatCode>
                <c:ptCount val="11"/>
                <c:pt idx="0">
                  <c:v>-11253.03</c:v>
                </c:pt>
                <c:pt idx="1">
                  <c:v>-10395.22</c:v>
                </c:pt>
                <c:pt idx="2">
                  <c:v>-9537.41</c:v>
                </c:pt>
                <c:pt idx="3">
                  <c:v>-8679.6</c:v>
                </c:pt>
                <c:pt idx="4">
                  <c:v>-7821.79</c:v>
                </c:pt>
                <c:pt idx="5">
                  <c:v>-6963.98</c:v>
                </c:pt>
                <c:pt idx="6">
                  <c:v>-6106.17</c:v>
                </c:pt>
                <c:pt idx="7">
                  <c:v>-5248.36</c:v>
                </c:pt>
                <c:pt idx="8">
                  <c:v>-4390.55</c:v>
                </c:pt>
                <c:pt idx="9">
                  <c:v>-3532.74</c:v>
                </c:pt>
                <c:pt idx="10">
                  <c:v>-2674.93</c:v>
                </c:pt>
              </c:numCache>
            </c:numRef>
          </c:val>
        </c:ser>
        <c:ser>
          <c:idx val="1"/>
          <c:order val="1"/>
          <c:tx>
            <c:v>기준</c:v>
          </c:tx>
          <c:spPr>
            <a:ln xmlns:a="http://schemas.openxmlformats.org/drawingml/2006/main" w="28575">
              <a:solidFill>
                <a:srgbClr val="15734C"/>
              </a:solidFill>
              <a:prstDash val="solid"/>
            </a:ln>
          </c:spPr>
          <c:marker>
            <c:symbol val="none"/>
          </c:marker>
          <c:cat>
            <c:strRef>
              <c:f>'Chart Data'!$C$2:$C$12</c:f>
              <c:strCache>
                <c:ptCount val="11"/>
                <c:pt idx="0">
                  <c:v>0년</c:v>
                </c:pt>
                <c:pt idx="1">
                  <c:v>1년</c:v>
                </c:pt>
                <c:pt idx="2">
                  <c:v>2년</c:v>
                </c:pt>
                <c:pt idx="3">
                  <c:v>3년</c:v>
                </c:pt>
                <c:pt idx="4">
                  <c:v>4년</c:v>
                </c:pt>
                <c:pt idx="5">
                  <c:v>5년</c:v>
                </c:pt>
                <c:pt idx="6">
                  <c:v>6년</c:v>
                </c:pt>
                <c:pt idx="7">
                  <c:v>7년</c:v>
                </c:pt>
                <c:pt idx="8">
                  <c:v>8년</c:v>
                </c:pt>
                <c:pt idx="9">
                  <c:v>9년</c:v>
                </c:pt>
                <c:pt idx="10">
                  <c:v>10년</c:v>
                </c:pt>
              </c:strCache>
            </c:strRef>
          </c:cat>
          <c:val>
            <c:numRef>
              <c:f>'Chart Data'!$D$2:$D$12</c:f>
              <c:numCache>
                <c:formatCode>#,##0</c:formatCode>
                <c:ptCount val="11"/>
                <c:pt idx="0">
                  <c:v>-11253.03</c:v>
                </c:pt>
                <c:pt idx="1">
                  <c:v>-9217.54</c:v>
                </c:pt>
                <c:pt idx="2">
                  <c:v>-7182.06</c:v>
                </c:pt>
                <c:pt idx="3">
                  <c:v>-5146.57</c:v>
                </c:pt>
                <c:pt idx="4">
                  <c:v>-3111.09</c:v>
                </c:pt>
                <c:pt idx="5">
                  <c:v>-1075.6</c:v>
                </c:pt>
                <c:pt idx="6">
                  <c:v>959.89</c:v>
                </c:pt>
                <c:pt idx="7">
                  <c:v>2995.37</c:v>
                </c:pt>
                <c:pt idx="8">
                  <c:v>5030.86</c:v>
                </c:pt>
                <c:pt idx="9">
                  <c:v>7066.35</c:v>
                </c:pt>
                <c:pt idx="10">
                  <c:v>9101.83</c:v>
                </c:pt>
              </c:numCache>
            </c:numRef>
          </c:val>
        </c:ser>
        <c:ser>
          <c:idx val="2"/>
          <c:order val="2"/>
          <c:tx>
            <c:v>유리</c:v>
          </c:tx>
          <c:spPr>
            <a:ln xmlns:a="http://schemas.openxmlformats.org/drawingml/2006/main" w="28575">
              <a:solidFill>
                <a:srgbClr val="D77126"/>
              </a:solidFill>
              <a:prstDash val="solid"/>
            </a:ln>
          </c:spPr>
          <c:marker>
            <c:symbol val="none"/>
          </c:marker>
          <c:cat>
            <c:strRef>
              <c:f>'Chart Data'!$E$2:$E$12</c:f>
              <c:strCache>
                <c:ptCount val="11"/>
                <c:pt idx="0">
                  <c:v>0년</c:v>
                </c:pt>
                <c:pt idx="1">
                  <c:v>1년</c:v>
                </c:pt>
                <c:pt idx="2">
                  <c:v>2년</c:v>
                </c:pt>
                <c:pt idx="3">
                  <c:v>3년</c:v>
                </c:pt>
                <c:pt idx="4">
                  <c:v>4년</c:v>
                </c:pt>
                <c:pt idx="5">
                  <c:v>5년</c:v>
                </c:pt>
                <c:pt idx="6">
                  <c:v>6년</c:v>
                </c:pt>
                <c:pt idx="7">
                  <c:v>7년</c:v>
                </c:pt>
                <c:pt idx="8">
                  <c:v>8년</c:v>
                </c:pt>
                <c:pt idx="9">
                  <c:v>9년</c:v>
                </c:pt>
                <c:pt idx="10">
                  <c:v>10년</c:v>
                </c:pt>
              </c:strCache>
            </c:strRef>
          </c:cat>
          <c:val>
            <c:numRef>
              <c:f>'Chart Data'!$F$2:$F$12</c:f>
              <c:numCache>
                <c:formatCode>#,##0</c:formatCode>
                <c:ptCount val="11"/>
                <c:pt idx="0">
                  <c:v>-11253.03</c:v>
                </c:pt>
                <c:pt idx="1">
                  <c:v>-7894.48</c:v>
                </c:pt>
                <c:pt idx="2">
                  <c:v>-4535.92</c:v>
                </c:pt>
                <c:pt idx="3">
                  <c:v>-1177.37</c:v>
                </c:pt>
                <c:pt idx="4">
                  <c:v>2181.19</c:v>
                </c:pt>
                <c:pt idx="5">
                  <c:v>5539.74</c:v>
                </c:pt>
                <c:pt idx="6">
                  <c:v>8898.3</c:v>
                </c:pt>
                <c:pt idx="7">
                  <c:v>12256.85</c:v>
                </c:pt>
                <c:pt idx="8">
                  <c:v>15615.41</c:v>
                </c:pt>
                <c:pt idx="9">
                  <c:v>18973.96</c:v>
                </c:pt>
                <c:pt idx="10">
                  <c:v>22332.52</c:v>
                </c:pt>
              </c:numCache>
            </c:numRef>
          </c:val>
        </c:ser>
        <c:dLbls>
          <c:txPr>
            <a:bodyPr xmlns:a="http://schemas.openxmlformats.org/drawingml/2006/main" anchorCtr="1"/>
            <a:lstStyle xmlns:a="http://schemas.openxmlformats.org/drawingml/2006/main"/>
            <a:p xmlns:a="http://schemas.openxmlformats.org/drawingml/2006/main">
              <a:pPr>
                <a:defRPr>
                  <a:latin typeface="Malgun Gothic"/>
                  <a:ea typeface="Malgun Gothic"/>
                  <a:cs typeface="Malgun Gothic"/>
                </a:defRPr>
              </a:pPr>
            </a:p>
          </c:txPr>
          <c:showLegendKey val="0"/>
          <c:showVal val="0"/>
          <c:showCatName val="0"/>
          <c:showSerName val="0"/>
          <c:showPercent val="0"/>
          <c:showBubbleSize val="0"/>
          <c:showLeaderLines val="0"/>
        </c:dLbls>
        <c:axId val="48650112"/>
        <c:axId val="48672768"/>
      </c:lineChart>
      <c:catAx>
        <c:axId val="48650112"/>
        <c:scaling>
          <c:orientation val="minMax"/>
        </c:scaling>
        <c:delete val="0"/>
        <c:axPos val="b"/>
        <c:numFmt formatCode="General"/>
        <c:majorTickMark val="none"/>
        <c:minorTickMark val="none"/>
        <c:tickLblPos val="low"/>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17392F"/>
                </a:solidFill>
                <a:latin typeface="Malgun Gothic"/>
                <a:ea typeface="Malgun Gothic"/>
                <a:cs typeface="Malgun Gothic"/>
              </a:defRPr>
            </a:pPr>
          </a:p>
        </c:txPr>
        <c:crossAx val="48672768"/>
      </c:catAx>
      <c:valAx>
        <c:axId val="48672768"/>
        <c:scaling>
          <c:orientation val="minMax"/>
        </c:scaling>
        <c:delete val="0"/>
        <c:axPos val="l"/>
        <c:majorGridlines>
          <c:spPr>
            <a:ln xmlns:a="http://schemas.openxmlformats.org/drawingml/2006/main" w="9525">
              <a:solidFill>
                <a:srgbClr val="CAD8CC"/>
              </a:solidFill>
            </a:ln>
          </c:spPr>
        </c:majorGridlines>
        <c:title>
          <c:tx>
            <c:rich>
              <a:bodyPr xmlns:a="http://schemas.openxmlformats.org/drawingml/2006/main"/>
              <a:lstStyle xmlns:a="http://schemas.openxmlformats.org/drawingml/2006/main"/>
              <a:p xmlns:a="http://schemas.openxmlformats.org/drawingml/2006/main">
                <a:r>
                  <a:rPr>
                    <a:latin typeface="Malgun Gothic"/>
                    <a:ea typeface="Malgun Gothic"/>
                    <a:cs typeface="Malgun Gothic"/>
                  </a:rPr>
                  <a:t>누적 현금흐름 (만원)</a:t>
                </a:r>
              </a:p>
            </c:rich>
          </c:tx>
          <c:overlay val="0"/>
          <c:txPr>
            <a:bodyPr xmlns:a="http://schemas.openxmlformats.org/drawingml/2006/main" anchorCtr="1"/>
            <a:lstStyle xmlns:a="http://schemas.openxmlformats.org/drawingml/2006/main"/>
            <a:p xmlns:a="http://schemas.openxmlformats.org/drawingml/2006/main">
              <a:pPr>
                <a:defRPr>
                  <a:latin typeface="Malgun Gothic"/>
                  <a:ea typeface="Malgun Gothic"/>
                  <a:cs typeface="Malgun Gothic"/>
                </a:defRPr>
              </a:pPr>
            </a:p>
          </c:txPr>
        </c:title>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425">
                <a:solidFill>
                  <a:srgbClr val="62736B"/>
                </a:solidFill>
                <a:latin typeface="Malgun Gothic"/>
                <a:ea typeface="Malgun Gothic"/>
                <a:cs typeface="Malgun Gothic"/>
              </a:defRPr>
            </a:pPr>
          </a:p>
        </c:txPr>
        <c:crossAx val="48650112"/>
        <c:crossBetween val="between"/>
      </c:valAx>
      <c:spPr>
        <a:solidFill xmlns:a="http://schemas.openxmlformats.org/drawingml/2006/main">
          <a:srgbClr val="FBFCF8"/>
        </a:solidFill>
      </c:spPr>
    </c:plotArea>
    <c:legend>
      <c:legendPos val="r"/>
      <c:overlay val="0"/>
      <c:txPr>
        <a:bodyPr xmlns:a="http://schemas.openxmlformats.org/drawingml/2006/main" anchorCtr="1"/>
        <a:lstStyle xmlns:a="http://schemas.openxmlformats.org/drawingml/2006/main"/>
        <a:p xmlns:a="http://schemas.openxmlformats.org/drawingml/2006/main">
          <a:pPr>
            <a:defRPr sz="1800">
              <a:solidFill>
                <a:srgbClr val="17392F"/>
              </a:solidFill>
              <a:latin typeface="Malgun Gothic"/>
              <a:ea typeface="Malgun Gothic"/>
              <a:cs typeface="Malgun Gothic"/>
            </a:defRPr>
          </a:pPr>
        </a:p>
      </c:txPr>
    </c:legend>
    <c:plotVisOnly val="1"/>
  </c:chart>
  <c:spPr>
    <a:solidFill xmlns:a="http://schemas.openxmlformats.org/drawingml/2006/main">
      <a:srgbClr val="FBFCF8"/>
    </a:solidFill>
    <a:ln xmlns:a="http://schemas.openxmlformats.org/drawingml/2006/main" w="0">
      <a:noFill/>
    </a:ln>
  </c:spPr>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MAE</c:v>
          </c:tx>
          <c:spPr>
            <a:solidFill xmlns:a="http://schemas.openxmlformats.org/drawingml/2006/main">
              <a:srgbClr val="15734C"/>
            </a:solidFill>
          </c:spPr>
          <c:cat>
            <c:strRef>
              <c:f>'Chart Data'!$A$2:$A$5</c:f>
              <c:strCache>
                <c:ptCount val="4"/>
                <c:pt idx="0">
                  <c:v>현재 값
유지</c:v>
                </c:pt>
                <c:pt idx="1">
                  <c:v>생육만
CatBoost</c:v>
                </c:pt>
                <c:pt idx="2">
                  <c:v>생육+환경
CatBoost</c:v>
                </c:pt>
                <c:pt idx="3">
                  <c:v>생육+환경
XGBoost</c:v>
                </c:pt>
              </c:strCache>
            </c:strRef>
          </c:cat>
          <c:val>
            <c:numRef>
              <c:f>'Chart Data'!$B$2:$B$5</c:f>
              <c:numCache>
                <c:formatCode>General</c:formatCode>
                <c:ptCount val="4"/>
                <c:pt idx="0">
                  <c:v>36.08</c:v>
                </c:pt>
                <c:pt idx="1">
                  <c:v>32.61</c:v>
                </c:pt>
                <c:pt idx="2">
                  <c:v>34.79</c:v>
                </c:pt>
                <c:pt idx="3">
                  <c:v>34.59</c:v>
                </c:pt>
              </c:numCache>
            </c:numRef>
          </c:val>
        </c:ser>
        <c:dLbls>
          <c:numFmt formatCode="0.00" sourceLinked="0"/>
          <c:txPr>
            <a:bodyPr xmlns:a="http://schemas.openxmlformats.org/drawingml/2006/main" anchorCtr="1"/>
            <a:lstStyle xmlns:a="http://schemas.openxmlformats.org/drawingml/2006/main"/>
            <a:p xmlns:a="http://schemas.openxmlformats.org/drawingml/2006/main">
              <a:pPr>
                <a:defRPr sz="1725">
                  <a:solidFill>
                    <a:srgbClr val="17392F"/>
                  </a:solidFill>
                  <a:latin typeface="Malgun Gothic"/>
                  <a:ea typeface="Malgun Gothic"/>
                  <a:cs typeface="Malgun Gothic"/>
                </a:defRPr>
              </a:pPr>
            </a:p>
          </c:txPr>
          <c:dLblPos val="outEnd"/>
          <c:showLegendKey val="0"/>
          <c:showVal val="1"/>
          <c:showCatName val="0"/>
          <c:showSerName val="0"/>
          <c:showPercent val="0"/>
          <c:showBubbleSize val="0"/>
          <c:showLeaderLines val="0"/>
        </c:dLbls>
        <c:gapWidth val="72"/>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17392F"/>
                </a:solidFill>
                <a:latin typeface="Malgun Gothic"/>
                <a:ea typeface="Malgun Gothic"/>
                <a:cs typeface="Malgun Gothic"/>
              </a:defRPr>
            </a:pPr>
          </a:p>
        </c:txPr>
        <c:crossAx val="48672768"/>
      </c:catAx>
      <c:valAx>
        <c:axId val="48672768"/>
        <c:scaling>
          <c:orientation val="minMax"/>
          <c:min val="0"/>
        </c:scaling>
        <c:delete val="0"/>
        <c:axPos val="l"/>
        <c:majorGridlines>
          <c:spPr>
            <a:ln xmlns:a="http://schemas.openxmlformats.org/drawingml/2006/main" w="9525">
              <a:solidFill>
                <a:srgbClr val="CAD8CC"/>
              </a:solidFill>
            </a:ln>
          </c:spPr>
        </c:majorGridlines>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350">
                <a:solidFill>
                  <a:srgbClr val="62736B"/>
                </a:solidFill>
                <a:latin typeface="Malgun Gothic"/>
                <a:ea typeface="Malgun Gothic"/>
                <a:cs typeface="Malgun Gothic"/>
              </a:defRPr>
            </a:pPr>
          </a:p>
        </c:txPr>
        <c:crossAx val="48650112"/>
        <c:crossBetween val="between"/>
      </c:valAx>
      <c:spPr>
        <a:solidFill xmlns:a="http://schemas.openxmlformats.org/drawingml/2006/main">
          <a:srgbClr val="FBFCF8"/>
        </a:solidFill>
      </c:spPr>
    </c:plotArea>
    <c:plotVisOnly val="1"/>
  </c:chart>
  <c:spPr>
    <a:solidFill xmlns:a="http://schemas.openxmlformats.org/drawingml/2006/main">
      <a:srgbClr val="FBFCF8"/>
    </a:solidFill>
    <a:ln xmlns:a="http://schemas.openxmlformats.org/drawingml/2006/main" w="0">
      <a:noFill/>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5734C"/>
        </a:solidFill>
      </p:bgPr>
    </p:bg>
    <p:spTree>
      <p:nvGrpSpPr>
        <p:cNvPr id="1" name=""/>
        <p:cNvGrpSpPr/>
        <p:nvPr/>
      </p:nvGrpSpPr>
      <p:grpSpPr>
        <a:xfrm xmlns:a="http://schemas.openxmlformats.org/drawingml/2006/main"/>
      </p:grpSpPr>
      <p:sp>
        <p:nvSpPr>
          <p:cNvPr id="5" name="스마트팜 도입&#10;시뮬레이터">
            <a:extLst xmlns:a="http://schemas.openxmlformats.org/drawingml/2006/main">
              <a:ext uri="{FF2B5EF4-FFF2-40B4-BE49-F238E27FC236}">
                <a16:creationId xmlns:a16="http://schemas.microsoft.com/office/drawing/2014/main" id="{0D29B662-16EE-4294-9EEF-14FF225FA308}"/>
              </a:ext>
            </a:extLst>
          </p:cNvPr>
          <p:cNvSpPr>
            <a:spLocks xmlns:a="http://schemas.openxmlformats.org/drawingml/2006/main" noGrp="1"/>
          </p:cNvSpPr>
          <p:nvPr/>
        </p:nvSpPr>
        <p:spPr>
          <a:xfrm xmlns:a="http://schemas.openxmlformats.org/drawingml/2006/main">
            <a:off x="685800" y="1257300"/>
            <a:ext cx="10287000" cy="1885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5400" b="1">
                <a:solidFill>
                  <a:srgbClr val="FFFFFF"/>
                </a:solidFill>
                <a:latin typeface="Malgun Gothic"/>
                <a:ea typeface="Malgun Gothic"/>
                <a:cs typeface="Malgun Gothic"/>
              </a:defRPr>
            </a:defPPr>
          </a:lstStyle>
          <a:p xmlns:a="http://schemas.openxmlformats.org/drawingml/2006/main">
            <a:pPr algn="l">
              <a:defRPr sz="5400" b="1">
                <a:solidFill>
                  <a:srgbClr val="FFFFFF"/>
                </a:solidFill>
                <a:latin typeface="Malgun Gothic"/>
                <a:ea typeface="Malgun Gothic"/>
                <a:cs typeface="Malgun Gothic"/>
              </a:defRPr>
            </a:pPr>
            <a:r>
              <a:rPr sz="5400" b="1">
                <a:solidFill>
                  <a:srgbClr val="FFFFFF"/>
                </a:solidFill>
                <a:latin typeface="Malgun Gothic"/>
                <a:ea typeface="Malgun Gothic"/>
                <a:cs typeface="Malgun Gothic"/>
              </a:rPr>
              <a:t>스마트팜 도입</a:t>
            </a:r>
          </a:p>
          <a:p xmlns:a="http://schemas.openxmlformats.org/drawingml/2006/main">
            <a:pPr algn="l">
              <a:defRPr sz="5400" b="1">
                <a:solidFill>
                  <a:srgbClr val="FFFFFF"/>
                </a:solidFill>
                <a:latin typeface="Malgun Gothic"/>
                <a:ea typeface="Malgun Gothic"/>
                <a:cs typeface="Malgun Gothic"/>
              </a:defRPr>
            </a:pPr>
            <a:r>
              <a:rPr sz="5400" b="1">
                <a:solidFill>
                  <a:srgbClr val="FFFFFF"/>
                </a:solidFill>
                <a:latin typeface="Malgun Gothic"/>
                <a:ea typeface="Malgun Gothic"/>
                <a:cs typeface="Malgun Gothic"/>
              </a:rPr>
              <a:t>시뮬레이터</a:t>
            </a:r>
          </a:p>
        </p:txBody>
      </p:sp>
      <p:sp>
        <p:nvSpPr>
          <p:cNvPr id="2" name="작물·지역·규모·설비를 바꿔&#10;생산과 비용의 조건을 비교하는 의">
            <a:extLst xmlns:a="http://schemas.openxmlformats.org/drawingml/2006/main">
              <a:ext uri="{FF2B5EF4-FFF2-40B4-BE49-F238E27FC236}">
                <a16:creationId xmlns:a16="http://schemas.microsoft.com/office/drawing/2014/main" id="{DE259F03-9D7E-4B07-B25F-2702AE48C75C}"/>
              </a:ext>
            </a:extLst>
          </p:cNvPr>
          <p:cNvSpPr>
            <a:spLocks xmlns:a="http://schemas.openxmlformats.org/drawingml/2006/main" noGrp="1"/>
          </p:cNvSpPr>
          <p:nvPr/>
        </p:nvSpPr>
        <p:spPr>
          <a:xfrm xmlns:a="http://schemas.openxmlformats.org/drawingml/2006/main">
            <a:off x="742950" y="3571875"/>
            <a:ext cx="9906000" cy="1104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00" b="0">
                <a:solidFill>
                  <a:srgbClr val="FFFFFF"/>
                </a:solidFill>
                <a:latin typeface="Malgun Gothic"/>
                <a:ea typeface="Malgun Gothic"/>
                <a:cs typeface="Malgun Gothic"/>
              </a:defRPr>
            </a:defPPr>
          </a:lstStyle>
          <a:p xmlns:a="http://schemas.openxmlformats.org/drawingml/2006/main">
            <a:pPr algn="l">
              <a:defRPr sz="2400" b="0">
                <a:solidFill>
                  <a:srgbClr val="FFFFFF"/>
                </a:solidFill>
                <a:latin typeface="Malgun Gothic"/>
                <a:ea typeface="Malgun Gothic"/>
                <a:cs typeface="Malgun Gothic"/>
              </a:defRPr>
            </a:pPr>
            <a:r>
              <a:rPr sz="2400" b="0">
                <a:solidFill>
                  <a:srgbClr val="FFFFFF"/>
                </a:solidFill>
                <a:latin typeface="Malgun Gothic"/>
                <a:ea typeface="Malgun Gothic"/>
                <a:cs typeface="Malgun Gothic"/>
              </a:rPr>
              <a:t>작물·지역·규모·설비를 바꿔</a:t>
            </a:r>
          </a:p>
          <a:p xmlns:a="http://schemas.openxmlformats.org/drawingml/2006/main">
            <a:pPr algn="l">
              <a:defRPr sz="2400" b="0">
                <a:solidFill>
                  <a:srgbClr val="FFFFFF"/>
                </a:solidFill>
                <a:latin typeface="Malgun Gothic"/>
                <a:ea typeface="Malgun Gothic"/>
                <a:cs typeface="Malgun Gothic"/>
              </a:defRPr>
            </a:pPr>
            <a:r>
              <a:rPr sz="2400" b="0">
                <a:solidFill>
                  <a:srgbClr val="FFFFFF"/>
                </a:solidFill>
                <a:latin typeface="Malgun Gothic"/>
                <a:ea typeface="Malgun Gothic"/>
                <a:cs typeface="Malgun Gothic"/>
              </a:rPr>
              <a:t>생산과 비용의 조건을 비교하는 의사결정 도구</a:t>
            </a:r>
          </a:p>
        </p:txBody>
      </p:sp>
      <p:sp>
        <p:nvSpPr>
          <p:cNvPr id="3" name="공개자료 실험 + 안심구역 현장 실행 계획">
            <a:extLst xmlns:a="http://schemas.openxmlformats.org/drawingml/2006/main">
              <a:ext uri="{FF2B5EF4-FFF2-40B4-BE49-F238E27FC236}">
                <a16:creationId xmlns:a16="http://schemas.microsoft.com/office/drawing/2014/main" id="{2D3F2B89-9689-4999-8187-6D51DD30042A}"/>
              </a:ext>
            </a:extLst>
          </p:cNvPr>
          <p:cNvSpPr>
            <a:spLocks xmlns:a="http://schemas.openxmlformats.org/drawingml/2006/main" noGrp="1"/>
          </p:cNvSpPr>
          <p:nvPr/>
        </p:nvSpPr>
        <p:spPr>
          <a:xfrm xmlns:a="http://schemas.openxmlformats.org/drawingml/2006/main">
            <a:off x="742950" y="5476875"/>
            <a:ext cx="1000125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FFFFFF"/>
                </a:solidFill>
                <a:latin typeface="Malgun Gothic"/>
                <a:ea typeface="Malgun Gothic"/>
                <a:cs typeface="Malgun Gothic"/>
              </a:defRPr>
            </a:defPPr>
          </a:lstStyle>
          <a:p xmlns:a="http://schemas.openxmlformats.org/drawingml/2006/main">
            <a:pPr algn="l">
              <a:defRPr sz="1800" b="0">
                <a:solidFill>
                  <a:srgbClr val="FFFFFF"/>
                </a:solidFill>
                <a:latin typeface="Malgun Gothic"/>
                <a:ea typeface="Malgun Gothic"/>
                <a:cs typeface="Malgun Gothic"/>
              </a:defRPr>
            </a:pPr>
            <a:r>
              <a:rPr sz="1800" b="0">
                <a:solidFill>
                  <a:srgbClr val="FFFFFF"/>
                </a:solidFill>
                <a:latin typeface="Malgun Gothic"/>
                <a:ea typeface="Malgun Gothic"/>
                <a:cs typeface="Malgun Gothic"/>
              </a:rPr>
              <a:t>공개자료 실험 + 안심구역 현장 실행 계획</a:t>
            </a:r>
          </a:p>
        </p:txBody>
      </p:sp>
      <p:sp>
        <p:nvSpPr>
          <p:cNvPr id="4" name="2026.10  기획 및 프로토타입">
            <a:extLst xmlns:a="http://schemas.openxmlformats.org/drawingml/2006/main">
              <a:ext uri="{FF2B5EF4-FFF2-40B4-BE49-F238E27FC236}">
                <a16:creationId xmlns:a16="http://schemas.microsoft.com/office/drawing/2014/main" id="{6F2C3B7F-9AB5-452C-88AF-5BFD0BA1A4F3}"/>
              </a:ext>
            </a:extLst>
          </p:cNvPr>
          <p:cNvSpPr>
            <a:spLocks xmlns:a="http://schemas.openxmlformats.org/drawingml/2006/main" noGrp="1"/>
          </p:cNvSpPr>
          <p:nvPr/>
        </p:nvSpPr>
        <p:spPr>
          <a:xfrm xmlns:a="http://schemas.openxmlformats.org/drawingml/2006/main">
            <a:off x="742950" y="6096000"/>
            <a:ext cx="10001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425" b="0">
                <a:solidFill>
                  <a:srgbClr val="D8ECDF"/>
                </a:solidFill>
                <a:latin typeface="Malgun Gothic"/>
                <a:ea typeface="Malgun Gothic"/>
                <a:cs typeface="Malgun Gothic"/>
              </a:defRPr>
            </a:defPPr>
          </a:lstStyle>
          <a:p xmlns:a="http://schemas.openxmlformats.org/drawingml/2006/main">
            <a:pPr algn="l">
              <a:defRPr sz="1425" b="0">
                <a:solidFill>
                  <a:srgbClr val="D8ECDF"/>
                </a:solidFill>
                <a:latin typeface="Malgun Gothic"/>
                <a:ea typeface="Malgun Gothic"/>
                <a:cs typeface="Malgun Gothic"/>
              </a:defRPr>
            </a:pPr>
            <a:r>
              <a:rPr sz="1425" b="0">
                <a:solidFill>
                  <a:srgbClr val="D8ECDF"/>
                </a:solidFill>
                <a:latin typeface="Malgun Gothic"/>
                <a:ea typeface="Malgun Gothic"/>
                <a:cs typeface="Malgun Gothic"/>
              </a:rPr>
              <a:t>2026.10  기획 및 프로토타입</a:t>
            </a:r>
          </a:p>
        </p:txBody>
      </p:sp>
    </p:spTree>
    <p:extLst>
      <p:ext uri="{BB962C8B-B14F-4D97-AF65-F5344CB8AC3E}">
        <p14:creationId xmlns:p14="http://schemas.microsoft.com/office/powerpoint/2010/main" val="903179870"/>
      </p:ext>
    </p:extLst>
  </p:cSld>
</p:sld>
</file>

<file path=ppt/slides/slide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9" name="도입 전에 비교할 질문">
            <a:extLst xmlns:a="http://schemas.openxmlformats.org/drawingml/2006/main">
              <a:ext uri="{FF2B5EF4-FFF2-40B4-BE49-F238E27FC236}">
                <a16:creationId xmlns:a16="http://schemas.microsoft.com/office/drawing/2014/main" id="{5187348C-A7F7-4345-AC62-09E810183CE4}"/>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도입 전에 비교할 질문</a:t>
            </a:r>
          </a:p>
        </p:txBody>
      </p:sp>
      <p:sp>
        <p:nvSpPr>
          <p:cNvPr id="2" name="">
            <a:extLst xmlns:a="http://schemas.openxmlformats.org/drawingml/2006/main">
              <a:ext uri="{FF2B5EF4-FFF2-40B4-BE49-F238E27FC236}">
                <a16:creationId xmlns:a16="http://schemas.microsoft.com/office/drawing/2014/main" id="{3DF67C70-5060-4DEC-A24F-0A859955487F}"/>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02">
            <a:extLst xmlns:a="http://schemas.openxmlformats.org/drawingml/2006/main">
              <a:ext uri="{FF2B5EF4-FFF2-40B4-BE49-F238E27FC236}">
                <a16:creationId xmlns:a16="http://schemas.microsoft.com/office/drawing/2014/main" id="{B8F9AEC7-7949-4A62-A8F7-E10A903828B5}"/>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02</a:t>
            </a:r>
          </a:p>
        </p:txBody>
      </p:sp>
      <p:sp>
        <p:nvSpPr>
          <p:cNvPr id="4" name="사용자 입력">
            <a:extLst xmlns:a="http://schemas.openxmlformats.org/drawingml/2006/main">
              <a:ext uri="{FF2B5EF4-FFF2-40B4-BE49-F238E27FC236}">
                <a16:creationId xmlns:a16="http://schemas.microsoft.com/office/drawing/2014/main" id="{6D5781EA-04E8-4122-B7DF-3450999E2915}"/>
              </a:ext>
            </a:extLst>
          </p:cNvPr>
          <p:cNvSpPr>
            <a:spLocks xmlns:a="http://schemas.openxmlformats.org/drawingml/2006/main" noGrp="1"/>
          </p:cNvSpPr>
          <p:nvPr/>
        </p:nvSpPr>
        <p:spPr>
          <a:xfrm xmlns:a="http://schemas.openxmlformats.org/drawingml/2006/main">
            <a:off x="609600" y="1724025"/>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사용자 입력</a:t>
            </a:r>
          </a:p>
        </p:txBody>
      </p:sp>
      <p:sp>
        <p:nvSpPr>
          <p:cNvPr id="5" name="품목과 지역&#10;온실 면적과 재배 계획&#10;도입할 장비와 설치 견적&#10;">
            <a:extLst xmlns:a="http://schemas.openxmlformats.org/drawingml/2006/main">
              <a:ext uri="{FF2B5EF4-FFF2-40B4-BE49-F238E27FC236}">
                <a16:creationId xmlns:a16="http://schemas.microsoft.com/office/drawing/2014/main" id="{1C2E66B6-ECA8-4AF0-A7B9-117500AB1DB2}"/>
              </a:ext>
            </a:extLst>
          </p:cNvPr>
          <p:cNvSpPr>
            <a:spLocks xmlns:a="http://schemas.openxmlformats.org/drawingml/2006/main" noGrp="1"/>
          </p:cNvSpPr>
          <p:nvPr/>
        </p:nvSpPr>
        <p:spPr>
          <a:xfrm xmlns:a="http://schemas.openxmlformats.org/drawingml/2006/main">
            <a:off x="609600" y="2324100"/>
            <a:ext cx="495300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392F"/>
                </a:solidFill>
                <a:latin typeface="Malgun Gothic"/>
                <a:ea typeface="Malgun Gothic"/>
                <a:cs typeface="Malgun Gothic"/>
              </a:defRPr>
            </a:defPPr>
          </a:lstStyle>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품목과 지역</a:t>
            </a:r>
          </a:p>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온실 면적과 재배 계획</a:t>
            </a:r>
          </a:p>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도입할 장비와 설치 견적</a:t>
            </a:r>
          </a:p>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판매단가·생산량·운영비 가정</a:t>
            </a:r>
          </a:p>
        </p:txBody>
      </p:sp>
      <p:sp>
        <p:nvSpPr>
          <p:cNvPr id="6" name="화면에서 비교할 결과">
            <a:extLst xmlns:a="http://schemas.openxmlformats.org/drawingml/2006/main">
              <a:ext uri="{FF2B5EF4-FFF2-40B4-BE49-F238E27FC236}">
                <a16:creationId xmlns:a16="http://schemas.microsoft.com/office/drawing/2014/main" id="{309B3545-86D8-4DFD-9E70-822E336B1F0F}"/>
              </a:ext>
            </a:extLst>
          </p:cNvPr>
          <p:cNvSpPr>
            <a:spLocks xmlns:a="http://schemas.openxmlformats.org/drawingml/2006/main" noGrp="1"/>
          </p:cNvSpPr>
          <p:nvPr/>
        </p:nvSpPr>
        <p:spPr>
          <a:xfrm xmlns:a="http://schemas.openxmlformats.org/drawingml/2006/main">
            <a:off x="6572250" y="1724025"/>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화면에서 비교할 결과</a:t>
            </a:r>
          </a:p>
        </p:txBody>
      </p:sp>
      <p:sp>
        <p:nvSpPr>
          <p:cNvPr id="7" name="연간 예상 생산과 매출&#10;소득과 현금흐름&#10;손익분기 가격·수량&#10;투">
            <a:extLst xmlns:a="http://schemas.openxmlformats.org/drawingml/2006/main">
              <a:ext uri="{FF2B5EF4-FFF2-40B4-BE49-F238E27FC236}">
                <a16:creationId xmlns:a16="http://schemas.microsoft.com/office/drawing/2014/main" id="{3266D4C2-EF07-4C2E-A596-7259E2879846}"/>
              </a:ext>
            </a:extLst>
          </p:cNvPr>
          <p:cNvSpPr>
            <a:spLocks xmlns:a="http://schemas.openxmlformats.org/drawingml/2006/main" noGrp="1"/>
          </p:cNvSpPr>
          <p:nvPr/>
        </p:nvSpPr>
        <p:spPr>
          <a:xfrm xmlns:a="http://schemas.openxmlformats.org/drawingml/2006/main">
            <a:off x="6572250" y="2324100"/>
            <a:ext cx="4953000" cy="2495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392F"/>
                </a:solidFill>
                <a:latin typeface="Malgun Gothic"/>
                <a:ea typeface="Malgun Gothic"/>
                <a:cs typeface="Malgun Gothic"/>
              </a:defRPr>
            </a:defPPr>
          </a:lstStyle>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연간 예상 생산과 매출</a:t>
            </a:r>
          </a:p>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소득과 현금흐름</a:t>
            </a:r>
          </a:p>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손익분기 가격·수량</a:t>
            </a:r>
          </a:p>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투자금 회수 조건</a:t>
            </a:r>
          </a:p>
        </p:txBody>
      </p:sp>
      <p:sp>
        <p:nvSpPr>
          <p:cNvPr id="8" name="딸기로 먼저 시연하고, 같은 기준자료가 있는 오이·토마토·방울">
            <a:extLst xmlns:a="http://schemas.openxmlformats.org/drawingml/2006/main">
              <a:ext uri="{FF2B5EF4-FFF2-40B4-BE49-F238E27FC236}">
                <a16:creationId xmlns:a16="http://schemas.microsoft.com/office/drawing/2014/main" id="{57B180D5-F822-4D02-8FF7-6347E21D943E}"/>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딸기로 먼저 시연하고, 같은 기준자료가 있는 오이·토마토·방울토마토·파프리카로 확장한다.</a:t>
            </a:r>
          </a:p>
        </p:txBody>
      </p:sp>
    </p:spTree>
    <p:extLst>
      <p:ext uri="{BB962C8B-B14F-4D97-AF65-F5344CB8AC3E}">
        <p14:creationId xmlns:p14="http://schemas.microsoft.com/office/powerpoint/2010/main" val="1649717500"/>
      </p:ext>
    </p:extLst>
  </p:cSld>
</p:sld>
</file>

<file path=ppt/slides/slide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4EF10DAD-0FDF-4634-AE5F-214D4D41080C}"/>
              </a:ext>
            </a:extLst>
          </p:cNvPr>
          <p:cNvCxnSpPr>
            <a:stCxn xmlns:a="http://schemas.openxmlformats.org/drawingml/2006/main" id="20" idx="3"/>
            <a:endCxn xmlns:a="http://schemas.openxmlformats.org/drawingml/2006/main" id="23" idx="1"/>
          </p:cNvCxnSpPr>
          <p:nvPr/>
        </p:nvCxnSpPr>
        <p:spPr>
          <a:xfrm xmlns:a="http://schemas.openxmlformats.org/drawingml/2006/main">
            <a:off x="5581650" y="4867275"/>
            <a:ext cx="1009650" cy="0"/>
          </a:xfrm>
          <a:prstGeom xmlns:a="http://schemas.openxmlformats.org/drawingml/2006/main" prst="straightConnector1">
            <a:avLst/>
          </a:prstGeom>
          <a:ln xmlns:a="http://schemas.openxmlformats.org/drawingml/2006/main" w="19050">
            <a:solidFill>
              <a:srgbClr val="15734C"/>
            </a:solidFill>
            <a:prstDash val="solid"/>
            <a:tailEnd type="triangle" w="sm" len="sm"/>
          </a:ln>
        </p:spPr>
      </p:cxnSp>
      <p:cxnSp>
        <p:nvCxnSpPr>
          <p:cNvPr id="18" name="">
            <a:extLst xmlns:a="http://schemas.openxmlformats.org/drawingml/2006/main">
              <a:ext uri="{FF2B5EF4-FFF2-40B4-BE49-F238E27FC236}">
                <a16:creationId xmlns:a16="http://schemas.microsoft.com/office/drawing/2014/main" id="{AFD92A23-DF6B-4B09-8E1D-7FCDEE2CC4F2}"/>
              </a:ext>
            </a:extLst>
          </p:cNvPr>
          <p:cNvCxnSpPr>
            <a:stCxn xmlns:a="http://schemas.openxmlformats.org/drawingml/2006/main" id="10" idx="3"/>
            <a:endCxn xmlns:a="http://schemas.openxmlformats.org/drawingml/2006/main" id="13" idx="1"/>
          </p:cNvCxnSpPr>
          <p:nvPr/>
        </p:nvCxnSpPr>
        <p:spPr>
          <a:xfrm xmlns:a="http://schemas.openxmlformats.org/drawingml/2006/main">
            <a:off x="8667750" y="2576513"/>
            <a:ext cx="400050" cy="0"/>
          </a:xfrm>
          <a:prstGeom xmlns:a="http://schemas.openxmlformats.org/drawingml/2006/main" prst="straightConnector1">
            <a:avLst/>
          </a:prstGeom>
          <a:ln xmlns:a="http://schemas.openxmlformats.org/drawingml/2006/main" w="19050">
            <a:solidFill>
              <a:srgbClr val="15734C"/>
            </a:solidFill>
            <a:prstDash val="solid"/>
            <a:tailEnd type="triangle" w="sm" len="sm"/>
          </a:ln>
        </p:spPr>
      </p:cxnSp>
      <p:cxnSp>
        <p:nvCxnSpPr>
          <p:cNvPr id="17" name="">
            <a:extLst xmlns:a="http://schemas.openxmlformats.org/drawingml/2006/main">
              <a:ext uri="{FF2B5EF4-FFF2-40B4-BE49-F238E27FC236}">
                <a16:creationId xmlns:a16="http://schemas.microsoft.com/office/drawing/2014/main" id="{8E97C5AA-CB08-421C-9C33-D278FA36F253}"/>
              </a:ext>
            </a:extLst>
          </p:cNvPr>
          <p:cNvCxnSpPr>
            <a:stCxn xmlns:a="http://schemas.openxmlformats.org/drawingml/2006/main" id="7" idx="3"/>
            <a:endCxn xmlns:a="http://schemas.openxmlformats.org/drawingml/2006/main" id="10" idx="1"/>
          </p:cNvCxnSpPr>
          <p:nvPr/>
        </p:nvCxnSpPr>
        <p:spPr>
          <a:xfrm xmlns:a="http://schemas.openxmlformats.org/drawingml/2006/main">
            <a:off x="5848350" y="2576513"/>
            <a:ext cx="400050" cy="0"/>
          </a:xfrm>
          <a:prstGeom xmlns:a="http://schemas.openxmlformats.org/drawingml/2006/main" prst="straightConnector1">
            <a:avLst/>
          </a:prstGeom>
          <a:ln xmlns:a="http://schemas.openxmlformats.org/drawingml/2006/main" w="19050">
            <a:solidFill>
              <a:srgbClr val="15734C"/>
            </a:solidFill>
            <a:prstDash val="solid"/>
            <a:tailEnd type="triangle" w="sm" len="sm"/>
          </a:ln>
        </p:spPr>
      </p:cxnSp>
      <p:cxnSp>
        <p:nvCxnSpPr>
          <p:cNvPr id="16" name="">
            <a:extLst xmlns:a="http://schemas.openxmlformats.org/drawingml/2006/main">
              <a:ext uri="{FF2B5EF4-FFF2-40B4-BE49-F238E27FC236}">
                <a16:creationId xmlns:a16="http://schemas.microsoft.com/office/drawing/2014/main" id="{D7ADEDB8-B372-4E69-9383-89B8581D450A}"/>
              </a:ext>
            </a:extLst>
          </p:cNvPr>
          <p:cNvCxnSpPr>
            <a:stCxn xmlns:a="http://schemas.openxmlformats.org/drawingml/2006/main" id="4" idx="3"/>
            <a:endCxn xmlns:a="http://schemas.openxmlformats.org/drawingml/2006/main" id="7" idx="1"/>
          </p:cNvCxnSpPr>
          <p:nvPr/>
        </p:nvCxnSpPr>
        <p:spPr>
          <a:xfrm xmlns:a="http://schemas.openxmlformats.org/drawingml/2006/main">
            <a:off x="3028950" y="2576513"/>
            <a:ext cx="400050" cy="0"/>
          </a:xfrm>
          <a:prstGeom xmlns:a="http://schemas.openxmlformats.org/drawingml/2006/main" prst="straightConnector1">
            <a:avLst/>
          </a:prstGeom>
          <a:ln xmlns:a="http://schemas.openxmlformats.org/drawingml/2006/main" w="19050">
            <a:solidFill>
              <a:srgbClr val="15734C"/>
            </a:solidFill>
            <a:prstDash val="solid"/>
            <a:tailEnd type="triangle" w="sm" len="sm"/>
          </a:ln>
        </p:spPr>
      </p:cxnSp>
      <p:sp>
        <p:nvSpPr>
          <p:cNvPr id="28" name="전체 서비스 흐름">
            <a:extLst xmlns:a="http://schemas.openxmlformats.org/drawingml/2006/main">
              <a:ext uri="{FF2B5EF4-FFF2-40B4-BE49-F238E27FC236}">
                <a16:creationId xmlns:a16="http://schemas.microsoft.com/office/drawing/2014/main" id="{C0CACDE9-3C9C-486C-B479-DE5350F7D5B0}"/>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전체 서비스 흐름</a:t>
            </a:r>
          </a:p>
        </p:txBody>
      </p:sp>
      <p:sp>
        <p:nvSpPr>
          <p:cNvPr id="2" name="">
            <a:extLst xmlns:a="http://schemas.openxmlformats.org/drawingml/2006/main">
              <a:ext uri="{FF2B5EF4-FFF2-40B4-BE49-F238E27FC236}">
                <a16:creationId xmlns:a16="http://schemas.microsoft.com/office/drawing/2014/main" id="{9F3DE495-F0EF-4702-BEFE-62B448005D5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03">
            <a:extLst xmlns:a="http://schemas.openxmlformats.org/drawingml/2006/main">
              <a:ext uri="{FF2B5EF4-FFF2-40B4-BE49-F238E27FC236}">
                <a16:creationId xmlns:a16="http://schemas.microsoft.com/office/drawing/2014/main" id="{DEFA3774-50F3-4343-8A53-368FBEE8D2AF}"/>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03</a:t>
            </a:r>
          </a:p>
        </p:txBody>
      </p:sp>
      <p:sp>
        <p:nvSpPr>
          <p:cNvPr id="4" name="">
            <a:extLst xmlns:a="http://schemas.openxmlformats.org/drawingml/2006/main">
              <a:ext uri="{FF2B5EF4-FFF2-40B4-BE49-F238E27FC236}">
                <a16:creationId xmlns:a16="http://schemas.microsoft.com/office/drawing/2014/main" id="{2D8C908D-2E0F-41E3-9F38-5BFD075B98BC}"/>
              </a:ext>
            </a:extLst>
          </p:cNvPr>
          <p:cNvSpPr>
            <a:spLocks xmlns:a="http://schemas.openxmlformats.org/drawingml/2006/main" noGrp="1"/>
          </p:cNvSpPr>
          <p:nvPr/>
        </p:nvSpPr>
        <p:spPr>
          <a:xfrm xmlns:a="http://schemas.openxmlformats.org/drawingml/2006/main">
            <a:off x="609600" y="1885950"/>
            <a:ext cx="2419350" cy="1381125"/>
          </a:xfrm>
          <a:prstGeom xmlns:a="http://schemas.openxmlformats.org/drawingml/2006/main" prst="rect">
            <a:avLst/>
          </a:prstGeom>
          <a:solidFill xmlns:a="http://schemas.openxmlformats.org/drawingml/2006/main">
            <a:srgbClr val="E7F2EB"/>
          </a:solidFill>
          <a:ln xmlns:a="http://schemas.openxmlformats.org/drawingml/2006/main" w="14288">
            <a:solidFill>
              <a:srgbClr val="15734C"/>
            </a:solidFill>
          </a:ln>
        </p:spPr>
      </p:sp>
      <p:sp>
        <p:nvSpPr>
          <p:cNvPr id="5" name="자료 확보">
            <a:extLst xmlns:a="http://schemas.openxmlformats.org/drawingml/2006/main">
              <a:ext uri="{FF2B5EF4-FFF2-40B4-BE49-F238E27FC236}">
                <a16:creationId xmlns:a16="http://schemas.microsoft.com/office/drawing/2014/main" id="{BFE984E7-BB0C-4DF5-9614-687B6A7E679B}"/>
              </a:ext>
            </a:extLst>
          </p:cNvPr>
          <p:cNvSpPr>
            <a:spLocks xmlns:a="http://schemas.openxmlformats.org/drawingml/2006/main" noGrp="1"/>
          </p:cNvSpPr>
          <p:nvPr/>
        </p:nvSpPr>
        <p:spPr>
          <a:xfrm xmlns:a="http://schemas.openxmlformats.org/drawingml/2006/main">
            <a:off x="762000" y="2038350"/>
            <a:ext cx="2114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734C"/>
                </a:solidFill>
                <a:latin typeface="Malgun Gothic"/>
                <a:ea typeface="Malgun Gothic"/>
                <a:cs typeface="Malgun Gothic"/>
              </a:defRPr>
            </a:defPPr>
          </a:lstStyle>
          <a:p xmlns:a="http://schemas.openxmlformats.org/drawingml/2006/main">
            <a:pPr algn="l">
              <a:defRPr sz="2100" b="1">
                <a:solidFill>
                  <a:srgbClr val="15734C"/>
                </a:solidFill>
                <a:latin typeface="Malgun Gothic"/>
                <a:ea typeface="Malgun Gothic"/>
                <a:cs typeface="Malgun Gothic"/>
              </a:defRPr>
            </a:pPr>
            <a:r>
              <a:rPr sz="2100" b="1">
                <a:solidFill>
                  <a:srgbClr val="15734C"/>
                </a:solidFill>
                <a:latin typeface="Malgun Gothic"/>
                <a:ea typeface="Malgun Gothic"/>
                <a:cs typeface="Malgun Gothic"/>
              </a:rPr>
              <a:t>자료 확보</a:t>
            </a:r>
          </a:p>
        </p:txBody>
      </p:sp>
      <p:sp>
        <p:nvSpPr>
          <p:cNvPr id="6" name="공개자료·API&#10;명세와 출처 확인">
            <a:extLst xmlns:a="http://schemas.openxmlformats.org/drawingml/2006/main">
              <a:ext uri="{FF2B5EF4-FFF2-40B4-BE49-F238E27FC236}">
                <a16:creationId xmlns:a16="http://schemas.microsoft.com/office/drawing/2014/main" id="{591C6301-3DD1-4D6E-AC63-2BEE331444CE}"/>
              </a:ext>
            </a:extLst>
          </p:cNvPr>
          <p:cNvSpPr>
            <a:spLocks xmlns:a="http://schemas.openxmlformats.org/drawingml/2006/main" noGrp="1"/>
          </p:cNvSpPr>
          <p:nvPr/>
        </p:nvSpPr>
        <p:spPr>
          <a:xfrm xmlns:a="http://schemas.openxmlformats.org/drawingml/2006/main">
            <a:off x="762000" y="2476500"/>
            <a:ext cx="21145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92F"/>
                </a:solidFill>
                <a:latin typeface="Malgun Gothic"/>
                <a:ea typeface="Malgun Gothic"/>
                <a:cs typeface="Malgun Gothic"/>
              </a:defRPr>
            </a:defPPr>
          </a:lstStyle>
          <a:p xmlns:a="http://schemas.openxmlformats.org/drawingml/2006/main">
            <a:pPr algn="l">
              <a:defRPr sz="1725" b="0">
                <a:solidFill>
                  <a:srgbClr val="17392F"/>
                </a:solidFill>
                <a:latin typeface="Malgun Gothic"/>
                <a:ea typeface="Malgun Gothic"/>
                <a:cs typeface="Malgun Gothic"/>
              </a:defRPr>
            </a:pPr>
            <a:r>
              <a:rPr sz="1725" b="0">
                <a:solidFill>
                  <a:srgbClr val="17392F"/>
                </a:solidFill>
                <a:latin typeface="Malgun Gothic"/>
                <a:ea typeface="Malgun Gothic"/>
                <a:cs typeface="Malgun Gothic"/>
              </a:rPr>
              <a:t>공개자료·API</a:t>
            </a:r>
          </a:p>
          <a:p xmlns:a="http://schemas.openxmlformats.org/drawingml/2006/main">
            <a:pPr algn="l">
              <a:defRPr sz="1725" b="0">
                <a:solidFill>
                  <a:srgbClr val="17392F"/>
                </a:solidFill>
                <a:latin typeface="Malgun Gothic"/>
                <a:ea typeface="Malgun Gothic"/>
                <a:cs typeface="Malgun Gothic"/>
              </a:defRPr>
            </a:pPr>
            <a:r>
              <a:rPr sz="1725" b="0">
                <a:solidFill>
                  <a:srgbClr val="17392F"/>
                </a:solidFill>
                <a:latin typeface="Malgun Gothic"/>
                <a:ea typeface="Malgun Gothic"/>
                <a:cs typeface="Malgun Gothic"/>
              </a:rPr>
              <a:t>명세와 출처 확인</a:t>
            </a:r>
          </a:p>
        </p:txBody>
      </p:sp>
      <p:sp>
        <p:nvSpPr>
          <p:cNvPr id="7" name="">
            <a:extLst xmlns:a="http://schemas.openxmlformats.org/drawingml/2006/main">
              <a:ext uri="{FF2B5EF4-FFF2-40B4-BE49-F238E27FC236}">
                <a16:creationId xmlns:a16="http://schemas.microsoft.com/office/drawing/2014/main" id="{BABE08F0-2799-4CEB-B9AE-FE32C65542C7}"/>
              </a:ext>
            </a:extLst>
          </p:cNvPr>
          <p:cNvSpPr>
            <a:spLocks xmlns:a="http://schemas.openxmlformats.org/drawingml/2006/main" noGrp="1"/>
          </p:cNvSpPr>
          <p:nvPr/>
        </p:nvSpPr>
        <p:spPr>
          <a:xfrm xmlns:a="http://schemas.openxmlformats.org/drawingml/2006/main">
            <a:off x="3429000" y="1885950"/>
            <a:ext cx="2419350" cy="1381125"/>
          </a:xfrm>
          <a:prstGeom xmlns:a="http://schemas.openxmlformats.org/drawingml/2006/main" prst="rect">
            <a:avLst/>
          </a:prstGeom>
          <a:solidFill xmlns:a="http://schemas.openxmlformats.org/drawingml/2006/main">
            <a:srgbClr val="E7F2EB"/>
          </a:solidFill>
          <a:ln xmlns:a="http://schemas.openxmlformats.org/drawingml/2006/main" w="14288">
            <a:solidFill>
              <a:srgbClr val="15734C"/>
            </a:solidFill>
          </a:ln>
        </p:spPr>
      </p:sp>
      <p:sp>
        <p:nvSpPr>
          <p:cNvPr id="8" name="정규화·결합">
            <a:extLst xmlns:a="http://schemas.openxmlformats.org/drawingml/2006/main">
              <a:ext uri="{FF2B5EF4-FFF2-40B4-BE49-F238E27FC236}">
                <a16:creationId xmlns:a16="http://schemas.microsoft.com/office/drawing/2014/main" id="{A7C45A96-B527-4BF6-88B6-6BAE6F3325B4}"/>
              </a:ext>
            </a:extLst>
          </p:cNvPr>
          <p:cNvSpPr>
            <a:spLocks xmlns:a="http://schemas.openxmlformats.org/drawingml/2006/main" noGrp="1"/>
          </p:cNvSpPr>
          <p:nvPr/>
        </p:nvSpPr>
        <p:spPr>
          <a:xfrm xmlns:a="http://schemas.openxmlformats.org/drawingml/2006/main">
            <a:off x="3581400" y="2038350"/>
            <a:ext cx="2114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734C"/>
                </a:solidFill>
                <a:latin typeface="Malgun Gothic"/>
                <a:ea typeface="Malgun Gothic"/>
                <a:cs typeface="Malgun Gothic"/>
              </a:defRPr>
            </a:defPPr>
          </a:lstStyle>
          <a:p xmlns:a="http://schemas.openxmlformats.org/drawingml/2006/main">
            <a:pPr algn="l">
              <a:defRPr sz="2100" b="1">
                <a:solidFill>
                  <a:srgbClr val="15734C"/>
                </a:solidFill>
                <a:latin typeface="Malgun Gothic"/>
                <a:ea typeface="Malgun Gothic"/>
                <a:cs typeface="Malgun Gothic"/>
              </a:defRPr>
            </a:pPr>
            <a:r>
              <a:rPr sz="2100" b="1">
                <a:solidFill>
                  <a:srgbClr val="15734C"/>
                </a:solidFill>
                <a:latin typeface="Malgun Gothic"/>
                <a:ea typeface="Malgun Gothic"/>
                <a:cs typeface="Malgun Gothic"/>
              </a:rPr>
              <a:t>정규화·결합</a:t>
            </a:r>
          </a:p>
        </p:txBody>
      </p:sp>
      <p:sp>
        <p:nvSpPr>
          <p:cNvPr id="9" name="시설·작기 연결&#10;단위·기간 검사">
            <a:extLst xmlns:a="http://schemas.openxmlformats.org/drawingml/2006/main">
              <a:ext uri="{FF2B5EF4-FFF2-40B4-BE49-F238E27FC236}">
                <a16:creationId xmlns:a16="http://schemas.microsoft.com/office/drawing/2014/main" id="{4DA20B74-2F0C-40B6-8485-A5819A19FFA6}"/>
              </a:ext>
            </a:extLst>
          </p:cNvPr>
          <p:cNvSpPr>
            <a:spLocks xmlns:a="http://schemas.openxmlformats.org/drawingml/2006/main" noGrp="1"/>
          </p:cNvSpPr>
          <p:nvPr/>
        </p:nvSpPr>
        <p:spPr>
          <a:xfrm xmlns:a="http://schemas.openxmlformats.org/drawingml/2006/main">
            <a:off x="3581400" y="2476500"/>
            <a:ext cx="21145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92F"/>
                </a:solidFill>
                <a:latin typeface="Malgun Gothic"/>
                <a:ea typeface="Malgun Gothic"/>
                <a:cs typeface="Malgun Gothic"/>
              </a:defRPr>
            </a:defPPr>
          </a:lstStyle>
          <a:p xmlns:a="http://schemas.openxmlformats.org/drawingml/2006/main">
            <a:pPr algn="l">
              <a:defRPr sz="1725" b="0">
                <a:solidFill>
                  <a:srgbClr val="17392F"/>
                </a:solidFill>
                <a:latin typeface="Malgun Gothic"/>
                <a:ea typeface="Malgun Gothic"/>
                <a:cs typeface="Malgun Gothic"/>
              </a:defRPr>
            </a:pPr>
            <a:r>
              <a:rPr sz="1725" b="0">
                <a:solidFill>
                  <a:srgbClr val="17392F"/>
                </a:solidFill>
                <a:latin typeface="Malgun Gothic"/>
                <a:ea typeface="Malgun Gothic"/>
                <a:cs typeface="Malgun Gothic"/>
              </a:rPr>
              <a:t>시설·작기 연결</a:t>
            </a:r>
          </a:p>
          <a:p xmlns:a="http://schemas.openxmlformats.org/drawingml/2006/main">
            <a:pPr algn="l">
              <a:defRPr sz="1725" b="0">
                <a:solidFill>
                  <a:srgbClr val="17392F"/>
                </a:solidFill>
                <a:latin typeface="Malgun Gothic"/>
                <a:ea typeface="Malgun Gothic"/>
                <a:cs typeface="Malgun Gothic"/>
              </a:defRPr>
            </a:pPr>
            <a:r>
              <a:rPr sz="1725" b="0">
                <a:solidFill>
                  <a:srgbClr val="17392F"/>
                </a:solidFill>
                <a:latin typeface="Malgun Gothic"/>
                <a:ea typeface="Malgun Gothic"/>
                <a:cs typeface="Malgun Gothic"/>
              </a:rPr>
              <a:t>단위·기간 검사</a:t>
            </a:r>
          </a:p>
        </p:txBody>
      </p:sp>
      <p:sp>
        <p:nvSpPr>
          <p:cNvPr id="10" name="">
            <a:extLst xmlns:a="http://schemas.openxmlformats.org/drawingml/2006/main">
              <a:ext uri="{FF2B5EF4-FFF2-40B4-BE49-F238E27FC236}">
                <a16:creationId xmlns:a16="http://schemas.microsoft.com/office/drawing/2014/main" id="{C8720F70-A088-4447-B33A-B2081DDABD1E}"/>
              </a:ext>
            </a:extLst>
          </p:cNvPr>
          <p:cNvSpPr>
            <a:spLocks xmlns:a="http://schemas.openxmlformats.org/drawingml/2006/main" noGrp="1"/>
          </p:cNvSpPr>
          <p:nvPr/>
        </p:nvSpPr>
        <p:spPr>
          <a:xfrm xmlns:a="http://schemas.openxmlformats.org/drawingml/2006/main">
            <a:off x="6248400" y="1885950"/>
            <a:ext cx="2419350" cy="1381125"/>
          </a:xfrm>
          <a:prstGeom xmlns:a="http://schemas.openxmlformats.org/drawingml/2006/main" prst="rect">
            <a:avLst/>
          </a:prstGeom>
          <a:solidFill xmlns:a="http://schemas.openxmlformats.org/drawingml/2006/main">
            <a:srgbClr val="E7F2EB"/>
          </a:solidFill>
          <a:ln xmlns:a="http://schemas.openxmlformats.org/drawingml/2006/main" w="14288">
            <a:solidFill>
              <a:srgbClr val="15734C"/>
            </a:solidFill>
          </a:ln>
        </p:spPr>
      </p:sp>
      <p:sp>
        <p:nvSpPr>
          <p:cNvPr id="11" name="모델 비교">
            <a:extLst xmlns:a="http://schemas.openxmlformats.org/drawingml/2006/main">
              <a:ext uri="{FF2B5EF4-FFF2-40B4-BE49-F238E27FC236}">
                <a16:creationId xmlns:a16="http://schemas.microsoft.com/office/drawing/2014/main" id="{21B3ED1B-4B2B-4843-8DD8-E3D33C09CD98}"/>
              </a:ext>
            </a:extLst>
          </p:cNvPr>
          <p:cNvSpPr>
            <a:spLocks xmlns:a="http://schemas.openxmlformats.org/drawingml/2006/main" noGrp="1"/>
          </p:cNvSpPr>
          <p:nvPr/>
        </p:nvSpPr>
        <p:spPr>
          <a:xfrm xmlns:a="http://schemas.openxmlformats.org/drawingml/2006/main">
            <a:off x="6400800" y="2038350"/>
            <a:ext cx="21145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734C"/>
                </a:solidFill>
                <a:latin typeface="Malgun Gothic"/>
                <a:ea typeface="Malgun Gothic"/>
                <a:cs typeface="Malgun Gothic"/>
              </a:defRPr>
            </a:defPPr>
          </a:lstStyle>
          <a:p xmlns:a="http://schemas.openxmlformats.org/drawingml/2006/main">
            <a:pPr algn="l">
              <a:defRPr sz="2100" b="1">
                <a:solidFill>
                  <a:srgbClr val="15734C"/>
                </a:solidFill>
                <a:latin typeface="Malgun Gothic"/>
                <a:ea typeface="Malgun Gothic"/>
                <a:cs typeface="Malgun Gothic"/>
              </a:defRPr>
            </a:pPr>
            <a:r>
              <a:rPr sz="2100" b="1">
                <a:solidFill>
                  <a:srgbClr val="15734C"/>
                </a:solidFill>
                <a:latin typeface="Malgun Gothic"/>
                <a:ea typeface="Malgun Gothic"/>
                <a:cs typeface="Malgun Gothic"/>
              </a:rPr>
              <a:t>모델 비교</a:t>
            </a:r>
          </a:p>
        </p:txBody>
      </p:sp>
      <p:sp>
        <p:nvSpPr>
          <p:cNvPr id="12" name="기준선·CatBoost&#10;XGBoost·LimiX">
            <a:extLst xmlns:a="http://schemas.openxmlformats.org/drawingml/2006/main">
              <a:ext uri="{FF2B5EF4-FFF2-40B4-BE49-F238E27FC236}">
                <a16:creationId xmlns:a16="http://schemas.microsoft.com/office/drawing/2014/main" id="{7804C405-9537-48EC-81E6-4B1716AF5D69}"/>
              </a:ext>
            </a:extLst>
          </p:cNvPr>
          <p:cNvSpPr>
            <a:spLocks xmlns:a="http://schemas.openxmlformats.org/drawingml/2006/main" noGrp="1"/>
          </p:cNvSpPr>
          <p:nvPr/>
        </p:nvSpPr>
        <p:spPr>
          <a:xfrm xmlns:a="http://schemas.openxmlformats.org/drawingml/2006/main">
            <a:off x="6400800" y="2476500"/>
            <a:ext cx="211455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92F"/>
                </a:solidFill>
                <a:latin typeface="Malgun Gothic"/>
                <a:ea typeface="Malgun Gothic"/>
                <a:cs typeface="Malgun Gothic"/>
              </a:defRPr>
            </a:defPPr>
          </a:lstStyle>
          <a:p xmlns:a="http://schemas.openxmlformats.org/drawingml/2006/main">
            <a:pPr algn="l">
              <a:defRPr sz="1725" b="0">
                <a:solidFill>
                  <a:srgbClr val="17392F"/>
                </a:solidFill>
                <a:latin typeface="Malgun Gothic"/>
                <a:ea typeface="Malgun Gothic"/>
                <a:cs typeface="Malgun Gothic"/>
              </a:defRPr>
            </a:pPr>
            <a:r>
              <a:rPr sz="1725" b="0">
                <a:solidFill>
                  <a:srgbClr val="17392F"/>
                </a:solidFill>
                <a:latin typeface="Malgun Gothic"/>
                <a:ea typeface="Malgun Gothic"/>
                <a:cs typeface="Malgun Gothic"/>
              </a:rPr>
              <a:t>기준선·CatBoost</a:t>
            </a:r>
          </a:p>
          <a:p xmlns:a="http://schemas.openxmlformats.org/drawingml/2006/main">
            <a:pPr algn="l">
              <a:defRPr sz="1725" b="0">
                <a:solidFill>
                  <a:srgbClr val="17392F"/>
                </a:solidFill>
                <a:latin typeface="Malgun Gothic"/>
                <a:ea typeface="Malgun Gothic"/>
                <a:cs typeface="Malgun Gothic"/>
              </a:defRPr>
            </a:pPr>
            <a:r>
              <a:rPr sz="1725" b="0">
                <a:solidFill>
                  <a:srgbClr val="17392F"/>
                </a:solidFill>
                <a:latin typeface="Malgun Gothic"/>
                <a:ea typeface="Malgun Gothic"/>
                <a:cs typeface="Malgun Gothic"/>
              </a:rPr>
              <a:t>XGBoost·LimiX</a:t>
            </a:r>
          </a:p>
        </p:txBody>
      </p:sp>
      <p:sp>
        <p:nvSpPr>
          <p:cNvPr id="13" name="">
            <a:extLst xmlns:a="http://schemas.openxmlformats.org/drawingml/2006/main">
              <a:ext uri="{FF2B5EF4-FFF2-40B4-BE49-F238E27FC236}">
                <a16:creationId xmlns:a16="http://schemas.microsoft.com/office/drawing/2014/main" id="{3BA61911-F595-42AA-B0B8-47C121FB7B7D}"/>
              </a:ext>
            </a:extLst>
          </p:cNvPr>
          <p:cNvSpPr>
            <a:spLocks xmlns:a="http://schemas.openxmlformats.org/drawingml/2006/main" noGrp="1"/>
          </p:cNvSpPr>
          <p:nvPr/>
        </p:nvSpPr>
        <p:spPr>
          <a:xfrm xmlns:a="http://schemas.openxmlformats.org/drawingml/2006/main">
            <a:off x="9067800" y="1885950"/>
            <a:ext cx="2514600" cy="1381125"/>
          </a:xfrm>
          <a:prstGeom xmlns:a="http://schemas.openxmlformats.org/drawingml/2006/main" prst="rect">
            <a:avLst/>
          </a:prstGeom>
          <a:solidFill xmlns:a="http://schemas.openxmlformats.org/drawingml/2006/main">
            <a:srgbClr val="E7F2EB"/>
          </a:solidFill>
          <a:ln xmlns:a="http://schemas.openxmlformats.org/drawingml/2006/main" w="14288">
            <a:solidFill>
              <a:srgbClr val="15734C"/>
            </a:solidFill>
          </a:ln>
        </p:spPr>
      </p:sp>
      <p:sp>
        <p:nvSpPr>
          <p:cNvPr id="14" name="계획 계산">
            <a:extLst xmlns:a="http://schemas.openxmlformats.org/drawingml/2006/main">
              <a:ext uri="{FF2B5EF4-FFF2-40B4-BE49-F238E27FC236}">
                <a16:creationId xmlns:a16="http://schemas.microsoft.com/office/drawing/2014/main" id="{9E6B516F-4D92-45A5-8C8E-A7C84BEED384}"/>
              </a:ext>
            </a:extLst>
          </p:cNvPr>
          <p:cNvSpPr>
            <a:spLocks xmlns:a="http://schemas.openxmlformats.org/drawingml/2006/main" noGrp="1"/>
          </p:cNvSpPr>
          <p:nvPr/>
        </p:nvSpPr>
        <p:spPr>
          <a:xfrm xmlns:a="http://schemas.openxmlformats.org/drawingml/2006/main">
            <a:off x="9220200" y="2038350"/>
            <a:ext cx="22098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734C"/>
                </a:solidFill>
                <a:latin typeface="Malgun Gothic"/>
                <a:ea typeface="Malgun Gothic"/>
                <a:cs typeface="Malgun Gothic"/>
              </a:defRPr>
            </a:defPPr>
          </a:lstStyle>
          <a:p xmlns:a="http://schemas.openxmlformats.org/drawingml/2006/main">
            <a:pPr algn="l">
              <a:defRPr sz="2100" b="1">
                <a:solidFill>
                  <a:srgbClr val="15734C"/>
                </a:solidFill>
                <a:latin typeface="Malgun Gothic"/>
                <a:ea typeface="Malgun Gothic"/>
                <a:cs typeface="Malgun Gothic"/>
              </a:defRPr>
            </a:pPr>
            <a:r>
              <a:rPr sz="2100" b="1">
                <a:solidFill>
                  <a:srgbClr val="15734C"/>
                </a:solidFill>
                <a:latin typeface="Malgun Gothic"/>
                <a:ea typeface="Malgun Gothic"/>
                <a:cs typeface="Malgun Gothic"/>
              </a:rPr>
              <a:t>계획 계산</a:t>
            </a:r>
          </a:p>
        </p:txBody>
      </p:sp>
      <p:sp>
        <p:nvSpPr>
          <p:cNvPr id="15" name="설비비·운영비&#10;생산·가격 시나리오">
            <a:extLst xmlns:a="http://schemas.openxmlformats.org/drawingml/2006/main">
              <a:ext uri="{FF2B5EF4-FFF2-40B4-BE49-F238E27FC236}">
                <a16:creationId xmlns:a16="http://schemas.microsoft.com/office/drawing/2014/main" id="{DD497B60-9822-472D-BB3B-F95F3EE65534}"/>
              </a:ext>
            </a:extLst>
          </p:cNvPr>
          <p:cNvSpPr>
            <a:spLocks xmlns:a="http://schemas.openxmlformats.org/drawingml/2006/main" noGrp="1"/>
          </p:cNvSpPr>
          <p:nvPr/>
        </p:nvSpPr>
        <p:spPr>
          <a:xfrm xmlns:a="http://schemas.openxmlformats.org/drawingml/2006/main">
            <a:off x="9220200" y="2476500"/>
            <a:ext cx="2209800" cy="714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92F"/>
                </a:solidFill>
                <a:latin typeface="Malgun Gothic"/>
                <a:ea typeface="Malgun Gothic"/>
                <a:cs typeface="Malgun Gothic"/>
              </a:defRPr>
            </a:defPPr>
          </a:lstStyle>
          <a:p xmlns:a="http://schemas.openxmlformats.org/drawingml/2006/main">
            <a:pPr algn="l">
              <a:defRPr sz="1725" b="0">
                <a:solidFill>
                  <a:srgbClr val="17392F"/>
                </a:solidFill>
                <a:latin typeface="Malgun Gothic"/>
                <a:ea typeface="Malgun Gothic"/>
                <a:cs typeface="Malgun Gothic"/>
              </a:defRPr>
            </a:pPr>
            <a:r>
              <a:rPr sz="1725" b="0">
                <a:solidFill>
                  <a:srgbClr val="17392F"/>
                </a:solidFill>
                <a:latin typeface="Malgun Gothic"/>
                <a:ea typeface="Malgun Gothic"/>
                <a:cs typeface="Malgun Gothic"/>
              </a:rPr>
              <a:t>설비비·운영비</a:t>
            </a:r>
          </a:p>
          <a:p xmlns:a="http://schemas.openxmlformats.org/drawingml/2006/main">
            <a:pPr algn="l">
              <a:defRPr sz="1725" b="0">
                <a:solidFill>
                  <a:srgbClr val="17392F"/>
                </a:solidFill>
                <a:latin typeface="Malgun Gothic"/>
                <a:ea typeface="Malgun Gothic"/>
                <a:cs typeface="Malgun Gothic"/>
              </a:defRPr>
            </a:pPr>
            <a:r>
              <a:rPr sz="1725" b="0">
                <a:solidFill>
                  <a:srgbClr val="17392F"/>
                </a:solidFill>
                <a:latin typeface="Malgun Gothic"/>
                <a:ea typeface="Malgun Gothic"/>
                <a:cs typeface="Malgun Gothic"/>
              </a:rPr>
              <a:t>생산·가격 시나리오</a:t>
            </a:r>
          </a:p>
        </p:txBody>
      </p:sp>
      <p:sp>
        <p:nvSpPr>
          <p:cNvPr id="19" name="도입 전에는 계획 비교, 운영 중에는 생육 점검">
            <a:extLst xmlns:a="http://schemas.openxmlformats.org/drawingml/2006/main">
              <a:ext uri="{FF2B5EF4-FFF2-40B4-BE49-F238E27FC236}">
                <a16:creationId xmlns:a16="http://schemas.microsoft.com/office/drawing/2014/main" id="{A5432621-CB2D-4498-A33D-95B84AAE904E}"/>
              </a:ext>
            </a:extLst>
          </p:cNvPr>
          <p:cNvSpPr>
            <a:spLocks xmlns:a="http://schemas.openxmlformats.org/drawingml/2006/main" noGrp="1"/>
          </p:cNvSpPr>
          <p:nvPr/>
        </p:nvSpPr>
        <p:spPr>
          <a:xfrm xmlns:a="http://schemas.openxmlformats.org/drawingml/2006/main">
            <a:off x="762000" y="3648075"/>
            <a:ext cx="10477500"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475" b="1">
                <a:solidFill>
                  <a:srgbClr val="15734C"/>
                </a:solidFill>
                <a:latin typeface="Malgun Gothic"/>
                <a:ea typeface="Malgun Gothic"/>
                <a:cs typeface="Malgun Gothic"/>
              </a:defRPr>
            </a:defPPr>
          </a:lstStyle>
          <a:p xmlns:a="http://schemas.openxmlformats.org/drawingml/2006/main">
            <a:pPr algn="l">
              <a:defRPr sz="2475" b="1">
                <a:solidFill>
                  <a:srgbClr val="15734C"/>
                </a:solidFill>
                <a:latin typeface="Malgun Gothic"/>
                <a:ea typeface="Malgun Gothic"/>
                <a:cs typeface="Malgun Gothic"/>
              </a:defRPr>
            </a:pPr>
            <a:r>
              <a:rPr sz="2475" b="1">
                <a:solidFill>
                  <a:srgbClr val="15734C"/>
                </a:solidFill>
                <a:latin typeface="Malgun Gothic"/>
                <a:ea typeface="Malgun Gothic"/>
                <a:cs typeface="Malgun Gothic"/>
              </a:rPr>
              <a:t>도입 전에는 계획 비교, 운영 중에는 생육 점검</a:t>
            </a:r>
          </a:p>
        </p:txBody>
      </p:sp>
      <p:sp>
        <p:nvSpPr>
          <p:cNvPr id="20" name="">
            <a:extLst xmlns:a="http://schemas.openxmlformats.org/drawingml/2006/main">
              <a:ext uri="{FF2B5EF4-FFF2-40B4-BE49-F238E27FC236}">
                <a16:creationId xmlns:a16="http://schemas.microsoft.com/office/drawing/2014/main" id="{56069A2E-72F9-4470-B71D-AE01B5611033}"/>
              </a:ext>
            </a:extLst>
          </p:cNvPr>
          <p:cNvSpPr>
            <a:spLocks xmlns:a="http://schemas.openxmlformats.org/drawingml/2006/main" noGrp="1"/>
          </p:cNvSpPr>
          <p:nvPr/>
        </p:nvSpPr>
        <p:spPr>
          <a:xfrm xmlns:a="http://schemas.openxmlformats.org/drawingml/2006/main">
            <a:off x="609600" y="4400550"/>
            <a:ext cx="4972050" cy="933450"/>
          </a:xfrm>
          <a:prstGeom xmlns:a="http://schemas.openxmlformats.org/drawingml/2006/main" prst="rect">
            <a:avLst/>
          </a:prstGeom>
          <a:solidFill xmlns:a="http://schemas.openxmlformats.org/drawingml/2006/main">
            <a:srgbClr val="E7F2EB"/>
          </a:solidFill>
          <a:ln xmlns:a="http://schemas.openxmlformats.org/drawingml/2006/main" w="14288">
            <a:solidFill>
              <a:srgbClr val="15734C"/>
            </a:solidFill>
          </a:ln>
        </p:spPr>
      </p:sp>
      <p:sp>
        <p:nvSpPr>
          <p:cNvPr id="21" name="운영 중 별도 경로">
            <a:extLst xmlns:a="http://schemas.openxmlformats.org/drawingml/2006/main">
              <a:ext uri="{FF2B5EF4-FFF2-40B4-BE49-F238E27FC236}">
                <a16:creationId xmlns:a16="http://schemas.microsoft.com/office/drawing/2014/main" id="{C6299B36-C3A3-4686-8BEA-1EA1187C86C6}"/>
              </a:ext>
            </a:extLst>
          </p:cNvPr>
          <p:cNvSpPr>
            <a:spLocks xmlns:a="http://schemas.openxmlformats.org/drawingml/2006/main" noGrp="1"/>
          </p:cNvSpPr>
          <p:nvPr/>
        </p:nvSpPr>
        <p:spPr>
          <a:xfrm xmlns:a="http://schemas.openxmlformats.org/drawingml/2006/main">
            <a:off x="762000" y="4552950"/>
            <a:ext cx="4667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734C"/>
                </a:solidFill>
                <a:latin typeface="Malgun Gothic"/>
                <a:ea typeface="Malgun Gothic"/>
                <a:cs typeface="Malgun Gothic"/>
              </a:defRPr>
            </a:defPPr>
          </a:lstStyle>
          <a:p xmlns:a="http://schemas.openxmlformats.org/drawingml/2006/main">
            <a:pPr algn="l">
              <a:defRPr sz="2100" b="1">
                <a:solidFill>
                  <a:srgbClr val="15734C"/>
                </a:solidFill>
                <a:latin typeface="Malgun Gothic"/>
                <a:ea typeface="Malgun Gothic"/>
                <a:cs typeface="Malgun Gothic"/>
              </a:defRPr>
            </a:pPr>
            <a:r>
              <a:rPr sz="2100" b="1">
                <a:solidFill>
                  <a:srgbClr val="15734C"/>
                </a:solidFill>
                <a:latin typeface="Malgun Gothic"/>
                <a:ea typeface="Malgun Gothic"/>
                <a:cs typeface="Malgun Gothic"/>
              </a:rPr>
              <a:t>운영 중 별도 경로</a:t>
            </a:r>
          </a:p>
        </p:txBody>
      </p:sp>
      <p:sp>
        <p:nvSpPr>
          <p:cNvPr id="22" name="현재 생육 + 이전 환경 관측">
            <a:extLst xmlns:a="http://schemas.openxmlformats.org/drawingml/2006/main">
              <a:ext uri="{FF2B5EF4-FFF2-40B4-BE49-F238E27FC236}">
                <a16:creationId xmlns:a16="http://schemas.microsoft.com/office/drawing/2014/main" id="{7BBB732F-9817-452B-9A90-35DADD9A287B}"/>
              </a:ext>
            </a:extLst>
          </p:cNvPr>
          <p:cNvSpPr>
            <a:spLocks xmlns:a="http://schemas.openxmlformats.org/drawingml/2006/main" noGrp="1"/>
          </p:cNvSpPr>
          <p:nvPr/>
        </p:nvSpPr>
        <p:spPr>
          <a:xfrm xmlns:a="http://schemas.openxmlformats.org/drawingml/2006/main">
            <a:off x="762000" y="4991100"/>
            <a:ext cx="4667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92F"/>
                </a:solidFill>
                <a:latin typeface="Malgun Gothic"/>
                <a:ea typeface="Malgun Gothic"/>
                <a:cs typeface="Malgun Gothic"/>
              </a:defRPr>
            </a:defPPr>
          </a:lstStyle>
          <a:p xmlns:a="http://schemas.openxmlformats.org/drawingml/2006/main">
            <a:pPr algn="l">
              <a:defRPr sz="1725" b="0">
                <a:solidFill>
                  <a:srgbClr val="17392F"/>
                </a:solidFill>
                <a:latin typeface="Malgun Gothic"/>
                <a:ea typeface="Malgun Gothic"/>
                <a:cs typeface="Malgun Gothic"/>
              </a:defRPr>
            </a:pPr>
            <a:r>
              <a:rPr sz="1725" b="0">
                <a:solidFill>
                  <a:srgbClr val="17392F"/>
                </a:solidFill>
                <a:latin typeface="Malgun Gothic"/>
                <a:ea typeface="Malgun Gothic"/>
                <a:cs typeface="Malgun Gothic"/>
              </a:rPr>
              <a:t>현재 생육 + 이전 환경 관측</a:t>
            </a:r>
          </a:p>
        </p:txBody>
      </p:sp>
      <p:sp>
        <p:nvSpPr>
          <p:cNvPr id="23" name="">
            <a:extLst xmlns:a="http://schemas.openxmlformats.org/drawingml/2006/main">
              <a:ext uri="{FF2B5EF4-FFF2-40B4-BE49-F238E27FC236}">
                <a16:creationId xmlns:a16="http://schemas.microsoft.com/office/drawing/2014/main" id="{98A0C53B-23B2-4BDA-9138-C42995D4FD7C}"/>
              </a:ext>
            </a:extLst>
          </p:cNvPr>
          <p:cNvSpPr>
            <a:spLocks xmlns:a="http://schemas.openxmlformats.org/drawingml/2006/main" noGrp="1"/>
          </p:cNvSpPr>
          <p:nvPr/>
        </p:nvSpPr>
        <p:spPr>
          <a:xfrm xmlns:a="http://schemas.openxmlformats.org/drawingml/2006/main">
            <a:off x="6591300" y="4400550"/>
            <a:ext cx="4991100" cy="933450"/>
          </a:xfrm>
          <a:prstGeom xmlns:a="http://schemas.openxmlformats.org/drawingml/2006/main" prst="rect">
            <a:avLst/>
          </a:prstGeom>
          <a:solidFill xmlns:a="http://schemas.openxmlformats.org/drawingml/2006/main">
            <a:srgbClr val="E7F2EB"/>
          </a:solidFill>
          <a:ln xmlns:a="http://schemas.openxmlformats.org/drawingml/2006/main" w="14288">
            <a:solidFill>
              <a:srgbClr val="15734C"/>
            </a:solidFill>
          </a:ln>
        </p:spPr>
      </p:sp>
      <p:sp>
        <p:nvSpPr>
          <p:cNvPr id="24" name="7일 뒤 생육 점검">
            <a:extLst xmlns:a="http://schemas.openxmlformats.org/drawingml/2006/main">
              <a:ext uri="{FF2B5EF4-FFF2-40B4-BE49-F238E27FC236}">
                <a16:creationId xmlns:a16="http://schemas.microsoft.com/office/drawing/2014/main" id="{8D86148A-404A-4D2D-8FA0-9F1B6C240BCC}"/>
              </a:ext>
            </a:extLst>
          </p:cNvPr>
          <p:cNvSpPr>
            <a:spLocks xmlns:a="http://schemas.openxmlformats.org/drawingml/2006/main" noGrp="1"/>
          </p:cNvSpPr>
          <p:nvPr/>
        </p:nvSpPr>
        <p:spPr>
          <a:xfrm xmlns:a="http://schemas.openxmlformats.org/drawingml/2006/main">
            <a:off x="6743700" y="4552950"/>
            <a:ext cx="46863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734C"/>
                </a:solidFill>
                <a:latin typeface="Malgun Gothic"/>
                <a:ea typeface="Malgun Gothic"/>
                <a:cs typeface="Malgun Gothic"/>
              </a:defRPr>
            </a:defPPr>
          </a:lstStyle>
          <a:p xmlns:a="http://schemas.openxmlformats.org/drawingml/2006/main">
            <a:pPr algn="l">
              <a:defRPr sz="2100" b="1">
                <a:solidFill>
                  <a:srgbClr val="15734C"/>
                </a:solidFill>
                <a:latin typeface="Malgun Gothic"/>
                <a:ea typeface="Malgun Gothic"/>
                <a:cs typeface="Malgun Gothic"/>
              </a:defRPr>
            </a:pPr>
            <a:r>
              <a:rPr sz="2100" b="1">
                <a:solidFill>
                  <a:srgbClr val="15734C"/>
                </a:solidFill>
                <a:latin typeface="Malgun Gothic"/>
                <a:ea typeface="Malgun Gothic"/>
                <a:cs typeface="Malgun Gothic"/>
              </a:rPr>
              <a:t>7일 뒤 생육 점검</a:t>
            </a:r>
          </a:p>
        </p:txBody>
      </p:sp>
      <p:sp>
        <p:nvSpPr>
          <p:cNvPr id="25" name="다음 방문의 시설 평균 초장 예측">
            <a:extLst xmlns:a="http://schemas.openxmlformats.org/drawingml/2006/main">
              <a:ext uri="{FF2B5EF4-FFF2-40B4-BE49-F238E27FC236}">
                <a16:creationId xmlns:a16="http://schemas.microsoft.com/office/drawing/2014/main" id="{602AFD58-62A5-4E92-8BC2-1BA2992DAF4E}"/>
              </a:ext>
            </a:extLst>
          </p:cNvPr>
          <p:cNvSpPr>
            <a:spLocks xmlns:a="http://schemas.openxmlformats.org/drawingml/2006/main" noGrp="1"/>
          </p:cNvSpPr>
          <p:nvPr/>
        </p:nvSpPr>
        <p:spPr>
          <a:xfrm xmlns:a="http://schemas.openxmlformats.org/drawingml/2006/main">
            <a:off x="6743700" y="4991100"/>
            <a:ext cx="46863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92F"/>
                </a:solidFill>
                <a:latin typeface="Malgun Gothic"/>
                <a:ea typeface="Malgun Gothic"/>
                <a:cs typeface="Malgun Gothic"/>
              </a:defRPr>
            </a:defPPr>
          </a:lstStyle>
          <a:p xmlns:a="http://schemas.openxmlformats.org/drawingml/2006/main">
            <a:pPr algn="l">
              <a:defRPr sz="1725" b="0">
                <a:solidFill>
                  <a:srgbClr val="17392F"/>
                </a:solidFill>
                <a:latin typeface="Malgun Gothic"/>
                <a:ea typeface="Malgun Gothic"/>
                <a:cs typeface="Malgun Gothic"/>
              </a:defRPr>
            </a:pPr>
            <a:r>
              <a:rPr sz="1725" b="0">
                <a:solidFill>
                  <a:srgbClr val="17392F"/>
                </a:solidFill>
                <a:latin typeface="Malgun Gothic"/>
                <a:ea typeface="Malgun Gothic"/>
                <a:cs typeface="Malgun Gothic"/>
              </a:rPr>
              <a:t>다음 방문의 시설 평균 초장 예측</a:t>
            </a:r>
          </a:p>
        </p:txBody>
      </p:sp>
      <p:sp>
        <p:nvSpPr>
          <p:cNvPr id="27" name="미개방 자료는 현장에서 실제 파일로 교체해 평가한다. 합성자료">
            <a:extLst xmlns:a="http://schemas.openxmlformats.org/drawingml/2006/main">
              <a:ext uri="{FF2B5EF4-FFF2-40B4-BE49-F238E27FC236}">
                <a16:creationId xmlns:a16="http://schemas.microsoft.com/office/drawing/2014/main" id="{F871F940-AFCB-4512-9C9A-7FD8AB3E1463}"/>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미개방 자료는 현장에서 실제 파일로 교체해 평가한다. 합성자료 80작기 실행은 코드 검증이다.</a:t>
            </a:r>
          </a:p>
        </p:txBody>
      </p:sp>
    </p:spTree>
    <p:extLst>
      <p:ext uri="{BB962C8B-B14F-4D97-AF65-F5344CB8AC3E}">
        <p14:creationId xmlns:p14="http://schemas.microsoft.com/office/powerpoint/2010/main" val="668410592"/>
      </p:ext>
    </p:extLst>
  </p:cSld>
</p:sld>
</file>

<file path=ppt/slides/slide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6" name="확보한 데이터와 사용 범위">
            <a:extLst xmlns:a="http://schemas.openxmlformats.org/drawingml/2006/main">
              <a:ext uri="{FF2B5EF4-FFF2-40B4-BE49-F238E27FC236}">
                <a16:creationId xmlns:a16="http://schemas.microsoft.com/office/drawing/2014/main" id="{A26300CE-1AC5-447A-B83F-F90C23032076}"/>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확보한 데이터와 사용 범위</a:t>
            </a:r>
          </a:p>
        </p:txBody>
      </p:sp>
      <p:sp>
        <p:nvSpPr>
          <p:cNvPr id="2" name="">
            <a:extLst xmlns:a="http://schemas.openxmlformats.org/drawingml/2006/main">
              <a:ext uri="{FF2B5EF4-FFF2-40B4-BE49-F238E27FC236}">
                <a16:creationId xmlns:a16="http://schemas.microsoft.com/office/drawing/2014/main" id="{64B2EB46-7C00-4EBE-BBC6-8AF4268A476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04">
            <a:extLst xmlns:a="http://schemas.openxmlformats.org/drawingml/2006/main">
              <a:ext uri="{FF2B5EF4-FFF2-40B4-BE49-F238E27FC236}">
                <a16:creationId xmlns:a16="http://schemas.microsoft.com/office/drawing/2014/main" id="{79DA7A0D-87A2-4475-B368-C81B3B2C3BAD}"/>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04</a:t>
            </a:r>
          </a:p>
        </p:txBody>
      </p:sp>
      <p:graphicFrame>
        <p:nvGraphicFramePr>
          <p:cNvPr id="4" name="">
            <a:extLst xmlns:a="http://schemas.openxmlformats.org/drawingml/2006/main">
              <a:ext uri="{FF2B5EF4-FFF2-40B4-BE49-F238E27FC236}">
                <a16:creationId xmlns:a16="http://schemas.microsoft.com/office/drawing/2014/main" id="{58A91521-21B3-4CFD-8865-F3F3E65A4496}"/>
              </a:ext>
            </a:extLst>
          </p:cNvPr>
          <p:cNvGraphicFramePr/>
          <p:nvPr/>
        </p:nvGraphicFramePr>
        <p:xfrm>
          <a:off xmlns:a="http://schemas.openxmlformats.org/drawingml/2006/main" x="609600" y="1657350"/>
          <a:ext xmlns:a="http://schemas.openxmlformats.org/drawingml/2006/main" cx="10972800" cy="4086225"/>
        </p:xfrm>
        <a:graphic xmlns:a="http://schemas.openxmlformats.org/drawingml/2006/main">
          <a:graphicData uri="http://schemas.openxmlformats.org/drawingml/2006/table">
            <a:tbl>
              <a:tblPr/>
              <a:tblGrid>
                <a:gridCol w="2571750"/>
                <a:gridCol w="4333875"/>
                <a:gridCol w="4067175"/>
              </a:tblGrid>
              <a:tr h="583746">
                <a:tc>
                  <a:txBody>
                    <a:bodyPr lIns="95250" tIns="95250" rIns="95250" bIns="95250"/>
                    <a:lstStyle/>
                    <a:p>
                      <a:r>
                        <a:rPr sz="1725" b="1">
                          <a:solidFill>
                            <a:srgbClr val="FFFFFF"/>
                          </a:solidFill>
                          <a:latin typeface="Malgun Gothic"/>
                          <a:ea typeface="Malgun Gothic"/>
                          <a:cs typeface="Malgun Gothic"/>
                        </a:rPr>
                        <a:t>자료</a:t>
                      </a:r>
                    </a:p>
                  </a:txBody>
                  <a:tcPr marL="91440" marR="91440" marT="45720" marB="45720" anchor="ctr">
                    <a:solidFill>
                      <a:srgbClr val="15734C"/>
                    </a:solidFill>
                  </a:tcPr>
                </a:tc>
                <a:tc>
                  <a:txBody>
                    <a:bodyPr lIns="95250" tIns="95250" rIns="95250" bIns="95250"/>
                    <a:lstStyle/>
                    <a:p>
                      <a:r>
                        <a:rPr sz="1725" b="1">
                          <a:solidFill>
                            <a:srgbClr val="FFFFFF"/>
                          </a:solidFill>
                          <a:latin typeface="Malgun Gothic"/>
                          <a:ea typeface="Malgun Gothic"/>
                          <a:cs typeface="Malgun Gothic"/>
                        </a:rPr>
                        <a:t>확보 범위</a:t>
                      </a:r>
                    </a:p>
                  </a:txBody>
                  <a:tcPr marL="91440" marR="91440" marT="45720" marB="45720" anchor="ctr">
                    <a:solidFill>
                      <a:srgbClr val="15734C"/>
                    </a:solidFill>
                  </a:tcPr>
                </a:tc>
                <a:tc>
                  <a:txBody>
                    <a:bodyPr lIns="95250" tIns="95250" rIns="95250" bIns="95250"/>
                    <a:lstStyle/>
                    <a:p>
                      <a:r>
                        <a:rPr sz="1725" b="1">
                          <a:solidFill>
                            <a:srgbClr val="FFFFFF"/>
                          </a:solidFill>
                          <a:latin typeface="Malgun Gothic"/>
                          <a:ea typeface="Malgun Gothic"/>
                          <a:cs typeface="Malgun Gothic"/>
                        </a:rPr>
                        <a:t>현재 역할</a:t>
                      </a:r>
                    </a:p>
                  </a:txBody>
                  <a:tcPr marL="91440" marR="91440" marT="45720" marB="45720" anchor="ctr">
                    <a:solidFill>
                      <a:srgbClr val="15734C"/>
                    </a:solidFill>
                  </a:tcPr>
                </a:tc>
              </a:tr>
              <a:tr h="583746">
                <a:tc>
                  <a:txBody>
                    <a:bodyPr lIns="95250" tIns="95250" rIns="95250" bIns="95250"/>
                    <a:lstStyle/>
                    <a:p>
                      <a:r>
                        <a:rPr sz="1725" b="0">
                          <a:solidFill>
                            <a:srgbClr val="17392F"/>
                          </a:solidFill>
                          <a:latin typeface="Malgun Gothic"/>
                          <a:ea typeface="Malgun Gothic"/>
                          <a:cs typeface="Malgun Gothic"/>
                        </a:rPr>
                        <a:t>농사로 소득조사</a:t>
                      </a:r>
                    </a:p>
                  </a:txBody>
                  <a:tcPr marL="91440" marR="91440" marT="45720" marB="45720" anchor="ctr">
                    <a:solidFill>
                      <a:srgbClr val="FFFFFF"/>
                    </a:solidFill>
                  </a:tcPr>
                </a:tc>
                <a:tc>
                  <a:txBody>
                    <a:bodyPr lIns="95250" tIns="95250" rIns="95250" bIns="95250"/>
                    <a:lstStyle/>
                    <a:p>
                      <a:r>
                        <a:rPr sz="1725" b="0">
                          <a:solidFill>
                            <a:srgbClr val="17392F"/>
                          </a:solidFill>
                          <a:latin typeface="Malgun Gothic"/>
                          <a:ea typeface="Malgun Gothic"/>
                          <a:cs typeface="Malgun Gothic"/>
                        </a:rPr>
                        <a:t>2020~2024년, 266 집계행</a:t>
                      </a:r>
                    </a:p>
                  </a:txBody>
                  <a:tcPr marL="91440" marR="91440" marT="45720" marB="45720" anchor="ctr">
                    <a:solidFill>
                      <a:srgbClr val="FFFFFF"/>
                    </a:solidFill>
                  </a:tcPr>
                </a:tc>
                <a:tc>
                  <a:txBody>
                    <a:bodyPr lIns="95250" tIns="95250" rIns="95250" bIns="95250"/>
                    <a:lstStyle/>
                    <a:p>
                      <a:r>
                        <a:rPr sz="1725" b="0">
                          <a:solidFill>
                            <a:srgbClr val="17392F"/>
                          </a:solidFill>
                          <a:latin typeface="Malgun Gothic"/>
                          <a:ea typeface="Malgun Gothic"/>
                          <a:cs typeface="Malgun Gothic"/>
                        </a:rPr>
                        <a:t>면적당 연간 생산·비용 기준</a:t>
                      </a:r>
                    </a:p>
                  </a:txBody>
                  <a:tcPr marL="91440" marR="91440" marT="45720" marB="45720" anchor="ctr">
                    <a:solidFill>
                      <a:srgbClr val="FFFFFF"/>
                    </a:solidFill>
                  </a:tcPr>
                </a:tc>
              </a:tr>
              <a:tr h="583746">
                <a:tc>
                  <a:txBody>
                    <a:bodyPr lIns="95250" tIns="95250" rIns="95250" bIns="95250"/>
                    <a:lstStyle/>
                    <a:p>
                      <a:r>
                        <a:rPr sz="1725" b="0">
                          <a:solidFill>
                            <a:srgbClr val="17392F"/>
                          </a:solidFill>
                          <a:latin typeface="Malgun Gothic"/>
                          <a:ea typeface="Malgun Gothic"/>
                          <a:cs typeface="Malgun Gothic"/>
                        </a:rPr>
                        <a:t>농가 큐레이션</a:t>
                      </a:r>
                    </a:p>
                  </a:txBody>
                  <a:tcPr marL="91440" marR="91440" marT="45720" marB="45720" anchor="ctr">
                    <a:solidFill>
                      <a:srgbClr val="E7F2EB"/>
                    </a:solidFill>
                  </a:tcPr>
                </a:tc>
                <a:tc>
                  <a:txBody>
                    <a:bodyPr lIns="95250" tIns="95250" rIns="95250" bIns="95250"/>
                    <a:lstStyle/>
                    <a:p>
                      <a:r>
                        <a:rPr sz="1725" b="0">
                          <a:solidFill>
                            <a:srgbClr val="17392F"/>
                          </a:solidFill>
                          <a:latin typeface="Malgun Gothic"/>
                          <a:ea typeface="Malgun Gothic"/>
                          <a:cs typeface="Malgun Gothic"/>
                        </a:rPr>
                        <a:t>딸기 77작기 / 5품목 매출 192작기</a:t>
                      </a:r>
                    </a:p>
                  </a:txBody>
                  <a:tcPr marL="91440" marR="91440" marT="45720" marB="45720" anchor="ctr">
                    <a:solidFill>
                      <a:srgbClr val="E7F2EB"/>
                    </a:solidFill>
                  </a:tcPr>
                </a:tc>
                <a:tc>
                  <a:txBody>
                    <a:bodyPr lIns="95250" tIns="95250" rIns="95250" bIns="95250"/>
                    <a:lstStyle/>
                    <a:p>
                      <a:r>
                        <a:rPr sz="1725" b="0">
                          <a:solidFill>
                            <a:srgbClr val="17392F"/>
                          </a:solidFill>
                          <a:latin typeface="Malgun Gothic"/>
                          <a:ea typeface="Malgun Gothic"/>
                          <a:cs typeface="Malgun Gothic"/>
                        </a:rPr>
                        <a:t>기록된 총출하량·총매출 실험</a:t>
                      </a:r>
                    </a:p>
                  </a:txBody>
                  <a:tcPr marL="91440" marR="91440" marT="45720" marB="45720" anchor="ctr">
                    <a:solidFill>
                      <a:srgbClr val="E7F2EB"/>
                    </a:solidFill>
                  </a:tcPr>
                </a:tc>
              </a:tr>
              <a:tr h="583746">
                <a:tc>
                  <a:txBody>
                    <a:bodyPr lIns="95250" tIns="95250" rIns="95250" bIns="95250"/>
                    <a:lstStyle/>
                    <a:p>
                      <a:r>
                        <a:rPr sz="1725" b="0">
                          <a:solidFill>
                            <a:srgbClr val="17392F"/>
                          </a:solidFill>
                          <a:latin typeface="Malgun Gothic"/>
                          <a:ea typeface="Malgun Gothic"/>
                          <a:cs typeface="Malgun Gothic"/>
                        </a:rPr>
                        <a:t>환경·생육 연결</a:t>
                      </a:r>
                    </a:p>
                  </a:txBody>
                  <a:tcPr marL="91440" marR="91440" marT="45720" marB="45720" anchor="ctr">
                    <a:solidFill>
                      <a:srgbClr val="FFFFFF"/>
                    </a:solidFill>
                  </a:tcPr>
                </a:tc>
                <a:tc>
                  <a:txBody>
                    <a:bodyPr lIns="95250" tIns="95250" rIns="95250" bIns="95250"/>
                    <a:lstStyle/>
                    <a:p>
                      <a:r>
                        <a:rPr sz="1725" b="0">
                          <a:solidFill>
                            <a:srgbClr val="17392F"/>
                          </a:solidFill>
                          <a:latin typeface="Malgun Gothic"/>
                          <a:ea typeface="Malgun Gothic"/>
                          <a:cs typeface="Malgun Gothic"/>
                        </a:rPr>
                        <a:t>7일 간격 40쌍 / 21시설</a:t>
                      </a:r>
                    </a:p>
                  </a:txBody>
                  <a:tcPr marL="91440" marR="91440" marT="45720" marB="45720" anchor="ctr">
                    <a:solidFill>
                      <a:srgbClr val="FFFFFF"/>
                    </a:solidFill>
                  </a:tcPr>
                </a:tc>
                <a:tc>
                  <a:txBody>
                    <a:bodyPr lIns="95250" tIns="95250" rIns="95250" bIns="95250"/>
                    <a:lstStyle/>
                    <a:p>
                      <a:r>
                        <a:rPr sz="1725" b="0">
                          <a:solidFill>
                            <a:srgbClr val="17392F"/>
                          </a:solidFill>
                          <a:latin typeface="Malgun Gothic"/>
                          <a:ea typeface="Malgun Gothic"/>
                          <a:cs typeface="Malgun Gothic"/>
                        </a:rPr>
                        <a:t>운영 중 다음 방문 초장 예측</a:t>
                      </a:r>
                    </a:p>
                  </a:txBody>
                  <a:tcPr marL="91440" marR="91440" marT="45720" marB="45720" anchor="ctr">
                    <a:solidFill>
                      <a:srgbClr val="FFFFFF"/>
                    </a:solidFill>
                  </a:tcPr>
                </a:tc>
              </a:tr>
              <a:tr h="583746">
                <a:tc>
                  <a:txBody>
                    <a:bodyPr lIns="95250" tIns="95250" rIns="95250" bIns="95250"/>
                    <a:lstStyle/>
                    <a:p>
                      <a:r>
                        <a:rPr sz="1725" b="0">
                          <a:solidFill>
                            <a:srgbClr val="17392F"/>
                          </a:solidFill>
                          <a:latin typeface="Malgun Gothic"/>
                          <a:ea typeface="Malgun Gothic"/>
                          <a:cs typeface="Malgun Gothic"/>
                        </a:rPr>
                        <a:t>스마트팜 API / ADP</a:t>
                      </a:r>
                    </a:p>
                  </a:txBody>
                  <a:tcPr marL="91440" marR="91440" marT="45720" marB="45720" anchor="ctr">
                    <a:solidFill>
                      <a:srgbClr val="E7F2EB"/>
                    </a:solidFill>
                  </a:tcPr>
                </a:tc>
                <a:tc>
                  <a:txBody>
                    <a:bodyPr lIns="95250" tIns="95250" rIns="95250" bIns="95250"/>
                    <a:lstStyle/>
                    <a:p>
                      <a:r>
                        <a:rPr sz="1725" b="0">
                          <a:solidFill>
                            <a:srgbClr val="17392F"/>
                          </a:solidFill>
                          <a:latin typeface="Malgun Gothic"/>
                          <a:ea typeface="Malgun Gothic"/>
                          <a:cs typeface="Malgun Gothic"/>
                        </a:rPr>
                        <a:t>API 238시설 / ADP 237작기</a:t>
                      </a:r>
                    </a:p>
                  </a:txBody>
                  <a:tcPr marL="91440" marR="91440" marT="45720" marB="45720" anchor="ctr">
                    <a:solidFill>
                      <a:srgbClr val="E7F2EB"/>
                    </a:solidFill>
                  </a:tcPr>
                </a:tc>
                <a:tc>
                  <a:txBody>
                    <a:bodyPr lIns="95250" tIns="95250" rIns="95250" bIns="95250"/>
                    <a:lstStyle/>
                    <a:p>
                      <a:r>
                        <a:rPr sz="1725" b="0">
                          <a:solidFill>
                            <a:srgbClr val="17392F"/>
                          </a:solidFill>
                          <a:latin typeface="Malgun Gothic"/>
                          <a:ea typeface="Malgun Gothic"/>
                          <a:cs typeface="Malgun Gothic"/>
                        </a:rPr>
                        <a:t>시설 메타정보·출하시점 실험</a:t>
                      </a:r>
                    </a:p>
                  </a:txBody>
                  <a:tcPr marL="91440" marR="91440" marT="45720" marB="45720" anchor="ctr">
                    <a:solidFill>
                      <a:srgbClr val="E7F2EB"/>
                    </a:solidFill>
                  </a:tcPr>
                </a:tc>
              </a:tr>
              <a:tr h="583746">
                <a:tc>
                  <a:txBody>
                    <a:bodyPr lIns="95250" tIns="95250" rIns="95250" bIns="95250"/>
                    <a:lstStyle/>
                    <a:p>
                      <a:r>
                        <a:rPr sz="1725" b="0">
                          <a:solidFill>
                            <a:srgbClr val="17392F"/>
                          </a:solidFill>
                          <a:latin typeface="Malgun Gothic"/>
                          <a:ea typeface="Malgun Gothic"/>
                          <a:cs typeface="Malgun Gothic"/>
                        </a:rPr>
                        <a:t>KAMIS / 기후평년값</a:t>
                      </a:r>
                    </a:p>
                  </a:txBody>
                  <a:tcPr marL="91440" marR="91440" marT="45720" marB="45720" anchor="ctr">
                    <a:solidFill>
                      <a:srgbClr val="FFFFFF"/>
                    </a:solidFill>
                  </a:tcPr>
                </a:tc>
                <a:tc>
                  <a:txBody>
                    <a:bodyPr lIns="95250" tIns="95250" rIns="95250" bIns="95250"/>
                    <a:lstStyle/>
                    <a:p>
                      <a:r>
                        <a:rPr sz="1725" b="0">
                          <a:solidFill>
                            <a:srgbClr val="17392F"/>
                          </a:solidFill>
                          <a:latin typeface="Malgun Gothic"/>
                          <a:ea typeface="Malgun Gothic"/>
                          <a:cs typeface="Malgun Gothic"/>
                        </a:rPr>
                        <a:t>가격 814개 중 kg 574개 / 219지점</a:t>
                      </a:r>
                    </a:p>
                  </a:txBody>
                  <a:tcPr marL="91440" marR="91440" marT="45720" marB="45720" anchor="ctr">
                    <a:solidFill>
                      <a:srgbClr val="FFFFFF"/>
                    </a:solidFill>
                  </a:tcPr>
                </a:tc>
                <a:tc>
                  <a:txBody>
                    <a:bodyPr lIns="95250" tIns="95250" rIns="95250" bIns="95250"/>
                    <a:lstStyle/>
                    <a:p>
                      <a:r>
                        <a:rPr sz="1725" b="0">
                          <a:solidFill>
                            <a:srgbClr val="17392F"/>
                          </a:solidFill>
                          <a:latin typeface="Malgun Gothic"/>
                          <a:ea typeface="Malgun Gothic"/>
                          <a:cs typeface="Malgun Gothic"/>
                        </a:rPr>
                        <a:t>가격 변동·기후 가정 시나리오</a:t>
                      </a:r>
                    </a:p>
                  </a:txBody>
                  <a:tcPr marL="91440" marR="91440" marT="45720" marB="45720" anchor="ctr">
                    <a:solidFill>
                      <a:srgbClr val="FFFFFF"/>
                    </a:solidFill>
                  </a:tcPr>
                </a:tc>
              </a:tr>
              <a:tr h="583746">
                <a:tc>
                  <a:txBody>
                    <a:bodyPr lIns="95250" tIns="95250" rIns="95250" bIns="95250"/>
                    <a:lstStyle/>
                    <a:p>
                      <a:r>
                        <a:rPr sz="1725" b="0">
                          <a:solidFill>
                            <a:srgbClr val="17392F"/>
                          </a:solidFill>
                          <a:latin typeface="Malgun Gothic"/>
                          <a:ea typeface="Malgun Gothic"/>
                          <a:cs typeface="Malgun Gothic"/>
                        </a:rPr>
                        <a:t>설비 / 대회 미개방 자료</a:t>
                      </a:r>
                    </a:p>
                  </a:txBody>
                  <a:tcPr marL="91440" marR="91440" marT="45720" marB="45720" anchor="ctr">
                    <a:solidFill>
                      <a:srgbClr val="E7F2EB"/>
                    </a:solidFill>
                  </a:tcPr>
                </a:tc>
                <a:tc>
                  <a:txBody>
                    <a:bodyPr lIns="95250" tIns="95250" rIns="95250" bIns="95250"/>
                    <a:lstStyle/>
                    <a:p>
                      <a:r>
                        <a:rPr sz="1725" b="0">
                          <a:solidFill>
                            <a:srgbClr val="17392F"/>
                          </a:solidFill>
                          <a:latin typeface="Malgun Gothic"/>
                          <a:ea typeface="Malgun Gothic"/>
                          <a:cs typeface="Malgun Gothic"/>
                        </a:rPr>
                        <a:t>공개 장비 3종 / 79필드 명세</a:t>
                      </a:r>
                    </a:p>
                  </a:txBody>
                  <a:tcPr marL="91440" marR="91440" marT="45720" marB="45720" anchor="ctr">
                    <a:solidFill>
                      <a:srgbClr val="E7F2EB"/>
                    </a:solidFill>
                  </a:tcPr>
                </a:tc>
                <a:tc>
                  <a:txBody>
                    <a:bodyPr lIns="95250" tIns="95250" rIns="95250" bIns="95250"/>
                    <a:lstStyle/>
                    <a:p>
                      <a:r>
                        <a:rPr sz="1725" b="0">
                          <a:solidFill>
                            <a:srgbClr val="17392F"/>
                          </a:solidFill>
                          <a:latin typeface="Malgun Gothic"/>
                          <a:ea typeface="Malgun Gothic"/>
                          <a:cs typeface="Malgun Gothic"/>
                        </a:rPr>
                        <a:t>설비비 계산 / 현장 실행 준비</a:t>
                      </a:r>
                    </a:p>
                  </a:txBody>
                  <a:tcPr marL="91440" marR="91440" marT="45720" marB="45720" anchor="ctr">
                    <a:solidFill>
                      <a:srgbClr val="E7F2EB"/>
                    </a:solidFill>
                  </a:tcPr>
                </a:tc>
              </a:tr>
            </a:tbl>
          </a:graphicData>
        </a:graphic>
      </p:graphicFrame>
      <p:sp>
        <p:nvSpPr>
          <p:cNvPr id="5" name="표의 행 수와 작기 수, 시설 수는 다른 단위다. 미개방 원자">
            <a:extLst xmlns:a="http://schemas.openxmlformats.org/drawingml/2006/main">
              <a:ext uri="{FF2B5EF4-FFF2-40B4-BE49-F238E27FC236}">
                <a16:creationId xmlns:a16="http://schemas.microsoft.com/office/drawing/2014/main" id="{2F7B3260-F998-42FE-BE75-7F0CD6142A3A}"/>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표의 행 수와 작기 수, 시설 수는 다른 단위다. 미개방 원자료는 로컬에 확보하지 않았다.</a:t>
            </a:r>
          </a:p>
        </p:txBody>
      </p:sp>
    </p:spTree>
    <p:extLst>
      <p:ext uri="{BB962C8B-B14F-4D97-AF65-F5344CB8AC3E}">
        <p14:creationId xmlns:p14="http://schemas.microsoft.com/office/powerpoint/2010/main" val="1146426115"/>
      </p:ext>
    </p:extLst>
  </p:cSld>
</p:sld>
</file>

<file path=ppt/slides/slide5.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cxnSp>
        <p:nvCxnSpPr>
          <p:cNvPr id="14" name="">
            <a:extLst xmlns:a="http://schemas.openxmlformats.org/drawingml/2006/main">
              <a:ext uri="{FF2B5EF4-FFF2-40B4-BE49-F238E27FC236}">
                <a16:creationId xmlns:a16="http://schemas.microsoft.com/office/drawing/2014/main" id="{4AD4276B-B8F7-43EE-83DC-42EEA7A09270}"/>
              </a:ext>
            </a:extLst>
          </p:cNvPr>
          <p:cNvCxnSpPr>
            <a:stCxn xmlns:a="http://schemas.openxmlformats.org/drawingml/2006/main" id="7" idx="3"/>
            <a:endCxn xmlns:a="http://schemas.openxmlformats.org/drawingml/2006/main" id="10" idx="1"/>
          </p:cNvCxnSpPr>
          <p:nvPr/>
        </p:nvCxnSpPr>
        <p:spPr>
          <a:xfrm xmlns:a="http://schemas.openxmlformats.org/drawingml/2006/main">
            <a:off x="7677150" y="2314575"/>
            <a:ext cx="781050" cy="0"/>
          </a:xfrm>
          <a:prstGeom xmlns:a="http://schemas.openxmlformats.org/drawingml/2006/main" prst="straightConnector1">
            <a:avLst/>
          </a:prstGeom>
          <a:ln xmlns:a="http://schemas.openxmlformats.org/drawingml/2006/main" w="19050">
            <a:solidFill>
              <a:srgbClr val="15734C"/>
            </a:solidFill>
            <a:prstDash val="solid"/>
            <a:tailEnd type="triangle" w="sm" len="sm"/>
          </a:ln>
        </p:spPr>
      </p:cxnSp>
      <p:cxnSp>
        <p:nvCxnSpPr>
          <p:cNvPr id="13" name="">
            <a:extLst xmlns:a="http://schemas.openxmlformats.org/drawingml/2006/main">
              <a:ext uri="{FF2B5EF4-FFF2-40B4-BE49-F238E27FC236}">
                <a16:creationId xmlns:a16="http://schemas.microsoft.com/office/drawing/2014/main" id="{8B847435-E897-4907-9CCB-369CC59C59DA}"/>
              </a:ext>
            </a:extLst>
          </p:cNvPr>
          <p:cNvCxnSpPr>
            <a:stCxn xmlns:a="http://schemas.openxmlformats.org/drawingml/2006/main" id="4" idx="3"/>
            <a:endCxn xmlns:a="http://schemas.openxmlformats.org/drawingml/2006/main" id="7" idx="1"/>
          </p:cNvCxnSpPr>
          <p:nvPr/>
        </p:nvCxnSpPr>
        <p:spPr>
          <a:xfrm xmlns:a="http://schemas.openxmlformats.org/drawingml/2006/main">
            <a:off x="3752850" y="2314575"/>
            <a:ext cx="781050" cy="0"/>
          </a:xfrm>
          <a:prstGeom xmlns:a="http://schemas.openxmlformats.org/drawingml/2006/main" prst="straightConnector1">
            <a:avLst/>
          </a:prstGeom>
          <a:ln xmlns:a="http://schemas.openxmlformats.org/drawingml/2006/main" w="19050">
            <a:solidFill>
              <a:srgbClr val="15734C"/>
            </a:solidFill>
            <a:prstDash val="solid"/>
            <a:tailEnd type="triangle" w="sm" len="sm"/>
          </a:ln>
        </p:spPr>
      </p:cxnSp>
      <p:sp>
        <p:nvSpPr>
          <p:cNvPr id="18" name="결합 키와 단위를 먼저 확인">
            <a:extLst xmlns:a="http://schemas.openxmlformats.org/drawingml/2006/main">
              <a:ext uri="{FF2B5EF4-FFF2-40B4-BE49-F238E27FC236}">
                <a16:creationId xmlns:a16="http://schemas.microsoft.com/office/drawing/2014/main" id="{5DCDB3E6-09F4-4912-8E52-7A5A6D41E3FD}"/>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결합 키와 단위를 먼저 확인</a:t>
            </a:r>
          </a:p>
        </p:txBody>
      </p:sp>
      <p:sp>
        <p:nvSpPr>
          <p:cNvPr id="2" name="">
            <a:extLst xmlns:a="http://schemas.openxmlformats.org/drawingml/2006/main">
              <a:ext uri="{FF2B5EF4-FFF2-40B4-BE49-F238E27FC236}">
                <a16:creationId xmlns:a16="http://schemas.microsoft.com/office/drawing/2014/main" id="{800FE974-6E0C-4F21-A4FC-5BE367A5CA2A}"/>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05">
            <a:extLst xmlns:a="http://schemas.openxmlformats.org/drawingml/2006/main">
              <a:ext uri="{FF2B5EF4-FFF2-40B4-BE49-F238E27FC236}">
                <a16:creationId xmlns:a16="http://schemas.microsoft.com/office/drawing/2014/main" id="{A8EAF2C9-802C-4179-9843-35DB5213F27C}"/>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05</a:t>
            </a:r>
          </a:p>
        </p:txBody>
      </p:sp>
      <p:sp>
        <p:nvSpPr>
          <p:cNvPr id="4" name="">
            <a:extLst xmlns:a="http://schemas.openxmlformats.org/drawingml/2006/main">
              <a:ext uri="{FF2B5EF4-FFF2-40B4-BE49-F238E27FC236}">
                <a16:creationId xmlns:a16="http://schemas.microsoft.com/office/drawing/2014/main" id="{2AAA700B-8763-4B04-9873-99C43067EE3F}"/>
              </a:ext>
            </a:extLst>
          </p:cNvPr>
          <p:cNvSpPr>
            <a:spLocks xmlns:a="http://schemas.openxmlformats.org/drawingml/2006/main" noGrp="1"/>
          </p:cNvSpPr>
          <p:nvPr/>
        </p:nvSpPr>
        <p:spPr>
          <a:xfrm xmlns:a="http://schemas.openxmlformats.org/drawingml/2006/main">
            <a:off x="609600" y="1724025"/>
            <a:ext cx="3143250" cy="1181100"/>
          </a:xfrm>
          <a:prstGeom xmlns:a="http://schemas.openxmlformats.org/drawingml/2006/main" prst="rect">
            <a:avLst/>
          </a:prstGeom>
          <a:solidFill xmlns:a="http://schemas.openxmlformats.org/drawingml/2006/main">
            <a:srgbClr val="E7F2EB"/>
          </a:solidFill>
          <a:ln xmlns:a="http://schemas.openxmlformats.org/drawingml/2006/main" w="14288">
            <a:solidFill>
              <a:srgbClr val="15734C"/>
            </a:solidFill>
          </a:ln>
        </p:spPr>
      </p:sp>
      <p:sp>
        <p:nvSpPr>
          <p:cNvPr id="5" name="시설·작기">
            <a:extLst xmlns:a="http://schemas.openxmlformats.org/drawingml/2006/main">
              <a:ext uri="{FF2B5EF4-FFF2-40B4-BE49-F238E27FC236}">
                <a16:creationId xmlns:a16="http://schemas.microsoft.com/office/drawing/2014/main" id="{E76ACADA-D5AB-4A01-BD49-003472704CAD}"/>
              </a:ext>
            </a:extLst>
          </p:cNvPr>
          <p:cNvSpPr>
            <a:spLocks xmlns:a="http://schemas.openxmlformats.org/drawingml/2006/main" noGrp="1"/>
          </p:cNvSpPr>
          <p:nvPr/>
        </p:nvSpPr>
        <p:spPr>
          <a:xfrm xmlns:a="http://schemas.openxmlformats.org/drawingml/2006/main">
            <a:off x="762000" y="1876425"/>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734C"/>
                </a:solidFill>
                <a:latin typeface="Malgun Gothic"/>
                <a:ea typeface="Malgun Gothic"/>
                <a:cs typeface="Malgun Gothic"/>
              </a:defRPr>
            </a:defPPr>
          </a:lstStyle>
          <a:p xmlns:a="http://schemas.openxmlformats.org/drawingml/2006/main">
            <a:pPr algn="l">
              <a:defRPr sz="2100" b="1">
                <a:solidFill>
                  <a:srgbClr val="15734C"/>
                </a:solidFill>
                <a:latin typeface="Malgun Gothic"/>
                <a:ea typeface="Malgun Gothic"/>
                <a:cs typeface="Malgun Gothic"/>
              </a:defRPr>
            </a:pPr>
            <a:r>
              <a:rPr sz="2100" b="1">
                <a:solidFill>
                  <a:srgbClr val="15734C"/>
                </a:solidFill>
                <a:latin typeface="Malgun Gothic"/>
                <a:ea typeface="Malgun Gothic"/>
                <a:cs typeface="Malgun Gothic"/>
              </a:rPr>
              <a:t>시설·작기</a:t>
            </a:r>
          </a:p>
        </p:txBody>
      </p:sp>
      <p:sp>
        <p:nvSpPr>
          <p:cNvPr id="6" name="시설ID·시작·종료·품목">
            <a:extLst xmlns:a="http://schemas.openxmlformats.org/drawingml/2006/main">
              <a:ext uri="{FF2B5EF4-FFF2-40B4-BE49-F238E27FC236}">
                <a16:creationId xmlns:a16="http://schemas.microsoft.com/office/drawing/2014/main" id="{A28861FD-56A8-4A9F-9E8C-42F2F39D79DD}"/>
              </a:ext>
            </a:extLst>
          </p:cNvPr>
          <p:cNvSpPr>
            <a:spLocks xmlns:a="http://schemas.openxmlformats.org/drawingml/2006/main" noGrp="1"/>
          </p:cNvSpPr>
          <p:nvPr/>
        </p:nvSpPr>
        <p:spPr>
          <a:xfrm xmlns:a="http://schemas.openxmlformats.org/drawingml/2006/main">
            <a:off x="762000" y="2314575"/>
            <a:ext cx="2838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92F"/>
                </a:solidFill>
                <a:latin typeface="Malgun Gothic"/>
                <a:ea typeface="Malgun Gothic"/>
                <a:cs typeface="Malgun Gothic"/>
              </a:defRPr>
            </a:defPPr>
          </a:lstStyle>
          <a:p xmlns:a="http://schemas.openxmlformats.org/drawingml/2006/main">
            <a:pPr algn="l">
              <a:defRPr sz="1725" b="0">
                <a:solidFill>
                  <a:srgbClr val="17392F"/>
                </a:solidFill>
                <a:latin typeface="Malgun Gothic"/>
                <a:ea typeface="Malgun Gothic"/>
                <a:cs typeface="Malgun Gothic"/>
              </a:defRPr>
            </a:pPr>
            <a:r>
              <a:rPr sz="1725" b="0">
                <a:solidFill>
                  <a:srgbClr val="17392F"/>
                </a:solidFill>
                <a:latin typeface="Malgun Gothic"/>
                <a:ea typeface="Malgun Gothic"/>
                <a:cs typeface="Malgun Gothic"/>
              </a:rPr>
              <a:t>시설ID·시작·종료·품목</a:t>
            </a:r>
          </a:p>
        </p:txBody>
      </p:sp>
      <p:sp>
        <p:nvSpPr>
          <p:cNvPr id="7" name="">
            <a:extLst xmlns:a="http://schemas.openxmlformats.org/drawingml/2006/main">
              <a:ext uri="{FF2B5EF4-FFF2-40B4-BE49-F238E27FC236}">
                <a16:creationId xmlns:a16="http://schemas.microsoft.com/office/drawing/2014/main" id="{B4AE771F-B858-4A4C-B833-7512D671A5AA}"/>
              </a:ext>
            </a:extLst>
          </p:cNvPr>
          <p:cNvSpPr>
            <a:spLocks xmlns:a="http://schemas.openxmlformats.org/drawingml/2006/main" noGrp="1"/>
          </p:cNvSpPr>
          <p:nvPr/>
        </p:nvSpPr>
        <p:spPr>
          <a:xfrm xmlns:a="http://schemas.openxmlformats.org/drawingml/2006/main">
            <a:off x="4533900" y="1724025"/>
            <a:ext cx="3143250" cy="1181100"/>
          </a:xfrm>
          <a:prstGeom xmlns:a="http://schemas.openxmlformats.org/drawingml/2006/main" prst="rect">
            <a:avLst/>
          </a:prstGeom>
          <a:solidFill xmlns:a="http://schemas.openxmlformats.org/drawingml/2006/main">
            <a:srgbClr val="E7F2EB"/>
          </a:solidFill>
          <a:ln xmlns:a="http://schemas.openxmlformats.org/drawingml/2006/main" w="14288">
            <a:solidFill>
              <a:srgbClr val="15734C"/>
            </a:solidFill>
          </a:ln>
        </p:spPr>
      </p:sp>
      <p:sp>
        <p:nvSpPr>
          <p:cNvPr id="8" name="유일한 일치">
            <a:extLst xmlns:a="http://schemas.openxmlformats.org/drawingml/2006/main">
              <a:ext uri="{FF2B5EF4-FFF2-40B4-BE49-F238E27FC236}">
                <a16:creationId xmlns:a16="http://schemas.microsoft.com/office/drawing/2014/main" id="{85044EFF-35EC-45B1-AAE1-2D8B70AD18BC}"/>
              </a:ext>
            </a:extLst>
          </p:cNvPr>
          <p:cNvSpPr>
            <a:spLocks xmlns:a="http://schemas.openxmlformats.org/drawingml/2006/main" noGrp="1"/>
          </p:cNvSpPr>
          <p:nvPr/>
        </p:nvSpPr>
        <p:spPr>
          <a:xfrm xmlns:a="http://schemas.openxmlformats.org/drawingml/2006/main">
            <a:off x="4686300" y="1876425"/>
            <a:ext cx="28384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734C"/>
                </a:solidFill>
                <a:latin typeface="Malgun Gothic"/>
                <a:ea typeface="Malgun Gothic"/>
                <a:cs typeface="Malgun Gothic"/>
              </a:defRPr>
            </a:defPPr>
          </a:lstStyle>
          <a:p xmlns:a="http://schemas.openxmlformats.org/drawingml/2006/main">
            <a:pPr algn="l">
              <a:defRPr sz="2100" b="1">
                <a:solidFill>
                  <a:srgbClr val="15734C"/>
                </a:solidFill>
                <a:latin typeface="Malgun Gothic"/>
                <a:ea typeface="Malgun Gothic"/>
                <a:cs typeface="Malgun Gothic"/>
              </a:defRPr>
            </a:pPr>
            <a:r>
              <a:rPr sz="2100" b="1">
                <a:solidFill>
                  <a:srgbClr val="15734C"/>
                </a:solidFill>
                <a:latin typeface="Malgun Gothic"/>
                <a:ea typeface="Malgun Gothic"/>
                <a:cs typeface="Malgun Gothic"/>
              </a:rPr>
              <a:t>유일한 일치</a:t>
            </a:r>
          </a:p>
        </p:txBody>
      </p:sp>
      <p:sp>
        <p:nvSpPr>
          <p:cNvPr id="9" name="중복·모호한 결합 제외">
            <a:extLst xmlns:a="http://schemas.openxmlformats.org/drawingml/2006/main">
              <a:ext uri="{FF2B5EF4-FFF2-40B4-BE49-F238E27FC236}">
                <a16:creationId xmlns:a16="http://schemas.microsoft.com/office/drawing/2014/main" id="{13201AB5-1561-4C73-839B-FDE281348890}"/>
              </a:ext>
            </a:extLst>
          </p:cNvPr>
          <p:cNvSpPr>
            <a:spLocks xmlns:a="http://schemas.openxmlformats.org/drawingml/2006/main" noGrp="1"/>
          </p:cNvSpPr>
          <p:nvPr/>
        </p:nvSpPr>
        <p:spPr>
          <a:xfrm xmlns:a="http://schemas.openxmlformats.org/drawingml/2006/main">
            <a:off x="4686300" y="2314575"/>
            <a:ext cx="283845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92F"/>
                </a:solidFill>
                <a:latin typeface="Malgun Gothic"/>
                <a:ea typeface="Malgun Gothic"/>
                <a:cs typeface="Malgun Gothic"/>
              </a:defRPr>
            </a:defPPr>
          </a:lstStyle>
          <a:p xmlns:a="http://schemas.openxmlformats.org/drawingml/2006/main">
            <a:pPr algn="l">
              <a:defRPr sz="1725" b="0">
                <a:solidFill>
                  <a:srgbClr val="17392F"/>
                </a:solidFill>
                <a:latin typeface="Malgun Gothic"/>
                <a:ea typeface="Malgun Gothic"/>
                <a:cs typeface="Malgun Gothic"/>
              </a:defRPr>
            </a:pPr>
            <a:r>
              <a:rPr sz="1725" b="0">
                <a:solidFill>
                  <a:srgbClr val="17392F"/>
                </a:solidFill>
                <a:latin typeface="Malgun Gothic"/>
                <a:ea typeface="Malgun Gothic"/>
                <a:cs typeface="Malgun Gothic"/>
              </a:rPr>
              <a:t>중복·모호한 결합 제외</a:t>
            </a:r>
          </a:p>
        </p:txBody>
      </p:sp>
      <p:sp>
        <p:nvSpPr>
          <p:cNvPr id="10" name="">
            <a:extLst xmlns:a="http://schemas.openxmlformats.org/drawingml/2006/main">
              <a:ext uri="{FF2B5EF4-FFF2-40B4-BE49-F238E27FC236}">
                <a16:creationId xmlns:a16="http://schemas.microsoft.com/office/drawing/2014/main" id="{DE3003E6-9DB0-4324-924F-596BE08FB689}"/>
              </a:ext>
            </a:extLst>
          </p:cNvPr>
          <p:cNvSpPr>
            <a:spLocks xmlns:a="http://schemas.openxmlformats.org/drawingml/2006/main" noGrp="1"/>
          </p:cNvSpPr>
          <p:nvPr/>
        </p:nvSpPr>
        <p:spPr>
          <a:xfrm xmlns:a="http://schemas.openxmlformats.org/drawingml/2006/main">
            <a:off x="8458200" y="1724025"/>
            <a:ext cx="3124200" cy="1181100"/>
          </a:xfrm>
          <a:prstGeom xmlns:a="http://schemas.openxmlformats.org/drawingml/2006/main" prst="rect">
            <a:avLst/>
          </a:prstGeom>
          <a:solidFill xmlns:a="http://schemas.openxmlformats.org/drawingml/2006/main">
            <a:srgbClr val="E7F2EB"/>
          </a:solidFill>
          <a:ln xmlns:a="http://schemas.openxmlformats.org/drawingml/2006/main" w="14288">
            <a:solidFill>
              <a:srgbClr val="15734C"/>
            </a:solidFill>
          </a:ln>
        </p:spPr>
      </p:sp>
      <p:sp>
        <p:nvSpPr>
          <p:cNvPr id="11" name="학습 표본">
            <a:extLst xmlns:a="http://schemas.openxmlformats.org/drawingml/2006/main">
              <a:ext uri="{FF2B5EF4-FFF2-40B4-BE49-F238E27FC236}">
                <a16:creationId xmlns:a16="http://schemas.microsoft.com/office/drawing/2014/main" id="{2472F029-F11F-44AC-B863-26CF9C4FAB23}"/>
              </a:ext>
            </a:extLst>
          </p:cNvPr>
          <p:cNvSpPr>
            <a:spLocks xmlns:a="http://schemas.openxmlformats.org/drawingml/2006/main" noGrp="1"/>
          </p:cNvSpPr>
          <p:nvPr/>
        </p:nvSpPr>
        <p:spPr>
          <a:xfrm xmlns:a="http://schemas.openxmlformats.org/drawingml/2006/main">
            <a:off x="8610600" y="1876425"/>
            <a:ext cx="28194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1">
                <a:solidFill>
                  <a:srgbClr val="15734C"/>
                </a:solidFill>
                <a:latin typeface="Malgun Gothic"/>
                <a:ea typeface="Malgun Gothic"/>
                <a:cs typeface="Malgun Gothic"/>
              </a:defRPr>
            </a:defPPr>
          </a:lstStyle>
          <a:p xmlns:a="http://schemas.openxmlformats.org/drawingml/2006/main">
            <a:pPr algn="l">
              <a:defRPr sz="2100" b="1">
                <a:solidFill>
                  <a:srgbClr val="15734C"/>
                </a:solidFill>
                <a:latin typeface="Malgun Gothic"/>
                <a:ea typeface="Malgun Gothic"/>
                <a:cs typeface="Malgun Gothic"/>
              </a:defRPr>
            </a:pPr>
            <a:r>
              <a:rPr sz="2100" b="1">
                <a:solidFill>
                  <a:srgbClr val="15734C"/>
                </a:solidFill>
                <a:latin typeface="Malgun Gothic"/>
                <a:ea typeface="Malgun Gothic"/>
                <a:cs typeface="Malgun Gothic"/>
              </a:rPr>
              <a:t>학습 표본</a:t>
            </a:r>
          </a:p>
        </p:txBody>
      </p:sp>
      <p:sp>
        <p:nvSpPr>
          <p:cNvPr id="12" name="작기별 기록량·매출">
            <a:extLst xmlns:a="http://schemas.openxmlformats.org/drawingml/2006/main">
              <a:ext uri="{FF2B5EF4-FFF2-40B4-BE49-F238E27FC236}">
                <a16:creationId xmlns:a16="http://schemas.microsoft.com/office/drawing/2014/main" id="{D4F50248-29E6-42AC-80FC-133F0A37DAD3}"/>
              </a:ext>
            </a:extLst>
          </p:cNvPr>
          <p:cNvSpPr>
            <a:spLocks xmlns:a="http://schemas.openxmlformats.org/drawingml/2006/main" noGrp="1"/>
          </p:cNvSpPr>
          <p:nvPr/>
        </p:nvSpPr>
        <p:spPr>
          <a:xfrm xmlns:a="http://schemas.openxmlformats.org/drawingml/2006/main">
            <a:off x="8610600" y="2314575"/>
            <a:ext cx="28194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725" b="0">
                <a:solidFill>
                  <a:srgbClr val="17392F"/>
                </a:solidFill>
                <a:latin typeface="Malgun Gothic"/>
                <a:ea typeface="Malgun Gothic"/>
                <a:cs typeface="Malgun Gothic"/>
              </a:defRPr>
            </a:defPPr>
          </a:lstStyle>
          <a:p xmlns:a="http://schemas.openxmlformats.org/drawingml/2006/main">
            <a:pPr algn="l">
              <a:defRPr sz="1725" b="0">
                <a:solidFill>
                  <a:srgbClr val="17392F"/>
                </a:solidFill>
                <a:latin typeface="Malgun Gothic"/>
                <a:ea typeface="Malgun Gothic"/>
                <a:cs typeface="Malgun Gothic"/>
              </a:defRPr>
            </a:pPr>
            <a:r>
              <a:rPr sz="1725" b="0">
                <a:solidFill>
                  <a:srgbClr val="17392F"/>
                </a:solidFill>
                <a:latin typeface="Malgun Gothic"/>
                <a:ea typeface="Malgun Gothic"/>
                <a:cs typeface="Malgun Gothic"/>
              </a:rPr>
              <a:t>작기별 기록량·매출</a:t>
            </a:r>
          </a:p>
        </p:txBody>
      </p:sp>
      <p:sp>
        <p:nvSpPr>
          <p:cNvPr id="15" name="DSZ 경영조사: 같은 시설ID의 조사일이 유일한 작기 기간 ">
            <a:extLst xmlns:a="http://schemas.openxmlformats.org/drawingml/2006/main">
              <a:ext uri="{FF2B5EF4-FFF2-40B4-BE49-F238E27FC236}">
                <a16:creationId xmlns:a16="http://schemas.microsoft.com/office/drawing/2014/main" id="{9A12B950-24E8-4B3D-9D3F-B05D596BFD4B}"/>
              </a:ext>
            </a:extLst>
          </p:cNvPr>
          <p:cNvSpPr>
            <a:spLocks xmlns:a="http://schemas.openxmlformats.org/drawingml/2006/main" noGrp="1"/>
          </p:cNvSpPr>
          <p:nvPr/>
        </p:nvSpPr>
        <p:spPr>
          <a:xfrm xmlns:a="http://schemas.openxmlformats.org/drawingml/2006/main">
            <a:off x="609600" y="3190875"/>
            <a:ext cx="109728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7392F"/>
                </a:solidFill>
                <a:latin typeface="Malgun Gothic"/>
                <a:ea typeface="Malgun Gothic"/>
                <a:cs typeface="Malgun Gothic"/>
              </a:defRPr>
            </a:defPPr>
          </a:lstStyle>
          <a:p xmlns:a="http://schemas.openxmlformats.org/drawingml/2006/main">
            <a:pPr algn="l">
              <a:defRPr sz="1950" b="0">
                <a:solidFill>
                  <a:srgbClr val="17392F"/>
                </a:solidFill>
                <a:latin typeface="Malgun Gothic"/>
                <a:ea typeface="Malgun Gothic"/>
                <a:cs typeface="Malgun Gothic"/>
              </a:defRPr>
            </a:pPr>
            <a:r>
              <a:rPr sz="1950" b="0">
                <a:solidFill>
                  <a:srgbClr val="17392F"/>
                </a:solidFill>
                <a:latin typeface="Malgun Gothic"/>
                <a:ea typeface="Malgun Gothic"/>
                <a:cs typeface="Malgun Gothic"/>
              </a:rPr>
              <a:t>DSZ 경영조사: 같은 시설ID의 조사일이 유일한 작기 기간 안에 포함</a:t>
            </a:r>
          </a:p>
        </p:txBody>
      </p:sp>
      <p:graphicFrame>
        <p:nvGraphicFramePr>
          <p:cNvPr id="16" name="">
            <a:extLst xmlns:a="http://schemas.openxmlformats.org/drawingml/2006/main">
              <a:ext uri="{FF2B5EF4-FFF2-40B4-BE49-F238E27FC236}">
                <a16:creationId xmlns:a16="http://schemas.microsoft.com/office/drawing/2014/main" id="{B58D359D-BC8D-4A85-854F-6A0E3B79768E}"/>
              </a:ext>
            </a:extLst>
          </p:cNvPr>
          <p:cNvGraphicFramePr/>
          <p:nvPr/>
        </p:nvGraphicFramePr>
        <p:xfrm>
          <a:off xmlns:a="http://schemas.openxmlformats.org/drawingml/2006/main" x="609600" y="3905250"/>
          <a:ext xmlns:a="http://schemas.openxmlformats.org/drawingml/2006/main" cx="10972800" cy="1609725"/>
        </p:xfrm>
        <a:graphic xmlns:a="http://schemas.openxmlformats.org/drawingml/2006/main">
          <a:graphicData uri="http://schemas.openxmlformats.org/drawingml/2006/table">
            <a:tbl>
              <a:tblPr/>
              <a:tblGrid>
                <a:gridCol w="4381500"/>
                <a:gridCol w="6591300"/>
              </a:tblGrid>
              <a:tr h="536575">
                <a:tc>
                  <a:txBody>
                    <a:bodyPr lIns="95250" tIns="95250" rIns="95250" bIns="95250"/>
                    <a:lstStyle/>
                    <a:p>
                      <a:r>
                        <a:rPr sz="1875" b="1">
                          <a:solidFill>
                            <a:srgbClr val="FFFFFF"/>
                          </a:solidFill>
                          <a:latin typeface="Malgun Gothic"/>
                          <a:ea typeface="Malgun Gothic"/>
                          <a:cs typeface="Malgun Gothic"/>
                        </a:rPr>
                        <a:t>자료</a:t>
                      </a:r>
                    </a:p>
                  </a:txBody>
                  <a:tcPr marL="91440" marR="91440" marT="45720" marB="45720" anchor="ctr">
                    <a:solidFill>
                      <a:srgbClr val="15734C"/>
                    </a:solidFill>
                  </a:tcPr>
                </a:tc>
                <a:tc>
                  <a:txBody>
                    <a:bodyPr lIns="95250" tIns="95250" rIns="95250" bIns="95250"/>
                    <a:lstStyle/>
                    <a:p>
                      <a:r>
                        <a:rPr sz="1875" b="1">
                          <a:solidFill>
                            <a:srgbClr val="FFFFFF"/>
                          </a:solidFill>
                          <a:latin typeface="Malgun Gothic"/>
                          <a:ea typeface="Malgun Gothic"/>
                          <a:cs typeface="Malgun Gothic"/>
                        </a:rPr>
                        <a:t>보존하는 단위</a:t>
                      </a:r>
                    </a:p>
                  </a:txBody>
                  <a:tcPr marL="91440" marR="91440" marT="45720" marB="45720" anchor="ctr">
                    <a:solidFill>
                      <a:srgbClr val="15734C"/>
                    </a:solidFill>
                  </a:tcPr>
                </a:tc>
              </a:tr>
              <a:tr h="536575">
                <a:tc>
                  <a:txBody>
                    <a:bodyPr lIns="95250" tIns="95250" rIns="95250" bIns="95250"/>
                    <a:lstStyle/>
                    <a:p>
                      <a:r>
                        <a:rPr sz="1875" b="0">
                          <a:solidFill>
                            <a:srgbClr val="17392F"/>
                          </a:solidFill>
                          <a:latin typeface="Malgun Gothic"/>
                          <a:ea typeface="Malgun Gothic"/>
                          <a:cs typeface="Malgun Gothic"/>
                        </a:rPr>
                        <a:t>딸기 출하 / 5품목 매출</a:t>
                      </a:r>
                    </a:p>
                  </a:txBody>
                  <a:tcPr marL="91440" marR="91440" marT="45720" marB="45720" anchor="ctr">
                    <a:solidFill>
                      <a:srgbClr val="FFFFFF"/>
                    </a:solidFill>
                  </a:tcPr>
                </a:tc>
                <a:tc>
                  <a:txBody>
                    <a:bodyPr lIns="95250" tIns="95250" rIns="95250" bIns="95250"/>
                    <a:lstStyle/>
                    <a:p>
                      <a:r>
                        <a:rPr sz="1875" b="0">
                          <a:solidFill>
                            <a:srgbClr val="17392F"/>
                          </a:solidFill>
                          <a:latin typeface="Malgun Gothic"/>
                          <a:ea typeface="Malgun Gothic"/>
                          <a:cs typeface="Malgun Gothic"/>
                        </a:rPr>
                        <a:t>kg/작기  /  원/작기</a:t>
                      </a:r>
                    </a:p>
                  </a:txBody>
                  <a:tcPr marL="91440" marR="91440" marT="45720" marB="45720" anchor="ctr">
                    <a:solidFill>
                      <a:srgbClr val="FFFFFF"/>
                    </a:solidFill>
                  </a:tcPr>
                </a:tc>
              </a:tr>
              <a:tr h="536575">
                <a:tc>
                  <a:txBody>
                    <a:bodyPr lIns="95250" tIns="95250" rIns="95250" bIns="95250"/>
                    <a:lstStyle/>
                    <a:p>
                      <a:r>
                        <a:rPr sz="1875" b="0">
                          <a:solidFill>
                            <a:srgbClr val="17392F"/>
                          </a:solidFill>
                          <a:latin typeface="Malgun Gothic"/>
                          <a:ea typeface="Malgun Gothic"/>
                          <a:cs typeface="Malgun Gothic"/>
                        </a:rPr>
                        <a:t>RDA 소득조사</a:t>
                      </a:r>
                    </a:p>
                  </a:txBody>
                  <a:tcPr marL="91440" marR="91440" marT="45720" marB="45720" anchor="ctr">
                    <a:solidFill>
                      <a:srgbClr val="E7F2EB"/>
                    </a:solidFill>
                  </a:tcPr>
                </a:tc>
                <a:tc>
                  <a:txBody>
                    <a:bodyPr lIns="95250" tIns="95250" rIns="95250" bIns="95250"/>
                    <a:lstStyle/>
                    <a:p>
                      <a:r>
                        <a:rPr sz="1875" b="0">
                          <a:solidFill>
                            <a:srgbClr val="17392F"/>
                          </a:solidFill>
                          <a:latin typeface="Malgun Gothic"/>
                          <a:ea typeface="Malgun Gothic"/>
                          <a:cs typeface="Malgun Gothic"/>
                        </a:rPr>
                        <a:t>kg/1,000㎡/연간 1기작</a:t>
                      </a:r>
                    </a:p>
                  </a:txBody>
                  <a:tcPr marL="91440" marR="91440" marT="45720" marB="45720" anchor="ctr">
                    <a:solidFill>
                      <a:srgbClr val="E7F2EB"/>
                    </a:solidFill>
                  </a:tcPr>
                </a:tc>
              </a:tr>
            </a:tbl>
          </a:graphicData>
        </a:graphic>
      </p:graphicFrame>
      <p:sp>
        <p:nvSpPr>
          <p:cNvPr id="17" name="지역별 매출의 면적은 평·㎡ 정의가 충돌해 입력에서 제외했다.">
            <a:extLst xmlns:a="http://schemas.openxmlformats.org/drawingml/2006/main">
              <a:ext uri="{FF2B5EF4-FFF2-40B4-BE49-F238E27FC236}">
                <a16:creationId xmlns:a16="http://schemas.microsoft.com/office/drawing/2014/main" id="{ABAA6805-B6DE-4994-A5EC-25A07CEADD45}"/>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지역별 매출의 면적은 평·㎡ 정의가 충돌해 입력에서 제외했다. 작기 총량을 연간 수량에 자동 대입하지 않는다.</a:t>
            </a:r>
          </a:p>
        </p:txBody>
      </p:sp>
    </p:spTree>
    <p:extLst>
      <p:ext uri="{BB962C8B-B14F-4D97-AF65-F5344CB8AC3E}">
        <p14:creationId xmlns:p14="http://schemas.microsoft.com/office/powerpoint/2010/main" val="248617690"/>
      </p:ext>
    </p:extLst>
  </p:cSld>
</p:sld>
</file>

<file path=ppt/slides/slide6.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7" name="명세 기반 DSZ 모델의 입력과 목표">
            <a:extLst xmlns:a="http://schemas.openxmlformats.org/drawingml/2006/main">
              <a:ext uri="{FF2B5EF4-FFF2-40B4-BE49-F238E27FC236}">
                <a16:creationId xmlns:a16="http://schemas.microsoft.com/office/drawing/2014/main" id="{70CD3C7A-35C1-4E6B-8BA4-3D639F08CFDB}"/>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명세 기반 DSZ 모델의 입력과 목표</a:t>
            </a:r>
          </a:p>
        </p:txBody>
      </p:sp>
      <p:sp>
        <p:nvSpPr>
          <p:cNvPr id="2" name="">
            <a:extLst xmlns:a="http://schemas.openxmlformats.org/drawingml/2006/main">
              <a:ext uri="{FF2B5EF4-FFF2-40B4-BE49-F238E27FC236}">
                <a16:creationId xmlns:a16="http://schemas.microsoft.com/office/drawing/2014/main" id="{E8145F9F-1232-4133-AFBC-D4203999E31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06">
            <a:extLst xmlns:a="http://schemas.openxmlformats.org/drawingml/2006/main">
              <a:ext uri="{FF2B5EF4-FFF2-40B4-BE49-F238E27FC236}">
                <a16:creationId xmlns:a16="http://schemas.microsoft.com/office/drawing/2014/main" id="{1B20E566-68E4-4DC2-A690-01D9259E2079}"/>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06</a:t>
            </a:r>
          </a:p>
        </p:txBody>
      </p:sp>
      <p:graphicFrame>
        <p:nvGraphicFramePr>
          <p:cNvPr id="4" name="">
            <a:extLst xmlns:a="http://schemas.openxmlformats.org/drawingml/2006/main">
              <a:ext uri="{FF2B5EF4-FFF2-40B4-BE49-F238E27FC236}">
                <a16:creationId xmlns:a16="http://schemas.microsoft.com/office/drawing/2014/main" id="{95C1816E-3544-42B7-B7D4-5D652DD934EB}"/>
              </a:ext>
            </a:extLst>
          </p:cNvPr>
          <p:cNvGraphicFramePr/>
          <p:nvPr/>
        </p:nvGraphicFramePr>
        <p:xfrm>
          <a:off xmlns:a="http://schemas.openxmlformats.org/drawingml/2006/main" x="609600" y="1704975"/>
          <a:ext xmlns:a="http://schemas.openxmlformats.org/drawingml/2006/main" cx="10972800" cy="2971800"/>
        </p:xfrm>
        <a:graphic xmlns:a="http://schemas.openxmlformats.org/drawingml/2006/main">
          <a:graphicData uri="http://schemas.openxmlformats.org/drawingml/2006/table">
            <a:tbl>
              <a:tblPr/>
              <a:tblGrid>
                <a:gridCol w="6438900"/>
                <a:gridCol w="4533900"/>
              </a:tblGrid>
              <a:tr h="594360">
                <a:tc>
                  <a:txBody>
                    <a:bodyPr lIns="95250" tIns="95250" rIns="95250" bIns="95250"/>
                    <a:lstStyle/>
                    <a:p>
                      <a:r>
                        <a:rPr sz="1950" b="1">
                          <a:solidFill>
                            <a:srgbClr val="FFFFFF"/>
                          </a:solidFill>
                          <a:latin typeface="Malgun Gothic"/>
                          <a:ea typeface="Malgun Gothic"/>
                          <a:cs typeface="Malgun Gothic"/>
                        </a:rPr>
                        <a:t>사전 계획 입력 7개</a:t>
                      </a:r>
                    </a:p>
                  </a:txBody>
                  <a:tcPr marL="91440" marR="91440" marT="45720" marB="45720" anchor="ctr">
                    <a:solidFill>
                      <a:srgbClr val="15734C"/>
                    </a:solidFill>
                  </a:tcPr>
                </a:tc>
                <a:tc>
                  <a:txBody>
                    <a:bodyPr lIns="95250" tIns="95250" rIns="95250" bIns="95250"/>
                    <a:lstStyle/>
                    <a:p>
                      <a:r>
                        <a:rPr sz="1950" b="1">
                          <a:solidFill>
                            <a:srgbClr val="FFFFFF"/>
                          </a:solidFill>
                          <a:latin typeface="Malgun Gothic"/>
                          <a:ea typeface="Malgun Gothic"/>
                          <a:cs typeface="Malgun Gothic"/>
                        </a:rPr>
                        <a:t>각각 학습하는 목표</a:t>
                      </a:r>
                    </a:p>
                  </a:txBody>
                  <a:tcPr marL="91440" marR="91440" marT="45720" marB="45720" anchor="ctr">
                    <a:solidFill>
                      <a:srgbClr val="15734C"/>
                    </a:solidFill>
                  </a:tcPr>
                </a:tc>
              </a:tr>
              <a:tr h="594360">
                <a:tc>
                  <a:txBody>
                    <a:bodyPr lIns="95250" tIns="95250" rIns="95250" bIns="95250"/>
                    <a:lstStyle/>
                    <a:p>
                      <a:r>
                        <a:rPr sz="1950" b="0">
                          <a:solidFill>
                            <a:srgbClr val="17392F"/>
                          </a:solidFill>
                          <a:latin typeface="Malgun Gothic"/>
                          <a:ea typeface="Malgun Gothic"/>
                          <a:cs typeface="Malgun Gothic"/>
                        </a:rPr>
                        <a:t>품목, 지역</a:t>
                      </a:r>
                    </a:p>
                  </a:txBody>
                  <a:tcPr marL="91440" marR="91440" marT="45720" marB="45720" anchor="ctr">
                    <a:solidFill>
                      <a:srgbClr val="FFFFFF"/>
                    </a:solidFill>
                  </a:tcPr>
                </a:tc>
                <a:tc>
                  <a:txBody>
                    <a:bodyPr lIns="95250" tIns="95250" rIns="95250" bIns="95250"/>
                    <a:lstStyle/>
                    <a:p>
                      <a:r>
                        <a:rPr sz="1950" b="0">
                          <a:solidFill>
                            <a:srgbClr val="17392F"/>
                          </a:solidFill>
                          <a:latin typeface="Malgun Gothic"/>
                          <a:ea typeface="Malgun Gothic"/>
                          <a:cs typeface="Malgun Gothic"/>
                        </a:rPr>
                        <a:t>기록된 출하량 (kg)</a:t>
                      </a:r>
                    </a:p>
                  </a:txBody>
                  <a:tcPr marL="91440" marR="91440" marT="45720" marB="45720" anchor="ctr">
                    <a:solidFill>
                      <a:srgbClr val="FFFFFF"/>
                    </a:solidFill>
                  </a:tcPr>
                </a:tc>
              </a:tr>
              <a:tr h="594360">
                <a:tc>
                  <a:txBody>
                    <a:bodyPr lIns="95250" tIns="95250" rIns="95250" bIns="95250"/>
                    <a:lstStyle/>
                    <a:p>
                      <a:r>
                        <a:rPr sz="1950" b="0">
                          <a:solidFill>
                            <a:srgbClr val="17392F"/>
                          </a:solidFill>
                          <a:latin typeface="Malgun Gothic"/>
                          <a:ea typeface="Malgun Gothic"/>
                          <a:cs typeface="Malgun Gothic"/>
                        </a:rPr>
                        <a:t>온실 유형, 온실 규모</a:t>
                      </a:r>
                    </a:p>
                  </a:txBody>
                  <a:tcPr marL="91440" marR="91440" marT="45720" marB="45720" anchor="ctr">
                    <a:solidFill>
                      <a:srgbClr val="E7F2EB"/>
                    </a:solidFill>
                  </a:tcPr>
                </a:tc>
                <a:tc>
                  <a:txBody>
                    <a:bodyPr lIns="95250" tIns="95250" rIns="95250" bIns="95250"/>
                    <a:lstStyle/>
                    <a:p>
                      <a:r>
                        <a:rPr sz="1950" b="0">
                          <a:solidFill>
                            <a:srgbClr val="17392F"/>
                          </a:solidFill>
                          <a:latin typeface="Malgun Gothic"/>
                          <a:ea typeface="Malgun Gothic"/>
                          <a:cs typeface="Malgun Gothic"/>
                        </a:rPr>
                        <a:t>기록된 총수입 (원)</a:t>
                      </a:r>
                    </a:p>
                  </a:txBody>
                  <a:tcPr marL="91440" marR="91440" marT="45720" marB="45720" anchor="ctr">
                    <a:solidFill>
                      <a:srgbClr val="E7F2EB"/>
                    </a:solidFill>
                  </a:tcPr>
                </a:tc>
              </a:tr>
              <a:tr h="594360">
                <a:tc>
                  <a:txBody>
                    <a:bodyPr lIns="95250" tIns="95250" rIns="95250" bIns="95250"/>
                    <a:lstStyle/>
                    <a:p>
                      <a:r>
                        <a:rPr sz="1950" b="0">
                          <a:solidFill>
                            <a:srgbClr val="17392F"/>
                          </a:solidFill>
                          <a:latin typeface="Malgun Gothic"/>
                          <a:ea typeface="Malgun Gothic"/>
                          <a:cs typeface="Malgun Gothic"/>
                        </a:rPr>
                        <a:t>면적 (㎡)</a:t>
                      </a:r>
                    </a:p>
                  </a:txBody>
                  <a:tcPr marL="91440" marR="91440" marT="45720" marB="45720" anchor="ctr">
                    <a:solidFill>
                      <a:srgbClr val="FFFFFF"/>
                    </a:solidFill>
                  </a:tcPr>
                </a:tc>
                <a:tc>
                  <a:txBody>
                    <a:bodyPr lIns="95250" tIns="95250" rIns="95250" bIns="95250"/>
                    <a:lstStyle/>
                    <a:p>
                      <a:r>
                        <a:rPr sz="1950" b="0">
                          <a:solidFill>
                            <a:srgbClr val="17392F"/>
                          </a:solidFill>
                          <a:latin typeface="Malgun Gothic"/>
                          <a:ea typeface="Malgun Gothic"/>
                          <a:cs typeface="Malgun Gothic"/>
                        </a:rPr>
                        <a:t>총수입은 매출이며 순이익과 다름</a:t>
                      </a:r>
                    </a:p>
                  </a:txBody>
                  <a:tcPr marL="91440" marR="91440" marT="45720" marB="45720" anchor="ctr">
                    <a:solidFill>
                      <a:srgbClr val="FFFFFF"/>
                    </a:solidFill>
                  </a:tcPr>
                </a:tc>
              </a:tr>
              <a:tr h="594360">
                <a:tc>
                  <a:txBody>
                    <a:bodyPr lIns="95250" tIns="95250" rIns="95250" bIns="95250"/>
                    <a:lstStyle/>
                    <a:p>
                      <a:r>
                        <a:rPr sz="1950" b="0">
                          <a:solidFill>
                            <a:srgbClr val="17392F"/>
                          </a:solidFill>
                          <a:latin typeface="Malgun Gothic"/>
                          <a:ea typeface="Malgun Gothic"/>
                          <a:cs typeface="Malgun Gothic"/>
                        </a:rPr>
                        <a:t>예정 시작 연도, 예정 시작 월</a:t>
                      </a:r>
                    </a:p>
                  </a:txBody>
                  <a:tcPr marL="91440" marR="91440" marT="45720" marB="45720" anchor="ctr">
                    <a:solidFill>
                      <a:srgbClr val="E7F2EB"/>
                    </a:solidFill>
                  </a:tcPr>
                </a:tc>
                <a:tc>
                  <a:txBody>
                    <a:bodyPr lIns="95250" tIns="95250" rIns="95250" bIns="95250"/>
                    <a:lstStyle/>
                    <a:p>
                      <a:r>
                        <a:rPr sz="1950" b="0">
                          <a:solidFill>
                            <a:srgbClr val="17392F"/>
                          </a:solidFill>
                          <a:latin typeface="Malgun Gothic"/>
                          <a:ea typeface="Malgun Gothic"/>
                          <a:cs typeface="Malgun Gothic"/>
                        </a:rPr>
                        <a:t>0과 결측을 구분하고 독립 적격성 검사</a:t>
                      </a:r>
                    </a:p>
                  </a:txBody>
                  <a:tcPr marL="91440" marR="91440" marT="45720" marB="45720" anchor="ctr">
                    <a:solidFill>
                      <a:srgbClr val="E7F2EB"/>
                    </a:solidFill>
                  </a:tcPr>
                </a:tc>
              </a:tr>
            </a:tbl>
          </a:graphicData>
        </a:graphic>
      </p:graphicFrame>
      <p:sp>
        <p:nvSpPr>
          <p:cNvPr id="5" name="환경·생육·실제 종료일은 재배 후에 알 수 있는 값이다.&#10;운영">
            <a:extLst xmlns:a="http://schemas.openxmlformats.org/drawingml/2006/main">
              <a:ext uri="{FF2B5EF4-FFF2-40B4-BE49-F238E27FC236}">
                <a16:creationId xmlns:a16="http://schemas.microsoft.com/office/drawing/2014/main" id="{474772FE-D4B4-4E0A-B519-BA7BA47C48F9}"/>
              </a:ext>
            </a:extLst>
          </p:cNvPr>
          <p:cNvSpPr>
            <a:spLocks xmlns:a="http://schemas.openxmlformats.org/drawingml/2006/main" noGrp="1"/>
          </p:cNvSpPr>
          <p:nvPr/>
        </p:nvSpPr>
        <p:spPr>
          <a:xfrm xmlns:a="http://schemas.openxmlformats.org/drawingml/2006/main">
            <a:off x="609600" y="5057775"/>
            <a:ext cx="10858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92F"/>
                </a:solidFill>
                <a:latin typeface="Malgun Gothic"/>
                <a:ea typeface="Malgun Gothic"/>
                <a:cs typeface="Malgun Gothic"/>
              </a:defRPr>
            </a:defPPr>
          </a:lstStyle>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환경·생육·실제 종료일은 재배 후에 알 수 있는 값이다.</a:t>
            </a:r>
          </a:p>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운영 중 별도 실험에서는 현재 생육과 이전 환경으로 다음 방문의 초장을 예측했다.</a:t>
            </a:r>
          </a:p>
        </p:txBody>
      </p:sp>
      <p:sp>
        <p:nvSpPr>
          <p:cNvPr id="6" name="사전 계획 모델과 운영 중 점검 모델을 분리해, 도입 전 알 ">
            <a:extLst xmlns:a="http://schemas.openxmlformats.org/drawingml/2006/main">
              <a:ext uri="{FF2B5EF4-FFF2-40B4-BE49-F238E27FC236}">
                <a16:creationId xmlns:a16="http://schemas.microsoft.com/office/drawing/2014/main" id="{93ED22D8-2CF0-4CA5-835B-DDE92132D835}"/>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사전 계획 모델과 운영 중 점검 모델을 분리해, 도입 전 알 수 없는 관측값이 섞이지 않도록 한다.</a:t>
            </a:r>
          </a:p>
        </p:txBody>
      </p:sp>
    </p:spTree>
    <p:extLst>
      <p:ext uri="{BB962C8B-B14F-4D97-AF65-F5344CB8AC3E}">
        <p14:creationId xmlns:p14="http://schemas.microsoft.com/office/powerpoint/2010/main" val="702087366"/>
      </p:ext>
    </p:extLst>
  </p:cSld>
</p:sld>
</file>

<file path=ppt/slides/slide7.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9" name="기준선과 같은 조건으로 검증">
            <a:extLst xmlns:a="http://schemas.openxmlformats.org/drawingml/2006/main">
              <a:ext uri="{FF2B5EF4-FFF2-40B4-BE49-F238E27FC236}">
                <a16:creationId xmlns:a16="http://schemas.microsoft.com/office/drawing/2014/main" id="{2772D63A-A579-47FE-918D-1593D70480F0}"/>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기준선과 같은 조건으로 검증</a:t>
            </a:r>
          </a:p>
        </p:txBody>
      </p:sp>
      <p:sp>
        <p:nvSpPr>
          <p:cNvPr id="2" name="">
            <a:extLst xmlns:a="http://schemas.openxmlformats.org/drawingml/2006/main">
              <a:ext uri="{FF2B5EF4-FFF2-40B4-BE49-F238E27FC236}">
                <a16:creationId xmlns:a16="http://schemas.microsoft.com/office/drawing/2014/main" id="{CED44493-ACF4-4417-A776-803CE50F0F79}"/>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07">
            <a:extLst xmlns:a="http://schemas.openxmlformats.org/drawingml/2006/main">
              <a:ext uri="{FF2B5EF4-FFF2-40B4-BE49-F238E27FC236}">
                <a16:creationId xmlns:a16="http://schemas.microsoft.com/office/drawing/2014/main" id="{A011DF2F-3DF6-4D64-97B1-7A89192DBD51}"/>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07</a:t>
            </a:r>
          </a:p>
        </p:txBody>
      </p:sp>
      <p:sp>
        <p:nvSpPr>
          <p:cNvPr id="4" name="농가 자료">
            <a:extLst xmlns:a="http://schemas.openxmlformats.org/drawingml/2006/main">
              <a:ext uri="{FF2B5EF4-FFF2-40B4-BE49-F238E27FC236}">
                <a16:creationId xmlns:a16="http://schemas.microsoft.com/office/drawing/2014/main" id="{465E96F8-39C1-4879-9784-9F665436F94A}"/>
              </a:ext>
            </a:extLst>
          </p:cNvPr>
          <p:cNvSpPr>
            <a:spLocks xmlns:a="http://schemas.openxmlformats.org/drawingml/2006/main" noGrp="1"/>
          </p:cNvSpPr>
          <p:nvPr/>
        </p:nvSpPr>
        <p:spPr>
          <a:xfrm xmlns:a="http://schemas.openxmlformats.org/drawingml/2006/main">
            <a:off x="609600" y="1685925"/>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농가 자료</a:t>
            </a:r>
          </a:p>
        </p:txBody>
      </p:sp>
      <p:sp>
        <p:nvSpPr>
          <p:cNvPr id="5" name="시설별 5분할&#10;같은 시설의 작기는 같은 분할에 배치&#10;범주 처리">
            <a:extLst xmlns:a="http://schemas.openxmlformats.org/drawingml/2006/main">
              <a:ext uri="{FF2B5EF4-FFF2-40B4-BE49-F238E27FC236}">
                <a16:creationId xmlns:a16="http://schemas.microsoft.com/office/drawing/2014/main" id="{F62CF9BF-5096-4508-9EF0-8517FC778DC6}"/>
              </a:ext>
            </a:extLst>
          </p:cNvPr>
          <p:cNvSpPr>
            <a:spLocks xmlns:a="http://schemas.openxmlformats.org/drawingml/2006/main" noGrp="1"/>
          </p:cNvSpPr>
          <p:nvPr/>
        </p:nvSpPr>
        <p:spPr>
          <a:xfrm xmlns:a="http://schemas.openxmlformats.org/drawingml/2006/main">
            <a:off x="609600" y="2238375"/>
            <a:ext cx="523875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92F"/>
                </a:solidFill>
                <a:latin typeface="Malgun Gothic"/>
                <a:ea typeface="Malgun Gothic"/>
                <a:cs typeface="Malgun Gothic"/>
              </a:defRPr>
            </a:defPPr>
          </a:lstStyle>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시설별 5분할</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같은 시설의 작기는 같은 분할에 배치</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범주 처리와 중앙값은 학습 자료만 사용</a:t>
            </a:r>
          </a:p>
          <a:p xmlns:a="http://schemas.openxmlformats.org/drawingml/2006/main">
            <a:r>
              <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중앙값 기준선과 같은 행에서</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CatBoost·XGBoost·LimiX 비교</a:t>
            </a:r>
          </a:p>
        </p:txBody>
      </p:sp>
      <p:sp>
        <p:nvSpPr>
          <p:cNvPr id="6" name="집계·시계열 자료">
            <a:extLst xmlns:a="http://schemas.openxmlformats.org/drawingml/2006/main">
              <a:ext uri="{FF2B5EF4-FFF2-40B4-BE49-F238E27FC236}">
                <a16:creationId xmlns:a16="http://schemas.microsoft.com/office/drawing/2014/main" id="{4A9C571B-A62F-4D7B-BEBF-5147777C0733}"/>
              </a:ext>
            </a:extLst>
          </p:cNvPr>
          <p:cNvSpPr>
            <a:spLocks xmlns:a="http://schemas.openxmlformats.org/drawingml/2006/main" noGrp="1"/>
          </p:cNvSpPr>
          <p:nvPr/>
        </p:nvSpPr>
        <p:spPr>
          <a:xfrm xmlns:a="http://schemas.openxmlformats.org/drawingml/2006/main">
            <a:off x="6591300" y="1685925"/>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집계·시계열 자료</a:t>
            </a:r>
          </a:p>
        </p:txBody>
      </p:sp>
      <p:sp>
        <p:nvSpPr>
          <p:cNvPr id="7" name="RDA는 가장 최근 연도를 보류&#10;KAMIS는 과거 시점만 학습">
            <a:extLst xmlns:a="http://schemas.openxmlformats.org/drawingml/2006/main">
              <a:ext uri="{FF2B5EF4-FFF2-40B4-BE49-F238E27FC236}">
                <a16:creationId xmlns:a16="http://schemas.microsoft.com/office/drawing/2014/main" id="{E4B2FF01-5C78-44F1-AB46-43A69DC136FA}"/>
              </a:ext>
            </a:extLst>
          </p:cNvPr>
          <p:cNvSpPr>
            <a:spLocks xmlns:a="http://schemas.openxmlformats.org/drawingml/2006/main" noGrp="1"/>
          </p:cNvSpPr>
          <p:nvPr/>
        </p:nvSpPr>
        <p:spPr>
          <a:xfrm xmlns:a="http://schemas.openxmlformats.org/drawingml/2006/main">
            <a:off x="6591300" y="2238375"/>
            <a:ext cx="49530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92F"/>
                </a:solidFill>
                <a:latin typeface="Malgun Gothic"/>
                <a:ea typeface="Malgun Gothic"/>
                <a:cs typeface="Malgun Gothic"/>
              </a:defRPr>
            </a:defPPr>
          </a:lstStyle>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RDA는 가장 최근 연도를 보류</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KAMIS는 과거 시점만 학습에 사용</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MAE로 실제 오차 크기를 비교</a:t>
            </a:r>
          </a:p>
          <a:p xmlns:a="http://schemas.openxmlformats.org/drawingml/2006/main">
            <a:r>
              <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모델 선택에 쓴 평가 결과와</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독립적인 최종 검증은 구분</a:t>
            </a:r>
          </a:p>
        </p:txBody>
      </p:sp>
      <p:sp>
        <p:nvSpPr>
          <p:cNvPr id="8" name="LimiX는 실제 400M 고정 가중치 모델로 비교했다. 복잡">
            <a:extLst xmlns:a="http://schemas.openxmlformats.org/drawingml/2006/main">
              <a:ext uri="{FF2B5EF4-FFF2-40B4-BE49-F238E27FC236}">
                <a16:creationId xmlns:a16="http://schemas.microsoft.com/office/drawing/2014/main" id="{7D175918-492E-4425-8545-3CF05204D70F}"/>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LimiX는 실제 400M 고정 가중치 모델로 비교했다. 복잡한 모델이 항상 더 정확하지 않았다.</a:t>
            </a:r>
          </a:p>
        </p:txBody>
      </p:sp>
    </p:spTree>
    <p:extLst>
      <p:ext uri="{BB962C8B-B14F-4D97-AF65-F5344CB8AC3E}">
        <p14:creationId xmlns:p14="http://schemas.microsoft.com/office/powerpoint/2010/main" val="2086149045"/>
      </p:ext>
    </p:extLst>
  </p:cSld>
</p:sld>
</file>

<file path=ppt/slides/slide8.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9" name="실제 실험에서 기준선이 더 정확한 경우">
            <a:extLst xmlns:a="http://schemas.openxmlformats.org/drawingml/2006/main">
              <a:ext uri="{FF2B5EF4-FFF2-40B4-BE49-F238E27FC236}">
                <a16:creationId xmlns:a16="http://schemas.microsoft.com/office/drawing/2014/main" id="{A91968EB-64A3-472E-AD7C-D76885B4C6CF}"/>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실제 실험에서 기준선이 더 정확한 경우</a:t>
            </a:r>
          </a:p>
        </p:txBody>
      </p:sp>
      <p:sp>
        <p:nvSpPr>
          <p:cNvPr id="2" name="">
            <a:extLst xmlns:a="http://schemas.openxmlformats.org/drawingml/2006/main">
              <a:ext uri="{FF2B5EF4-FFF2-40B4-BE49-F238E27FC236}">
                <a16:creationId xmlns:a16="http://schemas.microsoft.com/office/drawing/2014/main" id="{49E2DC09-B173-4061-95E3-22D2A64FBB7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08">
            <a:extLst xmlns:a="http://schemas.openxmlformats.org/drawingml/2006/main">
              <a:ext uri="{FF2B5EF4-FFF2-40B4-BE49-F238E27FC236}">
                <a16:creationId xmlns:a16="http://schemas.microsoft.com/office/drawing/2014/main" id="{FC049391-C4A2-4A6D-A391-CFA1D0C8EF38}"/>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08</a:t>
            </a:r>
          </a:p>
        </p:txBody>
      </p:sp>
      <p:sp>
        <p:nvSpPr>
          <p:cNvPr id="4" name="RDA 수량 MAE  kg/1,000㎡">
            <a:extLst xmlns:a="http://schemas.openxmlformats.org/drawingml/2006/main">
              <a:ext uri="{FF2B5EF4-FFF2-40B4-BE49-F238E27FC236}">
                <a16:creationId xmlns:a16="http://schemas.microsoft.com/office/drawing/2014/main" id="{24C3F667-5E93-42DF-B1AE-706825629754}"/>
              </a:ext>
            </a:extLst>
          </p:cNvPr>
          <p:cNvSpPr>
            <a:spLocks xmlns:a="http://schemas.openxmlformats.org/drawingml/2006/main" noGrp="1"/>
          </p:cNvSpPr>
          <p:nvPr/>
        </p:nvSpPr>
        <p:spPr>
          <a:xfrm xmlns:a="http://schemas.openxmlformats.org/drawingml/2006/main">
            <a:off x="609600" y="1619250"/>
            <a:ext cx="5619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RDA 수량 MAE  kg/1,000㎡</a:t>
            </a:r>
          </a:p>
        </p:txBody>
      </p:sp>
      <p:sp>
        <p:nvSpPr>
          <p:cNvPr id="5" name="ADP 첫 출하 기록까지 MAE  일">
            <a:extLst xmlns:a="http://schemas.openxmlformats.org/drawingml/2006/main">
              <a:ext uri="{FF2B5EF4-FFF2-40B4-BE49-F238E27FC236}">
                <a16:creationId xmlns:a16="http://schemas.microsoft.com/office/drawing/2014/main" id="{FE0A9907-7D80-4E57-AE40-E404FE5E0B1D}"/>
              </a:ext>
            </a:extLst>
          </p:cNvPr>
          <p:cNvSpPr>
            <a:spLocks xmlns:a="http://schemas.openxmlformats.org/drawingml/2006/main" noGrp="1"/>
          </p:cNvSpPr>
          <p:nvPr/>
        </p:nvSpPr>
        <p:spPr>
          <a:xfrm xmlns:a="http://schemas.openxmlformats.org/drawingml/2006/main">
            <a:off x="6419850" y="1619250"/>
            <a:ext cx="533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ADP 첫 출하 기록까지 MAE  일</a:t>
            </a:r>
          </a:p>
        </p:txBody>
      </p:sp>
      <p:graphicFrame>
        <p:nvGraphicFramePr>
          <p:cNvPr id="6" name="Chart">
            <a:extLst xmlns:a="http://schemas.openxmlformats.org/drawingml/2006/main">
              <a:ext uri="{FF2B5EF4-FFF2-40B4-BE49-F238E27FC236}">
                <a16:creationId xmlns:a16="http://schemas.microsoft.com/office/drawing/2014/main" id="{1C177782-B732-474B-B791-65224AAFE306}"/>
              </a:ext>
            </a:extLst>
          </p:cNvPr>
          <p:cNvGraphicFramePr/>
          <p:nvPr/>
        </p:nvGraphicFramePr>
        <p:xfrm>
          <a:off xmlns:a="http://schemas.openxmlformats.org/drawingml/2006/main" x="495300" y="2209800"/>
          <a:ext xmlns:a="http://schemas.openxmlformats.org/drawingml/2006/main" cx="5562600" cy="3228975"/>
        </p:xfrm>
        <a:graphic xmlns:a="http://schemas.openxmlformats.org/drawingml/2006/main">
          <a:graphicData uri="http://schemas.openxmlformats.org/drawingml/2006/chart">
            <c:chart xmlns:r="http://schemas.openxmlformats.org/officeDocument/2006/relationships" xmlns:c="http://schemas.openxmlformats.org/drawingml/2006/chart" r:id="R40bc7a25abfd4cbb"/>
          </a:graphicData>
        </a:graphic>
      </p:graphicFrame>
      <p:graphicFrame>
        <p:nvGraphicFramePr>
          <p:cNvPr id="7" name="Chart">
            <a:extLst xmlns:a="http://schemas.openxmlformats.org/drawingml/2006/main">
              <a:ext uri="{FF2B5EF4-FFF2-40B4-BE49-F238E27FC236}">
                <a16:creationId xmlns:a16="http://schemas.microsoft.com/office/drawing/2014/main" id="{4BF8ADB0-EBDC-4762-B474-EB87278C278C}"/>
              </a:ext>
            </a:extLst>
          </p:cNvPr>
          <p:cNvGraphicFramePr/>
          <p:nvPr/>
        </p:nvGraphicFramePr>
        <p:xfrm>
          <a:off xmlns:a="http://schemas.openxmlformats.org/drawingml/2006/main" x="6305550" y="2209800"/>
          <a:ext xmlns:a="http://schemas.openxmlformats.org/drawingml/2006/main" cx="5562600" cy="3228975"/>
        </p:xfrm>
        <a:graphic xmlns:a="http://schemas.openxmlformats.org/drawingml/2006/main">
          <a:graphicData uri="http://schemas.openxmlformats.org/drawingml/2006/chart">
            <c:chart xmlns:r="http://schemas.openxmlformats.org/officeDocument/2006/relationships" xmlns:c="http://schemas.openxmlformats.org/drawingml/2006/chart" r:id="R6a42ef219ec84ea1"/>
          </a:graphicData>
        </a:graphic>
      </p:graphicFrame>
      <p:sp>
        <p:nvSpPr>
          <p:cNvPr id="8" name="기준선은 RDA 과거 중앙값, ADP 품목·정식월 중앙값이다.">
            <a:extLst xmlns:a="http://schemas.openxmlformats.org/drawingml/2006/main">
              <a:ext uri="{FF2B5EF4-FFF2-40B4-BE49-F238E27FC236}">
                <a16:creationId xmlns:a16="http://schemas.microsoft.com/office/drawing/2014/main" id="{B33C25A8-C79A-4663-9FE0-BD084780E9B2}"/>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기준선은 RDA 과거 중앙값, ADP 품목·정식월 중앙값이다. MAE는 작을수록 좋다.</a:t>
            </a:r>
          </a:p>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RDA는 연간 1기작, ADP는 정식일부터 첫 출하 기록까지의 일수다. 실제 첫 수확일과 다를 수 있다.</a:t>
            </a:r>
          </a:p>
        </p:txBody>
      </p:sp>
    </p:spTree>
    <p:extLst>
      <p:ext uri="{BB962C8B-B14F-4D97-AF65-F5344CB8AC3E}">
        <p14:creationId xmlns:p14="http://schemas.microsoft.com/office/powerpoint/2010/main" val="1994041157"/>
      </p:ext>
    </p:extLst>
  </p:cSld>
</p:sld>
</file>

<file path=ppt/slides/slide9.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7" name="극단값 한 행이 모델 평가를 크게 바꾼다">
            <a:extLst xmlns:a="http://schemas.openxmlformats.org/drawingml/2006/main">
              <a:ext uri="{FF2B5EF4-FFF2-40B4-BE49-F238E27FC236}">
                <a16:creationId xmlns:a16="http://schemas.microsoft.com/office/drawing/2014/main" id="{DCAFEA48-9034-4313-8C2D-5BCDAE162406}"/>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극단값 한 행이 모델 평가를 크게 바꾼다</a:t>
            </a:r>
          </a:p>
        </p:txBody>
      </p:sp>
      <p:sp>
        <p:nvSpPr>
          <p:cNvPr id="2" name="">
            <a:extLst xmlns:a="http://schemas.openxmlformats.org/drawingml/2006/main">
              <a:ext uri="{FF2B5EF4-FFF2-40B4-BE49-F238E27FC236}">
                <a16:creationId xmlns:a16="http://schemas.microsoft.com/office/drawing/2014/main" id="{C16374D8-FAE0-4D07-B1A6-DAE4EF013353}"/>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09">
            <a:extLst xmlns:a="http://schemas.openxmlformats.org/drawingml/2006/main">
              <a:ext uri="{FF2B5EF4-FFF2-40B4-BE49-F238E27FC236}">
                <a16:creationId xmlns:a16="http://schemas.microsoft.com/office/drawing/2014/main" id="{6EC58CC8-614E-41CE-9793-F8D575A10787}"/>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09</a:t>
            </a:r>
          </a:p>
        </p:txBody>
      </p:sp>
      <p:graphicFrame>
        <p:nvGraphicFramePr>
          <p:cNvPr id="4" name="">
            <a:extLst xmlns:a="http://schemas.openxmlformats.org/drawingml/2006/main">
              <a:ext uri="{FF2B5EF4-FFF2-40B4-BE49-F238E27FC236}">
                <a16:creationId xmlns:a16="http://schemas.microsoft.com/office/drawing/2014/main" id="{0BF5E3D8-8EEB-4D67-898A-96637DFB9C60}"/>
              </a:ext>
            </a:extLst>
          </p:cNvPr>
          <p:cNvGraphicFramePr/>
          <p:nvPr/>
        </p:nvGraphicFramePr>
        <p:xfrm>
          <a:off xmlns:a="http://schemas.openxmlformats.org/drawingml/2006/main" x="609600" y="1724025"/>
          <a:ext xmlns:a="http://schemas.openxmlformats.org/drawingml/2006/main" cx="10972800" cy="2752725"/>
        </p:xfrm>
        <a:graphic xmlns:a="http://schemas.openxmlformats.org/drawingml/2006/main">
          <a:graphicData uri="http://schemas.openxmlformats.org/drawingml/2006/table">
            <a:tbl>
              <a:tblPr/>
              <a:tblGrid>
                <a:gridCol w="2266950"/>
                <a:gridCol w="4352925"/>
                <a:gridCol w="4352925"/>
              </a:tblGrid>
              <a:tr h="917575">
                <a:tc>
                  <a:txBody>
                    <a:bodyPr lIns="95250" tIns="95250" rIns="95250" bIns="95250"/>
                    <a:lstStyle/>
                    <a:p>
                      <a:r>
                        <a:rPr sz="1950" b="1">
                          <a:solidFill>
                            <a:srgbClr val="FFFFFF"/>
                          </a:solidFill>
                          <a:latin typeface="Malgun Gothic"/>
                          <a:ea typeface="Malgun Gothic"/>
                          <a:cs typeface="Malgun Gothic"/>
                        </a:rPr>
                        <a:t>실험</a:t>
                      </a:r>
                    </a:p>
                  </a:txBody>
                  <a:tcPr marL="91440" marR="91440" marT="45720" marB="45720" anchor="ctr">
                    <a:solidFill>
                      <a:srgbClr val="15734C"/>
                    </a:solidFill>
                  </a:tcPr>
                </a:tc>
                <a:tc>
                  <a:txBody>
                    <a:bodyPr lIns="95250" tIns="95250" rIns="95250" bIns="95250"/>
                    <a:lstStyle/>
                    <a:p>
                      <a:r>
                        <a:rPr sz="1950" b="1">
                          <a:solidFill>
                            <a:srgbClr val="FFFFFF"/>
                          </a:solidFill>
                          <a:latin typeface="Malgun Gothic"/>
                          <a:ea typeface="Malgun Gothic"/>
                          <a:cs typeface="Malgun Gothic"/>
                        </a:rPr>
                        <a:t>전체 기록의 최저 MAE</a:t>
                      </a:r>
                    </a:p>
                  </a:txBody>
                  <a:tcPr marL="91440" marR="91440" marT="45720" marB="45720" anchor="ctr">
                    <a:solidFill>
                      <a:srgbClr val="15734C"/>
                    </a:solidFill>
                  </a:tcPr>
                </a:tc>
                <a:tc>
                  <a:txBody>
                    <a:bodyPr lIns="95250" tIns="95250" rIns="95250" bIns="95250"/>
                    <a:lstStyle/>
                    <a:p>
                      <a:r>
                        <a:rPr sz="1950" b="1">
                          <a:solidFill>
                            <a:srgbClr val="FFFFFF"/>
                          </a:solidFill>
                          <a:latin typeface="Malgun Gothic"/>
                          <a:ea typeface="Malgun Gothic"/>
                          <a:cs typeface="Malgun Gothic"/>
                        </a:rPr>
                        <a:t>극단값 1행 제외 민감도</a:t>
                      </a:r>
                    </a:p>
                  </a:txBody>
                  <a:tcPr marL="91440" marR="91440" marT="45720" marB="45720" anchor="ctr">
                    <a:solidFill>
                      <a:srgbClr val="15734C"/>
                    </a:solidFill>
                  </a:tcPr>
                </a:tc>
              </a:tr>
              <a:tr h="917575">
                <a:tc>
                  <a:txBody>
                    <a:bodyPr lIns="95250" tIns="95250" rIns="95250" bIns="95250"/>
                    <a:lstStyle/>
                    <a:p>
                      <a:r>
                        <a:rPr sz="1950" b="0">
                          <a:solidFill>
                            <a:srgbClr val="17392F"/>
                          </a:solidFill>
                          <a:latin typeface="Malgun Gothic"/>
                          <a:ea typeface="Malgun Gothic"/>
                          <a:cs typeface="Malgun Gothic"/>
                        </a:rPr>
                        <a:t>딸기 출하량</a:t>
                      </a:r>
                    </a:p>
                  </a:txBody>
                  <a:tcPr marL="91440" marR="91440" marT="45720" marB="45720" anchor="ctr">
                    <a:solidFill>
                      <a:srgbClr val="FFFFFF"/>
                    </a:solidFill>
                  </a:tcPr>
                </a:tc>
                <a:tc>
                  <a:txBody>
                    <a:bodyPr lIns="95250" tIns="95250" rIns="95250" bIns="95250"/>
                    <a:lstStyle/>
                    <a:p>
                      <a:r>
                        <a:rPr sz="1950" b="0">
                          <a:solidFill>
                            <a:srgbClr val="17392F"/>
                          </a:solidFill>
                          <a:latin typeface="Malgun Gothic"/>
                          <a:ea typeface="Malgun Gothic"/>
                          <a:cs typeface="Malgun Gothic"/>
                        </a:rPr>
                        <a:t>195,256 kg/작기</a:t>
                      </a:r>
                    </a:p>
                    <a:p>
                      <a:r>
                        <a:rPr sz="1950" b="0">
                          <a:solidFill>
                            <a:srgbClr val="17392F"/>
                          </a:solidFill>
                          <a:latin typeface="Malgun Gothic"/>
                          <a:ea typeface="Malgun Gothic"/>
                          <a:cs typeface="Malgun Gothic"/>
                        </a:rPr>
                        <a:t>XGBoost · 77작기</a:t>
                      </a:r>
                    </a:p>
                  </a:txBody>
                  <a:tcPr marL="91440" marR="91440" marT="45720" marB="45720" anchor="ctr">
                    <a:solidFill>
                      <a:srgbClr val="FFFFFF"/>
                    </a:solidFill>
                  </a:tcPr>
                </a:tc>
                <a:tc>
                  <a:txBody>
                    <a:bodyPr lIns="95250" tIns="95250" rIns="95250" bIns="95250"/>
                    <a:lstStyle/>
                    <a:p>
                      <a:r>
                        <a:rPr sz="1950" b="0">
                          <a:solidFill>
                            <a:srgbClr val="17392F"/>
                          </a:solidFill>
                          <a:latin typeface="Malgun Gothic"/>
                          <a:ea typeface="Malgun Gothic"/>
                          <a:cs typeface="Malgun Gothic"/>
                        </a:rPr>
                        <a:t>5,047 kg/작기</a:t>
                      </a:r>
                    </a:p>
                    <a:p>
                      <a:r>
                        <a:rPr sz="1950" b="0">
                          <a:solidFill>
                            <a:srgbClr val="17392F"/>
                          </a:solidFill>
                          <a:latin typeface="Malgun Gothic"/>
                          <a:ea typeface="Malgun Gothic"/>
                          <a:cs typeface="Malgun Gothic"/>
                        </a:rPr>
                        <a:t>LimiX · 76작기</a:t>
                      </a:r>
                    </a:p>
                  </a:txBody>
                  <a:tcPr marL="91440" marR="91440" marT="45720" marB="45720" anchor="ctr">
                    <a:solidFill>
                      <a:srgbClr val="FFFFFF"/>
                    </a:solidFill>
                  </a:tcPr>
                </a:tc>
              </a:tr>
              <a:tr h="917575">
                <a:tc>
                  <a:txBody>
                    <a:bodyPr lIns="95250" tIns="95250" rIns="95250" bIns="95250"/>
                    <a:lstStyle/>
                    <a:p>
                      <a:r>
                        <a:rPr sz="1950" b="0">
                          <a:solidFill>
                            <a:srgbClr val="17392F"/>
                          </a:solidFill>
                          <a:latin typeface="Malgun Gothic"/>
                          <a:ea typeface="Malgun Gothic"/>
                          <a:cs typeface="Malgun Gothic"/>
                        </a:rPr>
                        <a:t>5품목 매출</a:t>
                      </a:r>
                    </a:p>
                  </a:txBody>
                  <a:tcPr marL="91440" marR="91440" marT="45720" marB="45720" anchor="ctr">
                    <a:solidFill>
                      <a:srgbClr val="E7F2EB"/>
                    </a:solidFill>
                  </a:tcPr>
                </a:tc>
                <a:tc>
                  <a:txBody>
                    <a:bodyPr lIns="95250" tIns="95250" rIns="95250" bIns="95250"/>
                    <a:lstStyle/>
                    <a:p>
                      <a:r>
                        <a:rPr sz="1950" b="0">
                          <a:solidFill>
                            <a:srgbClr val="17392F"/>
                          </a:solidFill>
                          <a:latin typeface="Malgun Gothic"/>
                          <a:ea typeface="Malgun Gothic"/>
                          <a:cs typeface="Malgun Gothic"/>
                        </a:rPr>
                        <a:t>13.52억원/작기</a:t>
                      </a:r>
                    </a:p>
                    <a:p>
                      <a:r>
                        <a:rPr sz="1950" b="0">
                          <a:solidFill>
                            <a:srgbClr val="17392F"/>
                          </a:solidFill>
                          <a:latin typeface="Malgun Gothic"/>
                          <a:ea typeface="Malgun Gothic"/>
                          <a:cs typeface="Malgun Gothic"/>
                        </a:rPr>
                        <a:t>품목 중앙값 · 192작기</a:t>
                      </a:r>
                    </a:p>
                  </a:txBody>
                  <a:tcPr marL="91440" marR="91440" marT="45720" marB="45720" anchor="ctr">
                    <a:solidFill>
                      <a:srgbClr val="E7F2EB"/>
                    </a:solidFill>
                  </a:tcPr>
                </a:tc>
                <a:tc>
                  <a:txBody>
                    <a:bodyPr lIns="95250" tIns="95250" rIns="95250" bIns="95250"/>
                    <a:lstStyle/>
                    <a:p>
                      <a:r>
                        <a:rPr sz="1950" b="0">
                          <a:solidFill>
                            <a:srgbClr val="17392F"/>
                          </a:solidFill>
                          <a:latin typeface="Malgun Gothic"/>
                          <a:ea typeface="Malgun Gothic"/>
                          <a:cs typeface="Malgun Gothic"/>
                        </a:rPr>
                        <a:t>1.37억원/작기</a:t>
                      </a:r>
                    </a:p>
                    <a:p>
                      <a:r>
                        <a:rPr sz="1950" b="0">
                          <a:solidFill>
                            <a:srgbClr val="17392F"/>
                          </a:solidFill>
                          <a:latin typeface="Malgun Gothic"/>
                          <a:ea typeface="Malgun Gothic"/>
                          <a:cs typeface="Malgun Gothic"/>
                        </a:rPr>
                        <a:t>XGBoost · 191작기</a:t>
                      </a:r>
                    </a:p>
                  </a:txBody>
                  <a:tcPr marL="91440" marR="91440" marT="45720" marB="45720" anchor="ctr">
                    <a:solidFill>
                      <a:srgbClr val="E7F2EB"/>
                    </a:solidFill>
                  </a:tcPr>
                </a:tc>
              </a:tr>
            </a:tbl>
          </a:graphicData>
        </a:graphic>
      </p:graphicFrame>
      <p:sp>
        <p:nvSpPr>
          <p:cNvPr id="5" name="원기록을 임의로 수정하지 않고 전체 결과를 주 결과로 보존했다">
            <a:extLst xmlns:a="http://schemas.openxmlformats.org/drawingml/2006/main">
              <a:ext uri="{FF2B5EF4-FFF2-40B4-BE49-F238E27FC236}">
                <a16:creationId xmlns:a16="http://schemas.microsoft.com/office/drawing/2014/main" id="{40B0328A-B905-4322-9B99-00FCF4C1DE4D}"/>
              </a:ext>
            </a:extLst>
          </p:cNvPr>
          <p:cNvSpPr>
            <a:spLocks xmlns:a="http://schemas.openxmlformats.org/drawingml/2006/main" noGrp="1"/>
          </p:cNvSpPr>
          <p:nvPr/>
        </p:nvSpPr>
        <p:spPr>
          <a:xfrm xmlns:a="http://schemas.openxmlformats.org/drawingml/2006/main">
            <a:off x="609600" y="4943475"/>
            <a:ext cx="10953750" cy="7524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92F"/>
                </a:solidFill>
                <a:latin typeface="Malgun Gothic"/>
                <a:ea typeface="Malgun Gothic"/>
                <a:cs typeface="Malgun Gothic"/>
              </a:defRPr>
            </a:defPPr>
          </a:lstStyle>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원기록을 임의로 수정하지 않고 전체 결과를 주 결과로 보존했다.</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민감도 점수는 이상치 확인의 필요성을 보여주는 별도 분석이다.</a:t>
            </a:r>
          </a:p>
        </p:txBody>
      </p:sp>
      <p:sp>
        <p:nvSpPr>
          <p:cNvPr id="6" name="기록이 있는 농가의 선택 편향과 큰 오차가 남아 있다. 이 점">
            <a:extLst xmlns:a="http://schemas.openxmlformats.org/drawingml/2006/main">
              <a:ext uri="{FF2B5EF4-FFF2-40B4-BE49-F238E27FC236}">
                <a16:creationId xmlns:a16="http://schemas.microsoft.com/office/drawing/2014/main" id="{BFDCB772-0EF6-41B3-9A9D-CAC3538621D7}"/>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기록이 있는 농가의 선택 편향과 큰 오차가 남아 있다. 이 점수를 신규 농가의 보장 성과로 제시하지 않는다.</a:t>
            </a:r>
          </a:p>
        </p:txBody>
      </p:sp>
    </p:spTree>
    <p:extLst>
      <p:ext uri="{BB962C8B-B14F-4D97-AF65-F5344CB8AC3E}">
        <p14:creationId xmlns:p14="http://schemas.microsoft.com/office/powerpoint/2010/main" val="1372521141"/>
      </p:ext>
    </p:extLst>
  </p:cSld>
</p:sld>
</file>

<file path=ppt/slides/slide10.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7" name="공개 장비 가격을 초기 투자비에 연결">
            <a:extLst xmlns:a="http://schemas.openxmlformats.org/drawingml/2006/main">
              <a:ext uri="{FF2B5EF4-FFF2-40B4-BE49-F238E27FC236}">
                <a16:creationId xmlns:a16="http://schemas.microsoft.com/office/drawing/2014/main" id="{01869065-E97C-4313-99AC-FF603FA071D0}"/>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공개 장비 가격을 초기 투자비에 연결</a:t>
            </a:r>
          </a:p>
        </p:txBody>
      </p:sp>
      <p:sp>
        <p:nvSpPr>
          <p:cNvPr id="2" name="">
            <a:extLst xmlns:a="http://schemas.openxmlformats.org/drawingml/2006/main">
              <a:ext uri="{FF2B5EF4-FFF2-40B4-BE49-F238E27FC236}">
                <a16:creationId xmlns:a16="http://schemas.microsoft.com/office/drawing/2014/main" id="{43D72D24-89FE-47FF-B25A-9A393E03DB6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10">
            <a:extLst xmlns:a="http://schemas.openxmlformats.org/drawingml/2006/main">
              <a:ext uri="{FF2B5EF4-FFF2-40B4-BE49-F238E27FC236}">
                <a16:creationId xmlns:a16="http://schemas.microsoft.com/office/drawing/2014/main" id="{2DC68B30-0912-4695-94DE-6CA8C7B05323}"/>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10</a:t>
            </a:r>
          </a:p>
        </p:txBody>
      </p:sp>
      <p:graphicFrame>
        <p:nvGraphicFramePr>
          <p:cNvPr id="4" name="">
            <a:extLst xmlns:a="http://schemas.openxmlformats.org/drawingml/2006/main">
              <a:ext uri="{FF2B5EF4-FFF2-40B4-BE49-F238E27FC236}">
                <a16:creationId xmlns:a16="http://schemas.microsoft.com/office/drawing/2014/main" id="{32E87B0E-58C9-4B30-ABE9-53FEE9154B15}"/>
              </a:ext>
            </a:extLst>
          </p:cNvPr>
          <p:cNvGraphicFramePr/>
          <p:nvPr/>
        </p:nvGraphicFramePr>
        <p:xfrm>
          <a:off xmlns:a="http://schemas.openxmlformats.org/drawingml/2006/main" x="609600" y="1724025"/>
          <a:ext xmlns:a="http://schemas.openxmlformats.org/drawingml/2006/main" cx="10972800" cy="2619375"/>
        </p:xfrm>
        <a:graphic xmlns:a="http://schemas.openxmlformats.org/drawingml/2006/main">
          <a:graphicData uri="http://schemas.openxmlformats.org/drawingml/2006/table">
            <a:tbl>
              <a:tblPr/>
              <a:tblGrid>
                <a:gridCol w="4572000"/>
                <a:gridCol w="2381250"/>
                <a:gridCol w="4019550"/>
              </a:tblGrid>
              <a:tr h="654844">
                <a:tc>
                  <a:txBody>
                    <a:bodyPr lIns="95250" tIns="95250" rIns="95250" bIns="95250"/>
                    <a:lstStyle/>
                    <a:p>
                      <a:r>
                        <a:rPr sz="1875" b="1">
                          <a:solidFill>
                            <a:srgbClr val="FFFFFF"/>
                          </a:solidFill>
                          <a:latin typeface="Malgun Gothic"/>
                          <a:ea typeface="Malgun Gothic"/>
                          <a:cs typeface="Malgun Gothic"/>
                        </a:rPr>
                        <a:t>공개 장비 구성</a:t>
                      </a:r>
                    </a:p>
                  </a:txBody>
                  <a:tcPr marL="91440" marR="91440" marT="45720" marB="45720" anchor="ctr">
                    <a:solidFill>
                      <a:srgbClr val="15734C"/>
                    </a:solidFill>
                  </a:tcPr>
                </a:tc>
                <a:tc>
                  <a:txBody>
                    <a:bodyPr lIns="95250" tIns="95250" rIns="95250" bIns="95250"/>
                    <a:lstStyle/>
                    <a:p>
                      <a:r>
                        <a:rPr sz="1875" b="1">
                          <a:solidFill>
                            <a:srgbClr val="FFFFFF"/>
                          </a:solidFill>
                          <a:latin typeface="Malgun Gothic"/>
                          <a:ea typeface="Malgun Gothic"/>
                          <a:cs typeface="Malgun Gothic"/>
                        </a:rPr>
                        <a:t>기본 구성 가격</a:t>
                      </a:r>
                    </a:p>
                  </a:txBody>
                  <a:tcPr marL="91440" marR="91440" marT="45720" marB="45720" anchor="ctr">
                    <a:solidFill>
                      <a:srgbClr val="15734C"/>
                    </a:solidFill>
                  </a:tcPr>
                </a:tc>
                <a:tc>
                  <a:txBody>
                    <a:bodyPr lIns="95250" tIns="95250" rIns="95250" bIns="95250"/>
                    <a:lstStyle/>
                    <a:p>
                      <a:r>
                        <a:rPr sz="1875" b="1">
                          <a:solidFill>
                            <a:srgbClr val="FFFFFF"/>
                          </a:solidFill>
                          <a:latin typeface="Malgun Gothic"/>
                          <a:ea typeface="Malgun Gothic"/>
                          <a:cs typeface="Malgun Gothic"/>
                        </a:rPr>
                        <a:t>구성·추가 선택</a:t>
                      </a:r>
                    </a:p>
                  </a:txBody>
                  <a:tcPr marL="91440" marR="91440" marT="45720" marB="45720" anchor="ctr">
                    <a:solidFill>
                      <a:srgbClr val="15734C"/>
                    </a:solidFill>
                  </a:tcPr>
                </a:tc>
              </a:tr>
              <a:tr h="654844">
                <a:tc>
                  <a:txBody>
                    <a:bodyPr lIns="95250" tIns="95250" rIns="95250" bIns="95250"/>
                    <a:lstStyle/>
                    <a:p>
                      <a:r>
                        <a:rPr sz="1875" b="0">
                          <a:solidFill>
                            <a:srgbClr val="17392F"/>
                          </a:solidFill>
                          <a:latin typeface="Malgun Gothic"/>
                          <a:ea typeface="Malgun Gothic"/>
                          <a:cs typeface="Malgun Gothic"/>
                        </a:rPr>
                        <a:t>CRONOUS-AV-CR01 제어기 구성</a:t>
                      </a:r>
                    </a:p>
                  </a:txBody>
                  <a:tcPr marL="91440" marR="91440" marT="45720" marB="45720" anchor="ctr">
                    <a:solidFill>
                      <a:srgbClr val="FFFFFF"/>
                    </a:solidFill>
                  </a:tcPr>
                </a:tc>
                <a:tc>
                  <a:txBody>
                    <a:bodyPr lIns="95250" tIns="95250" rIns="95250" bIns="95250"/>
                    <a:lstStyle/>
                    <a:p>
                      <a:r>
                        <a:rPr sz="1875" b="0">
                          <a:solidFill>
                            <a:srgbClr val="17392F"/>
                          </a:solidFill>
                          <a:latin typeface="Malgun Gothic"/>
                          <a:ea typeface="Malgun Gothic"/>
                          <a:cs typeface="Malgun Gothic"/>
                        </a:rPr>
                        <a:t>2,090.3만원</a:t>
                      </a:r>
                    </a:p>
                  </a:txBody>
                  <a:tcPr marL="91440" marR="91440" marT="45720" marB="45720" anchor="ctr">
                    <a:solidFill>
                      <a:srgbClr val="FFFFFF"/>
                    </a:solidFill>
                  </a:tcPr>
                </a:tc>
                <a:tc>
                  <a:txBody>
                    <a:bodyPr lIns="95250" tIns="95250" rIns="95250" bIns="95250"/>
                    <a:lstStyle/>
                    <a:p>
                      <a:r>
                        <a:rPr sz="1875" b="0">
                          <a:solidFill>
                            <a:srgbClr val="17392F"/>
                          </a:solidFill>
                          <a:latin typeface="Malgun Gothic"/>
                          <a:ea typeface="Malgun Gothic"/>
                          <a:cs typeface="Malgun Gothic"/>
                        </a:rPr>
                        <a:t>CO₂·온습도 + 토양 센서</a:t>
                      </a:r>
                    </a:p>
                  </a:txBody>
                  <a:tcPr marL="91440" marR="91440" marT="45720" marB="45720" anchor="ctr">
                    <a:solidFill>
                      <a:srgbClr val="FFFFFF"/>
                    </a:solidFill>
                  </a:tcPr>
                </a:tc>
              </a:tr>
              <a:tr h="654844">
                <a:tc>
                  <a:txBody>
                    <a:bodyPr lIns="95250" tIns="95250" rIns="95250" bIns="95250"/>
                    <a:lstStyle/>
                    <a:p>
                      <a:r>
                        <a:rPr sz="1875" b="0">
                          <a:solidFill>
                            <a:srgbClr val="17392F"/>
                          </a:solidFill>
                          <a:latin typeface="Malgun Gothic"/>
                          <a:ea typeface="Malgun Gothic"/>
                          <a:cs typeface="Malgun Gothic"/>
                        </a:rPr>
                        <a:t>옹달샘300 양액 구성</a:t>
                      </a:r>
                    </a:p>
                  </a:txBody>
                  <a:tcPr marL="91440" marR="91440" marT="45720" marB="45720" anchor="ctr">
                    <a:solidFill>
                      <a:srgbClr val="E7F2EB"/>
                    </a:solidFill>
                  </a:tcPr>
                </a:tc>
                <a:tc>
                  <a:txBody>
                    <a:bodyPr lIns="95250" tIns="95250" rIns="95250" bIns="95250"/>
                    <a:lstStyle/>
                    <a:p>
                      <a:r>
                        <a:rPr sz="1875" b="0">
                          <a:solidFill>
                            <a:srgbClr val="17392F"/>
                          </a:solidFill>
                          <a:latin typeface="Malgun Gothic"/>
                          <a:ea typeface="Malgun Gothic"/>
                          <a:cs typeface="Malgun Gothic"/>
                        </a:rPr>
                        <a:t>327만원</a:t>
                      </a:r>
                    </a:p>
                  </a:txBody>
                  <a:tcPr marL="91440" marR="91440" marT="45720" marB="45720" anchor="ctr">
                    <a:solidFill>
                      <a:srgbClr val="E7F2EB"/>
                    </a:solidFill>
                  </a:tcPr>
                </a:tc>
                <a:tc>
                  <a:txBody>
                    <a:bodyPr lIns="95250" tIns="95250" rIns="95250" bIns="95250"/>
                    <a:lstStyle/>
                    <a:p>
                      <a:r>
                        <a:rPr sz="1875" b="0">
                          <a:solidFill>
                            <a:srgbClr val="17392F"/>
                          </a:solidFill>
                          <a:latin typeface="Malgun Gothic"/>
                          <a:ea typeface="Malgun Gothic"/>
                          <a:cs typeface="Malgun Gothic"/>
                        </a:rPr>
                        <a:t>일사 센서 40만원</a:t>
                      </a:r>
                    </a:p>
                  </a:txBody>
                  <a:tcPr marL="91440" marR="91440" marT="45720" marB="45720" anchor="ctr">
                    <a:solidFill>
                      <a:srgbClr val="E7F2EB"/>
                    </a:solidFill>
                  </a:tcPr>
                </a:tc>
              </a:tr>
              <a:tr h="654844">
                <a:tc>
                  <a:txBody>
                    <a:bodyPr lIns="95250" tIns="95250" rIns="95250" bIns="95250"/>
                    <a:lstStyle/>
                    <a:p>
                      <a:r>
                        <a:rPr sz="1875" b="0">
                          <a:solidFill>
                            <a:srgbClr val="17392F"/>
                          </a:solidFill>
                          <a:latin typeface="Malgun Gothic"/>
                          <a:ea typeface="Malgun Gothic"/>
                          <a:cs typeface="Malgun Gothic"/>
                        </a:rPr>
                        <a:t>MAGMA1000V20 양액 구성</a:t>
                      </a:r>
                    </a:p>
                  </a:txBody>
                  <a:tcPr marL="91440" marR="91440" marT="45720" marB="45720" anchor="ctr">
                    <a:solidFill>
                      <a:srgbClr val="FFFFFF"/>
                    </a:solidFill>
                  </a:tcPr>
                </a:tc>
                <a:tc>
                  <a:txBody>
                    <a:bodyPr lIns="95250" tIns="95250" rIns="95250" bIns="95250"/>
                    <a:lstStyle/>
                    <a:p>
                      <a:r>
                        <a:rPr sz="1875" b="0">
                          <a:solidFill>
                            <a:srgbClr val="17392F"/>
                          </a:solidFill>
                          <a:latin typeface="Malgun Gothic"/>
                          <a:ea typeface="Malgun Gothic"/>
                          <a:cs typeface="Malgun Gothic"/>
                        </a:rPr>
                        <a:t>1,500만원</a:t>
                      </a:r>
                    </a:p>
                  </a:txBody>
                  <a:tcPr marL="91440" marR="91440" marT="45720" marB="45720" anchor="ctr">
                    <a:solidFill>
                      <a:srgbClr val="FFFFFF"/>
                    </a:solidFill>
                  </a:tcPr>
                </a:tc>
                <a:tc>
                  <a:txBody>
                    <a:bodyPr lIns="95250" tIns="95250" rIns="95250" bIns="95250"/>
                    <a:lstStyle/>
                    <a:p>
                      <a:r>
                        <a:rPr sz="1875" b="0">
                          <a:solidFill>
                            <a:srgbClr val="17392F"/>
                          </a:solidFill>
                          <a:latin typeface="Malgun Gothic"/>
                          <a:ea typeface="Malgun Gothic"/>
                          <a:cs typeface="Malgun Gothic"/>
                        </a:rPr>
                        <a:t>선택한 옵션만 합산</a:t>
                      </a:r>
                    </a:p>
                  </a:txBody>
                  <a:tcPr marL="91440" marR="91440" marT="45720" marB="45720" anchor="ctr">
                    <a:solidFill>
                      <a:srgbClr val="FFFFFF"/>
                    </a:solidFill>
                  </a:tcPr>
                </a:tc>
              </a:tr>
            </a:tbl>
          </a:graphicData>
        </a:graphic>
      </p:graphicFrame>
      <p:sp>
        <p:nvSpPr>
          <p:cNvPr id="5" name="선택한 패키지 합계 + 명시한 설치·공사비 = 초기 투자비&#10;묶">
            <a:extLst xmlns:a="http://schemas.openxmlformats.org/drawingml/2006/main">
              <a:ext uri="{FF2B5EF4-FFF2-40B4-BE49-F238E27FC236}">
                <a16:creationId xmlns:a16="http://schemas.microsoft.com/office/drawing/2014/main" id="{5E4A6DE2-0535-42DA-890E-F353E18DF68D}"/>
              </a:ext>
            </a:extLst>
          </p:cNvPr>
          <p:cNvSpPr>
            <a:spLocks xmlns:a="http://schemas.openxmlformats.org/drawingml/2006/main" noGrp="1"/>
          </p:cNvSpPr>
          <p:nvPr/>
        </p:nvSpPr>
        <p:spPr>
          <a:xfrm xmlns:a="http://schemas.openxmlformats.org/drawingml/2006/main">
            <a:off x="609600" y="4829175"/>
            <a:ext cx="1085850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92F"/>
                </a:solidFill>
                <a:latin typeface="Malgun Gothic"/>
                <a:ea typeface="Malgun Gothic"/>
                <a:cs typeface="Malgun Gothic"/>
              </a:defRPr>
            </a:defPPr>
          </a:lstStyle>
          <a:p xmlns:a="http://schemas.openxmlformats.org/drawingml/2006/main">
            <a:pPr algn="l">
              <a:defRPr sz="2100" b="0">
                <a:solidFill>
                  <a:srgbClr val="17392F"/>
                </a:solidFill>
                <a:latin typeface="Malgun Gothic"/>
                <a:ea typeface="Malgun Gothic"/>
                <a:cs typeface="Malgun Gothic"/>
              </a:defRPr>
            </a:pPr>
            <a:r>
              <a:rPr sz="2100" b="0">
                <a:solidFill>
                  <a:srgbClr val="17392F"/>
                </a:solidFill>
                <a:latin typeface="Malgun Gothic"/>
                <a:ea typeface="Malgun Gothic"/>
                <a:cs typeface="Malgun Gothic"/>
              </a:rPr>
              <a:t>선택한 패키지 합계 + 명시한 설치·공사비 = 초기 투자비</a:t>
            </a:r>
          </a:p>
          <a:p xmlns:a="http://schemas.openxmlformats.org/drawingml/2006/main">
            <a:pPr algn="l">
              <a:defRPr sz="2100" b="0">
                <a:solidFill>
                  <a:srgbClr val="17392F"/>
                </a:solidFill>
                <a:latin typeface="Malgun Gothic"/>
                <a:ea typeface="Malgun Gothic"/>
                <a:cs typeface="Malgun Gothic"/>
              </a:defRPr>
            </a:pPr>
            <a:r>
              <a:rPr sz="2100" b="0">
                <a:solidFill>
                  <a:srgbClr val="17392F"/>
                </a:solidFill>
                <a:latin typeface="Malgun Gothic"/>
                <a:ea typeface="Malgun Gothic"/>
                <a:cs typeface="Malgun Gothic"/>
              </a:rPr>
              <a:t>묶음 가격에 포함된 센서를 다시 더하지 않도록 구성 단위를 유지한다.</a:t>
            </a:r>
          </a:p>
        </p:txBody>
      </p:sp>
      <p:sp>
        <p:nvSpPr>
          <p:cNvPr id="6" name="부가세·현장 설치비 포함 여부와 최신 견적을 확인해야 한다. ">
            <a:extLst xmlns:a="http://schemas.openxmlformats.org/drawingml/2006/main">
              <a:ext uri="{FF2B5EF4-FFF2-40B4-BE49-F238E27FC236}">
                <a16:creationId xmlns:a16="http://schemas.microsoft.com/office/drawing/2014/main" id="{C8C3C49A-F1EB-4E15-8D9A-FBCE082930C7}"/>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부가세·현장 설치비 포함 여부와 최신 견적을 확인해야 한다. 장비별 수확 증가율은 이 가격표로 알 수 없다.</a:t>
            </a:r>
          </a:p>
        </p:txBody>
      </p:sp>
    </p:spTree>
    <p:extLst>
      <p:ext uri="{BB962C8B-B14F-4D97-AF65-F5344CB8AC3E}">
        <p14:creationId xmlns:p14="http://schemas.microsoft.com/office/powerpoint/2010/main" val="302612586"/>
      </p:ext>
    </p:extLst>
  </p:cSld>
</p:sld>
</file>

<file path=ppt/slides/slide11.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9" name="가격 예측을 판매단가 가정에 반영">
            <a:extLst xmlns:a="http://schemas.openxmlformats.org/drawingml/2006/main">
              <a:ext uri="{FF2B5EF4-FFF2-40B4-BE49-F238E27FC236}">
                <a16:creationId xmlns:a16="http://schemas.microsoft.com/office/drawing/2014/main" id="{93D79198-78E2-48B3-8E3C-7C51D530B45A}"/>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가격 예측을 판매단가 가정에 반영</a:t>
            </a:r>
          </a:p>
        </p:txBody>
      </p:sp>
      <p:sp>
        <p:nvSpPr>
          <p:cNvPr id="2" name="">
            <a:extLst xmlns:a="http://schemas.openxmlformats.org/drawingml/2006/main">
              <a:ext uri="{FF2B5EF4-FFF2-40B4-BE49-F238E27FC236}">
                <a16:creationId xmlns:a16="http://schemas.microsoft.com/office/drawing/2014/main" id="{56C4D033-FCA4-4699-9BAB-565B6D32CB47}"/>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11">
            <a:extLst xmlns:a="http://schemas.openxmlformats.org/drawingml/2006/main">
              <a:ext uri="{FF2B5EF4-FFF2-40B4-BE49-F238E27FC236}">
                <a16:creationId xmlns:a16="http://schemas.microsoft.com/office/drawing/2014/main" id="{D5F4B759-5C65-43F0-95B4-387ED0CBAEB4}"/>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11</a:t>
            </a:r>
          </a:p>
        </p:txBody>
      </p:sp>
      <p:graphicFrame>
        <p:nvGraphicFramePr>
          <p:cNvPr id="4" name="">
            <a:extLst xmlns:a="http://schemas.openxmlformats.org/drawingml/2006/main">
              <a:ext uri="{FF2B5EF4-FFF2-40B4-BE49-F238E27FC236}">
                <a16:creationId xmlns:a16="http://schemas.microsoft.com/office/drawing/2014/main" id="{55CFDB7A-F929-46C3-935E-D96CE380430B}"/>
              </a:ext>
            </a:extLst>
          </p:cNvPr>
          <p:cNvGraphicFramePr/>
          <p:nvPr/>
        </p:nvGraphicFramePr>
        <p:xfrm>
          <a:off xmlns:a="http://schemas.openxmlformats.org/drawingml/2006/main" x="609600" y="1714500"/>
          <a:ext xmlns:a="http://schemas.openxmlformats.org/drawingml/2006/main" cx="10972800" cy="2114550"/>
        </p:xfrm>
        <a:graphic xmlns:a="http://schemas.openxmlformats.org/drawingml/2006/main">
          <a:graphicData uri="http://schemas.openxmlformats.org/drawingml/2006/table">
            <a:tbl>
              <a:tblPr/>
              <a:tblGrid>
                <a:gridCol w="5524500"/>
                <a:gridCol w="2714625"/>
                <a:gridCol w="2733675"/>
              </a:tblGrid>
              <a:tr h="704850">
                <a:tc>
                  <a:txBody>
                    <a:bodyPr lIns="95250" tIns="95250" rIns="95250" bIns="95250"/>
                    <a:lstStyle/>
                    <a:p>
                      <a:r>
                        <a:rPr sz="2025" b="1">
                          <a:solidFill>
                            <a:srgbClr val="FFFFFF"/>
                          </a:solidFill>
                          <a:latin typeface="Malgun Gothic"/>
                          <a:ea typeface="Malgun Gothic"/>
                          <a:cs typeface="Malgun Gothic"/>
                        </a:rPr>
                        <a:t>2025년 보류 평가</a:t>
                      </a:r>
                    </a:p>
                  </a:txBody>
                  <a:tcPr marL="91440" marR="91440" marT="45720" marB="45720" anchor="ctr">
                    <a:solidFill>
                      <a:srgbClr val="15734C"/>
                    </a:solidFill>
                  </a:tcPr>
                </a:tc>
                <a:tc>
                  <a:txBody>
                    <a:bodyPr lIns="95250" tIns="95250" rIns="95250" bIns="95250"/>
                    <a:lstStyle/>
                    <a:p>
                      <a:r>
                        <a:rPr sz="2025" b="1">
                          <a:solidFill>
                            <a:srgbClr val="FFFFFF"/>
                          </a:solidFill>
                          <a:latin typeface="Malgun Gothic"/>
                          <a:ea typeface="Malgun Gothic"/>
                          <a:cs typeface="Malgun Gothic"/>
                        </a:rPr>
                        <a:t>MAE (원/kg)</a:t>
                      </a:r>
                    </a:p>
                  </a:txBody>
                  <a:tcPr marL="91440" marR="91440" marT="45720" marB="45720" anchor="ctr">
                    <a:solidFill>
                      <a:srgbClr val="15734C"/>
                    </a:solidFill>
                  </a:tcPr>
                </a:tc>
                <a:tc>
                  <a:txBody>
                    <a:bodyPr lIns="95250" tIns="95250" rIns="95250" bIns="95250"/>
                    <a:lstStyle/>
                    <a:p>
                      <a:r>
                        <a:rPr sz="2025" b="1">
                          <a:solidFill>
                            <a:srgbClr val="FFFFFF"/>
                          </a:solidFill>
                          <a:latin typeface="Malgun Gothic"/>
                          <a:ea typeface="Malgun Gothic"/>
                          <a:cs typeface="Malgun Gothic"/>
                        </a:rPr>
                        <a:t>평가 관측 수</a:t>
                      </a:r>
                    </a:p>
                  </a:txBody>
                  <a:tcPr marL="91440" marR="91440" marT="45720" marB="45720" anchor="ctr">
                    <a:solidFill>
                      <a:srgbClr val="15734C"/>
                    </a:solidFill>
                  </a:tcPr>
                </a:tc>
              </a:tr>
              <a:tr h="704850">
                <a:tc>
                  <a:txBody>
                    <a:bodyPr lIns="95250" tIns="95250" rIns="95250" bIns="95250"/>
                    <a:lstStyle/>
                    <a:p>
                      <a:r>
                        <a:rPr sz="2025" b="0">
                          <a:solidFill>
                            <a:srgbClr val="17392F"/>
                          </a:solidFill>
                          <a:latin typeface="Malgun Gothic"/>
                          <a:ea typeface="Malgun Gothic"/>
                          <a:cs typeface="Malgun Gothic"/>
                        </a:rPr>
                        <a:t>2024년에 선택한 모형</a:t>
                      </a:r>
                    </a:p>
                  </a:txBody>
                  <a:tcPr marL="91440" marR="91440" marT="45720" marB="45720" anchor="ctr">
                    <a:solidFill>
                      <a:srgbClr val="FFFFFF"/>
                    </a:solidFill>
                  </a:tcPr>
                </a:tc>
                <a:tc>
                  <a:txBody>
                    <a:bodyPr lIns="95250" tIns="95250" rIns="95250" bIns="95250"/>
                    <a:lstStyle/>
                    <a:p>
                      <a:r>
                        <a:rPr sz="2025" b="0">
                          <a:solidFill>
                            <a:srgbClr val="17392F"/>
                          </a:solidFill>
                          <a:latin typeface="Malgun Gothic"/>
                          <a:ea typeface="Malgun Gothic"/>
                          <a:cs typeface="Malgun Gothic"/>
                        </a:rPr>
                        <a:t>1,249.16</a:t>
                      </a:r>
                    </a:p>
                  </a:txBody>
                  <a:tcPr marL="91440" marR="91440" marT="45720" marB="45720" anchor="ctr">
                    <a:solidFill>
                      <a:srgbClr val="FFFFFF"/>
                    </a:solidFill>
                  </a:tcPr>
                </a:tc>
                <a:tc>
                  <a:txBody>
                    <a:bodyPr lIns="95250" tIns="95250" rIns="95250" bIns="95250"/>
                    <a:lstStyle/>
                    <a:p>
                      <a:r>
                        <a:rPr sz="2025" b="0">
                          <a:solidFill>
                            <a:srgbClr val="17392F"/>
                          </a:solidFill>
                          <a:latin typeface="Malgun Gothic"/>
                          <a:ea typeface="Malgun Gothic"/>
                          <a:cs typeface="Malgun Gothic"/>
                        </a:rPr>
                        <a:t>106개</a:t>
                      </a:r>
                    </a:p>
                  </a:txBody>
                  <a:tcPr marL="91440" marR="91440" marT="45720" marB="45720" anchor="ctr">
                    <a:solidFill>
                      <a:srgbClr val="FFFFFF"/>
                    </a:solidFill>
                  </a:tcPr>
                </a:tc>
              </a:tr>
              <a:tr h="704850">
                <a:tc>
                  <a:txBody>
                    <a:bodyPr lIns="95250" tIns="95250" rIns="95250" bIns="95250"/>
                    <a:lstStyle/>
                    <a:p>
                      <a:r>
                        <a:rPr sz="2025" b="0">
                          <a:solidFill>
                            <a:srgbClr val="17392F"/>
                          </a:solidFill>
                          <a:latin typeface="Malgun Gothic"/>
                          <a:ea typeface="Malgun Gothic"/>
                          <a:cs typeface="Malgun Gothic"/>
                        </a:rPr>
                        <a:t>같은 달 최근값 기준선</a:t>
                      </a:r>
                    </a:p>
                  </a:txBody>
                  <a:tcPr marL="91440" marR="91440" marT="45720" marB="45720" anchor="ctr">
                    <a:solidFill>
                      <a:srgbClr val="E7F2EB"/>
                    </a:solidFill>
                  </a:tcPr>
                </a:tc>
                <a:tc>
                  <a:txBody>
                    <a:bodyPr lIns="95250" tIns="95250" rIns="95250" bIns="95250"/>
                    <a:lstStyle/>
                    <a:p>
                      <a:r>
                        <a:rPr sz="2025" b="0">
                          <a:solidFill>
                            <a:srgbClr val="17392F"/>
                          </a:solidFill>
                          <a:latin typeface="Malgun Gothic"/>
                          <a:ea typeface="Malgun Gothic"/>
                          <a:cs typeface="Malgun Gothic"/>
                        </a:rPr>
                        <a:t>1,061.62</a:t>
                      </a:r>
                    </a:p>
                  </a:txBody>
                  <a:tcPr marL="91440" marR="91440" marT="45720" marB="45720" anchor="ctr">
                    <a:solidFill>
                      <a:srgbClr val="E7F2EB"/>
                    </a:solidFill>
                  </a:tcPr>
                </a:tc>
                <a:tc>
                  <a:txBody>
                    <a:bodyPr lIns="95250" tIns="95250" rIns="95250" bIns="95250"/>
                    <a:lstStyle/>
                    <a:p>
                      <a:r>
                        <a:rPr sz="2025" b="0">
                          <a:solidFill>
                            <a:srgbClr val="17392F"/>
                          </a:solidFill>
                          <a:latin typeface="Malgun Gothic"/>
                          <a:ea typeface="Malgun Gothic"/>
                          <a:cs typeface="Malgun Gothic"/>
                        </a:rPr>
                        <a:t>106개</a:t>
                      </a:r>
                    </a:p>
                  </a:txBody>
                  <a:tcPr marL="91440" marR="91440" marT="45720" marB="45720" anchor="ctr">
                    <a:solidFill>
                      <a:srgbClr val="E7F2EB"/>
                    </a:solidFill>
                  </a:tcPr>
                </a:tc>
              </a:tr>
            </a:tbl>
          </a:graphicData>
        </a:graphic>
      </p:graphicFrame>
      <p:sp>
        <p:nvSpPr>
          <p:cNvPr id="5" name="2021~2023 학습, 2024 선택, 2025 평가. 기준">
            <a:extLst xmlns:a="http://schemas.openxmlformats.org/drawingml/2006/main">
              <a:ext uri="{FF2B5EF4-FFF2-40B4-BE49-F238E27FC236}">
                <a16:creationId xmlns:a16="http://schemas.microsoft.com/office/drawing/2014/main" id="{3A029E06-77D7-4F7E-B6F8-3E6FC87689CA}"/>
              </a:ext>
            </a:extLst>
          </p:cNvPr>
          <p:cNvSpPr>
            <a:spLocks xmlns:a="http://schemas.openxmlformats.org/drawingml/2006/main" noGrp="1"/>
          </p:cNvSpPr>
          <p:nvPr/>
        </p:nvSpPr>
        <p:spPr>
          <a:xfrm xmlns:a="http://schemas.openxmlformats.org/drawingml/2006/main">
            <a:off x="609600" y="4095750"/>
            <a:ext cx="10858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950" b="0">
                <a:solidFill>
                  <a:srgbClr val="17392F"/>
                </a:solidFill>
                <a:latin typeface="Malgun Gothic"/>
                <a:ea typeface="Malgun Gothic"/>
                <a:cs typeface="Malgun Gothic"/>
              </a:defRPr>
            </a:defPPr>
          </a:lstStyle>
          <a:p xmlns:a="http://schemas.openxmlformats.org/drawingml/2006/main">
            <a:pPr algn="l">
              <a:defRPr sz="1950" b="0">
                <a:solidFill>
                  <a:srgbClr val="17392F"/>
                </a:solidFill>
                <a:latin typeface="Malgun Gothic"/>
                <a:ea typeface="Malgun Gothic"/>
                <a:cs typeface="Malgun Gothic"/>
              </a:defRPr>
            </a:pPr>
            <a:r>
              <a:rPr sz="1950" b="0">
                <a:solidFill>
                  <a:srgbClr val="17392F"/>
                </a:solidFill>
                <a:latin typeface="Malgun Gothic"/>
                <a:ea typeface="Malgun Gothic"/>
                <a:cs typeface="Malgun Gothic"/>
              </a:rPr>
              <a:t>2021~2023 학습, 2024 선택, 2025 평가. 기준선의 오차가 더 작았다.</a:t>
            </a:r>
          </a:p>
        </p:txBody>
      </p:sp>
      <p:sp>
        <p:nvSpPr>
          <p:cNvPr id="6" name="농가수취단가와의 연결">
            <a:extLst xmlns:a="http://schemas.openxmlformats.org/drawingml/2006/main">
              <a:ext uri="{FF2B5EF4-FFF2-40B4-BE49-F238E27FC236}">
                <a16:creationId xmlns:a16="http://schemas.microsoft.com/office/drawing/2014/main" id="{726D5DD8-56EF-4669-A273-AED125FEC1CF}"/>
              </a:ext>
            </a:extLst>
          </p:cNvPr>
          <p:cNvSpPr>
            <a:spLocks xmlns:a="http://schemas.openxmlformats.org/drawingml/2006/main" noGrp="1"/>
          </p:cNvSpPr>
          <p:nvPr/>
        </p:nvSpPr>
        <p:spPr>
          <a:xfrm xmlns:a="http://schemas.openxmlformats.org/drawingml/2006/main">
            <a:off x="609600" y="4838700"/>
            <a:ext cx="9525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농가수취단가와의 연결</a:t>
            </a:r>
          </a:p>
        </p:txBody>
      </p:sp>
      <p:sp>
        <p:nvSpPr>
          <p:cNvPr id="7" name="도매가격의 변동을 참고하여 수취단가 가정을 선택한다.&#10;2026">
            <a:extLst xmlns:a="http://schemas.openxmlformats.org/drawingml/2006/main">
              <a:ext uri="{FF2B5EF4-FFF2-40B4-BE49-F238E27FC236}">
                <a16:creationId xmlns:a16="http://schemas.microsoft.com/office/drawing/2014/main" id="{1807794D-998A-48EA-9A31-712788114529}"/>
              </a:ext>
            </a:extLst>
          </p:cNvPr>
          <p:cNvSpPr>
            <a:spLocks xmlns:a="http://schemas.openxmlformats.org/drawingml/2006/main" noGrp="1"/>
          </p:cNvSpPr>
          <p:nvPr/>
        </p:nvSpPr>
        <p:spPr>
          <a:xfrm xmlns:a="http://schemas.openxmlformats.org/drawingml/2006/main">
            <a:off x="609600" y="5238750"/>
            <a:ext cx="10858500" cy="6572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92F"/>
                </a:solidFill>
                <a:latin typeface="Malgun Gothic"/>
                <a:ea typeface="Malgun Gothic"/>
                <a:cs typeface="Malgun Gothic"/>
              </a:defRPr>
            </a:defPPr>
          </a:lstStyle>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도매가격의 변동을 참고하여 수취단가 가정을 선택한다.</a:t>
            </a:r>
          </a:p>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2026년 곡선은 2025년 말 기준 전망이며 현재의 실시간 예측이 아니다.</a:t>
            </a:r>
          </a:p>
        </p:txBody>
      </p:sp>
      <p:sp>
        <p:nvSpPr>
          <p:cNvPr id="8" name="유통 단계가 달라 중도매인 판매가격을 농가수취단가로 자동 대입">
            <a:extLst xmlns:a="http://schemas.openxmlformats.org/drawingml/2006/main">
              <a:ext uri="{FF2B5EF4-FFF2-40B4-BE49-F238E27FC236}">
                <a16:creationId xmlns:a16="http://schemas.microsoft.com/office/drawing/2014/main" id="{C591004D-E311-4594-8ACC-C150F6548C00}"/>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유통 단계가 달라 중도매인 판매가격을 농가수취단가로 자동 대입하지 않는다.</a:t>
            </a:r>
          </a:p>
        </p:txBody>
      </p:sp>
    </p:spTree>
    <p:extLst>
      <p:ext uri="{BB962C8B-B14F-4D97-AF65-F5344CB8AC3E}">
        <p14:creationId xmlns:p14="http://schemas.microsoft.com/office/powerpoint/2010/main" val="967594228"/>
      </p:ext>
    </p:extLst>
  </p:cSld>
</p:sld>
</file>

<file path=ppt/slides/slide12.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9" name="소득과 현금흐름의 계산">
            <a:extLst xmlns:a="http://schemas.openxmlformats.org/drawingml/2006/main">
              <a:ext uri="{FF2B5EF4-FFF2-40B4-BE49-F238E27FC236}">
                <a16:creationId xmlns:a16="http://schemas.microsoft.com/office/drawing/2014/main" id="{02E4F2AA-CB19-49A9-A748-767F9AB0F68F}"/>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소득과 현금흐름의 계산</a:t>
            </a:r>
          </a:p>
        </p:txBody>
      </p:sp>
      <p:sp>
        <p:nvSpPr>
          <p:cNvPr id="2" name="">
            <a:extLst xmlns:a="http://schemas.openxmlformats.org/drawingml/2006/main">
              <a:ext uri="{FF2B5EF4-FFF2-40B4-BE49-F238E27FC236}">
                <a16:creationId xmlns:a16="http://schemas.microsoft.com/office/drawing/2014/main" id="{29EF60F1-439D-4565-A293-C8C349E460C2}"/>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12">
            <a:extLst xmlns:a="http://schemas.openxmlformats.org/drawingml/2006/main">
              <a:ext uri="{FF2B5EF4-FFF2-40B4-BE49-F238E27FC236}">
                <a16:creationId xmlns:a16="http://schemas.microsoft.com/office/drawing/2014/main" id="{74D6F4AE-B14F-4C08-9133-DFC301344645}"/>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12</a:t>
            </a:r>
          </a:p>
        </p:txBody>
      </p:sp>
      <p:sp>
        <p:nvSpPr>
          <p:cNvPr id="4" name="회계 기준">
            <a:extLst xmlns:a="http://schemas.openxmlformats.org/drawingml/2006/main">
              <a:ext uri="{FF2B5EF4-FFF2-40B4-BE49-F238E27FC236}">
                <a16:creationId xmlns:a16="http://schemas.microsoft.com/office/drawing/2014/main" id="{37BA48FB-0B9B-4AF3-B29A-E3B349921DDC}"/>
              </a:ext>
            </a:extLst>
          </p:cNvPr>
          <p:cNvSpPr>
            <a:spLocks xmlns:a="http://schemas.openxmlformats.org/drawingml/2006/main" noGrp="1"/>
          </p:cNvSpPr>
          <p:nvPr/>
        </p:nvSpPr>
        <p:spPr>
          <a:xfrm xmlns:a="http://schemas.openxmlformats.org/drawingml/2006/main">
            <a:off x="609600" y="16954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회계 기준</a:t>
            </a:r>
          </a:p>
        </p:txBody>
      </p:sp>
      <p:sp>
        <p:nvSpPr>
          <p:cNvPr id="5" name="매출 = 출하량 × 농가수취단가&#10;&#10;소득 = 매출 − 경영비&#10;경">
            <a:extLst xmlns:a="http://schemas.openxmlformats.org/drawingml/2006/main">
              <a:ext uri="{FF2B5EF4-FFF2-40B4-BE49-F238E27FC236}">
                <a16:creationId xmlns:a16="http://schemas.microsoft.com/office/drawing/2014/main" id="{24E4BCE7-97F1-4272-9C91-C7D602708238}"/>
              </a:ext>
            </a:extLst>
          </p:cNvPr>
          <p:cNvSpPr>
            <a:spLocks xmlns:a="http://schemas.openxmlformats.org/drawingml/2006/main" noGrp="1"/>
          </p:cNvSpPr>
          <p:nvPr/>
        </p:nvSpPr>
        <p:spPr>
          <a:xfrm xmlns:a="http://schemas.openxmlformats.org/drawingml/2006/main">
            <a:off x="609600" y="2324100"/>
            <a:ext cx="5238750" cy="2314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392F"/>
                </a:solidFill>
                <a:latin typeface="Malgun Gothic"/>
                <a:ea typeface="Malgun Gothic"/>
                <a:cs typeface="Malgun Gothic"/>
              </a:defRPr>
            </a:defPPr>
          </a:lstStyle>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매출 = 출하량 × 농가수취단가</a:t>
            </a:r>
          </a:p>
          <a:p xmlns:a="http://schemas.openxmlformats.org/drawingml/2006/main">
            <a:r>
              <a:t/>
            </a:r>
          </a:p>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소득 = 매출 − 경영비</a:t>
            </a:r>
          </a:p>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경영비에는 감가상각 포함</a:t>
            </a:r>
          </a:p>
        </p:txBody>
      </p:sp>
      <p:sp>
        <p:nvSpPr>
          <p:cNvPr id="6" name="투자 판단 기준">
            <a:extLst xmlns:a="http://schemas.openxmlformats.org/drawingml/2006/main">
              <a:ext uri="{FF2B5EF4-FFF2-40B4-BE49-F238E27FC236}">
                <a16:creationId xmlns:a16="http://schemas.microsoft.com/office/drawing/2014/main" id="{90768195-8421-4E60-8347-39867586CD2A}"/>
              </a:ext>
            </a:extLst>
          </p:cNvPr>
          <p:cNvSpPr>
            <a:spLocks xmlns:a="http://schemas.openxmlformats.org/drawingml/2006/main" noGrp="1"/>
          </p:cNvSpPr>
          <p:nvPr/>
        </p:nvSpPr>
        <p:spPr>
          <a:xfrm xmlns:a="http://schemas.openxmlformats.org/drawingml/2006/main">
            <a:off x="6610350" y="1695450"/>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투자 판단 기준</a:t>
            </a:r>
          </a:p>
        </p:txBody>
      </p:sp>
      <p:sp>
        <p:nvSpPr>
          <p:cNvPr id="7" name="현금흐름 = 매출 − 현금 운영비&#10;− 해당 연도의 투자·교체 ">
            <a:extLst xmlns:a="http://schemas.openxmlformats.org/drawingml/2006/main">
              <a:ext uri="{FF2B5EF4-FFF2-40B4-BE49-F238E27FC236}">
                <a16:creationId xmlns:a16="http://schemas.microsoft.com/office/drawing/2014/main" id="{A13B69D7-64E4-4FD6-A11C-2B84CC63580A}"/>
              </a:ext>
            </a:extLst>
          </p:cNvPr>
          <p:cNvSpPr>
            <a:spLocks xmlns:a="http://schemas.openxmlformats.org/drawingml/2006/main" noGrp="1"/>
          </p:cNvSpPr>
          <p:nvPr/>
        </p:nvSpPr>
        <p:spPr>
          <a:xfrm xmlns:a="http://schemas.openxmlformats.org/drawingml/2006/main">
            <a:off x="6610350" y="2324100"/>
            <a:ext cx="49530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92F"/>
                </a:solidFill>
                <a:latin typeface="Malgun Gothic"/>
                <a:ea typeface="Malgun Gothic"/>
                <a:cs typeface="Malgun Gothic"/>
              </a:defRPr>
            </a:defPPr>
          </a:lstStyle>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현금흐름 = 매출 − 현금 운영비</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 해당 연도의 투자·교체 지출</a:t>
            </a:r>
          </a:p>
          <a:p xmlns:a="http://schemas.openxmlformats.org/drawingml/2006/main">
            <a:r>
              <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기존 시설 개량은</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도입 후와 기존 유지의 차이로 계산</a:t>
            </a:r>
          </a:p>
        </p:txBody>
      </p:sp>
      <p:sp>
        <p:nvSpPr>
          <p:cNvPr id="8" name="연간 1기작 기준. 가족노동 비용을 별도 표시하고 세금·대출·">
            <a:extLst xmlns:a="http://schemas.openxmlformats.org/drawingml/2006/main">
              <a:ext uri="{FF2B5EF4-FFF2-40B4-BE49-F238E27FC236}">
                <a16:creationId xmlns:a16="http://schemas.microsoft.com/office/drawing/2014/main" id="{8E5AC1E1-3E95-49FA-BC93-1F6865196C2E}"/>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연간 1기작 기준. 가족노동 비용을 별도 표시하고 세금·대출·보조금·운전자금·잔존가치는 제외한다.</a:t>
            </a:r>
          </a:p>
        </p:txBody>
      </p:sp>
    </p:spTree>
    <p:extLst>
      <p:ext uri="{BB962C8B-B14F-4D97-AF65-F5344CB8AC3E}">
        <p14:creationId xmlns:p14="http://schemas.microsoft.com/office/powerpoint/2010/main" val="751942158"/>
      </p:ext>
    </p:extLst>
  </p:cSld>
</p:sld>
</file>

<file path=ppt/slides/slide13.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0" name="딸기 도입 계획의 실행 예시">
            <a:extLst xmlns:a="http://schemas.openxmlformats.org/drawingml/2006/main">
              <a:ext uri="{FF2B5EF4-FFF2-40B4-BE49-F238E27FC236}">
                <a16:creationId xmlns:a16="http://schemas.microsoft.com/office/drawing/2014/main" id="{69A35BC1-4C75-4DBF-ABBB-C32BCE24A682}"/>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딸기 도입 계획의 실행 예시</a:t>
            </a:r>
          </a:p>
        </p:txBody>
      </p:sp>
      <p:sp>
        <p:nvSpPr>
          <p:cNvPr id="2" name="">
            <a:extLst xmlns:a="http://schemas.openxmlformats.org/drawingml/2006/main">
              <a:ext uri="{FF2B5EF4-FFF2-40B4-BE49-F238E27FC236}">
                <a16:creationId xmlns:a16="http://schemas.microsoft.com/office/drawing/2014/main" id="{8A6CFED7-F87C-4710-B514-8F1313712795}"/>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13">
            <a:extLst xmlns:a="http://schemas.openxmlformats.org/drawingml/2006/main">
              <a:ext uri="{FF2B5EF4-FFF2-40B4-BE49-F238E27FC236}">
                <a16:creationId xmlns:a16="http://schemas.microsoft.com/office/drawing/2014/main" id="{1FEB4942-8EE1-439C-950F-6BA0ED072D61}"/>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13</a:t>
            </a:r>
          </a:p>
        </p:txBody>
      </p:sp>
      <p:sp>
        <p:nvSpPr>
          <p:cNvPr id="4" name="전국 시설딸기(수경), 1,000㎡, 연간 1기작, 2027년">
            <a:extLst xmlns:a="http://schemas.openxmlformats.org/drawingml/2006/main">
              <a:ext uri="{FF2B5EF4-FFF2-40B4-BE49-F238E27FC236}">
                <a16:creationId xmlns:a16="http://schemas.microsoft.com/office/drawing/2014/main" id="{F6DC6EB7-3F70-4A7B-BB31-786E91593150}"/>
              </a:ext>
            </a:extLst>
          </p:cNvPr>
          <p:cNvSpPr>
            <a:spLocks xmlns:a="http://schemas.openxmlformats.org/drawingml/2006/main" noGrp="1"/>
          </p:cNvSpPr>
          <p:nvPr/>
        </p:nvSpPr>
        <p:spPr>
          <a:xfrm xmlns:a="http://schemas.openxmlformats.org/drawingml/2006/main">
            <a:off x="609600" y="1581150"/>
            <a:ext cx="1085850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1">
                <a:solidFill>
                  <a:srgbClr val="15734C"/>
                </a:solidFill>
                <a:latin typeface="Malgun Gothic"/>
                <a:ea typeface="Malgun Gothic"/>
                <a:cs typeface="Malgun Gothic"/>
              </a:defRPr>
            </a:defPPr>
          </a:lstStyle>
          <a:p xmlns:a="http://schemas.openxmlformats.org/drawingml/2006/main">
            <a:pPr algn="l">
              <a:defRPr sz="2025" b="1">
                <a:solidFill>
                  <a:srgbClr val="15734C"/>
                </a:solidFill>
                <a:latin typeface="Malgun Gothic"/>
                <a:ea typeface="Malgun Gothic"/>
                <a:cs typeface="Malgun Gothic"/>
              </a:defRPr>
            </a:pPr>
            <a:r>
              <a:rPr sz="2025" b="1">
                <a:solidFill>
                  <a:srgbClr val="15734C"/>
                </a:solidFill>
                <a:latin typeface="Malgun Gothic"/>
                <a:ea typeface="Malgun Gothic"/>
                <a:cs typeface="Malgun Gothic"/>
              </a:rPr>
              <a:t>전국 시설딸기(수경), 1,000㎡, 연간 1기작, 2027년 계획 예시</a:t>
            </a:r>
          </a:p>
        </p:txBody>
      </p:sp>
      <p:graphicFrame>
        <p:nvGraphicFramePr>
          <p:cNvPr id="5" name="">
            <a:extLst xmlns:a="http://schemas.openxmlformats.org/drawingml/2006/main">
              <a:ext uri="{FF2B5EF4-FFF2-40B4-BE49-F238E27FC236}">
                <a16:creationId xmlns:a16="http://schemas.microsoft.com/office/drawing/2014/main" id="{D16287A6-2862-41C0-BF2D-737F3323E333}"/>
              </a:ext>
            </a:extLst>
          </p:cNvPr>
          <p:cNvGraphicFramePr/>
          <p:nvPr/>
        </p:nvGraphicFramePr>
        <p:xfrm>
          <a:off xmlns:a="http://schemas.openxmlformats.org/drawingml/2006/main" x="609600" y="2162175"/>
          <a:ext xmlns:a="http://schemas.openxmlformats.org/drawingml/2006/main" cx="6096000" cy="3333750"/>
        </p:xfrm>
        <a:graphic xmlns:a="http://schemas.openxmlformats.org/drawingml/2006/main">
          <a:graphicData uri="http://schemas.openxmlformats.org/drawingml/2006/table">
            <a:tbl>
              <a:tblPr/>
              <a:tblGrid>
                <a:gridCol w="3810000"/>
                <a:gridCol w="2286000"/>
              </a:tblGrid>
              <a:tr h="555625">
                <a:tc>
                  <a:txBody>
                    <a:bodyPr lIns="95250" tIns="95250" rIns="95250" bIns="95250"/>
                    <a:lstStyle/>
                    <a:p>
                      <a:r>
                        <a:rPr sz="1950" b="1">
                          <a:solidFill>
                            <a:srgbClr val="FFFFFF"/>
                          </a:solidFill>
                          <a:latin typeface="Malgun Gothic"/>
                          <a:ea typeface="Malgun Gothic"/>
                          <a:cs typeface="Malgun Gothic"/>
                        </a:rPr>
                        <a:t>연간 항목</a:t>
                      </a:r>
                    </a:p>
                  </a:txBody>
                  <a:tcPr marL="91440" marR="91440" marT="45720" marB="45720" anchor="ctr">
                    <a:solidFill>
                      <a:srgbClr val="15734C"/>
                    </a:solidFill>
                  </a:tcPr>
                </a:tc>
                <a:tc>
                  <a:txBody>
                    <a:bodyPr lIns="95250" tIns="95250" rIns="95250" bIns="95250"/>
                    <a:lstStyle/>
                    <a:p>
                      <a:r>
                        <a:rPr sz="1950" b="1">
                          <a:solidFill>
                            <a:srgbClr val="FFFFFF"/>
                          </a:solidFill>
                          <a:latin typeface="Malgun Gothic"/>
                          <a:ea typeface="Malgun Gothic"/>
                          <a:cs typeface="Malgun Gothic"/>
                        </a:rPr>
                        <a:t>계산 결과</a:t>
                      </a:r>
                    </a:p>
                  </a:txBody>
                  <a:tcPr marL="91440" marR="91440" marT="45720" marB="45720" anchor="ctr">
                    <a:solidFill>
                      <a:srgbClr val="15734C"/>
                    </a:solidFill>
                  </a:tcPr>
                </a:tc>
              </a:tr>
              <a:tr h="555625">
                <a:tc>
                  <a:txBody>
                    <a:bodyPr lIns="95250" tIns="95250" rIns="95250" bIns="95250"/>
                    <a:lstStyle/>
                    <a:p>
                      <a:r>
                        <a:rPr sz="1950" b="0">
                          <a:solidFill>
                            <a:srgbClr val="17392F"/>
                          </a:solidFill>
                          <a:latin typeface="Malgun Gothic"/>
                          <a:ea typeface="Malgun Gothic"/>
                          <a:cs typeface="Malgun Gothic"/>
                        </a:rPr>
                        <a:t>출하량</a:t>
                      </a:r>
                    </a:p>
                  </a:txBody>
                  <a:tcPr marL="91440" marR="91440" marT="45720" marB="45720" anchor="ctr">
                    <a:solidFill>
                      <a:srgbClr val="FFFFFF"/>
                    </a:solidFill>
                  </a:tcPr>
                </a:tc>
                <a:tc>
                  <a:txBody>
                    <a:bodyPr lIns="95250" tIns="95250" rIns="95250" bIns="95250"/>
                    <a:lstStyle/>
                    <a:p>
                      <a:r>
                        <a:rPr sz="1950" b="0">
                          <a:solidFill>
                            <a:srgbClr val="17392F"/>
                          </a:solidFill>
                          <a:latin typeface="Malgun Gothic"/>
                          <a:ea typeface="Malgun Gothic"/>
                          <a:cs typeface="Malgun Gothic"/>
                        </a:rPr>
                        <a:t>3,344.5 kg</a:t>
                      </a:r>
                    </a:p>
                  </a:txBody>
                  <a:tcPr marL="91440" marR="91440" marT="45720" marB="45720" anchor="ctr">
                    <a:solidFill>
                      <a:srgbClr val="FFFFFF"/>
                    </a:solidFill>
                  </a:tcPr>
                </a:tc>
              </a:tr>
              <a:tr h="555625">
                <a:tc>
                  <a:txBody>
                    <a:bodyPr lIns="95250" tIns="95250" rIns="95250" bIns="95250"/>
                    <a:lstStyle/>
                    <a:p>
                      <a:r>
                        <a:rPr sz="1950" b="0">
                          <a:solidFill>
                            <a:srgbClr val="17392F"/>
                          </a:solidFill>
                          <a:latin typeface="Malgun Gothic"/>
                          <a:ea typeface="Malgun Gothic"/>
                          <a:cs typeface="Malgun Gothic"/>
                        </a:rPr>
                        <a:t>매출</a:t>
                      </a:r>
                    </a:p>
                  </a:txBody>
                  <a:tcPr marL="91440" marR="91440" marT="45720" marB="45720" anchor="ctr">
                    <a:solidFill>
                      <a:srgbClr val="E7F2EB"/>
                    </a:solidFill>
                  </a:tcPr>
                </a:tc>
                <a:tc>
                  <a:txBody>
                    <a:bodyPr lIns="95250" tIns="95250" rIns="95250" bIns="95250"/>
                    <a:lstStyle/>
                    <a:p>
                      <a:r>
                        <a:rPr sz="1950" b="0">
                          <a:solidFill>
                            <a:srgbClr val="17392F"/>
                          </a:solidFill>
                          <a:latin typeface="Malgun Gothic"/>
                          <a:ea typeface="Malgun Gothic"/>
                          <a:cs typeface="Malgun Gothic"/>
                        </a:rPr>
                        <a:t>3,634.8만원</a:t>
                      </a:r>
                    </a:p>
                  </a:txBody>
                  <a:tcPr marL="91440" marR="91440" marT="45720" marB="45720" anchor="ctr">
                    <a:solidFill>
                      <a:srgbClr val="E7F2EB"/>
                    </a:solidFill>
                  </a:tcPr>
                </a:tc>
              </a:tr>
              <a:tr h="555625">
                <a:tc>
                  <a:txBody>
                    <a:bodyPr lIns="95250" tIns="95250" rIns="95250" bIns="95250"/>
                    <a:lstStyle/>
                    <a:p>
                      <a:r>
                        <a:rPr sz="1950" b="0">
                          <a:solidFill>
                            <a:srgbClr val="17392F"/>
                          </a:solidFill>
                          <a:latin typeface="Malgun Gothic"/>
                          <a:ea typeface="Malgun Gothic"/>
                          <a:cs typeface="Malgun Gothic"/>
                        </a:rPr>
                        <a:t>자가노동 차감 전 소득</a:t>
                      </a:r>
                    </a:p>
                  </a:txBody>
                  <a:tcPr marL="91440" marR="91440" marT="45720" marB="45720" anchor="ctr">
                    <a:solidFill>
                      <a:srgbClr val="FFFFFF"/>
                    </a:solidFill>
                  </a:tcPr>
                </a:tc>
                <a:tc>
                  <a:txBody>
                    <a:bodyPr lIns="95250" tIns="95250" rIns="95250" bIns="95250"/>
                    <a:lstStyle/>
                    <a:p>
                      <a:r>
                        <a:rPr sz="1950" b="0">
                          <a:solidFill>
                            <a:srgbClr val="17392F"/>
                          </a:solidFill>
                          <a:latin typeface="Malgun Gothic"/>
                          <a:ea typeface="Malgun Gothic"/>
                          <a:cs typeface="Malgun Gothic"/>
                        </a:rPr>
                        <a:t>1,556.5만원</a:t>
                      </a:r>
                    </a:p>
                  </a:txBody>
                  <a:tcPr marL="91440" marR="91440" marT="45720" marB="45720" anchor="ctr">
                    <a:solidFill>
                      <a:srgbClr val="FFFFFF"/>
                    </a:solidFill>
                  </a:tcPr>
                </a:tc>
              </a:tr>
              <a:tr h="555625">
                <a:tc>
                  <a:txBody>
                    <a:bodyPr lIns="95250" tIns="95250" rIns="95250" bIns="95250"/>
                    <a:lstStyle/>
                    <a:p>
                      <a:r>
                        <a:rPr sz="1950" b="0">
                          <a:solidFill>
                            <a:srgbClr val="17392F"/>
                          </a:solidFill>
                          <a:latin typeface="Malgun Gothic"/>
                          <a:ea typeface="Malgun Gothic"/>
                          <a:cs typeface="Malgun Gothic"/>
                        </a:rPr>
                        <a:t>자가노동 기회비용</a:t>
                      </a:r>
                    </a:p>
                  </a:txBody>
                  <a:tcPr marL="91440" marR="91440" marT="45720" marB="45720" anchor="ctr">
                    <a:solidFill>
                      <a:srgbClr val="E7F2EB"/>
                    </a:solidFill>
                  </a:tcPr>
                </a:tc>
                <a:tc>
                  <a:txBody>
                    <a:bodyPr lIns="95250" tIns="95250" rIns="95250" bIns="95250"/>
                    <a:lstStyle/>
                    <a:p>
                      <a:r>
                        <a:rPr sz="1950" b="0">
                          <a:solidFill>
                            <a:srgbClr val="17392F"/>
                          </a:solidFill>
                          <a:latin typeface="Malgun Gothic"/>
                          <a:ea typeface="Malgun Gothic"/>
                          <a:cs typeface="Malgun Gothic"/>
                        </a:rPr>
                        <a:t>1,209.8만원</a:t>
                      </a:r>
                    </a:p>
                  </a:txBody>
                  <a:tcPr marL="91440" marR="91440" marT="45720" marB="45720" anchor="ctr">
                    <a:solidFill>
                      <a:srgbClr val="E7F2EB"/>
                    </a:solidFill>
                  </a:tcPr>
                </a:tc>
              </a:tr>
              <a:tr h="555625">
                <a:tc>
                  <a:txBody>
                    <a:bodyPr lIns="95250" tIns="95250" rIns="95250" bIns="95250"/>
                    <a:lstStyle/>
                    <a:p>
                      <a:r>
                        <a:rPr sz="1950" b="1">
                          <a:solidFill>
                            <a:srgbClr val="17392F"/>
                          </a:solidFill>
                          <a:latin typeface="Malgun Gothic"/>
                          <a:ea typeface="Malgun Gothic"/>
                          <a:cs typeface="Malgun Gothic"/>
                        </a:rPr>
                        <a:t>자가노동 차감 후 소득</a:t>
                      </a:r>
                    </a:p>
                  </a:txBody>
                  <a:tcPr marL="91440" marR="91440" marT="45720" marB="45720" anchor="ctr">
                    <a:solidFill>
                      <a:srgbClr val="F9ECDD"/>
                    </a:solidFill>
                  </a:tcPr>
                </a:tc>
                <a:tc>
                  <a:txBody>
                    <a:bodyPr lIns="95250" tIns="95250" rIns="95250" bIns="95250"/>
                    <a:lstStyle/>
                    <a:p>
                      <a:r>
                        <a:rPr sz="1950" b="1">
                          <a:solidFill>
                            <a:srgbClr val="17392F"/>
                          </a:solidFill>
                          <a:latin typeface="Malgun Gothic"/>
                          <a:ea typeface="Malgun Gothic"/>
                          <a:cs typeface="Malgun Gothic"/>
                        </a:rPr>
                        <a:t>346.7만원</a:t>
                      </a:r>
                    </a:p>
                  </a:txBody>
                  <a:tcPr marL="91440" marR="91440" marT="45720" marB="45720" anchor="ctr">
                    <a:solidFill>
                      <a:srgbClr val="F9ECDD"/>
                    </a:solidFill>
                  </a:tcPr>
                </a:tc>
              </a:tr>
            </a:tbl>
          </a:graphicData>
        </a:graphic>
      </p:graphicFrame>
      <p:sp>
        <p:nvSpPr>
          <p:cNvPr id="6" name="초기 투자 구성">
            <a:extLst xmlns:a="http://schemas.openxmlformats.org/drawingml/2006/main">
              <a:ext uri="{FF2B5EF4-FFF2-40B4-BE49-F238E27FC236}">
                <a16:creationId xmlns:a16="http://schemas.microsoft.com/office/drawing/2014/main" id="{ADBB50CC-B9EA-41EB-B617-CE8390DAD807}"/>
              </a:ext>
            </a:extLst>
          </p:cNvPr>
          <p:cNvSpPr>
            <a:spLocks xmlns:a="http://schemas.openxmlformats.org/drawingml/2006/main" noGrp="1"/>
          </p:cNvSpPr>
          <p:nvPr/>
        </p:nvSpPr>
        <p:spPr>
          <a:xfrm xmlns:a="http://schemas.openxmlformats.org/drawingml/2006/main">
            <a:off x="7143750" y="2152650"/>
            <a:ext cx="4286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초기 투자 구성</a:t>
            </a:r>
          </a:p>
        </p:txBody>
      </p:sp>
      <p:sp>
        <p:nvSpPr>
          <p:cNvPr id="7" name="총 11,253.0만원&#10;장비 2,457.3 + 설치 500&#10;추">
            <a:extLst xmlns:a="http://schemas.openxmlformats.org/drawingml/2006/main">
              <a:ext uri="{FF2B5EF4-FFF2-40B4-BE49-F238E27FC236}">
                <a16:creationId xmlns:a16="http://schemas.microsoft.com/office/drawing/2014/main" id="{425DA6BF-F859-4FBC-BC65-C8F9707FD4BC}"/>
              </a:ext>
            </a:extLst>
          </p:cNvPr>
          <p:cNvSpPr>
            <a:spLocks xmlns:a="http://schemas.openxmlformats.org/drawingml/2006/main" noGrp="1"/>
          </p:cNvSpPr>
          <p:nvPr/>
        </p:nvSpPr>
        <p:spPr>
          <a:xfrm xmlns:a="http://schemas.openxmlformats.org/drawingml/2006/main">
            <a:off x="7143750" y="2705100"/>
            <a:ext cx="4419600" cy="1524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92F"/>
                </a:solidFill>
                <a:latin typeface="Malgun Gothic"/>
                <a:ea typeface="Malgun Gothic"/>
                <a:cs typeface="Malgun Gothic"/>
              </a:defRPr>
            </a:defPPr>
          </a:lstStyle>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총 11,253.0만원</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장비 2,457.3 + 설치 500</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추가 부가세 295.7 + 기타 8,000</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(금액 단위: 만원)</a:t>
            </a:r>
          </a:p>
        </p:txBody>
      </p:sp>
      <p:sp>
        <p:nvSpPr>
          <p:cNvPr id="8" name="수취단가 10,868원/kg&#10;운영비·자가노동은&#10;2024년 조사">
            <a:extLst xmlns:a="http://schemas.openxmlformats.org/drawingml/2006/main">
              <a:ext uri="{FF2B5EF4-FFF2-40B4-BE49-F238E27FC236}">
                <a16:creationId xmlns:a16="http://schemas.microsoft.com/office/drawing/2014/main" id="{4D8615A4-DAE4-47B7-A798-9AB6D173EEBA}"/>
              </a:ext>
            </a:extLst>
          </p:cNvPr>
          <p:cNvSpPr>
            <a:spLocks xmlns:a="http://schemas.openxmlformats.org/drawingml/2006/main" noGrp="1"/>
          </p:cNvSpPr>
          <p:nvPr/>
        </p:nvSpPr>
        <p:spPr>
          <a:xfrm xmlns:a="http://schemas.openxmlformats.org/drawingml/2006/main">
            <a:off x="7143750" y="4429125"/>
            <a:ext cx="4381500" cy="1066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62736B"/>
                </a:solidFill>
                <a:latin typeface="Malgun Gothic"/>
                <a:ea typeface="Malgun Gothic"/>
                <a:cs typeface="Malgun Gothic"/>
              </a:defRPr>
            </a:defPPr>
          </a:lstStyle>
          <a:p xmlns:a="http://schemas.openxmlformats.org/drawingml/2006/main">
            <a:pPr algn="l">
              <a:defRPr sz="1875" b="0">
                <a:solidFill>
                  <a:srgbClr val="62736B"/>
                </a:solidFill>
                <a:latin typeface="Malgun Gothic"/>
                <a:ea typeface="Malgun Gothic"/>
                <a:cs typeface="Malgun Gothic"/>
              </a:defRPr>
            </a:pPr>
            <a:r>
              <a:rPr sz="1875" b="0">
                <a:solidFill>
                  <a:srgbClr val="62736B"/>
                </a:solidFill>
                <a:latin typeface="Malgun Gothic"/>
                <a:ea typeface="Malgun Gothic"/>
                <a:cs typeface="Malgun Gothic"/>
              </a:rPr>
              <a:t>수취단가 10,868원/kg</a:t>
            </a:r>
          </a:p>
          <a:p xmlns:a="http://schemas.openxmlformats.org/drawingml/2006/main">
            <a:pPr algn="l">
              <a:defRPr sz="1875" b="0">
                <a:solidFill>
                  <a:srgbClr val="62736B"/>
                </a:solidFill>
                <a:latin typeface="Malgun Gothic"/>
                <a:ea typeface="Malgun Gothic"/>
                <a:cs typeface="Malgun Gothic"/>
              </a:defRPr>
            </a:pPr>
            <a:r>
              <a:rPr sz="1875" b="0">
                <a:solidFill>
                  <a:srgbClr val="62736B"/>
                </a:solidFill>
                <a:latin typeface="Malgun Gothic"/>
                <a:ea typeface="Malgun Gothic"/>
                <a:cs typeface="Malgun Gothic"/>
              </a:rPr>
              <a:t>운영비·자가노동은</a:t>
            </a:r>
          </a:p>
          <a:p xmlns:a="http://schemas.openxmlformats.org/drawingml/2006/main">
            <a:pPr algn="l">
              <a:defRPr sz="1875" b="0">
                <a:solidFill>
                  <a:srgbClr val="62736B"/>
                </a:solidFill>
                <a:latin typeface="Malgun Gothic"/>
                <a:ea typeface="Malgun Gothic"/>
                <a:cs typeface="Malgun Gothic"/>
              </a:defRPr>
            </a:pPr>
            <a:r>
              <a:rPr sz="1875" b="0">
                <a:solidFill>
                  <a:srgbClr val="62736B"/>
                </a:solidFill>
                <a:latin typeface="Malgun Gothic"/>
                <a:ea typeface="Malgun Gothic"/>
                <a:cs typeface="Malgun Gothic"/>
              </a:rPr>
              <a:t>2024년 조사 기준</a:t>
            </a:r>
          </a:p>
        </p:txBody>
      </p:sp>
      <p:sp>
        <p:nvSpPr>
          <p:cNvPr id="9" name="설치·부가세·기타 투자비는 가정이다. 생산량은 2023·202">
            <a:extLst xmlns:a="http://schemas.openxmlformats.org/drawingml/2006/main">
              <a:ext uri="{FF2B5EF4-FFF2-40B4-BE49-F238E27FC236}">
                <a16:creationId xmlns:a16="http://schemas.microsoft.com/office/drawing/2014/main" id="{D5CD78B1-C6DB-49C9-9B78-1772FF84D51F}"/>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설치·부가세·기타 투자비는 가정이다. 생산량은 2023·2024 조사 2행의 중앙값이며 개별 농가의 검증된 예측이 아니다.</a:t>
            </a:r>
          </a:p>
        </p:txBody>
      </p:sp>
    </p:spTree>
    <p:extLst>
      <p:ext uri="{BB962C8B-B14F-4D97-AF65-F5344CB8AC3E}">
        <p14:creationId xmlns:p14="http://schemas.microsoft.com/office/powerpoint/2010/main" val="751904882"/>
      </p:ext>
    </p:extLst>
  </p:cSld>
</p:sld>
</file>

<file path=ppt/slides/slide14.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9" name="시나리오별 투자 회수와 가정 분포">
            <a:extLst xmlns:a="http://schemas.openxmlformats.org/drawingml/2006/main">
              <a:ext uri="{FF2B5EF4-FFF2-40B4-BE49-F238E27FC236}">
                <a16:creationId xmlns:a16="http://schemas.microsoft.com/office/drawing/2014/main" id="{2577AB7D-ECFB-440A-A9C6-2531F4BC73F9}"/>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시나리오별 투자 회수와 가정 분포</a:t>
            </a:r>
          </a:p>
        </p:txBody>
      </p:sp>
      <p:sp>
        <p:nvSpPr>
          <p:cNvPr id="2" name="">
            <a:extLst xmlns:a="http://schemas.openxmlformats.org/drawingml/2006/main">
              <a:ext uri="{FF2B5EF4-FFF2-40B4-BE49-F238E27FC236}">
                <a16:creationId xmlns:a16="http://schemas.microsoft.com/office/drawing/2014/main" id="{2D560B23-C094-41A0-B4F1-69D2C1147A3E}"/>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14">
            <a:extLst xmlns:a="http://schemas.openxmlformats.org/drawingml/2006/main">
              <a:ext uri="{FF2B5EF4-FFF2-40B4-BE49-F238E27FC236}">
                <a16:creationId xmlns:a16="http://schemas.microsoft.com/office/drawing/2014/main" id="{BCEFC40B-A209-4BD4-99DF-89B8B9811A4C}"/>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14</a:t>
            </a:r>
          </a:p>
        </p:txBody>
      </p:sp>
      <p:sp>
        <p:nvSpPr>
          <p:cNvPr id="4" name="생산 ±10%, 가격 ±20%, 현금 운영비 ∓10%  /  ">
            <a:extLst xmlns:a="http://schemas.openxmlformats.org/drawingml/2006/main">
              <a:ext uri="{FF2B5EF4-FFF2-40B4-BE49-F238E27FC236}">
                <a16:creationId xmlns:a16="http://schemas.microsoft.com/office/drawing/2014/main" id="{593C477F-B73A-429E-B28D-0874CFF975CB}"/>
              </a:ext>
            </a:extLst>
          </p:cNvPr>
          <p:cNvSpPr>
            <a:spLocks xmlns:a="http://schemas.openxmlformats.org/drawingml/2006/main" noGrp="1"/>
          </p:cNvSpPr>
          <p:nvPr/>
        </p:nvSpPr>
        <p:spPr>
          <a:xfrm xmlns:a="http://schemas.openxmlformats.org/drawingml/2006/main">
            <a:off x="609600" y="1552575"/>
            <a:ext cx="108585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0">
                <a:solidFill>
                  <a:srgbClr val="62736B"/>
                </a:solidFill>
                <a:latin typeface="Malgun Gothic"/>
                <a:ea typeface="Malgun Gothic"/>
                <a:cs typeface="Malgun Gothic"/>
              </a:defRPr>
            </a:defPPr>
          </a:lstStyle>
          <a:p xmlns:a="http://schemas.openxmlformats.org/drawingml/2006/main">
            <a:pPr algn="l">
              <a:defRPr sz="1800" b="0">
                <a:solidFill>
                  <a:srgbClr val="62736B"/>
                </a:solidFill>
                <a:latin typeface="Malgun Gothic"/>
                <a:ea typeface="Malgun Gothic"/>
                <a:cs typeface="Malgun Gothic"/>
              </a:defRPr>
            </a:pPr>
            <a:r>
              <a:rPr sz="1800" b="0">
                <a:solidFill>
                  <a:srgbClr val="62736B"/>
                </a:solidFill>
                <a:latin typeface="Malgun Gothic"/>
                <a:ea typeface="Malgun Gothic"/>
                <a:cs typeface="Malgun Gothic"/>
              </a:rPr>
              <a:t>생산 ±10%, 가격 ±20%, 현금 운영비 ∓10%  /  10년·할인율 4%·교체비 0 가정</a:t>
            </a:r>
          </a:p>
        </p:txBody>
      </p:sp>
      <p:graphicFrame>
        <p:nvGraphicFramePr>
          <p:cNvPr id="5" name="Chart">
            <a:extLst xmlns:a="http://schemas.openxmlformats.org/drawingml/2006/main">
              <a:ext uri="{FF2B5EF4-FFF2-40B4-BE49-F238E27FC236}">
                <a16:creationId xmlns:a16="http://schemas.microsoft.com/office/drawing/2014/main" id="{F408BD14-3853-431F-AD53-6D63FEE7F110}"/>
              </a:ext>
            </a:extLst>
          </p:cNvPr>
          <p:cNvGraphicFramePr/>
          <p:nvPr/>
        </p:nvGraphicFramePr>
        <p:xfrm>
          <a:off xmlns:a="http://schemas.openxmlformats.org/drawingml/2006/main" x="609600" y="1943100"/>
          <a:ext xmlns:a="http://schemas.openxmlformats.org/drawingml/2006/main" cx="10858500" cy="2809875"/>
        </p:xfrm>
        <a:graphic xmlns:a="http://schemas.openxmlformats.org/drawingml/2006/main">
          <a:graphicData uri="http://schemas.openxmlformats.org/drawingml/2006/chart">
            <c:chart xmlns:r="http://schemas.openxmlformats.org/officeDocument/2006/relationships" xmlns:c="http://schemas.openxmlformats.org/drawingml/2006/chart" r:id="R360cae3223cc408a"/>
          </a:graphicData>
        </a:graphic>
      </p:graphicFrame>
      <p:sp>
        <p:nvSpPr>
          <p:cNvPr id="6" name="불리: 10년 내 미회수   /   기준: 6년 회수   / ">
            <a:extLst xmlns:a="http://schemas.openxmlformats.org/drawingml/2006/main">
              <a:ext uri="{FF2B5EF4-FFF2-40B4-BE49-F238E27FC236}">
                <a16:creationId xmlns:a16="http://schemas.microsoft.com/office/drawing/2014/main" id="{50457EDF-6F03-4364-8300-A7493A025962}"/>
              </a:ext>
            </a:extLst>
          </p:cNvPr>
          <p:cNvSpPr>
            <a:spLocks xmlns:a="http://schemas.openxmlformats.org/drawingml/2006/main" noGrp="1"/>
          </p:cNvSpPr>
          <p:nvPr/>
        </p:nvSpPr>
        <p:spPr>
          <a:xfrm xmlns:a="http://schemas.openxmlformats.org/drawingml/2006/main">
            <a:off x="609600" y="4933950"/>
            <a:ext cx="10858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불리: 10년 내 미회수   /   기준: 6년 회수   /   유리: 4년 회수</a:t>
            </a:r>
          </a:p>
        </p:txBody>
      </p:sp>
      <p:sp>
        <p:nvSpPr>
          <p:cNvPr id="7" name="10년 NPV  불리 -4,295만원  /  기준 5,257만">
            <a:extLst xmlns:a="http://schemas.openxmlformats.org/drawingml/2006/main">
              <a:ext uri="{FF2B5EF4-FFF2-40B4-BE49-F238E27FC236}">
                <a16:creationId xmlns:a16="http://schemas.microsoft.com/office/drawing/2014/main" id="{812C4BFE-459E-406A-8276-1A420C0D77B0}"/>
              </a:ext>
            </a:extLst>
          </p:cNvPr>
          <p:cNvSpPr>
            <a:spLocks xmlns:a="http://schemas.openxmlformats.org/drawingml/2006/main" noGrp="1"/>
          </p:cNvSpPr>
          <p:nvPr/>
        </p:nvSpPr>
        <p:spPr>
          <a:xfrm xmlns:a="http://schemas.openxmlformats.org/drawingml/2006/main">
            <a:off x="609600" y="5343525"/>
            <a:ext cx="108585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92F"/>
                </a:solidFill>
                <a:latin typeface="Malgun Gothic"/>
                <a:ea typeface="Malgun Gothic"/>
                <a:cs typeface="Malgun Gothic"/>
              </a:defRPr>
            </a:defPPr>
          </a:lstStyle>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10년 NPV  불리 -4,295만원  /  기준 5,257만원  /  유리 15,988만원</a:t>
            </a:r>
          </a:p>
        </p:txBody>
      </p:sp>
      <p:sp>
        <p:nvSpPr>
          <p:cNvPr id="8" name="가족노동 기회비용 차감 전 현금흐름 기준.&#10;독립 삼각분포 2,">
            <a:extLst xmlns:a="http://schemas.openxmlformats.org/drawingml/2006/main">
              <a:ext uri="{FF2B5EF4-FFF2-40B4-BE49-F238E27FC236}">
                <a16:creationId xmlns:a16="http://schemas.microsoft.com/office/drawing/2014/main" id="{2BB35849-D584-4416-A998-81740012B8FF}"/>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가족노동 기회비용 차감 전 현금흐름 기준.</a:t>
            </a:r>
          </a:p>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독립 삼각분포 2,000회 NPV의 5·95백분위: 792~9,921만원. 가정분포이며 신뢰구간이 아니다.</a:t>
            </a:r>
          </a:p>
        </p:txBody>
      </p:sp>
    </p:spTree>
    <p:extLst>
      <p:ext uri="{BB962C8B-B14F-4D97-AF65-F5344CB8AC3E}">
        <p14:creationId xmlns:p14="http://schemas.microsoft.com/office/powerpoint/2010/main" val="1573322170"/>
      </p:ext>
    </p:extLst>
  </p:cSld>
</p:sld>
</file>

<file path=ppt/slides/slide15.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0" name="가격·기후 참고자료를 계획 계산에 연결">
            <a:extLst xmlns:a="http://schemas.openxmlformats.org/drawingml/2006/main">
              <a:ext uri="{FF2B5EF4-FFF2-40B4-BE49-F238E27FC236}">
                <a16:creationId xmlns:a16="http://schemas.microsoft.com/office/drawing/2014/main" id="{077FF67E-C9CE-4B50-9273-22A1E544A7D5}"/>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가격·기후 참고자료를 계획 계산에 연결</a:t>
            </a:r>
          </a:p>
        </p:txBody>
      </p:sp>
      <p:sp>
        <p:nvSpPr>
          <p:cNvPr id="2" name="">
            <a:extLst xmlns:a="http://schemas.openxmlformats.org/drawingml/2006/main">
              <a:ext uri="{FF2B5EF4-FFF2-40B4-BE49-F238E27FC236}">
                <a16:creationId xmlns:a16="http://schemas.microsoft.com/office/drawing/2014/main" id="{5C93A1DD-9506-453B-9FA0-ADC19BCC69DF}"/>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15">
            <a:extLst xmlns:a="http://schemas.openxmlformats.org/drawingml/2006/main">
              <a:ext uri="{FF2B5EF4-FFF2-40B4-BE49-F238E27FC236}">
                <a16:creationId xmlns:a16="http://schemas.microsoft.com/office/drawing/2014/main" id="{B7DEFE82-20AA-44E5-9008-0AED9F3AE70C}"/>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15</a:t>
            </a:r>
          </a:p>
        </p:txBody>
      </p:sp>
      <p:sp>
        <p:nvSpPr>
          <p:cNvPr id="4" name="가격 변동 가정">
            <a:extLst xmlns:a="http://schemas.openxmlformats.org/drawingml/2006/main">
              <a:ext uri="{FF2B5EF4-FFF2-40B4-BE49-F238E27FC236}">
                <a16:creationId xmlns:a16="http://schemas.microsoft.com/office/drawing/2014/main" id="{FDBA9FD9-936E-4FBA-96B5-C06298B692F6}"/>
              </a:ext>
            </a:extLst>
          </p:cNvPr>
          <p:cNvSpPr>
            <a:spLocks xmlns:a="http://schemas.openxmlformats.org/drawingml/2006/main" noGrp="1"/>
          </p:cNvSpPr>
          <p:nvPr/>
        </p:nvSpPr>
        <p:spPr>
          <a:xfrm xmlns:a="http://schemas.openxmlformats.org/drawingml/2006/main">
            <a:off x="609600" y="1619250"/>
            <a:ext cx="523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가격 변동 가정</a:t>
            </a:r>
          </a:p>
        </p:txBody>
      </p:sp>
      <p:sp>
        <p:nvSpPr>
          <p:cNvPr id="5" name="딸기 설향 상품, 공통 5개월 균등가중&#10;2025년 관측 대비 ">
            <a:extLst xmlns:a="http://schemas.openxmlformats.org/drawingml/2006/main">
              <a:ext uri="{FF2B5EF4-FFF2-40B4-BE49-F238E27FC236}">
                <a16:creationId xmlns:a16="http://schemas.microsoft.com/office/drawing/2014/main" id="{7171C53B-F0FD-48A0-8C32-914186F7B836}"/>
              </a:ext>
            </a:extLst>
          </p:cNvPr>
          <p:cNvSpPr>
            <a:spLocks xmlns:a="http://schemas.openxmlformats.org/drawingml/2006/main" noGrp="1"/>
          </p:cNvSpPr>
          <p:nvPr/>
        </p:nvSpPr>
        <p:spPr>
          <a:xfrm xmlns:a="http://schemas.openxmlformats.org/drawingml/2006/main">
            <a:off x="609600" y="2076450"/>
            <a:ext cx="52387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92F"/>
                </a:solidFill>
                <a:latin typeface="Malgun Gothic"/>
                <a:ea typeface="Malgun Gothic"/>
                <a:cs typeface="Malgun Gothic"/>
              </a:defRPr>
            </a:defPPr>
          </a:lstStyle>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딸기 설향 상품, 공통 5개월 균등가중</a:t>
            </a:r>
          </a:p>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2025년 관측 대비 2026년 전망 +8.6%</a:t>
            </a:r>
          </a:p>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수취단가에 같은 변동을 이전하는 가정</a:t>
            </a:r>
          </a:p>
        </p:txBody>
      </p:sp>
      <p:sp>
        <p:nvSpPr>
          <p:cNvPr id="6" name="기후 참고와 저온 가정">
            <a:extLst xmlns:a="http://schemas.openxmlformats.org/drawingml/2006/main">
              <a:ext uri="{FF2B5EF4-FFF2-40B4-BE49-F238E27FC236}">
                <a16:creationId xmlns:a16="http://schemas.microsoft.com/office/drawing/2014/main" id="{F976E282-BF5F-406E-A3E9-8A6F54C50674}"/>
              </a:ext>
            </a:extLst>
          </p:cNvPr>
          <p:cNvSpPr>
            <a:spLocks xmlns:a="http://schemas.openxmlformats.org/drawingml/2006/main" noGrp="1"/>
          </p:cNvSpPr>
          <p:nvPr/>
        </p:nvSpPr>
        <p:spPr>
          <a:xfrm xmlns:a="http://schemas.openxmlformats.org/drawingml/2006/main">
            <a:off x="6572250" y="1619250"/>
            <a:ext cx="52387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기후 참고와 저온 가정</a:t>
            </a:r>
          </a:p>
        </p:txBody>
      </p:sp>
      <p:sp>
        <p:nvSpPr>
          <p:cNvPr id="7" name="대구 1월 평년 1.1℃ (1991~2020)&#10;연간 생산 -1">
            <a:extLst xmlns:a="http://schemas.openxmlformats.org/drawingml/2006/main">
              <a:ext uri="{FF2B5EF4-FFF2-40B4-BE49-F238E27FC236}">
                <a16:creationId xmlns:a16="http://schemas.microsoft.com/office/drawing/2014/main" id="{F4C743A7-D84D-41D4-8C0C-AB1339E6B7AF}"/>
              </a:ext>
            </a:extLst>
          </p:cNvPr>
          <p:cNvSpPr>
            <a:spLocks xmlns:a="http://schemas.openxmlformats.org/drawingml/2006/main" noGrp="1"/>
          </p:cNvSpPr>
          <p:nvPr/>
        </p:nvSpPr>
        <p:spPr>
          <a:xfrm xmlns:a="http://schemas.openxmlformats.org/drawingml/2006/main">
            <a:off x="6572250" y="2076450"/>
            <a:ext cx="504825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92F"/>
                </a:solidFill>
                <a:latin typeface="Malgun Gothic"/>
                <a:ea typeface="Malgun Gothic"/>
                <a:cs typeface="Malgun Gothic"/>
              </a:defRPr>
            </a:defPPr>
          </a:lstStyle>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대구 1월 평년 1.1℃ (1991~2020)</a:t>
            </a:r>
          </a:p>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연간 생산 -10%, 현금비용 +15% 가정</a:t>
            </a:r>
          </a:p>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기후평년값에서 학습한 영향이 아님</a:t>
            </a:r>
          </a:p>
        </p:txBody>
      </p:sp>
      <p:graphicFrame>
        <p:nvGraphicFramePr>
          <p:cNvPr id="8" name="">
            <a:extLst xmlns:a="http://schemas.openxmlformats.org/drawingml/2006/main">
              <a:ext uri="{FF2B5EF4-FFF2-40B4-BE49-F238E27FC236}">
                <a16:creationId xmlns:a16="http://schemas.microsoft.com/office/drawing/2014/main" id="{3A5DFFEE-29B5-418E-BBDE-6FC5DB9C77EB}"/>
              </a:ext>
            </a:extLst>
          </p:cNvPr>
          <p:cNvGraphicFramePr/>
          <p:nvPr/>
        </p:nvGraphicFramePr>
        <p:xfrm>
          <a:off xmlns:a="http://schemas.openxmlformats.org/drawingml/2006/main" x="609600" y="3524250"/>
          <a:ext xmlns:a="http://schemas.openxmlformats.org/drawingml/2006/main" cx="10972800" cy="2047875"/>
        </p:xfrm>
        <a:graphic xmlns:a="http://schemas.openxmlformats.org/drawingml/2006/main">
          <a:graphicData uri="http://schemas.openxmlformats.org/drawingml/2006/table">
            <a:tbl>
              <a:tblPr/>
              <a:tblGrid>
                <a:gridCol w="3333750"/>
                <a:gridCol w="3429000"/>
                <a:gridCol w="2476500"/>
                <a:gridCol w="1733550"/>
              </a:tblGrid>
              <a:tr h="511969">
                <a:tc>
                  <a:txBody>
                    <a:bodyPr lIns="95250" tIns="95250" rIns="95250" bIns="95250"/>
                    <a:lstStyle/>
                    <a:p>
                      <a:r>
                        <a:rPr sz="1800" b="1">
                          <a:solidFill>
                            <a:srgbClr val="FFFFFF"/>
                          </a:solidFill>
                          <a:latin typeface="Malgun Gothic"/>
                          <a:ea typeface="Malgun Gothic"/>
                          <a:cs typeface="Malgun Gothic"/>
                        </a:rPr>
                        <a:t>조건</a:t>
                      </a:r>
                    </a:p>
                  </a:txBody>
                  <a:tcPr marL="91440" marR="91440" marT="45720" marB="45720" anchor="ctr">
                    <a:solidFill>
                      <a:srgbClr val="15734C"/>
                    </a:solidFill>
                  </a:tcPr>
                </a:tc>
                <a:tc>
                  <a:txBody>
                    <a:bodyPr lIns="95250" tIns="95250" rIns="95250" bIns="95250"/>
                    <a:lstStyle/>
                    <a:p>
                      <a:r>
                        <a:rPr sz="1800" b="1">
                          <a:solidFill>
                            <a:srgbClr val="FFFFFF"/>
                          </a:solidFill>
                          <a:latin typeface="Malgun Gothic"/>
                          <a:ea typeface="Malgun Gothic"/>
                          <a:cs typeface="Malgun Gothic"/>
                        </a:rPr>
                        <a:t>자가노동 차감 후 소득</a:t>
                      </a:r>
                    </a:p>
                  </a:txBody>
                  <a:tcPr marL="91440" marR="91440" marT="45720" marB="45720" anchor="ctr">
                    <a:solidFill>
                      <a:srgbClr val="15734C"/>
                    </a:solidFill>
                  </a:tcPr>
                </a:tc>
                <a:tc>
                  <a:txBody>
                    <a:bodyPr lIns="95250" tIns="95250" rIns="95250" bIns="95250"/>
                    <a:lstStyle/>
                    <a:p>
                      <a:r>
                        <a:rPr sz="1800" b="1">
                          <a:solidFill>
                            <a:srgbClr val="FFFFFF"/>
                          </a:solidFill>
                          <a:latin typeface="Malgun Gothic"/>
                          <a:ea typeface="Malgun Gothic"/>
                          <a:cs typeface="Malgun Gothic"/>
                        </a:rPr>
                        <a:t>10년 NPV</a:t>
                      </a:r>
                    </a:p>
                  </a:txBody>
                  <a:tcPr marL="91440" marR="91440" marT="45720" marB="45720" anchor="ctr">
                    <a:solidFill>
                      <a:srgbClr val="15734C"/>
                    </a:solidFill>
                  </a:tcPr>
                </a:tc>
                <a:tc>
                  <a:txBody>
                    <a:bodyPr lIns="95250" tIns="95250" rIns="95250" bIns="95250"/>
                    <a:lstStyle/>
                    <a:p>
                      <a:r>
                        <a:rPr sz="1800" b="1">
                          <a:solidFill>
                            <a:srgbClr val="FFFFFF"/>
                          </a:solidFill>
                          <a:latin typeface="Malgun Gothic"/>
                          <a:ea typeface="Malgun Gothic"/>
                          <a:cs typeface="Malgun Gothic"/>
                        </a:rPr>
                        <a:t>회수</a:t>
                      </a:r>
                    </a:p>
                  </a:txBody>
                  <a:tcPr marL="91440" marR="91440" marT="45720" marB="45720" anchor="ctr">
                    <a:solidFill>
                      <a:srgbClr val="15734C"/>
                    </a:solidFill>
                  </a:tcPr>
                </a:tc>
              </a:tr>
              <a:tr h="511969">
                <a:tc>
                  <a:txBody>
                    <a:bodyPr lIns="95250" tIns="95250" rIns="95250" bIns="95250"/>
                    <a:lstStyle/>
                    <a:p>
                      <a:r>
                        <a:rPr sz="1800" b="0">
                          <a:solidFill>
                            <a:srgbClr val="17392F"/>
                          </a:solidFill>
                          <a:latin typeface="Malgun Gothic"/>
                          <a:ea typeface="Malgun Gothic"/>
                          <a:cs typeface="Malgun Gothic"/>
                        </a:rPr>
                        <a:t>기존 계획</a:t>
                      </a:r>
                    </a:p>
                  </a:txBody>
                  <a:tcPr marL="91440" marR="91440" marT="45720" marB="45720" anchor="ctr">
                    <a:solidFill>
                      <a:srgbClr val="FFFFFF"/>
                    </a:solidFill>
                  </a:tcPr>
                </a:tc>
                <a:tc>
                  <a:txBody>
                    <a:bodyPr lIns="95250" tIns="95250" rIns="95250" bIns="95250"/>
                    <a:lstStyle/>
                    <a:p>
                      <a:r>
                        <a:rPr sz="1800" b="0">
                          <a:solidFill>
                            <a:srgbClr val="17392F"/>
                          </a:solidFill>
                          <a:latin typeface="Malgun Gothic"/>
                          <a:ea typeface="Malgun Gothic"/>
                          <a:cs typeface="Malgun Gothic"/>
                        </a:rPr>
                        <a:t>346.7만원/년</a:t>
                      </a:r>
                    </a:p>
                  </a:txBody>
                  <a:tcPr marL="91440" marR="91440" marT="45720" marB="45720" anchor="ctr">
                    <a:solidFill>
                      <a:srgbClr val="FFFFFF"/>
                    </a:solidFill>
                  </a:tcPr>
                </a:tc>
                <a:tc>
                  <a:txBody>
                    <a:bodyPr lIns="95250" tIns="95250" rIns="95250" bIns="95250"/>
                    <a:lstStyle/>
                    <a:p>
                      <a:r>
                        <a:rPr sz="1800" b="0">
                          <a:solidFill>
                            <a:srgbClr val="17392F"/>
                          </a:solidFill>
                          <a:latin typeface="Malgun Gothic"/>
                          <a:ea typeface="Malgun Gothic"/>
                          <a:cs typeface="Malgun Gothic"/>
                        </a:rPr>
                        <a:t>5,256.6만원</a:t>
                      </a:r>
                    </a:p>
                  </a:txBody>
                  <a:tcPr marL="91440" marR="91440" marT="45720" marB="45720" anchor="ctr">
                    <a:solidFill>
                      <a:srgbClr val="FFFFFF"/>
                    </a:solidFill>
                  </a:tcPr>
                </a:tc>
                <a:tc>
                  <a:txBody>
                    <a:bodyPr lIns="95250" tIns="95250" rIns="95250" bIns="95250"/>
                    <a:lstStyle/>
                    <a:p>
                      <a:r>
                        <a:rPr sz="1800" b="0">
                          <a:solidFill>
                            <a:srgbClr val="17392F"/>
                          </a:solidFill>
                          <a:latin typeface="Malgun Gothic"/>
                          <a:ea typeface="Malgun Gothic"/>
                          <a:cs typeface="Malgun Gothic"/>
                        </a:rPr>
                        <a:t>6년</a:t>
                      </a:r>
                    </a:p>
                  </a:txBody>
                  <a:tcPr marL="91440" marR="91440" marT="45720" marB="45720" anchor="ctr">
                    <a:solidFill>
                      <a:srgbClr val="FFFFFF"/>
                    </a:solidFill>
                  </a:tcPr>
                </a:tc>
              </a:tr>
              <a:tr h="511969">
                <a:tc>
                  <a:txBody>
                    <a:bodyPr lIns="95250" tIns="95250" rIns="95250" bIns="95250"/>
                    <a:lstStyle/>
                    <a:p>
                      <a:r>
                        <a:rPr sz="1800" b="0">
                          <a:solidFill>
                            <a:srgbClr val="17392F"/>
                          </a:solidFill>
                          <a:latin typeface="Malgun Gothic"/>
                          <a:ea typeface="Malgun Gothic"/>
                          <a:cs typeface="Malgun Gothic"/>
                        </a:rPr>
                        <a:t>가격 변동 적용</a:t>
                      </a:r>
                    </a:p>
                  </a:txBody>
                  <a:tcPr marL="91440" marR="91440" marT="45720" marB="45720" anchor="ctr">
                    <a:solidFill>
                      <a:srgbClr val="E7F2EB"/>
                    </a:solidFill>
                  </a:tcPr>
                </a:tc>
                <a:tc>
                  <a:txBody>
                    <a:bodyPr lIns="95250" tIns="95250" rIns="95250" bIns="95250"/>
                    <a:lstStyle/>
                    <a:p>
                      <a:r>
                        <a:rPr sz="1800" b="0">
                          <a:solidFill>
                            <a:srgbClr val="17392F"/>
                          </a:solidFill>
                          <a:latin typeface="Malgun Gothic"/>
                          <a:ea typeface="Malgun Gothic"/>
                          <a:cs typeface="Malgun Gothic"/>
                        </a:rPr>
                        <a:t>659.2만원/년</a:t>
                      </a:r>
                    </a:p>
                  </a:txBody>
                  <a:tcPr marL="91440" marR="91440" marT="45720" marB="45720" anchor="ctr">
                    <a:solidFill>
                      <a:srgbClr val="E7F2EB"/>
                    </a:solidFill>
                  </a:tcPr>
                </a:tc>
                <a:tc>
                  <a:txBody>
                    <a:bodyPr lIns="95250" tIns="95250" rIns="95250" bIns="95250"/>
                    <a:lstStyle/>
                    <a:p>
                      <a:r>
                        <a:rPr sz="1800" b="0">
                          <a:solidFill>
                            <a:srgbClr val="17392F"/>
                          </a:solidFill>
                          <a:latin typeface="Malgun Gothic"/>
                          <a:ea typeface="Malgun Gothic"/>
                          <a:cs typeface="Malgun Gothic"/>
                        </a:rPr>
                        <a:t>7,791.7만원</a:t>
                      </a:r>
                    </a:p>
                  </a:txBody>
                  <a:tcPr marL="91440" marR="91440" marT="45720" marB="45720" anchor="ctr">
                    <a:solidFill>
                      <a:srgbClr val="E7F2EB"/>
                    </a:solidFill>
                  </a:tcPr>
                </a:tc>
                <a:tc>
                  <a:txBody>
                    <a:bodyPr lIns="95250" tIns="95250" rIns="95250" bIns="95250"/>
                    <a:lstStyle/>
                    <a:p>
                      <a:r>
                        <a:rPr sz="1800" b="0">
                          <a:solidFill>
                            <a:srgbClr val="17392F"/>
                          </a:solidFill>
                          <a:latin typeface="Malgun Gothic"/>
                          <a:ea typeface="Malgun Gothic"/>
                          <a:cs typeface="Malgun Gothic"/>
                        </a:rPr>
                        <a:t>5년</a:t>
                      </a:r>
                    </a:p>
                  </a:txBody>
                  <a:tcPr marL="91440" marR="91440" marT="45720" marB="45720" anchor="ctr">
                    <a:solidFill>
                      <a:srgbClr val="E7F2EB"/>
                    </a:solidFill>
                  </a:tcPr>
                </a:tc>
              </a:tr>
              <a:tr h="511969">
                <a:tc>
                  <a:txBody>
                    <a:bodyPr lIns="95250" tIns="95250" rIns="95250" bIns="95250"/>
                    <a:lstStyle/>
                    <a:p>
                      <a:r>
                        <a:rPr sz="1800" b="0">
                          <a:solidFill>
                            <a:srgbClr val="17392F"/>
                          </a:solidFill>
                          <a:latin typeface="Malgun Gothic"/>
                          <a:ea typeface="Malgun Gothic"/>
                          <a:cs typeface="Malgun Gothic"/>
                        </a:rPr>
                        <a:t>가격 변동 + 저온</a:t>
                      </a:r>
                    </a:p>
                  </a:txBody>
                  <a:tcPr marL="91440" marR="91440" marT="45720" marB="45720" anchor="ctr">
                    <a:solidFill>
                      <a:srgbClr val="FFFFFF"/>
                    </a:solidFill>
                  </a:tcPr>
                </a:tc>
                <a:tc>
                  <a:txBody>
                    <a:bodyPr lIns="95250" tIns="95250" rIns="95250" bIns="95250"/>
                    <a:lstStyle/>
                    <a:p>
                      <a:r>
                        <a:rPr sz="1800" b="0">
                          <a:solidFill>
                            <a:srgbClr val="17392F"/>
                          </a:solidFill>
                          <a:latin typeface="Malgun Gothic"/>
                          <a:ea typeface="Malgun Gothic"/>
                          <a:cs typeface="Malgun Gothic"/>
                        </a:rPr>
                        <a:t>24.6만원/년</a:t>
                      </a:r>
                    </a:p>
                  </a:txBody>
                  <a:tcPr marL="91440" marR="91440" marT="45720" marB="45720" anchor="ctr">
                    <a:solidFill>
                      <a:srgbClr val="FFFFFF"/>
                    </a:solidFill>
                  </a:tcPr>
                </a:tc>
                <a:tc>
                  <a:txBody>
                    <a:bodyPr lIns="95250" tIns="95250" rIns="95250" bIns="95250"/>
                    <a:lstStyle/>
                    <a:p>
                      <a:r>
                        <a:rPr sz="1800" b="0">
                          <a:solidFill>
                            <a:srgbClr val="17392F"/>
                          </a:solidFill>
                          <a:latin typeface="Malgun Gothic"/>
                          <a:ea typeface="Malgun Gothic"/>
                          <a:cs typeface="Malgun Gothic"/>
                        </a:rPr>
                        <a:t>2,644.2만원</a:t>
                      </a:r>
                    </a:p>
                  </a:txBody>
                  <a:tcPr marL="91440" marR="91440" marT="45720" marB="45720" anchor="ctr">
                    <a:solidFill>
                      <a:srgbClr val="FFFFFF"/>
                    </a:solidFill>
                  </a:tcPr>
                </a:tc>
                <a:tc>
                  <a:txBody>
                    <a:bodyPr lIns="95250" tIns="95250" rIns="95250" bIns="95250"/>
                    <a:lstStyle/>
                    <a:p>
                      <a:r>
                        <a:rPr sz="1800" b="0">
                          <a:solidFill>
                            <a:srgbClr val="17392F"/>
                          </a:solidFill>
                          <a:latin typeface="Malgun Gothic"/>
                          <a:ea typeface="Malgun Gothic"/>
                          <a:cs typeface="Malgun Gothic"/>
                        </a:rPr>
                        <a:t>7년</a:t>
                      </a:r>
                    </a:p>
                  </a:txBody>
                  <a:tcPr marL="91440" marR="91440" marT="45720" marB="45720" anchor="ctr">
                    <a:solidFill>
                      <a:srgbClr val="FFFFFF"/>
                    </a:solidFill>
                  </a:tcPr>
                </a:tc>
              </a:tr>
            </a:tbl>
          </a:graphicData>
        </a:graphic>
      </p:graphicFrame>
      <p:sp>
        <p:nvSpPr>
          <p:cNvPr id="9" name="가격은 2025년 말 기준 2026년 전망을 이용한 가정이다.">
            <a:extLst xmlns:a="http://schemas.openxmlformats.org/drawingml/2006/main">
              <a:ext uri="{FF2B5EF4-FFF2-40B4-BE49-F238E27FC236}">
                <a16:creationId xmlns:a16="http://schemas.microsoft.com/office/drawing/2014/main" id="{D381F25D-D28D-417D-9CC1-1242D7EE8AF5}"/>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가격은 2025년 말 기준 2026년 전망을 이용한 가정이다. 기후는 미래 예보가 아니며 2027년 검증 예측이 아니다.</a:t>
            </a:r>
          </a:p>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NPV·회수는 자가노동 차감 전 현금흐름 기준이며, 나머지 투자·비용 조건은 앞의 예시와 같다.</a:t>
            </a:r>
          </a:p>
        </p:txBody>
      </p:sp>
    </p:spTree>
    <p:extLst>
      <p:ext uri="{BB962C8B-B14F-4D97-AF65-F5344CB8AC3E}">
        <p14:creationId xmlns:p14="http://schemas.microsoft.com/office/powerpoint/2010/main" val="1916616709"/>
      </p:ext>
    </p:extLst>
  </p:cSld>
</p:sld>
</file>

<file path=ppt/slides/slide16.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10" name="운영 중 딸기 생육 점검 실험">
            <a:extLst xmlns:a="http://schemas.openxmlformats.org/drawingml/2006/main">
              <a:ext uri="{FF2B5EF4-FFF2-40B4-BE49-F238E27FC236}">
                <a16:creationId xmlns:a16="http://schemas.microsoft.com/office/drawing/2014/main" id="{16502088-ACB7-4C18-9CA4-7624EC33AFA1}"/>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운영 중 딸기 생육 점검 실험</a:t>
            </a:r>
          </a:p>
        </p:txBody>
      </p:sp>
      <p:sp>
        <p:nvSpPr>
          <p:cNvPr id="2" name="">
            <a:extLst xmlns:a="http://schemas.openxmlformats.org/drawingml/2006/main">
              <a:ext uri="{FF2B5EF4-FFF2-40B4-BE49-F238E27FC236}">
                <a16:creationId xmlns:a16="http://schemas.microsoft.com/office/drawing/2014/main" id="{56E84857-D1FF-4ED3-B0E8-FB497CE17DFD}"/>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16">
            <a:extLst xmlns:a="http://schemas.openxmlformats.org/drawingml/2006/main">
              <a:ext uri="{FF2B5EF4-FFF2-40B4-BE49-F238E27FC236}">
                <a16:creationId xmlns:a16="http://schemas.microsoft.com/office/drawing/2014/main" id="{0BFC63C8-3661-4A33-9D5D-B9C74AAC98C0}"/>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16</a:t>
            </a:r>
          </a:p>
        </p:txBody>
      </p:sp>
      <p:sp>
        <p:nvSpPr>
          <p:cNvPr id="4" name="현재 조사 직후 예측">
            <a:extLst xmlns:a="http://schemas.openxmlformats.org/drawingml/2006/main">
              <a:ext uri="{FF2B5EF4-FFF2-40B4-BE49-F238E27FC236}">
                <a16:creationId xmlns:a16="http://schemas.microsoft.com/office/drawing/2014/main" id="{5F3E1BB5-2CA5-40EB-9B20-72DE201B8CB8}"/>
              </a:ext>
            </a:extLst>
          </p:cNvPr>
          <p:cNvSpPr>
            <a:spLocks xmlns:a="http://schemas.openxmlformats.org/drawingml/2006/main" noGrp="1"/>
          </p:cNvSpPr>
          <p:nvPr/>
        </p:nvSpPr>
        <p:spPr>
          <a:xfrm xmlns:a="http://schemas.openxmlformats.org/drawingml/2006/main">
            <a:off x="609600" y="1619250"/>
            <a:ext cx="53340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현재 조사 직후 예측</a:t>
            </a:r>
          </a:p>
        </p:txBody>
      </p:sp>
      <p:sp>
        <p:nvSpPr>
          <p:cNvPr id="5" name="생육 9개 입력&#10;현재 초장·잎·관부 지표와&#10;조사일·정식 후 일">
            <a:extLst xmlns:a="http://schemas.openxmlformats.org/drawingml/2006/main">
              <a:ext uri="{FF2B5EF4-FFF2-40B4-BE49-F238E27FC236}">
                <a16:creationId xmlns:a16="http://schemas.microsoft.com/office/drawing/2014/main" id="{B6E21164-8BAE-4DF7-8E70-1403F5072587}"/>
              </a:ext>
            </a:extLst>
          </p:cNvPr>
          <p:cNvSpPr>
            <a:spLocks xmlns:a="http://schemas.openxmlformats.org/drawingml/2006/main" noGrp="1"/>
          </p:cNvSpPr>
          <p:nvPr/>
        </p:nvSpPr>
        <p:spPr>
          <a:xfrm xmlns:a="http://schemas.openxmlformats.org/drawingml/2006/main">
            <a:off x="609600" y="2114550"/>
            <a:ext cx="4857750"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75" b="0">
                <a:solidFill>
                  <a:srgbClr val="17392F"/>
                </a:solidFill>
                <a:latin typeface="Malgun Gothic"/>
                <a:ea typeface="Malgun Gothic"/>
                <a:cs typeface="Malgun Gothic"/>
              </a:defRPr>
            </a:defPPr>
          </a:lstStyle>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생육 9개 입력</a:t>
            </a:r>
          </a:p>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현재 초장·잎·관부 지표와</a:t>
            </a:r>
          </a:p>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조사일·정식 후 일수 등</a:t>
            </a:r>
          </a:p>
          <a:p xmlns:a="http://schemas.openxmlformats.org/drawingml/2006/main">
            <a:r>
              <a:t/>
            </a:r>
          </a:p>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이전 환경 24개 입력</a:t>
            </a:r>
          </a:p>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온도·습도 일평균과 분석일자별 CO₂</a:t>
            </a:r>
          </a:p>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직전 7/28일의 평균·최소·최대와</a:t>
            </a:r>
          </a:p>
          <a:p xmlns:a="http://schemas.openxmlformats.org/drawingml/2006/main">
            <a:pPr algn="l">
              <a:defRPr sz="1875" b="0">
                <a:solidFill>
                  <a:srgbClr val="17392F"/>
                </a:solidFill>
                <a:latin typeface="Malgun Gothic"/>
                <a:ea typeface="Malgun Gothic"/>
                <a:cs typeface="Malgun Gothic"/>
              </a:defRPr>
            </a:pPr>
            <a:r>
              <a:rPr sz="1875" b="0">
                <a:solidFill>
                  <a:srgbClr val="17392F"/>
                </a:solidFill>
                <a:latin typeface="Malgun Gothic"/>
                <a:ea typeface="Malgun Gothic"/>
                <a:cs typeface="Malgun Gothic"/>
              </a:rPr>
              <a:t>유효 관측일수</a:t>
            </a:r>
          </a:p>
        </p:txBody>
      </p:sp>
      <p:sp>
        <p:nvSpPr>
          <p:cNvPr id="6" name="7일 뒤 시설 평균 초장 MAE (mm)">
            <a:extLst xmlns:a="http://schemas.openxmlformats.org/drawingml/2006/main">
              <a:ext uri="{FF2B5EF4-FFF2-40B4-BE49-F238E27FC236}">
                <a16:creationId xmlns:a16="http://schemas.microsoft.com/office/drawing/2014/main" id="{A45400C7-0DCA-4CBF-B42F-FD1956BED8DA}"/>
              </a:ext>
            </a:extLst>
          </p:cNvPr>
          <p:cNvSpPr>
            <a:spLocks xmlns:a="http://schemas.openxmlformats.org/drawingml/2006/main" noGrp="1"/>
          </p:cNvSpPr>
          <p:nvPr/>
        </p:nvSpPr>
        <p:spPr>
          <a:xfrm xmlns:a="http://schemas.openxmlformats.org/drawingml/2006/main">
            <a:off x="5810250" y="1619250"/>
            <a:ext cx="581025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7일 뒤 시설 평균 초장 MAE (mm)</a:t>
            </a:r>
          </a:p>
        </p:txBody>
      </p:sp>
      <p:graphicFrame>
        <p:nvGraphicFramePr>
          <p:cNvPr id="7" name="Chart">
            <a:extLst xmlns:a="http://schemas.openxmlformats.org/drawingml/2006/main">
              <a:ext uri="{FF2B5EF4-FFF2-40B4-BE49-F238E27FC236}">
                <a16:creationId xmlns:a16="http://schemas.microsoft.com/office/drawing/2014/main" id="{DB7EF88C-3571-4907-9225-88B7A45B318C}"/>
              </a:ext>
            </a:extLst>
          </p:cNvPr>
          <p:cNvGraphicFramePr/>
          <p:nvPr/>
        </p:nvGraphicFramePr>
        <p:xfrm>
          <a:off xmlns:a="http://schemas.openxmlformats.org/drawingml/2006/main" x="5743575" y="2190750"/>
          <a:ext xmlns:a="http://schemas.openxmlformats.org/drawingml/2006/main" cx="5953125" cy="3067050"/>
        </p:xfrm>
        <a:graphic xmlns:a="http://schemas.openxmlformats.org/drawingml/2006/main">
          <a:graphicData uri="http://schemas.openxmlformats.org/drawingml/2006/chart">
            <c:chart xmlns:r="http://schemas.openxmlformats.org/officeDocument/2006/relationships" xmlns:c="http://schemas.openxmlformats.org/drawingml/2006/chart" r:id="Rfa3005531be54925"/>
          </a:graphicData>
        </a:graphic>
      </p:graphicFrame>
      <p:sp>
        <p:nvSpPr>
          <p:cNvPr id="8" name="40쌍·21시설을 시설별 5분할. 환경 추가가 생육만 사용한 ">
            <a:extLst xmlns:a="http://schemas.openxmlformats.org/drawingml/2006/main">
              <a:ext uri="{FF2B5EF4-FFF2-40B4-BE49-F238E27FC236}">
                <a16:creationId xmlns:a16="http://schemas.microsoft.com/office/drawing/2014/main" id="{54D6F469-9620-441D-A925-4A18F7A08761}"/>
              </a:ext>
            </a:extLst>
          </p:cNvPr>
          <p:cNvSpPr>
            <a:spLocks xmlns:a="http://schemas.openxmlformats.org/drawingml/2006/main" noGrp="1"/>
          </p:cNvSpPr>
          <p:nvPr/>
        </p:nvSpPr>
        <p:spPr>
          <a:xfrm xmlns:a="http://schemas.openxmlformats.org/drawingml/2006/main">
            <a:off x="609600" y="5448300"/>
            <a:ext cx="1095375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800" b="1">
                <a:solidFill>
                  <a:srgbClr val="15734C"/>
                </a:solidFill>
                <a:latin typeface="Malgun Gothic"/>
                <a:ea typeface="Malgun Gothic"/>
                <a:cs typeface="Malgun Gothic"/>
              </a:defRPr>
            </a:defPPr>
          </a:lstStyle>
          <a:p xmlns:a="http://schemas.openxmlformats.org/drawingml/2006/main">
            <a:pPr algn="l">
              <a:defRPr sz="1800" b="1">
                <a:solidFill>
                  <a:srgbClr val="15734C"/>
                </a:solidFill>
                <a:latin typeface="Malgun Gothic"/>
                <a:ea typeface="Malgun Gothic"/>
                <a:cs typeface="Malgun Gothic"/>
              </a:defRPr>
            </a:pPr>
            <a:r>
              <a:rPr sz="1800" b="1">
                <a:solidFill>
                  <a:srgbClr val="15734C"/>
                </a:solidFill>
                <a:latin typeface="Malgun Gothic"/>
                <a:ea typeface="Malgun Gothic"/>
                <a:cs typeface="Malgun Gothic"/>
              </a:rPr>
              <a:t>40쌍·21시설을 시설별 5분할. 환경 추가가 생육만 사용한 모형보다 낫지는 않았다.</a:t>
            </a:r>
          </a:p>
        </p:txBody>
      </p:sp>
      <p:sp>
        <p:nvSpPr>
          <p:cNvPr id="9" name="같은 식물의 성장량이나 수확량 예측이 아니다. 현재일·미래 환">
            <a:extLst xmlns:a="http://schemas.openxmlformats.org/drawingml/2006/main">
              <a:ext uri="{FF2B5EF4-FFF2-40B4-BE49-F238E27FC236}">
                <a16:creationId xmlns:a16="http://schemas.microsoft.com/office/drawing/2014/main" id="{C460AB79-6AA5-4A74-85F0-7CD1B47906A3}"/>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같은 식물의 성장량이나 수확량 예측이 아니다. 현재일·미래 환경을 제외한 소규모 후향 실험이다.</a:t>
            </a:r>
          </a:p>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누적 일사량·GDD·기상특보 효과는 원자료가 없어 검증하지 않았다.</a:t>
            </a:r>
          </a:p>
        </p:txBody>
      </p:sp>
    </p:spTree>
    <p:extLst>
      <p:ext uri="{BB962C8B-B14F-4D97-AF65-F5344CB8AC3E}">
        <p14:creationId xmlns:p14="http://schemas.microsoft.com/office/powerpoint/2010/main" val="1919961322"/>
      </p:ext>
    </p:extLst>
  </p:cSld>
</p:sld>
</file>

<file path=ppt/slides/slide17.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7" name="대시보드에서 계획을 비교">
            <a:extLst xmlns:a="http://schemas.openxmlformats.org/drawingml/2006/main">
              <a:ext uri="{FF2B5EF4-FFF2-40B4-BE49-F238E27FC236}">
                <a16:creationId xmlns:a16="http://schemas.microsoft.com/office/drawing/2014/main" id="{08360CCC-E485-4A13-8103-6CBAB3071159}"/>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대시보드에서 계획을 비교</a:t>
            </a:r>
          </a:p>
        </p:txBody>
      </p:sp>
      <p:sp>
        <p:nvSpPr>
          <p:cNvPr id="2" name="">
            <a:extLst xmlns:a="http://schemas.openxmlformats.org/drawingml/2006/main">
              <a:ext uri="{FF2B5EF4-FFF2-40B4-BE49-F238E27FC236}">
                <a16:creationId xmlns:a16="http://schemas.microsoft.com/office/drawing/2014/main" id="{2D6E466B-2B54-4A50-99F7-2DDB9FABCC48}"/>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17">
            <a:extLst xmlns:a="http://schemas.openxmlformats.org/drawingml/2006/main">
              <a:ext uri="{FF2B5EF4-FFF2-40B4-BE49-F238E27FC236}">
                <a16:creationId xmlns:a16="http://schemas.microsoft.com/office/drawing/2014/main" id="{95437DDE-AB93-45B4-AB89-6098BD01CEAD}"/>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17</a:t>
            </a:r>
          </a:p>
        </p:txBody>
      </p:sp>
      <p:pic>
        <p:nvPicPr>
          <p:cNvPr id="4" name="">
            <a:extLst xmlns:a="http://schemas.openxmlformats.org/drawingml/2006/main">
              <a:ext uri="{FF2B5EF4-FFF2-40B4-BE49-F238E27FC236}">
                <a16:creationId xmlns:a16="http://schemas.microsoft.com/office/drawing/2014/main" id="{8E674AA1-6DFD-47E3-B059-DF523215EC1E}"/>
              </a:ext>
            </a:extLst>
          </p:cNvPr>
          <p:cNvPicPr>
            <a:picLocks xmlns:a="http://schemas.openxmlformats.org/drawingml/2006/main" noChangeAspect="1"/>
          </p:cNvPicPr>
          <p:nvPr/>
        </p:nvPicPr>
        <p:blipFill>
          <a:blip xmlns:r="http://schemas.openxmlformats.org/officeDocument/2006/relationships" xmlns:a="http://schemas.openxmlformats.org/drawingml/2006/main" r:embed="R867762db282f451a"/>
          <a:stretch xmlns:a="http://schemas.openxmlformats.org/drawingml/2006/main"/>
        </p:blipFill>
        <p:spPr>
          <a:xfrm xmlns:a="http://schemas.openxmlformats.org/drawingml/2006/main">
            <a:off x="1868996" y="1657350"/>
            <a:ext cx="5815584" cy="4038600"/>
          </a:xfrm>
          <a:prstGeom xmlns:a="http://schemas.openxmlformats.org/drawingml/2006/main" prst="rect">
            <a:avLst/>
          </a:prstGeom>
        </p:spPr>
      </p:pic>
      <p:sp>
        <p:nvSpPr>
          <p:cNvPr id="5" name="조건 입력&#10;설비 선택&#10;손익 비교&#10;가정 확인&#10;결과 저장">
            <a:extLst xmlns:a="http://schemas.openxmlformats.org/drawingml/2006/main">
              <a:ext uri="{FF2B5EF4-FFF2-40B4-BE49-F238E27FC236}">
                <a16:creationId xmlns:a16="http://schemas.microsoft.com/office/drawing/2014/main" id="{078FCDC7-11AB-42F9-BFFE-8E3F3632FA72}"/>
              </a:ext>
            </a:extLst>
          </p:cNvPr>
          <p:cNvSpPr>
            <a:spLocks xmlns:a="http://schemas.openxmlformats.org/drawingml/2006/main" noGrp="1"/>
          </p:cNvSpPr>
          <p:nvPr/>
        </p:nvSpPr>
        <p:spPr>
          <a:xfrm xmlns:a="http://schemas.openxmlformats.org/drawingml/2006/main">
            <a:off x="9315450" y="1962150"/>
            <a:ext cx="2190750" cy="3429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392F"/>
                </a:solidFill>
                <a:latin typeface="Malgun Gothic"/>
                <a:ea typeface="Malgun Gothic"/>
                <a:cs typeface="Malgun Gothic"/>
              </a:defRPr>
            </a:defPPr>
          </a:lstStyle>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조건 입력</a:t>
            </a:r>
          </a:p>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설비 선택</a:t>
            </a:r>
          </a:p>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손익 비교</a:t>
            </a:r>
          </a:p>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가정 확인</a:t>
            </a:r>
          </a:p>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결과 저장</a:t>
            </a:r>
          </a:p>
        </p:txBody>
      </p:sp>
      <p:sp>
        <p:nvSpPr>
          <p:cNvPr id="6" name="모델 검증 결과와 경제성 계산 가정을 함께 확인할 수 있도록 ">
            <a:extLst xmlns:a="http://schemas.openxmlformats.org/drawingml/2006/main">
              <a:ext uri="{FF2B5EF4-FFF2-40B4-BE49-F238E27FC236}">
                <a16:creationId xmlns:a16="http://schemas.microsoft.com/office/drawing/2014/main" id="{D2E6D657-3556-4E4F-833B-C82955784538}"/>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모델 검증 결과와 경제성 계산 가정을 함께 확인할 수 있도록 구성한다.</a:t>
            </a:r>
          </a:p>
        </p:txBody>
      </p:sp>
    </p:spTree>
    <p:extLst>
      <p:ext uri="{BB962C8B-B14F-4D97-AF65-F5344CB8AC3E}">
        <p14:creationId xmlns:p14="http://schemas.microsoft.com/office/powerpoint/2010/main" val="124539828"/>
      </p:ext>
    </p:extLst>
  </p:cSld>
</p:sld>
</file>

<file path=ppt/slides/slide18.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6" name="미개방 데이터는 안심구역에서 실행">
            <a:extLst xmlns:a="http://schemas.openxmlformats.org/drawingml/2006/main">
              <a:ext uri="{FF2B5EF4-FFF2-40B4-BE49-F238E27FC236}">
                <a16:creationId xmlns:a16="http://schemas.microsoft.com/office/drawing/2014/main" id="{E0487FD3-F833-4FF6-A00D-A3101F3ABA81}"/>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미개방 데이터는 안심구역에서 실행</a:t>
            </a:r>
          </a:p>
        </p:txBody>
      </p:sp>
      <p:sp>
        <p:nvSpPr>
          <p:cNvPr id="2" name="">
            <a:extLst xmlns:a="http://schemas.openxmlformats.org/drawingml/2006/main">
              <a:ext uri="{FF2B5EF4-FFF2-40B4-BE49-F238E27FC236}">
                <a16:creationId xmlns:a16="http://schemas.microsoft.com/office/drawing/2014/main" id="{ADF3C153-8DAD-4BC2-869C-7C60DA028E6F}"/>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18">
            <a:extLst xmlns:a="http://schemas.openxmlformats.org/drawingml/2006/main">
              <a:ext uri="{FF2B5EF4-FFF2-40B4-BE49-F238E27FC236}">
                <a16:creationId xmlns:a16="http://schemas.microsoft.com/office/drawing/2014/main" id="{F4FBE694-ECFC-4BC0-847E-20B985DEF616}"/>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18</a:t>
            </a:r>
          </a:p>
        </p:txBody>
      </p:sp>
      <p:graphicFrame>
        <p:nvGraphicFramePr>
          <p:cNvPr id="4" name="">
            <a:extLst xmlns:a="http://schemas.openxmlformats.org/drawingml/2006/main">
              <a:ext uri="{FF2B5EF4-FFF2-40B4-BE49-F238E27FC236}">
                <a16:creationId xmlns:a16="http://schemas.microsoft.com/office/drawing/2014/main" id="{0E34B47A-826C-45D7-8E80-AFB162C8D155}"/>
              </a:ext>
            </a:extLst>
          </p:cNvPr>
          <p:cNvGraphicFramePr/>
          <p:nvPr/>
        </p:nvGraphicFramePr>
        <p:xfrm>
          <a:off xmlns:a="http://schemas.openxmlformats.org/drawingml/2006/main" x="609600" y="1752600"/>
          <a:ext xmlns:a="http://schemas.openxmlformats.org/drawingml/2006/main" cx="10972800" cy="3028950"/>
        </p:xfrm>
        <a:graphic xmlns:a="http://schemas.openxmlformats.org/drawingml/2006/main">
          <a:graphicData uri="http://schemas.openxmlformats.org/drawingml/2006/table">
            <a:tbl>
              <a:tblPr/>
              <a:tblGrid>
                <a:gridCol w="5486400"/>
                <a:gridCol w="5486400"/>
              </a:tblGrid>
              <a:tr h="605790">
                <a:tc>
                  <a:txBody>
                    <a:bodyPr lIns="95250" tIns="95250" rIns="95250" bIns="95250"/>
                    <a:lstStyle/>
                    <a:p>
                      <a:r>
                        <a:rPr sz="1950" b="1">
                          <a:solidFill>
                            <a:srgbClr val="FFFFFF"/>
                          </a:solidFill>
                          <a:latin typeface="Malgun Gothic"/>
                          <a:ea typeface="Malgun Gothic"/>
                          <a:cs typeface="Malgun Gothic"/>
                        </a:rPr>
                        <a:t>현재 준비한 항목</a:t>
                      </a:r>
                    </a:p>
                  </a:txBody>
                  <a:tcPr marL="91440" marR="91440" marT="45720" marB="45720" anchor="ctr">
                    <a:solidFill>
                      <a:srgbClr val="15734C"/>
                    </a:solidFill>
                  </a:tcPr>
                </a:tc>
                <a:tc>
                  <a:txBody>
                    <a:bodyPr lIns="95250" tIns="95250" rIns="95250" bIns="95250"/>
                    <a:lstStyle/>
                    <a:p>
                      <a:r>
                        <a:rPr sz="1950" b="1">
                          <a:solidFill>
                            <a:srgbClr val="FFFFFF"/>
                          </a:solidFill>
                          <a:latin typeface="Malgun Gothic"/>
                          <a:ea typeface="Malgun Gothic"/>
                          <a:cs typeface="Malgun Gothic"/>
                        </a:rPr>
                        <a:t>현장에서 확인할 항목</a:t>
                      </a:r>
                    </a:p>
                  </a:txBody>
                  <a:tcPr marL="91440" marR="91440" marT="45720" marB="45720" anchor="ctr">
                    <a:solidFill>
                      <a:srgbClr val="15734C"/>
                    </a:solidFill>
                  </a:tcPr>
                </a:tc>
              </a:tr>
              <a:tr h="605790">
                <a:tc>
                  <a:txBody>
                    <a:bodyPr lIns="95250" tIns="95250" rIns="95250" bIns="95250"/>
                    <a:lstStyle/>
                    <a:p>
                      <a:r>
                        <a:rPr sz="1950" b="0">
                          <a:solidFill>
                            <a:srgbClr val="17392F"/>
                          </a:solidFill>
                          <a:latin typeface="Malgun Gothic"/>
                          <a:ea typeface="Malgun Gothic"/>
                          <a:cs typeface="Malgun Gothic"/>
                        </a:rPr>
                        <a:t>원문 79필드의 타입·키 검사</a:t>
                      </a:r>
                    </a:p>
                  </a:txBody>
                  <a:tcPr marL="91440" marR="91440" marT="45720" marB="45720" anchor="ctr">
                    <a:solidFill>
                      <a:srgbClr val="FFFFFF"/>
                    </a:solidFill>
                  </a:tcPr>
                </a:tc>
                <a:tc>
                  <a:txBody>
                    <a:bodyPr lIns="95250" tIns="95250" rIns="95250" bIns="95250"/>
                    <a:lstStyle/>
                    <a:p>
                      <a:r>
                        <a:rPr sz="1950" b="0">
                          <a:solidFill>
                            <a:srgbClr val="17392F"/>
                          </a:solidFill>
                          <a:latin typeface="Malgun Gothic"/>
                          <a:ea typeface="Malgun Gothic"/>
                          <a:cs typeface="Malgun Gothic"/>
                        </a:rPr>
                        <a:t>실제 파일과 단위·집계기간</a:t>
                      </a:r>
                    </a:p>
                  </a:txBody>
                  <a:tcPr marL="91440" marR="91440" marT="45720" marB="45720" anchor="ctr">
                    <a:solidFill>
                      <a:srgbClr val="FFFFFF"/>
                    </a:solidFill>
                  </a:tcPr>
                </a:tc>
              </a:tr>
              <a:tr h="605790">
                <a:tc>
                  <a:txBody>
                    <a:bodyPr lIns="95250" tIns="95250" rIns="95250" bIns="95250"/>
                    <a:lstStyle/>
                    <a:p>
                      <a:r>
                        <a:rPr sz="1950" b="0">
                          <a:solidFill>
                            <a:srgbClr val="17392F"/>
                          </a:solidFill>
                          <a:latin typeface="Malgun Gothic"/>
                          <a:ea typeface="Malgun Gothic"/>
                          <a:cs typeface="Malgun Gothic"/>
                        </a:rPr>
                        <a:t>시설·경영조사 결합과 모델 코드</a:t>
                      </a:r>
                    </a:p>
                  </a:txBody>
                  <a:tcPr marL="91440" marR="91440" marT="45720" marB="45720" anchor="ctr">
                    <a:solidFill>
                      <a:srgbClr val="E7F2EB"/>
                    </a:solidFill>
                  </a:tcPr>
                </a:tc>
                <a:tc>
                  <a:txBody>
                    <a:bodyPr lIns="95250" tIns="95250" rIns="95250" bIns="95250"/>
                    <a:lstStyle/>
                    <a:p>
                      <a:r>
                        <a:rPr sz="1950" b="0">
                          <a:solidFill>
                            <a:srgbClr val="17392F"/>
                          </a:solidFill>
                          <a:latin typeface="Malgun Gothic"/>
                          <a:ea typeface="Malgun Gothic"/>
                          <a:cs typeface="Malgun Gothic"/>
                        </a:rPr>
                        <a:t>실제 표본 수와 타깃 적격성</a:t>
                      </a:r>
                    </a:p>
                  </a:txBody>
                  <a:tcPr marL="91440" marR="91440" marT="45720" marB="45720" anchor="ctr">
                    <a:solidFill>
                      <a:srgbClr val="E7F2EB"/>
                    </a:solidFill>
                  </a:tcPr>
                </a:tc>
              </a:tr>
              <a:tr h="605790">
                <a:tc>
                  <a:txBody>
                    <a:bodyPr lIns="95250" tIns="95250" rIns="95250" bIns="95250"/>
                    <a:lstStyle/>
                    <a:p>
                      <a:r>
                        <a:rPr sz="1950" b="0">
                          <a:solidFill>
                            <a:srgbClr val="17392F"/>
                          </a:solidFill>
                          <a:latin typeface="Malgun Gothic"/>
                          <a:ea typeface="Malgun Gothic"/>
                          <a:cs typeface="Malgun Gothic"/>
                        </a:rPr>
                        <a:t>40개 가상시설, 80작기 실행 확인</a:t>
                      </a:r>
                    </a:p>
                  </a:txBody>
                  <a:tcPr marL="91440" marR="91440" marT="45720" marB="45720" anchor="ctr">
                    <a:solidFill>
                      <a:srgbClr val="FFFFFF"/>
                    </a:solidFill>
                  </a:tcPr>
                </a:tc>
                <a:tc>
                  <a:txBody>
                    <a:bodyPr lIns="95250" tIns="95250" rIns="95250" bIns="95250"/>
                    <a:lstStyle/>
                    <a:p>
                      <a:r>
                        <a:rPr sz="1950" b="0">
                          <a:solidFill>
                            <a:srgbClr val="17392F"/>
                          </a:solidFill>
                          <a:latin typeface="Malgun Gothic"/>
                          <a:ea typeface="Malgun Gothic"/>
                          <a:cs typeface="Malgun Gothic"/>
                        </a:rPr>
                        <a:t>시설 분리 평가와 예측 오차</a:t>
                      </a:r>
                    </a:p>
                  </a:txBody>
                  <a:tcPr marL="91440" marR="91440" marT="45720" marB="45720" anchor="ctr">
                    <a:solidFill>
                      <a:srgbClr val="FFFFFF"/>
                    </a:solidFill>
                  </a:tcPr>
                </a:tc>
              </a:tr>
              <a:tr h="605790">
                <a:tc>
                  <a:txBody>
                    <a:bodyPr lIns="95250" tIns="95250" rIns="95250" bIns="95250"/>
                    <a:lstStyle/>
                    <a:p>
                      <a:r>
                        <a:rPr sz="1950" b="0">
                          <a:solidFill>
                            <a:srgbClr val="17392F"/>
                          </a:solidFill>
                          <a:latin typeface="Malgun Gothic"/>
                          <a:ea typeface="Malgun Gothic"/>
                          <a:cs typeface="Malgun Gothic"/>
                        </a:rPr>
                        <a:t>CPU 실행 번들과 안내서</a:t>
                      </a:r>
                    </a:p>
                  </a:txBody>
                  <a:tcPr marL="91440" marR="91440" marT="45720" marB="45720" anchor="ctr">
                    <a:solidFill>
                      <a:srgbClr val="E7F2EB"/>
                    </a:solidFill>
                  </a:tcPr>
                </a:tc>
                <a:tc>
                  <a:txBody>
                    <a:bodyPr lIns="95250" tIns="95250" rIns="95250" bIns="95250"/>
                    <a:lstStyle/>
                    <a:p>
                      <a:r>
                        <a:rPr sz="1950" b="0">
                          <a:solidFill>
                            <a:srgbClr val="17392F"/>
                          </a:solidFill>
                          <a:latin typeface="Malgun Gothic"/>
                          <a:ea typeface="Malgun Gothic"/>
                          <a:cs typeface="Malgun Gothic"/>
                        </a:rPr>
                        <a:t>반입 환경·허용된 결과 반출</a:t>
                      </a:r>
                    </a:p>
                  </a:txBody>
                  <a:tcPr marL="91440" marR="91440" marT="45720" marB="45720" anchor="ctr">
                    <a:solidFill>
                      <a:srgbClr val="E7F2EB"/>
                    </a:solidFill>
                  </a:tcPr>
                </a:tc>
              </a:tr>
            </a:tbl>
          </a:graphicData>
        </a:graphic>
      </p:graphicFrame>
      <p:sp>
        <p:nvSpPr>
          <p:cNvPr id="5" name="가상 자료는 실행 검사용이다.&#10;대회 미개방 자료의 성능 점수는">
            <a:extLst xmlns:a="http://schemas.openxmlformats.org/drawingml/2006/main">
              <a:ext uri="{FF2B5EF4-FFF2-40B4-BE49-F238E27FC236}">
                <a16:creationId xmlns:a16="http://schemas.microsoft.com/office/drawing/2014/main" id="{17C8B912-5067-4171-A458-7E23BFE79BB2}"/>
              </a:ext>
            </a:extLst>
          </p:cNvPr>
          <p:cNvSpPr>
            <a:spLocks xmlns:a="http://schemas.openxmlformats.org/drawingml/2006/main" noGrp="1"/>
          </p:cNvSpPr>
          <p:nvPr/>
        </p:nvSpPr>
        <p:spPr>
          <a:xfrm xmlns:a="http://schemas.openxmlformats.org/drawingml/2006/main">
            <a:off x="609600" y="5153025"/>
            <a:ext cx="1085850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0">
                <a:solidFill>
                  <a:srgbClr val="17392F"/>
                </a:solidFill>
                <a:latin typeface="Malgun Gothic"/>
                <a:ea typeface="Malgun Gothic"/>
                <a:cs typeface="Malgun Gothic"/>
              </a:defRPr>
            </a:defPPr>
          </a:lstStyle>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가상 자료는 실행 검사용이다.</a:t>
            </a:r>
          </a:p>
          <a:p xmlns:a="http://schemas.openxmlformats.org/drawingml/2006/main">
            <a:pPr algn="l">
              <a:defRPr sz="2175" b="0">
                <a:solidFill>
                  <a:srgbClr val="17392F"/>
                </a:solidFill>
                <a:latin typeface="Malgun Gothic"/>
                <a:ea typeface="Malgun Gothic"/>
                <a:cs typeface="Malgun Gothic"/>
              </a:defRPr>
            </a:pPr>
            <a:r>
              <a:rPr sz="2175" b="0">
                <a:solidFill>
                  <a:srgbClr val="17392F"/>
                </a:solidFill>
                <a:latin typeface="Malgun Gothic"/>
                <a:ea typeface="Malgun Gothic"/>
                <a:cs typeface="Malgun Gothic"/>
              </a:rPr>
              <a:t>대회 미개방 자료의 성능 점수는 실제 현장 실행 후에 제시한다.</a:t>
            </a:r>
          </a:p>
        </p:txBody>
      </p:sp>
    </p:spTree>
    <p:extLst>
      <p:ext uri="{BB962C8B-B14F-4D97-AF65-F5344CB8AC3E}">
        <p14:creationId xmlns:p14="http://schemas.microsoft.com/office/powerpoint/2010/main" val="219596783"/>
      </p:ext>
    </p:extLst>
  </p:cSld>
</p:sld>
</file>

<file path=ppt/slides/slide19.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6" name="추가 데이터가 필요한 판단">
            <a:extLst xmlns:a="http://schemas.openxmlformats.org/drawingml/2006/main">
              <a:ext uri="{FF2B5EF4-FFF2-40B4-BE49-F238E27FC236}">
                <a16:creationId xmlns:a16="http://schemas.microsoft.com/office/drawing/2014/main" id="{BDA8FA5C-5FD5-44BA-92A8-1B830CC3A659}"/>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추가 데이터가 필요한 판단</a:t>
            </a:r>
          </a:p>
        </p:txBody>
      </p:sp>
      <p:sp>
        <p:nvSpPr>
          <p:cNvPr id="2" name="">
            <a:extLst xmlns:a="http://schemas.openxmlformats.org/drawingml/2006/main">
              <a:ext uri="{FF2B5EF4-FFF2-40B4-BE49-F238E27FC236}">
                <a16:creationId xmlns:a16="http://schemas.microsoft.com/office/drawing/2014/main" id="{82D60D16-6E81-4443-8C57-DA5CCE3B9BBB}"/>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19">
            <a:extLst xmlns:a="http://schemas.openxmlformats.org/drawingml/2006/main">
              <a:ext uri="{FF2B5EF4-FFF2-40B4-BE49-F238E27FC236}">
                <a16:creationId xmlns:a16="http://schemas.microsoft.com/office/drawing/2014/main" id="{86EC3EBE-0BB2-49A5-8ECC-A8B1886F0F15}"/>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19</a:t>
            </a:r>
          </a:p>
        </p:txBody>
      </p:sp>
      <p:graphicFrame>
        <p:nvGraphicFramePr>
          <p:cNvPr id="4" name="">
            <a:extLst xmlns:a="http://schemas.openxmlformats.org/drawingml/2006/main">
              <a:ext uri="{FF2B5EF4-FFF2-40B4-BE49-F238E27FC236}">
                <a16:creationId xmlns:a16="http://schemas.microsoft.com/office/drawing/2014/main" id="{74E9F6D7-ADBE-4F14-A1AE-4BBF9E5C31C1}"/>
              </a:ext>
            </a:extLst>
          </p:cNvPr>
          <p:cNvGraphicFramePr/>
          <p:nvPr/>
        </p:nvGraphicFramePr>
        <p:xfrm>
          <a:off xmlns:a="http://schemas.openxmlformats.org/drawingml/2006/main" x="609600" y="1752600"/>
          <a:ext xmlns:a="http://schemas.openxmlformats.org/drawingml/2006/main" cx="10972800" cy="3238500"/>
        </p:xfrm>
        <a:graphic xmlns:a="http://schemas.openxmlformats.org/drawingml/2006/main">
          <a:graphicData uri="http://schemas.openxmlformats.org/drawingml/2006/table">
            <a:tbl>
              <a:tblPr/>
              <a:tblGrid>
                <a:gridCol w="5810250"/>
                <a:gridCol w="5162550"/>
              </a:tblGrid>
              <a:tr h="647700">
                <a:tc>
                  <a:txBody>
                    <a:bodyPr lIns="95250" tIns="95250" rIns="95250" bIns="95250"/>
                    <a:lstStyle/>
                    <a:p>
                      <a:r>
                        <a:rPr sz="2025" b="1">
                          <a:solidFill>
                            <a:srgbClr val="FFFFFF"/>
                          </a:solidFill>
                          <a:latin typeface="Malgun Gothic"/>
                          <a:ea typeface="Malgun Gothic"/>
                          <a:cs typeface="Malgun Gothic"/>
                        </a:rPr>
                        <a:t>추가로 확보할 자료</a:t>
                      </a:r>
                    </a:p>
                  </a:txBody>
                  <a:tcPr marL="91440" marR="91440" marT="45720" marB="45720" anchor="ctr">
                    <a:solidFill>
                      <a:srgbClr val="15734C"/>
                    </a:solidFill>
                  </a:tcPr>
                </a:tc>
                <a:tc>
                  <a:txBody>
                    <a:bodyPr lIns="95250" tIns="95250" rIns="95250" bIns="95250"/>
                    <a:lstStyle/>
                    <a:p>
                      <a:r>
                        <a:rPr sz="2025" b="1">
                          <a:solidFill>
                            <a:srgbClr val="FFFFFF"/>
                          </a:solidFill>
                          <a:latin typeface="Malgun Gothic"/>
                          <a:ea typeface="Malgun Gothic"/>
                          <a:cs typeface="Malgun Gothic"/>
                        </a:rPr>
                        <a:t>개선할 판단</a:t>
                      </a:r>
                    </a:p>
                  </a:txBody>
                  <a:tcPr marL="91440" marR="91440" marT="45720" marB="45720" anchor="ctr">
                    <a:solidFill>
                      <a:srgbClr val="15734C"/>
                    </a:solidFill>
                  </a:tcPr>
                </a:tc>
              </a:tr>
              <a:tr h="647700">
                <a:tc>
                  <a:txBody>
                    <a:bodyPr lIns="95250" tIns="95250" rIns="95250" bIns="95250"/>
                    <a:lstStyle/>
                    <a:p>
                      <a:r>
                        <a:rPr sz="2025" b="0">
                          <a:solidFill>
                            <a:srgbClr val="17392F"/>
                          </a:solidFill>
                          <a:latin typeface="Malgun Gothic"/>
                          <a:ea typeface="Malgun Gothic"/>
                          <a:cs typeface="Malgun Gothic"/>
                        </a:rPr>
                        <a:t>작기별 비용의 기간·중복·누계 정의</a:t>
                      </a:r>
                    </a:p>
                  </a:txBody>
                  <a:tcPr marL="91440" marR="91440" marT="45720" marB="45720" anchor="ctr">
                    <a:solidFill>
                      <a:srgbClr val="FFFFFF"/>
                    </a:solidFill>
                  </a:tcPr>
                </a:tc>
                <a:tc>
                  <a:txBody>
                    <a:bodyPr lIns="95250" tIns="95250" rIns="95250" bIns="95250"/>
                    <a:lstStyle/>
                    <a:p>
                      <a:r>
                        <a:rPr sz="2025" b="0">
                          <a:solidFill>
                            <a:srgbClr val="17392F"/>
                          </a:solidFill>
                          <a:latin typeface="Malgun Gothic"/>
                          <a:ea typeface="Malgun Gothic"/>
                          <a:cs typeface="Malgun Gothic"/>
                        </a:rPr>
                        <a:t>운영비와 순이익의 실제 정답 검증</a:t>
                      </a:r>
                    </a:p>
                  </a:txBody>
                  <a:tcPr marL="91440" marR="91440" marT="45720" marB="45720" anchor="ctr">
                    <a:solidFill>
                      <a:srgbClr val="FFFFFF"/>
                    </a:solidFill>
                  </a:tcPr>
                </a:tc>
              </a:tr>
              <a:tr h="647700">
                <a:tc>
                  <a:txBody>
                    <a:bodyPr lIns="95250" tIns="95250" rIns="95250" bIns="95250"/>
                    <a:lstStyle/>
                    <a:p>
                      <a:r>
                        <a:rPr sz="2025" b="0">
                          <a:solidFill>
                            <a:srgbClr val="17392F"/>
                          </a:solidFill>
                          <a:latin typeface="Malgun Gothic"/>
                          <a:ea typeface="Malgun Gothic"/>
                          <a:cs typeface="Malgun Gothic"/>
                        </a:rPr>
                        <a:t>현장별 설치·유지보수·교체 견적</a:t>
                      </a:r>
                    </a:p>
                  </a:txBody>
                  <a:tcPr marL="91440" marR="91440" marT="45720" marB="45720" anchor="ctr">
                    <a:solidFill>
                      <a:srgbClr val="E7F2EB"/>
                    </a:solidFill>
                  </a:tcPr>
                </a:tc>
                <a:tc>
                  <a:txBody>
                    <a:bodyPr lIns="95250" tIns="95250" rIns="95250" bIns="95250"/>
                    <a:lstStyle/>
                    <a:p>
                      <a:r>
                        <a:rPr sz="2025" b="0">
                          <a:solidFill>
                            <a:srgbClr val="17392F"/>
                          </a:solidFill>
                          <a:latin typeface="Malgun Gothic"/>
                          <a:ea typeface="Malgun Gothic"/>
                          <a:cs typeface="Malgun Gothic"/>
                        </a:rPr>
                        <a:t>초기 투자비와 회수기간 정확도</a:t>
                      </a:r>
                    </a:p>
                  </a:txBody>
                  <a:tcPr marL="91440" marR="91440" marT="45720" marB="45720" anchor="ctr">
                    <a:solidFill>
                      <a:srgbClr val="E7F2EB"/>
                    </a:solidFill>
                  </a:tcPr>
                </a:tc>
              </a:tr>
              <a:tr h="647700">
                <a:tc>
                  <a:txBody>
                    <a:bodyPr lIns="95250" tIns="95250" rIns="95250" bIns="95250"/>
                    <a:lstStyle/>
                    <a:p>
                      <a:r>
                        <a:rPr sz="2025" b="0">
                          <a:solidFill>
                            <a:srgbClr val="17392F"/>
                          </a:solidFill>
                          <a:latin typeface="Malgun Gothic"/>
                          <a:ea typeface="Malgun Gothic"/>
                          <a:cs typeface="Malgun Gothic"/>
                        </a:rPr>
                        <a:t>농가별 장비 구성과 도입 시점</a:t>
                      </a:r>
                    </a:p>
                  </a:txBody>
                  <a:tcPr marL="91440" marR="91440" marT="45720" marB="45720" anchor="ctr">
                    <a:solidFill>
                      <a:srgbClr val="FFFFFF"/>
                    </a:solidFill>
                  </a:tcPr>
                </a:tc>
                <a:tc>
                  <a:txBody>
                    <a:bodyPr lIns="95250" tIns="95250" rIns="95250" bIns="95250"/>
                    <a:lstStyle/>
                    <a:p>
                      <a:r>
                        <a:rPr sz="2025" b="0">
                          <a:solidFill>
                            <a:srgbClr val="17392F"/>
                          </a:solidFill>
                          <a:latin typeface="Malgun Gothic"/>
                          <a:ea typeface="Malgun Gothic"/>
                          <a:cs typeface="Malgun Gothic"/>
                        </a:rPr>
                        <a:t>장비별 도입 전후 변화 비교</a:t>
                      </a:r>
                    </a:p>
                  </a:txBody>
                  <a:tcPr marL="91440" marR="91440" marT="45720" marB="45720" anchor="ctr">
                    <a:solidFill>
                      <a:srgbClr val="FFFFFF"/>
                    </a:solidFill>
                  </a:tcPr>
                </a:tc>
              </a:tr>
              <a:tr h="647700">
                <a:tc>
                  <a:txBody>
                    <a:bodyPr lIns="95250" tIns="95250" rIns="95250" bIns="95250"/>
                    <a:lstStyle/>
                    <a:p>
                      <a:r>
                        <a:rPr sz="2025" b="0">
                          <a:solidFill>
                            <a:srgbClr val="17392F"/>
                          </a:solidFill>
                          <a:latin typeface="Malgun Gothic"/>
                          <a:ea typeface="Malgun Gothic"/>
                          <a:cs typeface="Malgun Gothic"/>
                        </a:rPr>
                        <a:t>독립된 다음 연도·새 농가 자료</a:t>
                      </a:r>
                    </a:p>
                  </a:txBody>
                  <a:tcPr marL="91440" marR="91440" marT="45720" marB="45720" anchor="ctr">
                    <a:solidFill>
                      <a:srgbClr val="E7F2EB"/>
                    </a:solidFill>
                  </a:tcPr>
                </a:tc>
                <a:tc>
                  <a:txBody>
                    <a:bodyPr lIns="95250" tIns="95250" rIns="95250" bIns="95250"/>
                    <a:lstStyle/>
                    <a:p>
                      <a:r>
                        <a:rPr sz="2025" b="0">
                          <a:solidFill>
                            <a:srgbClr val="17392F"/>
                          </a:solidFill>
                          <a:latin typeface="Malgun Gothic"/>
                          <a:ea typeface="Malgun Gothic"/>
                          <a:cs typeface="Malgun Gothic"/>
                        </a:rPr>
                        <a:t>미래 농가에 대한 일반화 평가</a:t>
                      </a:r>
                    </a:p>
                  </a:txBody>
                  <a:tcPr marL="91440" marR="91440" marT="45720" marB="45720" anchor="ctr">
                    <a:solidFill>
                      <a:srgbClr val="E7F2EB"/>
                    </a:solidFill>
                  </a:tcPr>
                </a:tc>
              </a:tr>
            </a:tbl>
          </a:graphicData>
        </a:graphic>
      </p:graphicFrame>
      <p:sp>
        <p:nvSpPr>
          <p:cNvPr id="5" name="현재 가격표만으로 장비 설치가 수확을 얼마나 늘리는지 추정하지">
            <a:extLst xmlns:a="http://schemas.openxmlformats.org/drawingml/2006/main">
              <a:ext uri="{FF2B5EF4-FFF2-40B4-BE49-F238E27FC236}">
                <a16:creationId xmlns:a16="http://schemas.microsoft.com/office/drawing/2014/main" id="{C705429E-2445-4041-942E-5B3DAEC8EB75}"/>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현재 가격표만으로 장비 설치가 수확을 얼마나 늘리는지 추정하지 않는다.</a:t>
            </a:r>
          </a:p>
        </p:txBody>
      </p:sp>
    </p:spTree>
    <p:extLst>
      <p:ext uri="{BB962C8B-B14F-4D97-AF65-F5344CB8AC3E}">
        <p14:creationId xmlns:p14="http://schemas.microsoft.com/office/powerpoint/2010/main" val="362062911"/>
      </p:ext>
    </p:extLst>
  </p:cSld>
</p:sld>
</file>

<file path=ppt/slides/slide20.xml><?xml version="1.0" encoding="utf-8"?>
<p:sld xmlns:p="http://schemas.openxmlformats.org/presentationml/2006/main">
  <p:cSld>
    <p:bg>
      <p:bgPr>
        <a:solidFill xmlns:a="http://schemas.openxmlformats.org/drawingml/2006/main">
          <a:srgbClr val="FBFCF8"/>
        </a:solidFill>
      </p:bgPr>
    </p:bg>
    <p:spTree>
      <p:nvGrpSpPr>
        <p:cNvPr id="1" name=""/>
        <p:cNvGrpSpPr/>
        <p:nvPr/>
      </p:nvGrpSpPr>
      <p:grpSpPr>
        <a:xfrm xmlns:a="http://schemas.openxmlformats.org/drawingml/2006/main"/>
      </p:grpSpPr>
      <p:sp>
        <p:nvSpPr>
          <p:cNvPr id="9" name="공모전 제안과 시연 순서">
            <a:extLst xmlns:a="http://schemas.openxmlformats.org/drawingml/2006/main">
              <a:ext uri="{FF2B5EF4-FFF2-40B4-BE49-F238E27FC236}">
                <a16:creationId xmlns:a16="http://schemas.microsoft.com/office/drawing/2014/main" id="{07DC1329-F981-4130-AF95-DA9C61E0D094}"/>
              </a:ext>
            </a:extLst>
          </p:cNvPr>
          <p:cNvSpPr>
            <a:spLocks xmlns:a="http://schemas.openxmlformats.org/drawingml/2006/main" noGrp="1"/>
          </p:cNvSpPr>
          <p:nvPr/>
        </p:nvSpPr>
        <p:spPr>
          <a:xfrm xmlns:a="http://schemas.openxmlformats.org/drawingml/2006/main">
            <a:off x="609600" y="438150"/>
            <a:ext cx="10953750" cy="742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3225" b="1">
                <a:solidFill>
                  <a:srgbClr val="17392F"/>
                </a:solidFill>
                <a:latin typeface="Malgun Gothic"/>
                <a:ea typeface="Malgun Gothic"/>
                <a:cs typeface="Malgun Gothic"/>
              </a:defRPr>
            </a:defPPr>
          </a:lstStyle>
          <a:p xmlns:a="http://schemas.openxmlformats.org/drawingml/2006/main">
            <a:pPr algn="l">
              <a:defRPr sz="3225" b="1">
                <a:solidFill>
                  <a:srgbClr val="17392F"/>
                </a:solidFill>
                <a:latin typeface="Malgun Gothic"/>
                <a:ea typeface="Malgun Gothic"/>
                <a:cs typeface="Malgun Gothic"/>
              </a:defRPr>
            </a:pPr>
            <a:r>
              <a:rPr sz="3225" b="1">
                <a:solidFill>
                  <a:srgbClr val="17392F"/>
                </a:solidFill>
                <a:latin typeface="Malgun Gothic"/>
                <a:ea typeface="Malgun Gothic"/>
                <a:cs typeface="Malgun Gothic"/>
              </a:rPr>
              <a:t>공모전 제안과 시연 순서</a:t>
            </a:r>
          </a:p>
        </p:txBody>
      </p:sp>
      <p:sp>
        <p:nvSpPr>
          <p:cNvPr id="2" name="">
            <a:extLst xmlns:a="http://schemas.openxmlformats.org/drawingml/2006/main">
              <a:ext uri="{FF2B5EF4-FFF2-40B4-BE49-F238E27FC236}">
                <a16:creationId xmlns:a16="http://schemas.microsoft.com/office/drawing/2014/main" id="{F7018607-B9B5-4E6E-A412-1A63AA401A45}"/>
              </a:ext>
            </a:extLst>
          </p:cNvPr>
          <p:cNvSpPr>
            <a:spLocks xmlns:a="http://schemas.openxmlformats.org/drawingml/2006/main" noGrp="1"/>
          </p:cNvSpPr>
          <p:nvPr/>
        </p:nvSpPr>
        <p:spPr>
          <a:xfrm xmlns:a="http://schemas.openxmlformats.org/drawingml/2006/main">
            <a:off x="609600" y="1295400"/>
            <a:ext cx="10972800" cy="0"/>
          </a:xfrm>
          <a:prstGeom xmlns:a="http://schemas.openxmlformats.org/drawingml/2006/main" prst="line">
            <a:avLst/>
          </a:prstGeom>
          <a:noFill xmlns:a="http://schemas.openxmlformats.org/drawingml/2006/main"/>
          <a:ln xmlns:a="http://schemas.openxmlformats.org/drawingml/2006/main" w="19050">
            <a:solidFill>
              <a:srgbClr val="15734C"/>
            </a:solidFill>
            <a:prstDash val="solid"/>
          </a:ln>
        </p:spPr>
      </p:sp>
      <p:sp>
        <p:nvSpPr>
          <p:cNvPr id="3" name="20">
            <a:extLst xmlns:a="http://schemas.openxmlformats.org/drawingml/2006/main">
              <a:ext uri="{FF2B5EF4-FFF2-40B4-BE49-F238E27FC236}">
                <a16:creationId xmlns:a16="http://schemas.microsoft.com/office/drawing/2014/main" id="{4C6C5B9D-87AB-41AA-A3F5-F490FDF128F6}"/>
              </a:ext>
            </a:extLst>
          </p:cNvPr>
          <p:cNvSpPr>
            <a:spLocks xmlns:a="http://schemas.openxmlformats.org/drawingml/2006/main" noGrp="1"/>
          </p:cNvSpPr>
          <p:nvPr/>
        </p:nvSpPr>
        <p:spPr>
          <a:xfrm xmlns:a="http://schemas.openxmlformats.org/drawingml/2006/main">
            <a:off x="11144250" y="6438900"/>
            <a:ext cx="457200" cy="209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r">
              <a:defRPr sz="1275" b="0">
                <a:solidFill>
                  <a:srgbClr val="62736B"/>
                </a:solidFill>
                <a:latin typeface="Malgun Gothic"/>
                <a:ea typeface="Malgun Gothic"/>
                <a:cs typeface="Malgun Gothic"/>
              </a:defRPr>
            </a:defPPr>
          </a:lstStyle>
          <a:p xmlns:a="http://schemas.openxmlformats.org/drawingml/2006/main">
            <a:pPr algn="r">
              <a:defRPr sz="1275" b="0">
                <a:solidFill>
                  <a:srgbClr val="62736B"/>
                </a:solidFill>
                <a:latin typeface="Malgun Gothic"/>
                <a:ea typeface="Malgun Gothic"/>
                <a:cs typeface="Malgun Gothic"/>
              </a:defRPr>
            </a:pPr>
            <a:r>
              <a:rPr sz="1275" b="0">
                <a:solidFill>
                  <a:srgbClr val="62736B"/>
                </a:solidFill>
                <a:latin typeface="Malgun Gothic"/>
                <a:ea typeface="Malgun Gothic"/>
                <a:cs typeface="Malgun Gothic"/>
              </a:rPr>
              <a:t>20</a:t>
            </a:r>
          </a:p>
        </p:txBody>
      </p:sp>
      <p:sp>
        <p:nvSpPr>
          <p:cNvPr id="4" name="제안의 핵심">
            <a:extLst xmlns:a="http://schemas.openxmlformats.org/drawingml/2006/main">
              <a:ext uri="{FF2B5EF4-FFF2-40B4-BE49-F238E27FC236}">
                <a16:creationId xmlns:a16="http://schemas.microsoft.com/office/drawing/2014/main" id="{DCDD5B46-FC89-4204-A561-319A3CE6BE4E}"/>
              </a:ext>
            </a:extLst>
          </p:cNvPr>
          <p:cNvSpPr>
            <a:spLocks xmlns:a="http://schemas.openxmlformats.org/drawingml/2006/main" noGrp="1"/>
          </p:cNvSpPr>
          <p:nvPr/>
        </p:nvSpPr>
        <p:spPr>
          <a:xfrm xmlns:a="http://schemas.openxmlformats.org/drawingml/2006/main">
            <a:off x="609600" y="1685925"/>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제안의 핵심</a:t>
            </a:r>
          </a:p>
        </p:txBody>
      </p:sp>
      <p:sp>
        <p:nvSpPr>
          <p:cNvPr id="5" name="농가가 입력한 계획에 대해&#10;생산·가격·비용을 같은 화면에서 비">
            <a:extLst xmlns:a="http://schemas.openxmlformats.org/drawingml/2006/main">
              <a:ext uri="{FF2B5EF4-FFF2-40B4-BE49-F238E27FC236}">
                <a16:creationId xmlns:a16="http://schemas.microsoft.com/office/drawing/2014/main" id="{78FD4CBA-25E1-40DF-8DC4-8BA1C3F7B411}"/>
              </a:ext>
            </a:extLst>
          </p:cNvPr>
          <p:cNvSpPr>
            <a:spLocks xmlns:a="http://schemas.openxmlformats.org/drawingml/2006/main" noGrp="1"/>
          </p:cNvSpPr>
          <p:nvPr/>
        </p:nvSpPr>
        <p:spPr>
          <a:xfrm xmlns:a="http://schemas.openxmlformats.org/drawingml/2006/main">
            <a:off x="609600" y="2276475"/>
            <a:ext cx="5276850" cy="2667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00" b="0">
                <a:solidFill>
                  <a:srgbClr val="17392F"/>
                </a:solidFill>
                <a:latin typeface="Malgun Gothic"/>
                <a:ea typeface="Malgun Gothic"/>
                <a:cs typeface="Malgun Gothic"/>
              </a:defRPr>
            </a:defPPr>
          </a:lstStyle>
          <a:p xmlns:a="http://schemas.openxmlformats.org/drawingml/2006/main">
            <a:pPr algn="l">
              <a:defRPr sz="2100" b="0">
                <a:solidFill>
                  <a:srgbClr val="17392F"/>
                </a:solidFill>
                <a:latin typeface="Malgun Gothic"/>
                <a:ea typeface="Malgun Gothic"/>
                <a:cs typeface="Malgun Gothic"/>
              </a:defRPr>
            </a:pPr>
            <a:r>
              <a:rPr sz="2100" b="0">
                <a:solidFill>
                  <a:srgbClr val="17392F"/>
                </a:solidFill>
                <a:latin typeface="Malgun Gothic"/>
                <a:ea typeface="Malgun Gothic"/>
                <a:cs typeface="Malgun Gothic"/>
              </a:rPr>
              <a:t>농가가 입력한 계획에 대해</a:t>
            </a:r>
          </a:p>
          <a:p xmlns:a="http://schemas.openxmlformats.org/drawingml/2006/main">
            <a:pPr algn="l">
              <a:defRPr sz="2100" b="0">
                <a:solidFill>
                  <a:srgbClr val="17392F"/>
                </a:solidFill>
                <a:latin typeface="Malgun Gothic"/>
                <a:ea typeface="Malgun Gothic"/>
                <a:cs typeface="Malgun Gothic"/>
              </a:defRPr>
            </a:pPr>
            <a:r>
              <a:rPr sz="2100" b="0">
                <a:solidFill>
                  <a:srgbClr val="17392F"/>
                </a:solidFill>
                <a:latin typeface="Malgun Gothic"/>
                <a:ea typeface="Malgun Gothic"/>
                <a:cs typeface="Malgun Gothic"/>
              </a:rPr>
              <a:t>생산·가격·비용을 같은 화면에서 비교</a:t>
            </a:r>
          </a:p>
          <a:p xmlns:a="http://schemas.openxmlformats.org/drawingml/2006/main">
            <a:r>
              <a:t/>
            </a:r>
          </a:p>
          <a:p xmlns:a="http://schemas.openxmlformats.org/drawingml/2006/main">
            <a:pPr algn="l">
              <a:defRPr sz="2100" b="0">
                <a:solidFill>
                  <a:srgbClr val="17392F"/>
                </a:solidFill>
                <a:latin typeface="Malgun Gothic"/>
                <a:ea typeface="Malgun Gothic"/>
                <a:cs typeface="Malgun Gothic"/>
              </a:defRPr>
            </a:pPr>
            <a:r>
              <a:rPr sz="2100" b="0">
                <a:solidFill>
                  <a:srgbClr val="17392F"/>
                </a:solidFill>
                <a:latin typeface="Malgun Gothic"/>
                <a:ea typeface="Malgun Gothic"/>
                <a:cs typeface="Malgun Gothic"/>
              </a:rPr>
              <a:t>실제 자료와 가정을 구분하고</a:t>
            </a:r>
          </a:p>
          <a:p xmlns:a="http://schemas.openxmlformats.org/drawingml/2006/main">
            <a:pPr algn="l">
              <a:defRPr sz="2100" b="0">
                <a:solidFill>
                  <a:srgbClr val="17392F"/>
                </a:solidFill>
                <a:latin typeface="Malgun Gothic"/>
                <a:ea typeface="Malgun Gothic"/>
                <a:cs typeface="Malgun Gothic"/>
              </a:defRPr>
            </a:pPr>
            <a:r>
              <a:rPr sz="2100" b="0">
                <a:solidFill>
                  <a:srgbClr val="17392F"/>
                </a:solidFill>
                <a:latin typeface="Malgun Gothic"/>
                <a:ea typeface="Malgun Gothic"/>
                <a:cs typeface="Malgun Gothic"/>
              </a:rPr>
              <a:t>어떤 조건에서 결과가 달라지는지 제시</a:t>
            </a:r>
          </a:p>
        </p:txBody>
      </p:sp>
      <p:sp>
        <p:nvSpPr>
          <p:cNvPr id="6" name="시연 흐름">
            <a:extLst xmlns:a="http://schemas.openxmlformats.org/drawingml/2006/main">
              <a:ext uri="{FF2B5EF4-FFF2-40B4-BE49-F238E27FC236}">
                <a16:creationId xmlns:a16="http://schemas.microsoft.com/office/drawing/2014/main" id="{C9E3F9AD-3DC4-424A-8E64-F62D6FDC5687}"/>
              </a:ext>
            </a:extLst>
          </p:cNvPr>
          <p:cNvSpPr>
            <a:spLocks xmlns:a="http://schemas.openxmlformats.org/drawingml/2006/main" noGrp="1"/>
          </p:cNvSpPr>
          <p:nvPr/>
        </p:nvSpPr>
        <p:spPr>
          <a:xfrm xmlns:a="http://schemas.openxmlformats.org/drawingml/2006/main">
            <a:off x="6762750" y="1685925"/>
            <a:ext cx="4762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175" b="1">
                <a:solidFill>
                  <a:srgbClr val="15734C"/>
                </a:solidFill>
                <a:latin typeface="Malgun Gothic"/>
                <a:ea typeface="Malgun Gothic"/>
                <a:cs typeface="Malgun Gothic"/>
              </a:defRPr>
            </a:defPPr>
          </a:lstStyle>
          <a:p xmlns:a="http://schemas.openxmlformats.org/drawingml/2006/main">
            <a:pPr algn="l">
              <a:defRPr sz="2175" b="1">
                <a:solidFill>
                  <a:srgbClr val="15734C"/>
                </a:solidFill>
                <a:latin typeface="Malgun Gothic"/>
                <a:ea typeface="Malgun Gothic"/>
                <a:cs typeface="Malgun Gothic"/>
              </a:defRPr>
            </a:pPr>
            <a:r>
              <a:rPr sz="2175" b="1">
                <a:solidFill>
                  <a:srgbClr val="15734C"/>
                </a:solidFill>
                <a:latin typeface="Malgun Gothic"/>
                <a:ea typeface="Malgun Gothic"/>
                <a:cs typeface="Malgun Gothic"/>
              </a:rPr>
              <a:t>시연 흐름</a:t>
            </a:r>
          </a:p>
        </p:txBody>
      </p:sp>
      <p:sp>
        <p:nvSpPr>
          <p:cNvPr id="7" name="1  딸기 농가 계획과 설비 입력&#10;2  가격·기후 가정 선택&#10;">
            <a:extLst xmlns:a="http://schemas.openxmlformats.org/drawingml/2006/main">
              <a:ext uri="{FF2B5EF4-FFF2-40B4-BE49-F238E27FC236}">
                <a16:creationId xmlns:a16="http://schemas.microsoft.com/office/drawing/2014/main" id="{28EBCF3E-A076-4FCF-8F21-55BE37FCFA26}"/>
              </a:ext>
            </a:extLst>
          </p:cNvPr>
          <p:cNvSpPr>
            <a:spLocks xmlns:a="http://schemas.openxmlformats.org/drawingml/2006/main" noGrp="1"/>
          </p:cNvSpPr>
          <p:nvPr/>
        </p:nvSpPr>
        <p:spPr>
          <a:xfrm xmlns:a="http://schemas.openxmlformats.org/drawingml/2006/main">
            <a:off x="6762750" y="2276475"/>
            <a:ext cx="4800600" cy="2762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2025" b="0">
                <a:solidFill>
                  <a:srgbClr val="17392F"/>
                </a:solidFill>
                <a:latin typeface="Malgun Gothic"/>
                <a:ea typeface="Malgun Gothic"/>
                <a:cs typeface="Malgun Gothic"/>
              </a:defRPr>
            </a:defPPr>
          </a:lstStyle>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1  딸기 농가 계획과 설비 입력</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2  가격·기후 가정 선택</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3  손익과 투자 회수 조건 비교</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4  생육 점검과 모델 오차 확인</a:t>
            </a:r>
          </a:p>
          <a:p xmlns:a="http://schemas.openxmlformats.org/drawingml/2006/main">
            <a:pPr algn="l">
              <a:defRPr sz="2025" b="0">
                <a:solidFill>
                  <a:srgbClr val="17392F"/>
                </a:solidFill>
                <a:latin typeface="Malgun Gothic"/>
                <a:ea typeface="Malgun Gothic"/>
                <a:cs typeface="Malgun Gothic"/>
              </a:defRPr>
            </a:pPr>
            <a:r>
              <a:rPr sz="2025" b="0">
                <a:solidFill>
                  <a:srgbClr val="17392F"/>
                </a:solidFill>
                <a:latin typeface="Malgun Gothic"/>
                <a:ea typeface="Malgun Gothic"/>
                <a:cs typeface="Malgun Gothic"/>
              </a:rPr>
              <a:t>5  안심구역 현장 실행 방법 소개</a:t>
            </a:r>
          </a:p>
        </p:txBody>
      </p:sp>
      <p:sp>
        <p:nvSpPr>
          <p:cNvPr id="8" name="공개자료 기반 프로토타입과 현장 분석 준비를 제출 근거로 제시">
            <a:extLst xmlns:a="http://schemas.openxmlformats.org/drawingml/2006/main">
              <a:ext uri="{FF2B5EF4-FFF2-40B4-BE49-F238E27FC236}">
                <a16:creationId xmlns:a16="http://schemas.microsoft.com/office/drawing/2014/main" id="{8B51B1AF-7B77-4BA8-996A-13BBBE73D8E0}"/>
              </a:ext>
            </a:extLst>
          </p:cNvPr>
          <p:cNvSpPr>
            <a:spLocks xmlns:a="http://schemas.openxmlformats.org/drawingml/2006/main" noGrp="1"/>
          </p:cNvSpPr>
          <p:nvPr/>
        </p:nvSpPr>
        <p:spPr>
          <a:xfrm xmlns:a="http://schemas.openxmlformats.org/drawingml/2006/main">
            <a:off x="609600" y="5924550"/>
            <a:ext cx="10763250" cy="438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wrap="square" lIns="0" tIns="0" rIns="0" bIns="0" anchor="t">
            <a:noAutofit/>
          </a:bodyPr>
          <a:lstStyle xmlns:a="http://schemas.openxmlformats.org/drawingml/2006/main">
            <a:defPPr algn="l">
              <a:defRPr sz="1500" b="0">
                <a:solidFill>
                  <a:srgbClr val="62736B"/>
                </a:solidFill>
                <a:latin typeface="Malgun Gothic"/>
                <a:ea typeface="Malgun Gothic"/>
                <a:cs typeface="Malgun Gothic"/>
              </a:defRPr>
            </a:defPPr>
          </a:lstStyle>
          <a:p xmlns:a="http://schemas.openxmlformats.org/drawingml/2006/main">
            <a:pPr algn="l">
              <a:defRPr sz="1500" b="0">
                <a:solidFill>
                  <a:srgbClr val="62736B"/>
                </a:solidFill>
                <a:latin typeface="Malgun Gothic"/>
                <a:ea typeface="Malgun Gothic"/>
                <a:cs typeface="Malgun Gothic"/>
              </a:defRPr>
            </a:pPr>
            <a:r>
              <a:rPr sz="1500" b="0">
                <a:solidFill>
                  <a:srgbClr val="62736B"/>
                </a:solidFill>
                <a:latin typeface="Malgun Gothic"/>
                <a:ea typeface="Malgun Gothic"/>
                <a:cs typeface="Malgun Gothic"/>
              </a:rPr>
              <a:t>공개자료 기반 프로토타입과 현장 분석 준비를 제출 근거로 제시하고, 미검증 성과를 구분한다.</a:t>
            </a:r>
          </a:p>
        </p:txBody>
      </p:sp>
    </p:spTree>
    <p:extLst>
      <p:ext uri="{BB962C8B-B14F-4D97-AF65-F5344CB8AC3E}">
        <p14:creationId xmlns:p14="http://schemas.microsoft.com/office/powerpoint/2010/main" val="1598524046"/>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2026-10-10T06:51:29.3700000Z</dcterms:created>
  <dcterms:modified xsi:type="dcterms:W3CDTF">2026-10-10T06:51:29.3700000Z</dcterms:modified>
</coreProperties>
</file>