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3.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8e00ff80f1a47c9" /><Relationship Type="http://schemas.openxmlformats.org/officeDocument/2006/relationships/extended-properties" Target="/docProps/app.xml" Id="Rc8e2ab526ef34fdf" /><Relationship Type="http://schemas.openxmlformats.org/officeDocument/2006/relationships/officeDocument" Target="/ppt/presentation.xml" Id="R3811b704952140df" /></Relationships>
</file>

<file path=ppt/presentation.xml><?xml version="1.0" encoding="utf-8"?>
<p:presentation xmlns:p="http://schemas.openxmlformats.org/presentationml/2006/main">
  <p:sldMasterIdLst>
    <p:sldMasterId xmlns:r="http://schemas.openxmlformats.org/officeDocument/2006/relationships" id="2147483648" r:id="R1aac6b6cebb74df2"/>
  </p:sldMasterIdLst>
  <p:notesMasterIdLst>
    <p:notesMasterId xmlns:r="http://schemas.openxmlformats.org/officeDocument/2006/relationships" r:id="R2b421d388040470b"/>
  </p:notesMasterIdLst>
  <p:sldIdLst>
    <p:sldId xmlns:r="http://schemas.openxmlformats.org/officeDocument/2006/relationships" id="256" r:id="Rb717fcece688492d"/>
    <p:sldId xmlns:r="http://schemas.openxmlformats.org/officeDocument/2006/relationships" id="257" r:id="Rfaf9105eaa7f45de"/>
    <p:sldId xmlns:r="http://schemas.openxmlformats.org/officeDocument/2006/relationships" id="258" r:id="Rf162ac34da214654"/>
    <p:sldId xmlns:r="http://schemas.openxmlformats.org/officeDocument/2006/relationships" id="259" r:id="R8b5a5c98fcca4a0a"/>
    <p:sldId xmlns:r="http://schemas.openxmlformats.org/officeDocument/2006/relationships" id="260" r:id="Rff88b54652bf4430"/>
    <p:sldId xmlns:r="http://schemas.openxmlformats.org/officeDocument/2006/relationships" id="261" r:id="R9a7b0fab754141c8"/>
    <p:sldId xmlns:r="http://schemas.openxmlformats.org/officeDocument/2006/relationships" id="262" r:id="R8f435be5fa194d65"/>
    <p:sldId xmlns:r="http://schemas.openxmlformats.org/officeDocument/2006/relationships" id="263" r:id="Rb2c5488b962e4eb2"/>
    <p:sldId xmlns:r="http://schemas.openxmlformats.org/officeDocument/2006/relationships" id="264" r:id="R37262fdae9cf4abd"/>
    <p:sldId xmlns:r="http://schemas.openxmlformats.org/officeDocument/2006/relationships" id="265" r:id="Rbc29324d8de54137"/>
    <p:sldId xmlns:r="http://schemas.openxmlformats.org/officeDocument/2006/relationships" id="266" r:id="Rd84c6686fc0941fe"/>
    <p:sldId xmlns:r="http://schemas.openxmlformats.org/officeDocument/2006/relationships" id="267" r:id="R134f689cd417426d"/>
    <p:sldId xmlns:r="http://schemas.openxmlformats.org/officeDocument/2006/relationships" id="268" r:id="Re58bc3a6d1d14a92"/>
    <p:sldId xmlns:r="http://schemas.openxmlformats.org/officeDocument/2006/relationships" id="269" r:id="R640d78cdb0d646f6"/>
    <p:sldId xmlns:r="http://schemas.openxmlformats.org/officeDocument/2006/relationships" id="270" r:id="R0fb75f4463b24da7"/>
    <p:sldId xmlns:r="http://schemas.openxmlformats.org/officeDocument/2006/relationships" id="271" r:id="R1832e162f7254f28"/>
    <p:sldId xmlns:r="http://schemas.openxmlformats.org/officeDocument/2006/relationships" id="272" r:id="R86c9de0cbd9a4f8b"/>
    <p:sldId xmlns:r="http://schemas.openxmlformats.org/officeDocument/2006/relationships" id="273" r:id="R8ce4e198404d4dad"/>
    <p:sldId xmlns:r="http://schemas.openxmlformats.org/officeDocument/2006/relationships" id="274" r:id="R25e06bbffdff4d73"/>
    <p:sldId xmlns:r="http://schemas.openxmlformats.org/officeDocument/2006/relationships" id="275" r:id="R9721f99027e24b93"/>
    <p:sldId xmlns:r="http://schemas.openxmlformats.org/officeDocument/2006/relationships" id="276" r:id="R6a573ed82a6240c6"/>
    <p:sldId xmlns:r="http://schemas.openxmlformats.org/officeDocument/2006/relationships" id="277" r:id="R40f2bf7c51ea4f39"/>
    <p:sldId xmlns:r="http://schemas.openxmlformats.org/officeDocument/2006/relationships" id="278" r:id="R2c14d0003c2d469e"/>
    <p:sldId xmlns:r="http://schemas.openxmlformats.org/officeDocument/2006/relationships" id="279" r:id="R77946bbf4cfb4aea"/>
    <p:sldId xmlns:r="http://schemas.openxmlformats.org/officeDocument/2006/relationships" id="280" r:id="Rbf2d728a09d84520"/>
    <p:sldId xmlns:r="http://schemas.openxmlformats.org/officeDocument/2006/relationships" id="281" r:id="Re51df3d043a74347"/>
    <p:sldId xmlns:r="http://schemas.openxmlformats.org/officeDocument/2006/relationships" id="282" r:id="R205634276ed24af9"/>
    <p:sldId xmlns:r="http://schemas.openxmlformats.org/officeDocument/2006/relationships" id="283" r:id="Rd6696543728e41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d8c85e6df54960" /><Relationship Type="http://schemas.openxmlformats.org/officeDocument/2006/relationships/slideMaster" Target="/ppt/slideMasters/slideMaster1.xml" Id="R1aac6b6cebb74df2" /><Relationship Type="http://schemas.openxmlformats.org/officeDocument/2006/relationships/notesMaster" Target="/ppt/notesMasters/notesMaster1.xml" Id="R2b421d388040470b" /><Relationship Type="http://schemas.openxmlformats.org/officeDocument/2006/relationships/presProps" Target="/ppt/presProps.xml" Id="R9fa0ade4a4044ea8" /><Relationship Type="http://schemas.openxmlformats.org/officeDocument/2006/relationships/tableStyles" Target="/ppt/tableStyles.xml" Id="Rd19870da38344a12" /><Relationship Type="http://schemas.openxmlformats.org/officeDocument/2006/relationships/slide" Target="/ppt/slides/slide1.xml" Id="Rb717fcece688492d" /><Relationship Type="http://schemas.openxmlformats.org/officeDocument/2006/relationships/slide" Target="/ppt/slides/slide2.xml" Id="Rfaf9105eaa7f45de" /><Relationship Type="http://schemas.openxmlformats.org/officeDocument/2006/relationships/slide" Target="/ppt/slides/slide3.xml" Id="Rf162ac34da214654" /><Relationship Type="http://schemas.openxmlformats.org/officeDocument/2006/relationships/slide" Target="/ppt/slides/slide4.xml" Id="R8b5a5c98fcca4a0a" /><Relationship Type="http://schemas.openxmlformats.org/officeDocument/2006/relationships/slide" Target="/ppt/slides/slide5.xml" Id="Rff88b54652bf4430" /><Relationship Type="http://schemas.openxmlformats.org/officeDocument/2006/relationships/slide" Target="/ppt/slides/slide6.xml" Id="R9a7b0fab754141c8" /><Relationship Type="http://schemas.openxmlformats.org/officeDocument/2006/relationships/slide" Target="/ppt/slides/slide7.xml" Id="R8f435be5fa194d65" /><Relationship Type="http://schemas.openxmlformats.org/officeDocument/2006/relationships/slide" Target="/ppt/slides/slide8.xml" Id="Rb2c5488b962e4eb2" /><Relationship Type="http://schemas.openxmlformats.org/officeDocument/2006/relationships/slide" Target="/ppt/slides/slide9.xml" Id="R37262fdae9cf4abd" /><Relationship Type="http://schemas.openxmlformats.org/officeDocument/2006/relationships/slide" Target="/ppt/slides/slide10.xml" Id="Rbc29324d8de54137" /><Relationship Type="http://schemas.openxmlformats.org/officeDocument/2006/relationships/slide" Target="/ppt/slides/slide11.xml" Id="Rd84c6686fc0941fe" /><Relationship Type="http://schemas.openxmlformats.org/officeDocument/2006/relationships/slide" Target="/ppt/slides/slide12.xml" Id="R134f689cd417426d" /><Relationship Type="http://schemas.openxmlformats.org/officeDocument/2006/relationships/slide" Target="/ppt/slides/slide13.xml" Id="Re58bc3a6d1d14a92" /><Relationship Type="http://schemas.openxmlformats.org/officeDocument/2006/relationships/slide" Target="/ppt/slides/slide14.xml" Id="R640d78cdb0d646f6" /><Relationship Type="http://schemas.openxmlformats.org/officeDocument/2006/relationships/slide" Target="/ppt/slides/slide15.xml" Id="R0fb75f4463b24da7" /><Relationship Type="http://schemas.openxmlformats.org/officeDocument/2006/relationships/slide" Target="/ppt/slides/slide16.xml" Id="R1832e162f7254f28" /><Relationship Type="http://schemas.openxmlformats.org/officeDocument/2006/relationships/slide" Target="/ppt/slides/slide17.xml" Id="R86c9de0cbd9a4f8b" /><Relationship Type="http://schemas.openxmlformats.org/officeDocument/2006/relationships/slide" Target="/ppt/slides/slide18.xml" Id="R8ce4e198404d4dad" /><Relationship Type="http://schemas.openxmlformats.org/officeDocument/2006/relationships/slide" Target="/ppt/slides/slide19.xml" Id="R25e06bbffdff4d73" /><Relationship Type="http://schemas.openxmlformats.org/officeDocument/2006/relationships/slide" Target="/ppt/slides/slide20.xml" Id="R9721f99027e24b93" /><Relationship Type="http://schemas.openxmlformats.org/officeDocument/2006/relationships/slide" Target="/ppt/slides/slide21.xml" Id="R6a573ed82a6240c6" /><Relationship Type="http://schemas.openxmlformats.org/officeDocument/2006/relationships/slide" Target="/ppt/slides/slide22.xml" Id="R40f2bf7c51ea4f39" /><Relationship Type="http://schemas.openxmlformats.org/officeDocument/2006/relationships/slide" Target="/ppt/slides/slide23.xml" Id="R2c14d0003c2d469e" /><Relationship Type="http://schemas.openxmlformats.org/officeDocument/2006/relationships/slide" Target="/ppt/slides/slide24.xml" Id="R77946bbf4cfb4aea" /><Relationship Type="http://schemas.openxmlformats.org/officeDocument/2006/relationships/slide" Target="/ppt/slides/slide25.xml" Id="Rbf2d728a09d84520" /><Relationship Type="http://schemas.openxmlformats.org/officeDocument/2006/relationships/slide" Target="/ppt/slides/slide26.xml" Id="Re51df3d043a74347" /><Relationship Type="http://schemas.openxmlformats.org/officeDocument/2006/relationships/slide" Target="/ppt/slides/slide27.xml" Id="R205634276ed24af9" /><Relationship Type="http://schemas.openxmlformats.org/officeDocument/2006/relationships/slide" Target="/ppt/slides/slide28.xml" Id="Rd6696543728e41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81354587bec4a5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5a48379d66f4d68" /><Relationship Type="http://schemas.openxmlformats.org/officeDocument/2006/relationships/notesMaster" Target="/ppt/notesMasters/notesMaster1.xml" Id="Red06aebcf8f24c6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8dab046115498f" /><Relationship Type="http://schemas.openxmlformats.org/officeDocument/2006/relationships/notesMaster" Target="/ppt/notesMasters/notesMaster1.xml" Id="Rc91311bd8ed449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a058691c1e224c06" /><Relationship Type="http://schemas.openxmlformats.org/officeDocument/2006/relationships/notesMaster" Target="/ppt/notesMasters/notesMaster1.xml" Id="Rb7e1d70a6e1f48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c2f9523b26c45f8" /><Relationship Type="http://schemas.openxmlformats.org/officeDocument/2006/relationships/notesMaster" Target="/ppt/notesMasters/notesMaster1.xml" Id="Rb18b482a7e1c44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bc053219584a29" /><Relationship Type="http://schemas.openxmlformats.org/officeDocument/2006/relationships/notesMaster" Target="/ppt/notesMasters/notesMaster1.xml" Id="Rdfe6b5631c80418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a030c992a4492f" /><Relationship Type="http://schemas.openxmlformats.org/officeDocument/2006/relationships/notesMaster" Target="/ppt/notesMasters/notesMaster1.xml" Id="R896b448fb9744b5f"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e627e00f9b4ffe" /><Relationship Type="http://schemas.openxmlformats.org/officeDocument/2006/relationships/notesMaster" Target="/ppt/notesMasters/notesMaster1.xml" Id="Rdc9fd024bd394c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3401ca50fc0547a2" /><Relationship Type="http://schemas.openxmlformats.org/officeDocument/2006/relationships/notesMaster" Target="/ppt/notesMasters/notesMaster1.xml" Id="R0c85c324ad0a48a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ab638323ce4063" /><Relationship Type="http://schemas.openxmlformats.org/officeDocument/2006/relationships/notesMaster" Target="/ppt/notesMasters/notesMaster1.xml" Id="R57c3243c4e03426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50830c49403450c" /><Relationship Type="http://schemas.openxmlformats.org/officeDocument/2006/relationships/notesMaster" Target="/ppt/notesMasters/notesMaster1.xml" Id="R5ebb5c924732467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81a88dbbde7404f" /><Relationship Type="http://schemas.openxmlformats.org/officeDocument/2006/relationships/notesMaster" Target="/ppt/notesMasters/notesMaster1.xml" Id="Rbdbb632b96a644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fc0bc3836fd41cd" /><Relationship Type="http://schemas.openxmlformats.org/officeDocument/2006/relationships/notesMaster" Target="/ppt/notesMasters/notesMaster1.xml" Id="R65b79c3eddf1434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26ee37fd0f74b46" /><Relationship Type="http://schemas.openxmlformats.org/officeDocument/2006/relationships/notesMaster" Target="/ppt/notesMasters/notesMaster1.xml" Id="R25d15c51228a43e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f3b6d505cc94fd6" /><Relationship Type="http://schemas.openxmlformats.org/officeDocument/2006/relationships/notesMaster" Target="/ppt/notesMasters/notesMaster1.xml" Id="Rbc486e38f7e346c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35282742ced45c1" /><Relationship Type="http://schemas.openxmlformats.org/officeDocument/2006/relationships/notesMaster" Target="/ppt/notesMasters/notesMaster1.xml" Id="R52f6f6fa9d7a441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4c5ee6561664b1d" /><Relationship Type="http://schemas.openxmlformats.org/officeDocument/2006/relationships/notesMaster" Target="/ppt/notesMasters/notesMaster1.xml" Id="R742c46a19dd342b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21a754462db4edf" /><Relationship Type="http://schemas.openxmlformats.org/officeDocument/2006/relationships/notesMaster" Target="/ppt/notesMasters/notesMaster1.xml" Id="Rc4fd87439ea7425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7c44109b4884293" /><Relationship Type="http://schemas.openxmlformats.org/officeDocument/2006/relationships/notesMaster" Target="/ppt/notesMasters/notesMaster1.xml" Id="Rf08a8bf7dc62460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c2d230fee9f431d" /><Relationship Type="http://schemas.openxmlformats.org/officeDocument/2006/relationships/notesMaster" Target="/ppt/notesMasters/notesMaster1.xml" Id="Re67c7173f5fa41e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ea12d1c602343a2" /><Relationship Type="http://schemas.openxmlformats.org/officeDocument/2006/relationships/notesMaster" Target="/ppt/notesMasters/notesMaster1.xml" Id="Rcb8c30d800eb492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b9f4af83e5b46e1" /><Relationship Type="http://schemas.openxmlformats.org/officeDocument/2006/relationships/notesMaster" Target="/ppt/notesMasters/notesMaster1.xml" Id="R61e2b87b8eee44c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d177dc00e6a4751" /><Relationship Type="http://schemas.openxmlformats.org/officeDocument/2006/relationships/notesMaster" Target="/ppt/notesMasters/notesMaster1.xml" Id="R0bc98d1cc97449d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0322263785040a2" /><Relationship Type="http://schemas.openxmlformats.org/officeDocument/2006/relationships/notesMaster" Target="/ppt/notesMasters/notesMaster1.xml" Id="Rc5fbd352501e46a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3c76b86d62f4097" /><Relationship Type="http://schemas.openxmlformats.org/officeDocument/2006/relationships/notesMaster" Target="/ppt/notesMasters/notesMaster1.xml" Id="Rb75bd6f944df44b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53d2e9cada641dd" /><Relationship Type="http://schemas.openxmlformats.org/officeDocument/2006/relationships/notesMaster" Target="/ppt/notesMasters/notesMaster1.xml" Id="R5b711ec349f14eb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d71146e32fe4e51" /><Relationship Type="http://schemas.openxmlformats.org/officeDocument/2006/relationships/notesMaster" Target="/ppt/notesMasters/notesMaster1.xml" Id="R7e3e804adb72409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f3f22733d0041aa" /><Relationship Type="http://schemas.openxmlformats.org/officeDocument/2006/relationships/notesMaster" Target="/ppt/notesMasters/notesMaster1.xml" Id="R929c6cc255764f8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d0af324c0914a7f" /><Relationship Type="http://schemas.openxmlformats.org/officeDocument/2006/relationships/notesMaster" Target="/ppt/notesMasters/notesMaster1.xml" Id="Rb906741ffef5445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스마트팜 도입 시뮬레이터. 공개자료의 실험, 경제성 가정, 안심구역 실행 계획을 구분한다.</a:t>
            </a:r>
          </a:p>
          <a:p xmlns:a="http://schemas.openxmlformats.org/drawingml/2006/main">
            <a:r>
              <a:t>설명용 AI 생성 일러스트: 01-cover.png. 실제 농장·장비·사람의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신규 온실과 기존 시설 개량을 검토하는 농가의 의사결정 문제. 현재 구현한 기능에 근거.</a:t>
            </a:r>
          </a:p>
          <a:p xmlns:a="http://schemas.openxmlformats.org/drawingml/2006/main">
            <a:r>
              <a:t>설명용 AI 생성 일러스트: 02-farm-plan.png. 실제 농장·장비·사람의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https://github.com/jinuk0211/smartfarm-adoption/blob/codex/initial-publish/reports/full_process_delivery.md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https://github.com/jinuk0211/smartfarm-adoption/blob/codex/initial-publish/reports/rda_acquisition.md</a:t>
            </a:r>
          </a:p>
          <a:p xmlns:a="http://schemas.openxmlformats.org/drawingml/2006/main">
            <a:r>
              <a:t>https://github.com/jinuk0211/smartfarm-adoption/blob/codex/initial-publish/reports/curation_model_summary.md</a:t>
            </a:r>
          </a:p>
          <a:p xmlns:a="http://schemas.openxmlformats.org/drawingml/2006/main">
            <a:r>
              <a:t>https://github.com/jinuk0211/smartfarm-adoption/blob/codex/initial-publish/reports/equipment_catalog_notes.md</a:t>
            </a:r>
          </a:p>
          <a:p xmlns:a="http://schemas.openxmlformats.org/drawingml/2006/main">
            <a:r>
              <a:t>https://github.com/jinuk0211/smartfarm-adoption/blob/codex/initial-publish/reports/price_forecast_notes.md</a:t>
            </a:r>
          </a:p>
          <a:p xmlns:a="http://schemas.openxmlformats.org/drawingml/2006/main">
            <a:r>
              <a:t>설명용 AI 생성 일러스트: 03-data-sources.png. 실제 농장·장비·사람의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https://github.com/jinuk0211/smartfarm-adoption/blob/codex/initial-publish/reports/equipment_catalog_notes.md</a:t>
            </a:r>
          </a:p>
          <a:p xmlns:a="http://schemas.openxmlformats.org/drawingml/2006/main">
            <a:r>
              <a:t>설명용 AI 생성 일러스트: 04-equipment.png. 실제 농장·장비·사람의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설명용 AI 생성 일러스트: 05-harvest-income.png. 실제 농장·장비·사람의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a:p xmlns:a="http://schemas.openxmlformats.org/drawingml/2006/main">
            <a:r>
              <a:t>설명용 AI 생성 일러스트: 09-payback-time.png. 실제 농장·장비·사람의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a:p xmlns:a="http://schemas.openxmlformats.org/drawingml/2006/main">
            <a:r>
              <a:t>미회수 잔액은 10년 말 비할인 누적현금 26,749,316.8원. NPV −42,954,238.54원과 다르다.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artifacts/planning_reference_scenarios.json. {"market_assumption":{"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_assumption":{"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comparisons":[{"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기존 계획","price_multiplier":1,"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null,"weather":null}},"results":{"mode":"new","area_m2":1000,"period_basis":"년1기작/10a","cycles_per_year":1,"initial_capex_krw":112530300,"horizon_years":10,"discount_rate":0.04,"scenarios":[{"name":"기존 계획","assumptions":{"name":"기존 계획","price_multiplier":1,"yield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도매가격 상대변화 적용 가정","price_multiplier":1.0859887338098562,"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forecast"},"weather":null}},"results":{"mode":"new","area_m2":1000,"period_basis":"년1기작/10a","cycles_per_year":1,"initial_capex_krw":112530300,"horizon_years":10,"discount_rate":0.04,"scenarios":[{"name":"도매가격 상대변화 적용 가정","assumptions":{"name":"도매가격 상대변화 적용 가정","price_multiplier":1.0859887338098562,"yield_multiplier":1,"cash_cost_multiplier":1},"annual_yield_kg":3344.5,"farmgate_price_krw_per_kg":11802.525559045516,"annual_revenue_krw":39473546.73222773,"annual_cash_operating_cost_krw":15993164,"annual_depreciation_krw":4789801,"annual_income_before_family_labor_krw":18690581.732227728,"annual_family_labor_opportunity_cost_krw":12098260,"annual_income_after_family_labor_krw":6592321.732227728,"annual_cash_surplus_before_replacements_krw":23480382.732227728,"annual_incremental_cash_flow_before_replacements_krw":23480382.732227728,"annual_incremental_income_krw":null,"maximum_capex_for_horizon_payback_krw":234803827.32227728,"maximum_capex_for_nonnegative_npv_krw":190446937.20046654,"required_annual_yield_for_horizon_payback_kg":2308.5054011273355,"additional_yield_required_kg":0,"cash_flows_krw":[-112530300,23480382.732227728,23480382.732227728,23480382.732227728,23480382.732227728,23480382.732227728,23480382.732227728,23480382.732227728,23480382.732227728,23480382.732227728,23480382.732227728],"cumulative_cash_flows_krw":[-112530300,-89049917.26777227,-65569534.535544544,-42089151.80331682,-18608769.07108909,4871613.661138639,28351996.393366367,51832379.125594094,75312761.85782182,98793144.59004955,122273527.32227728],"payback_year":5,"recovered_by_horizon":true,"npv_krw":77916637.20046654,"undiscounted_balance_krw":122273527.32227728}],"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상대가격 + 저온 영향 가정","price_multiplier":1.0859887338098562,"yield_multiplier":0.9,"cash_cost_multiplier":1.15}],"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아님","source_url":"https://data.kma.go.kr/normals/info1.do"}}},"results":{"mode":"new","area_m2":1000,"period_basis":"년1기작/10a","cycles_per_year":1,"initial_capex_krw":112530300,"horizon_years":10,"discount_rate":0.04,"scenarios":[{"name":"상대가격 + 저온 영향 가정","assumptions":{"name":"상대가격 + 저온 영향 가정","price_multiplier":1.0859887338098562,"yield_multiplier":0.9,"cash_cost_multiplier":1.15},"annual_yield_kg":3010.05,"farmgate_price_krw_per_kg":11802.525559045516,"annual_revenue_krw":35526192.059004955,"annual_cash_operating_cost_krw":18392138.599999998,"annual_depreciation_krw":4789801,"annual_income_before_family_labor_krw":12344252.459004957,"annual_family_labor_opportunity_cost_krw":12098260,"annual_income_after_family_labor_krw":245992.45900495723,"annual_cash_surplus_before_replacements_krw":17134053.459004957,"annual_incremental_cash_flow_before_replacements_krw":17134053.459004957,"annual_incremental_income_krw":null,"maximum_capex_for_horizon_payback_krw":171340534.59004956,"maximum_capex_for_nonnegative_npv_krw":138972521.88388672,"required_annual_yield_for_horizon_payback_kg":2511.7648296283323,"additional_yield_required_kg":0,"cash_flows_krw":[-112530300,17134053.459004957,17134053.459004957,17134053.459004957,17134053.459004957,17134053.459004957,17134053.459004957,17134053.459004957,17134053.459004957,17134053.459004957,17134053.459004957],"cumulative_cash_flows_krw":[-112530300,-95396246.54099505,-78262193.0819901,-61128139.62298514,-43994086.163980186,-26860032.70497523,-9725979.245970272,7408074.213034686,24542127.672039643,41676181.1310446,58810234.59004955],"payback_year":7,"recovered_by_horizon":true,"npv_krw":26442221.883886714,"undiscounted_balance_krw":58810234.59004955}],"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cost."}}],"interpretation":"조건별 계산 연결 시연. 도매-농가 상대변화 전달·날씨 영향 수치는 사용자 가정이며 정확도 검증된 2027년 예측이 아님","source_sha256":{"artifacts/price_forecast_metrics.json":"5c383aa1bd0c8787a249996124153775dd1a58da7caac3875d25df3607a41681","artifacts/price_forecast_holdout_predictions.csv":"6cac4483e2f25ef90b0f37a49e1922994607517c3e58645bcf6db067181b689c","artifacts/price_forecast_forecast.csv":"ac41c538800f5fcf4e4423d58d68953d1a3b64733bfa3f1e67b905dd3eca1493","data/processed/climate_normals_monthly.csv":"438bd0a350f970e2f31c0bc8ab540b51eb980d2fec03d81a93f1073cadb36aa9","src/scenario_assumptions.py":"0a0cd4be7116cd95475ca1f47d459d3c7de136d1aadf6a7db8e2525553d09944","scripts/run_reference_scenarios.py":"b9a84442f2e6ec293656a91c86054c4cdfc9fd263a5f6b67d3da832f36f7e00f"}}</a:t>
            </a:r>
          </a:p>
          <a:p xmlns:a="http://schemas.openxmlformats.org/drawingml/2006/main">
            <a:r>
              <a:t>설명용 AI 생성 일러스트: 06-weather-risk.png. 실제 농장·장비·사람의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https://github.com/jinuk0211/smartfarm-adoption/blob/codex/initial-publish/reports/model_report.md</a:t>
            </a:r>
          </a:p>
          <a:p xmlns:a="http://schemas.openxmlformats.org/drawingml/2006/main">
            <a:r>
              <a:t>https://github.com/jinuk0211/smartfarm-adoption/blob/codex/initial-publish/reports/adp_timing_experiment.md</a:t>
            </a:r>
          </a:p>
          <a:p xmlns:a="http://schemas.openxmlformats.org/drawingml/2006/main">
            <a:r>
              <a:t>https://github.com/jinuk0211/smartfarm-adoption/blob/codex/initial-publish/reports/price_forecast_notes.md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https://github.com/jinuk0211/smartfarm-adoption/blob/codex/initial-publish/reports/curation_model_summary.md</a:t>
            </a:r>
          </a:p>
          <a:p xmlns:a="http://schemas.openxmlformats.org/drawingml/2006/main">
            <a:r>
              <a:t>https://github.com/jinuk0211/smartfarm-adoption/blob/codex/initial-publish/reports/curation_cross_source_anomalies.md</a:t>
            </a:r>
          </a:p>
          <a:p xmlns:a="http://schemas.openxmlformats.org/drawingml/2006/main">
            <a:r>
              <a:t>설명용 AI 생성 일러스트: 10-data-quality.png. 실제 농장·장비·사람의 사진이 아님.</a:t>
            </a:r>
          </a:p>
          <a:p xmlns:a="http://schemas.openxmlformats.org/drawingml/2006/main">
            <a:r>
              <a:t>정확한 원기록은 딸기14,604,000kg, 매출233,563,333,310원. 민감도 분석과 원본 전체 성능을 별도로 보존한다.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https://github.com/jinuk0211/smartfarm-adoption/blob/codex/initial-publish/reports/inseason_model_notes.md</a:t>
            </a:r>
          </a:p>
          <a:p xmlns:a="http://schemas.openxmlformats.org/drawingml/2006/main">
            <a:r>
              <a:t>{"study":"strawberry_observed_visit_height_7d","status":"actual_data_pilot_completed","generated_at":"2026-10-10T06:47:46.104846+00:00","target":"7일 뒤 시설·방문 관측 표본 평균 초장","target_unit":"mm","source_counts":{"growth_raw_rows":2529,"environment_raw_rows":9774,"height_raw_rows_mm":252,"height_visits":187,"visits_without_cycle":1,"visits_ambiguous_cycle":0,"conflicting_growth_sample_rows_excluded":0,"conflicting_environment_day_rows_excluded":0,"exact_seven_day_pairs":40,"pairs_with_prior_temperature_28d":40,"facilities":21,"temperature_days_28d_min":18,"temperature_days_28d_median":27,"temperature_days_28d_max":28,"height_unit":"mm","horizon_days":7},"cohort":{"pairs":40,"facilities":21,"horizon_days":7,"folds":5},"feature_groups":{"growth":["height_mm","leaf_count","leaf_length_mm","leaf_width_mm","crown_diameter_mm","day_of_year","days_after_planting","previous_visit_gap_days","previous_height_delta_mm"],"prior_environment":["temperature_c_7d_mean","temperature_c_7d_min","temperature_c_7d_max","temperature_c_7d_count","temperature_c_28d_mean","temperature_c_28d_min","temperature_c_28d_max","temperature_c_28d_count","humidity_pct_7d_mean","humidity_pct_7d_min","humidity_pct_7d_max","humidity_pct_7d_count","humidity_pct_28d_mean","humidity_pct_28d_min","humidity_pct_28d_max","humidity_pct_28d_count","co2_ppm_7d_mean","co2_ppm_7d_min","co2_ppm_7d_max","co2_ppm_7d_count","co2_ppm_28d_mean","co2_ppm_28d_min","co2_ppm_28d_max","co2_ppm_28d_count"]},"environment_units":{"temperature_c":"°C","humidity_pct":"%","co2_ppm":"ppm"},"feature_count":33,"models":[{"model":"current_height","mae_mm":36.079166666666666,"rmse_mm":45.92062142678627,"median_absolute_error_mm":24,"n_scored":40,"fold_mae_mm":{"0":56.479166666666664,"1":40.541666666666664,"2":27,"3":29.0625,"4":27.3125}},{"model":"catboost_growth","mae_mm":32.607384212432535,"rmse_mm":41.105035645802886,"median_absolute_error_mm":28.39139033868824,"n_scored":40,"fold_mae_mm":{"0":47.23733944884858,"1":38.53465288379644,"2":25.452962354706457,"3":31.739428428356398,"4":20.072537946454823}},{"model":"catboost_growth_environment","mae_mm":34.786178667408024,"rmse_mm":43.04013158412155,"median_absolute_error_mm":31.308795682006235,"n_scored":40,"fold_mae_mm":{"0":51.323939935841395,"1":39.08287110972536,"2":23.753829855866528,"3":30.986052368486874,"4":28.784200067119976}},{"model":"xgboost_growth_environment","mae_mm":34.589417345325145,"rmse_mm":42.29869377173107,"median_absolute_error_mm":28.7378511428833,"n_scored":40,"fold_mae_mm":{"0":48.82260195414225,"1":46.171511928240456,"2":18.749809935688972,"3":28.14502251148224,"4":31.05814039707184}}],"best_model":"catboost_growth","illustrative_holdout_examples":[{"group":1,"pairs":10,"current_height_mm_mean":233.5,"observed_next_height_mm_mean":284.1333333333333,"predicted_next_height_mm_mean":264.6519092482094},{"group":2,"pairs":10,"current_height_mm_mean":324.8,"observed_next_height_mm_mean":333.1833333333333,"predicted_next_height_mm_mean":340.070591957401},{"group":3,"pairs":10,"current_height_mm_mean":362.35,"observed_next_height_mm_mean":370.7,"predicted_next_height_mm_mean":368.39330199731836},{"group":4,"pairs":10,"current_height_mm_mean":402.5,"observed_next_height_mm_mean":384.15,"predicted_next_height_mm_mean":394.5818915074793}],"limitations":["정확히 7일 간격으로 관측된 방문 쌍만 평가한 소규모 후향 실험이다. 불규칙 방문 농가 전체를 대표하지 않는다.","같은 개체의 연속 성장량이 아닌 시설·방문별 관측 표본 평균 초장(mm)을 예측한다. 표본 구성이 달라질 수 있다.","환경 분석일자를 관측일의 대리값으로 사용했다. 실제 과거 수신 시각/지연은 없어 실시간 가용성을 입증하지 않는다.","온도·습도의 7/28일 최소·최대는 기간 내 일평균 값의 최소·최대이며 순간 최저·최고 온도가 아니다. CO₂는 분석일자별 농도 기록을 요약하며 원본의 하루 내 집계 방식은 명시되지 않았다.","일사량·외부온도·기상특보·태풍은 이 큐레이션 원본에 없어 누적 일사량, GDD 및 기상 예측은 만들지 않았다.","mm 원문 값을 유지하고 의심 값의 임의 단위 환산이나 이상치 제거를 하지 않았다.","시설 분리 교차검증은 미래 연도 검증이 아니다. 모델 선택과 성능 보고에 같은 OOF 평가를 사용해 별도 외부검증이 필요하다.","운영 중 보조 실험이며 도입 전 수확량·투자수익 모델에는 관측 환경/생육 값을 넣지 않는다."],"source_hashes":{"data/processed/strawberry_curation_growth.csv":"fa9c47868d3c96d142580b56ad2e90b3f3e2e4ce604f7351e037a4c96875cf6f","data/processed/strawberry_curation_environment.csv":"b7aa4ca2fb6d52e755816b1c6e20c7192a57c654b32ff0ae05c546123bbb550f","data/raw/smartfarm_curation_docs/Strawberry_Growth_Env_Shipping_Definition.hwp":"e86d0bc61eabce71890a8a7c406d0ee98102c6f37afa4687681eb3966ed64197","src/inseason_model.py":"c52aa8d098e6f9579047642c57ce5d68dbd2f4681051341302e15d9ff1303a2d","scripts/run_inseason_model.py":"df181d24a14b342d4834b268c12b84708295c241f1788d9f3ac35df602e1a360"},"private_oof_sha256":"80e2507cccd372cb986dfcc2662ad673df739cc4f3bd99cd393df7a656e67346","private_oof_rows_not_published":true}</a:t>
            </a:r>
          </a:p>
          <a:p xmlns:a="http://schemas.openxmlformats.org/drawingml/2006/main">
            <a:r>
              <a:t>설명용 AI 생성 일러스트: 07-growth-sensor.png. 실제 농장·장비·사람의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실행 화면 http://127.0.0.1:8512/</a:t>
            </a:r>
          </a:p>
          <a:p xmlns:a="http://schemas.openxmlformats.org/drawingml/2006/main">
            <a:r>
              <a:t>https://github.com/jinuk0211/smartfarm-adoption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https://github.com/jinuk0211/smartfarm-adoption/blob/codex/initial-publish/reports/dsz_schema_contract.md</a:t>
            </a:r>
          </a:p>
          <a:p xmlns:a="http://schemas.openxmlformats.org/drawingml/2006/main">
            <a:r>
              <a:t>https://github.com/jinuk0211/smartfarm-adoption/blob/codex/initial-publish/reports/dsz_onsite_guide.md</a:t>
            </a:r>
          </a:p>
          <a:p xmlns:a="http://schemas.openxmlformats.org/drawingml/2006/main">
            <a:r>
              <a:t>설명용 AI 생성 일러스트: 08-onsite-analysis.png. 실제 농장·장비·사람의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https://github.com/jinuk0211/smartfarm-adoption/blob/codex/initial-publish/reports/rda_acquisition.md</a:t>
            </a:r>
          </a:p>
          <a:p xmlns:a="http://schemas.openxmlformats.org/drawingml/2006/main">
            <a:r>
              <a:t>https://github.com/jinuk0211/smartfarm-adoption/blob/codex/initial-publish/reports/curation_model_summary.md</a:t>
            </a:r>
          </a:p>
          <a:p xmlns:a="http://schemas.openxmlformats.org/drawingml/2006/main">
            <a:r>
              <a:t>https://github.com/jinuk0211/smartfarm-adoption/blob/codex/initial-publish/reports/api_ready.md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https://github.com/jinuk0211/smartfarm-adoption/blob/codex/initial-publish/reports/kamis_acquisition.md</a:t>
            </a:r>
          </a:p>
          <a:p xmlns:a="http://schemas.openxmlformats.org/drawingml/2006/main">
            <a:r>
              <a:t>https://github.com/jinuk0211/smartfarm-adoption/blob/codex/initial-publish/reports/climate_normals_acquisition.md</a:t>
            </a:r>
          </a:p>
          <a:p xmlns:a="http://schemas.openxmlformats.org/drawingml/2006/main">
            <a:r>
              <a:t>https://github.com/jinuk0211/smartfarm-adoption/blob/codex/initial-publish/reports/equipment_catalog_notes.md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https://github.com/jinuk0211/smartfarm-adoption/blob/codex/initial-publish/reports/dsz_schema_contract.md</a:t>
            </a:r>
          </a:p>
          <a:p xmlns:a="http://schemas.openxmlformats.org/drawingml/2006/main">
            <a:r>
              <a:t>https://github.com/jinuk0211/smartfarm-adoption/blob/codex/initial-publish/reports/strawberry_curation_schema_audit.md</a:t>
            </a:r>
          </a:p>
          <a:p xmlns:a="http://schemas.openxmlformats.org/drawingml/2006/main">
            <a:r>
              <a:t>https://github.com/jinuk0211/smartfarm-adoption/blob/codex/initial-publish/reports/regional_curation_schema_audit.md</a:t>
            </a:r>
          </a:p>
          <a:p xmlns:a="http://schemas.openxmlformats.org/drawingml/2006/main">
            <a:r>
              <a:t>시설ID와 조사일의 유일한 작기 포함 관계를 사용. 지역별 매출 자료의 면적은 평·㎡ 정의 충돌로 입력에서 제외. 작기 총량을 연간 생산량으로 자동 대입하지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https://github.com/jinuk0211/smartfarm-adoption/blob/codex/initial-publish/reports/model_report.md</a:t>
            </a:r>
          </a:p>
          <a:p xmlns:a="http://schemas.openxmlformats.org/drawingml/2006/main">
            <a:r>
              <a:t>https://github.com/jinuk0211/smartfarm-adoption/blob/codex/initial-publish/reports/adp_timing_experiment.md</a:t>
            </a:r>
          </a:p>
          <a:p xmlns:a="http://schemas.openxmlformats.org/drawingml/2006/main">
            <a:r>
              <a:t>https://github.com/jinuk0211/smartfarm-adoption/blob/codex/initial-publish/reports/limix_experiment.md</a:t>
            </a:r>
          </a:p>
          <a:p xmlns:a="http://schemas.openxmlformats.org/drawingml/2006/main">
            <a:r>
              <a:t>RDA는 과거 중앙값, ADP는 품목·정식월 중앙값. LimiX는 400M 고정 가중치 실제 실행이며 미세조정하지 않음. ADP 목표는 실제 첫 수확일과 다를 수 있음. 농가 자료는 시설별5분할로 같은시설의작기를 같은분할에배치한다. 범주처리와중앙값은 학습자료만 사용한다. RDA는최근연도를보류하고 시계열가격은과거시점만사용한다. 모형선택용 평가와독립적인최종검증을구분한다.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https://github.com/jinuk0211/smartfarm-adoption/blob/codex/initial-publish/reports/curation_model_summary.md</a:t>
            </a:r>
          </a:p>
          <a:p xmlns:a="http://schemas.openxmlformats.org/drawingml/2006/main">
            <a:r>
              <a:t>https://github.com/jinuk0211/smartfarm-adoption/blob/codex/initial-publish/reports/curation_cross_source_anomalies.md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https://www.smartfarmkorea.net/company/equipmentInfo.do</a:t>
            </a:r>
          </a:p>
          <a:p xmlns:a="http://schemas.openxmlformats.org/drawingml/2006/main">
            <a:r>
              <a:t>https://github.com/jinuk0211/smartfarm-adoption/blob/codex/initial-publish/reports/equipment_source_check_2026-10-10.json</a:t>
            </a:r>
          </a:p>
          <a:p xmlns:a="http://schemas.openxmlformats.org/drawingml/2006/main">
            <a:r>
              <a:t>2026-10-10 공개 상세 5126,6337,6688.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artifacts/price_forecast_metrics.json, reports/price_forecast_notes.md</a:t>
            </a:r>
          </a:p>
          <a:p xmlns:a="http://schemas.openxmlformats.org/drawingml/2006/main">
            <a:r>
              <a:t>https://github.com/jinuk0211/smartfarm-adoption/blob/codex/initial-publish/reports/price_forecast_notes.md</a:t>
            </a:r>
          </a:p>
          <a:p xmlns:a="http://schemas.openxmlformats.org/drawingml/2006/main">
            <a:r>
              <a:t>12개 품목·품종·등급 시계열. 계절 최근값, 계절 중앙값, 계절 릿지 비교. 결측월을 0으로 채우지 않음. 평가 자료를 모형 선택에 쓰지 않음. 가중절대백분율오차 선택모형24.086%, 기준20.470%.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artifacts/planning_reference_scenarios.json. {"market_assumption":{"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_assumption":{"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comparisons":[{"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기존 계획","price_multiplier":1,"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null,"weather":null}},"results":{"mode":"new","area_m2":1000,"period_basis":"년1기작/10a","cycles_per_year":1,"initial_capex_krw":112530300,"horizon_years":10,"discount_rate":0.04,"scenarios":[{"name":"기존 계획","assumptions":{"name":"기존 계획","price_multiplier":1,"yield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도매가격 상대변화 적용 가정","price_multiplier":1.0859887338098562,"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forecast"},"weather":null}},"results":{"mode":"new","area_m2":1000,"period_basis":"년1기작/10a","cycles_per_year":1,"initial_capex_krw":112530300,"horizon_years":10,"discount_rate":0.04,"scenarios":[{"name":"도매가격 상대변화 적용 가정","assumptions":{"name":"도매가격 상대변화 적용 가정","price_multiplier":1.0859887338098562,"yield_multiplier":1,"cash_cost_multiplier":1},"annual_yield_kg":3344.5,"farmgate_price_krw_per_kg":11802.525559045516,"annual_revenue_krw":39473546.73222773,"annual_cash_operating_cost_krw":15993164,"annual_depreciation_krw":4789801,"annual_income_before_family_labor_krw":18690581.732227728,"annual_family_labor_opportunity_cost_krw":12098260,"annual_income_after_family_labor_krw":6592321.732227728,"annual_cash_surplus_before_replacements_krw":23480382.732227728,"annual_incremental_cash_flow_before_replacements_krw":23480382.732227728,"annual_incremental_income_krw":null,"maximum_capex_for_horizon_payback_krw":234803827.32227728,"maximum_capex_for_nonnegative_npv_krw":190446937.20046654,"required_annual_yield_for_horizon_payback_kg":2308.5054011273355,"additional_yield_required_kg":0,"cash_flows_krw":[-112530300,23480382.732227728,23480382.732227728,23480382.732227728,23480382.732227728,23480382.732227728,23480382.732227728,23480382.732227728,23480382.732227728,23480382.732227728,23480382.732227728],"cumulative_cash_flows_krw":[-112530300,-89049917.26777227,-65569534.535544544,-42089151.80331682,-18608769.07108909,4871613.661138639,28351996.393366367,51832379.125594094,75312761.85782182,98793144.59004955,122273527.32227728],"payback_year":5,"recovered_by_horizon":true,"npv_krw":77916637.20046654,"undiscounted_balance_krw":122273527.32227728}],"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상대가격 + 저온 영향 가정","price_multiplier":1.0859887338098562,"yield_multiplier":0.9,"cash_cost_multiplier":1.15}],"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아님","source_url":"https://data.kma.go.kr/normals/info1.do"}}},"results":{"mode":"new","area_m2":1000,"period_basis":"년1기작/10a","cycles_per_year":1,"initial_capex_krw":112530300,"horizon_years":10,"discount_rate":0.04,"scenarios":[{"name":"상대가격 + 저온 영향 가정","assumptions":{"name":"상대가격 + 저온 영향 가정","price_multiplier":1.0859887338098562,"yield_multiplier":0.9,"cash_cost_multiplier":1.15},"annual_yield_kg":3010.05,"farmgate_price_krw_per_kg":11802.525559045516,"annual_revenue_krw":35526192.059004955,"annual_cash_operating_cost_krw":18392138.599999998,"annual_depreciation_krw":4789801,"annual_income_before_family_labor_krw":12344252.459004957,"annual_family_labor_opportunity_cost_krw":12098260,"annual_income_after_family_labor_krw":245992.45900495723,"annual_cash_surplus_before_replacements_krw":17134053.459004957,"annual_incremental_cash_flow_before_replacements_krw":17134053.459004957,"annual_incremental_income_krw":null,"maximum_capex_for_horizon_payback_krw":171340534.59004956,"maximum_capex_for_nonnegative_npv_krw":138972521.88388672,"required_annual_yield_for_horizon_payback_kg":2511.7648296283323,"additional_yield_required_kg":0,"cash_flows_krw":[-112530300,17134053.459004957,17134053.459004957,17134053.459004957,17134053.459004957,17134053.459004957,17134053.459004957,17134053.459004957,17134053.459004957,17134053.459004957,17134053.459004957],"cumulative_cash_flows_krw":[-112530300,-95396246.54099505,-78262193.0819901,-61128139.62298514,-43994086.163980186,-26860032.70497523,-9725979.245970272,7408074.213034686,24542127.672039643,41676181.1310446,58810234.59004955],"payback_year":7,"recovered_by_horizon":true,"npv_krw":26442221.883886714,"undiscounted_balance_krw":58810234.59004955}],"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cost."}}],"interpretation":"조건별 계산 연결 시연. 도매-농가 상대변화 전달·날씨 영향 수치는 사용자 가정이며 정확도 검증된 2027년 예측이 아님","source_sha256":{"artifacts/price_forecast_metrics.json":"5c383aa1bd0c8787a249996124153775dd1a58da7caac3875d25df3607a41681","artifacts/price_forecast_holdout_predictions.csv":"6cac4483e2f25ef90b0f37a49e1922994607517c3e58645bcf6db067181b689c","artifacts/price_forecast_forecast.csv":"ac41c538800f5fcf4e4423d58d68953d1a3b64733bfa3f1e67b905dd3eca1493","data/processed/climate_normals_monthly.csv":"438bd0a350f970e2f31c0bc8ab540b51eb980d2fec03d81a93f1073cadb36aa9","src/scenario_assumptions.py":"0a0cd4be7116cd95475ca1f47d459d3c7de136d1aadf6a7db8e2525553d09944","scripts/run_reference_scenarios.py":"b9a84442f2e6ec293656a91c86054c4cdfc9fd263a5f6b67d3da832f36f7e00f"}}</a:t>
            </a:r>
          </a:p>
          <a:p xmlns:a="http://schemas.openxmlformats.org/drawingml/2006/main">
            <a:r>
              <a:t>대구 기후는 1991~2020평년, 강수18.6mm. 미래 기상예보가 아님. 월별동일가중치는 선택월판매량동일 가정. 도매가격 수준을 농가수취가격으로 자동 대체하지 않고 상대변화만 명시적으로 전달. 2027년 검증 예측이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https://github.com/jinuk0211/smartfarm-adoption/blob/codex/initial-publish/reports/inseason_model_notes.md</a:t>
            </a:r>
          </a:p>
          <a:p xmlns:a="http://schemas.openxmlformats.org/drawingml/2006/main">
            <a:r>
              <a:t>{"study":"strawberry_observed_visit_height_7d","status":"actual_data_pilot_completed","generated_at":"2026-10-10T06:47:46.104846+00:00","target":"7일 뒤 시설·방문 관측 표본 평균 초장","target_unit":"mm","source_counts":{"growth_raw_rows":2529,"environment_raw_rows":9774,"height_raw_rows_mm":252,"height_visits":187,"visits_without_cycle":1,"visits_ambiguous_cycle":0,"conflicting_growth_sample_rows_excluded":0,"conflicting_environment_day_rows_excluded":0,"exact_seven_day_pairs":40,"pairs_with_prior_temperature_28d":40,"facilities":21,"temperature_days_28d_min":18,"temperature_days_28d_median":27,"temperature_days_28d_max":28,"height_unit":"mm","horizon_days":7},"cohort":{"pairs":40,"facilities":21,"horizon_days":7,"folds":5},"feature_groups":{"growth":["height_mm","leaf_count","leaf_length_mm","leaf_width_mm","crown_diameter_mm","day_of_year","days_after_planting","previous_visit_gap_days","previous_height_delta_mm"],"prior_environment":["temperature_c_7d_mean","temperature_c_7d_min","temperature_c_7d_max","temperature_c_7d_count","temperature_c_28d_mean","temperature_c_28d_min","temperature_c_28d_max","temperature_c_28d_count","humidity_pct_7d_mean","humidity_pct_7d_min","humidity_pct_7d_max","humidity_pct_7d_count","humidity_pct_28d_mean","humidity_pct_28d_min","humidity_pct_28d_max","humidity_pct_28d_count","co2_ppm_7d_mean","co2_ppm_7d_min","co2_ppm_7d_max","co2_ppm_7d_count","co2_ppm_28d_mean","co2_ppm_28d_min","co2_ppm_28d_max","co2_ppm_28d_count"]},"environment_units":{"temperature_c":"°C","humidity_pct":"%","co2_ppm":"ppm"},"feature_count":33,"models":[{"model":"current_height","mae_mm":36.079166666666666,"rmse_mm":45.92062142678627,"median_absolute_error_mm":24,"n_scored":40,"fold_mae_mm":{"0":56.479166666666664,"1":40.541666666666664,"2":27,"3":29.0625,"4":27.3125}},{"model":"catboost_growth","mae_mm":32.607384212432535,"rmse_mm":41.105035645802886,"median_absolute_error_mm":28.39139033868824,"n_scored":40,"fold_mae_mm":{"0":47.23733944884858,"1":38.53465288379644,"2":25.452962354706457,"3":31.739428428356398,"4":20.072537946454823}},{"model":"catboost_growth_environment","mae_mm":34.786178667408024,"rmse_mm":43.04013158412155,"median_absolute_error_mm":31.308795682006235,"n_scored":40,"fold_mae_mm":{"0":51.323939935841395,"1":39.08287110972536,"2":23.753829855866528,"3":30.986052368486874,"4":28.784200067119976}},{"model":"xgboost_growth_environment","mae_mm":34.589417345325145,"rmse_mm":42.29869377173107,"median_absolute_error_mm":28.7378511428833,"n_scored":40,"fold_mae_mm":{"0":48.82260195414225,"1":46.171511928240456,"2":18.749809935688972,"3":28.14502251148224,"4":31.05814039707184}}],"best_model":"catboost_growth","illustrative_holdout_examples":[{"group":1,"pairs":10,"current_height_mm_mean":233.5,"observed_next_height_mm_mean":284.1333333333333,"predicted_next_height_mm_mean":264.6519092482094},{"group":2,"pairs":10,"current_height_mm_mean":324.8,"observed_next_height_mm_mean":333.1833333333333,"predicted_next_height_mm_mean":340.070591957401},{"group":3,"pairs":10,"current_height_mm_mean":362.35,"observed_next_height_mm_mean":370.7,"predicted_next_height_mm_mean":368.39330199731836},{"group":4,"pairs":10,"current_height_mm_mean":402.5,"observed_next_height_mm_mean":384.15,"predicted_next_height_mm_mean":394.5818915074793}],"limitations":["정확히 7일 간격으로 관측된 방문 쌍만 평가한 소규모 후향 실험이다. 불규칙 방문 농가 전체를 대표하지 않는다.","같은 개체의 연속 성장량이 아닌 시설·방문별 관측 표본 평균 초장(mm)을 예측한다. 표본 구성이 달라질 수 있다.","환경 분석일자를 관측일의 대리값으로 사용했다. 실제 과거 수신 시각/지연은 없어 실시간 가용성을 입증하지 않는다.","온도·습도의 7/28일 최소·최대는 기간 내 일평균 값의 최소·최대이며 순간 최저·최고 온도가 아니다. CO₂는 분석일자별 농도 기록을 요약하며 원본의 하루 내 집계 방식은 명시되지 않았다.","일사량·외부온도·기상특보·태풍은 이 큐레이션 원본에 없어 누적 일사량, GDD 및 기상 예측은 만들지 않았다.","mm 원문 값을 유지하고 의심 값의 임의 단위 환산이나 이상치 제거를 하지 않았다.","시설 분리 교차검증은 미래 연도 검증이 아니다. 모델 선택과 성능 보고에 같은 OOF 평가를 사용해 별도 외부검증이 필요하다.","운영 중 보조 실험이며 도입 전 수확량·투자수익 모델에는 관측 환경/생육 값을 넣지 않는다."],"source_hashes":{"data/processed/strawberry_curation_growth.csv":"fa9c47868d3c96d142580b56ad2e90b3f3e2e4ce604f7351e037a4c96875cf6f","data/processed/strawberry_curation_environment.csv":"b7aa4ca2fb6d52e755816b1c6e20c7192a57c654b32ff0ae05c546123bbb550f","data/raw/smartfarm_curation_docs/Strawberry_Growth_Env_Shipping_Definition.hwp":"e86d0bc61eabce71890a8a7c406d0ee98102c6f37afa4687681eb3966ed64197","src/inseason_model.py":"c52aa8d098e6f9579047642c57ce5d68dbd2f4681051341302e15d9ff1303a2d","scripts/run_inseason_model.py":"df181d24a14b342d4834b268c12b84708295c241f1788d9f3ac35df602e1a360"},"private_oof_sha256":"80e2507cccd372cb986dfcc2662ad673df739cc4f3bd99cd393df7a656e67346","private_oof_rows_not_published":true}</a:t>
            </a:r>
          </a:p>
          <a:p xmlns:a="http://schemas.openxmlformats.org/drawingml/2006/main">
            <a:r>
              <a:t>본편 비교의 생육만 및 생육+환경①은 CatBoost, 생육+환경②는 XGBoost이다. 온도와습도는원천 일평균값이고 CO₂는분석일자별ppm으로일중집계정의가명시되지않았다. 정확히7일간격인21시설40쌍을시설별5분할했다.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https://github.com/jinuk0211/smartfarm-adoption/blob/codex/initial-publish/reports/dsz_model_method.md</a:t>
            </a:r>
          </a:p>
          <a:p xmlns:a="http://schemas.openxmlformats.org/drawingml/2006/main">
            <a:r>
              <a:t>https://github.com/jinuk0211/smartfarm-adoption/blob/codex/initial-publish/reports/dsz_schema_contract.md</a:t>
            </a:r>
          </a:p>
          <a:p xmlns:a="http://schemas.openxmlformats.org/drawingml/2006/main">
            <a:r>
              <a:t>https://github.com/jinuk0211/smartfarm-adoption/blob/codex/initial-publish/reports/dsz_onsite_guide.md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https://github.com/jinuk0211/smartfarm-adoption/blob/codex/initial-publish/reports/api_record_semantics.md</a:t>
            </a:r>
          </a:p>
          <a:p xmlns:a="http://schemas.openxmlformats.org/drawingml/2006/main">
            <a:r>
              <a:t>https://github.com/jinuk0211/smartfarm-adoption/blob/codex/initial-publish/reports/curation_cross_source_anomalies.md</a:t>
            </a:r>
          </a:p>
          <a:p xmlns:a="http://schemas.openxmlformats.org/drawingml/2006/main">
            <a:r>
              <a:t>https://github.com/jinuk0211/smartfarm-adoption/blob/codex/initial-publish/reports/equipment_catalog_notes.md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332d82979a6414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33033510fbe469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5efcf0cf76d407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b6373a4d56f43a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67d37fc27f64d4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40bb704048640e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D1D970-C84F-42B9-853C-776C66BDA3E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88E9211-D0D4-4CD9-B27A-701E4C3B177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AB4CC71-0DA8-482D-8969-8B416409CBF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30D2245-D689-440A-B56D-2C61217E212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60DE9D1-7CF2-45CF-9300-583F07C34DB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D340AAB-5D5E-477F-928C-865574FE2B9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2D2109A-F01F-457A-AE8B-BB61388F4B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ABC805A-8C20-42D9-B65C-1E6DFC8BB6C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7B0DB6-5541-46AC-89F1-A1E0FCFC4D9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25F8AEF-576F-4925-8828-3A1F5E96B6E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a83fb864f2424a" /><Relationship Type="http://schemas.openxmlformats.org/officeDocument/2006/relationships/slideLayout" Target="/ppt/slideLayouts/slideLayout1.xml" Id="Rc704dc52890c43af" /><Relationship Type="http://schemas.openxmlformats.org/officeDocument/2006/relationships/slideLayout" Target="/ppt/slideLayouts/slideLayout2.xml" Id="R5c1967b1ca2c499a" /><Relationship Type="http://schemas.openxmlformats.org/officeDocument/2006/relationships/slideLayout" Target="/ppt/slideLayouts/slideLayout3.xml" Id="Reb8d10bdc2744ba6" /><Relationship Type="http://schemas.openxmlformats.org/officeDocument/2006/relationships/slideLayout" Target="/ppt/slideLayouts/slideLayout4.xml" Id="R7e0f4da3bf2a4ca5" /><Relationship Type="http://schemas.openxmlformats.org/officeDocument/2006/relationships/slideLayout" Target="/ppt/slideLayouts/slideLayout5.xml" Id="R75c94e81c71c4a54" /><Relationship Type="http://schemas.openxmlformats.org/officeDocument/2006/relationships/slideLayout" Target="/ppt/slideLayouts/slideLayout6.xml" Id="R6703aff4c9e449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704dc52890c43af"/>
    <p:sldLayoutId xmlns:r="http://schemas.openxmlformats.org/officeDocument/2006/relationships" id="2147483650" r:id="R5c1967b1ca2c499a"/>
    <p:sldLayoutId xmlns:r="http://schemas.openxmlformats.org/officeDocument/2006/relationships" id="2147483651" r:id="Reb8d10bdc2744ba6"/>
    <p:sldLayoutId xmlns:r="http://schemas.openxmlformats.org/officeDocument/2006/relationships" id="2147483652" r:id="R7e0f4da3bf2a4ca5"/>
    <p:sldLayoutId xmlns:r="http://schemas.openxmlformats.org/officeDocument/2006/relationships" id="2147483653" r:id="R75c94e81c71c4a54"/>
    <p:sldLayoutId xmlns:r="http://schemas.openxmlformats.org/officeDocument/2006/relationships" id="2147483654" r:id="R6703aff4c9e449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b920cd79b3a4431" /><Relationship Type="http://schemas.openxmlformats.org/officeDocument/2006/relationships/image" Target="/ppt/media/image.png" Id="Re1a2d2e3fbf5400b" /><Relationship Type="http://schemas.openxmlformats.org/officeDocument/2006/relationships/notesSlide" Target="/ppt/notesSlides/notesSlide1.xml" Id="Rfa5870dee1f14f6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c3bd1081f0e4c63" /><Relationship Type="http://schemas.openxmlformats.org/officeDocument/2006/relationships/image" Target="/ppt/media/image2.png" Id="R0673fcad82a943e7" /><Relationship Type="http://schemas.openxmlformats.org/officeDocument/2006/relationships/notesSlide" Target="/ppt/notesSlides/notesSlide2.xml" Id="R1ea50e9f2fa24f8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d9ee525da3c4034" /><Relationship Type="http://schemas.openxmlformats.org/officeDocument/2006/relationships/notesSlide" Target="/ppt/notesSlides/notesSlide3.xml" Id="R79ec2f8925ca49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763a1060f3841cd" /><Relationship Type="http://schemas.openxmlformats.org/officeDocument/2006/relationships/image" Target="/ppt/media/image3.png" Id="Re60a37d83c95479d" /><Relationship Type="http://schemas.openxmlformats.org/officeDocument/2006/relationships/notesSlide" Target="/ppt/notesSlides/notesSlide4.xml" Id="Rdda042491ba5491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a875c4eb6db45de" /><Relationship Type="http://schemas.openxmlformats.org/officeDocument/2006/relationships/image" Target="/ppt/media/image4.png" Id="R487290bc3bee4eb6" /><Relationship Type="http://schemas.openxmlformats.org/officeDocument/2006/relationships/notesSlide" Target="/ppt/notesSlides/notesSlide5.xml" Id="R33d8be41d56f4f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d36e088a22b4891" /><Relationship Type="http://schemas.openxmlformats.org/officeDocument/2006/relationships/image" Target="/ppt/media/image5.png" Id="Rd16dfd3d9f654183" /><Relationship Type="http://schemas.openxmlformats.org/officeDocument/2006/relationships/notesSlide" Target="/ppt/notesSlides/notesSlide6.xml" Id="R9a8f12300e9c493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2861da03af94168" /><Relationship Type="http://schemas.openxmlformats.org/officeDocument/2006/relationships/image" Target="/ppt/media/image6.png" Id="Rfadd033d728a4036" /><Relationship Type="http://schemas.openxmlformats.org/officeDocument/2006/relationships/chart" Target="/ppt/slides/charts/chart1.xml" Id="Rc181e760cea04930" /><Relationship Type="http://schemas.openxmlformats.org/officeDocument/2006/relationships/notesSlide" Target="/ppt/notesSlides/notesSlide7.xml" Id="R48dddd57b2f24a5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5398ed433b94e6a" /><Relationship Type="http://schemas.openxmlformats.org/officeDocument/2006/relationships/notesSlide" Target="/ppt/notesSlides/notesSlide8.xml" Id="R86404dc6d72249f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c16642fae024671" /><Relationship Type="http://schemas.openxmlformats.org/officeDocument/2006/relationships/chart" Target="/ppt/slides/charts/chart2.xml" Id="R2f2cdd4ad2574e26" /><Relationship Type="http://schemas.openxmlformats.org/officeDocument/2006/relationships/image" Target="/ppt/media/image7.png" Id="R175358f223334f47" /><Relationship Type="http://schemas.openxmlformats.org/officeDocument/2006/relationships/notesSlide" Target="/ppt/notesSlides/notesSlide9.xml" Id="Rdb17ef4f5d2b4c6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a6325d0f8d44cb5" /><Relationship Type="http://schemas.openxmlformats.org/officeDocument/2006/relationships/notesSlide" Target="/ppt/notesSlides/notesSlide10.xml" Id="R7af14095b435410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cc009580dd54dc7" /><Relationship Type="http://schemas.openxmlformats.org/officeDocument/2006/relationships/image" Target="/ppt/media/image8.png" Id="R9659a44ea9964e87" /><Relationship Type="http://schemas.openxmlformats.org/officeDocument/2006/relationships/notesSlide" Target="/ppt/notesSlides/notesSlide11.xml" Id="R49e3513d7a264a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3b720dc56f74d35" /><Relationship Type="http://schemas.openxmlformats.org/officeDocument/2006/relationships/image" Target="/ppt/media/image9.png" Id="R76190c4b338e4e40" /><Relationship Type="http://schemas.openxmlformats.org/officeDocument/2006/relationships/chart" Target="/ppt/slides/charts/chart3.xml" Id="R65e73368d8214bd9" /><Relationship Type="http://schemas.openxmlformats.org/officeDocument/2006/relationships/notesSlide" Target="/ppt/notesSlides/notesSlide12.xml" Id="Rc96fdc2d94a1482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b4fb249570c4894" /><Relationship Type="http://schemas.openxmlformats.org/officeDocument/2006/relationships/image" Target="/ppt/media/image10.png" Id="Re9a28f238af840dd" /><Relationship Type="http://schemas.openxmlformats.org/officeDocument/2006/relationships/notesSlide" Target="/ppt/notesSlides/notesSlide13.xml" Id="Re2da6ed55a24429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1e2bd3d79bf4d8c" /><Relationship Type="http://schemas.openxmlformats.org/officeDocument/2006/relationships/image" Target="/ppt/media/image11.png" Id="Rff73ab1b6c3b4a9d" /><Relationship Type="http://schemas.openxmlformats.org/officeDocument/2006/relationships/notesSlide" Target="/ppt/notesSlides/notesSlide14.xml" Id="R80b55bf8ecfd48d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4836ef8242e4c6f" /><Relationship Type="http://schemas.openxmlformats.org/officeDocument/2006/relationships/notesSlide" Target="/ppt/notesSlides/notesSlide15.xml" Id="Rda1a6c38727b44e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0bb5eb8b9974afe" /><Relationship Type="http://schemas.openxmlformats.org/officeDocument/2006/relationships/notesSlide" Target="/ppt/notesSlides/notesSlide16.xml" Id="R492cc6cde4ef41d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0bc50d1779a4b20" /><Relationship Type="http://schemas.openxmlformats.org/officeDocument/2006/relationships/notesSlide" Target="/ppt/notesSlides/notesSlide17.xml" Id="R904d61353615413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a5ee01df7c74a8a" /><Relationship Type="http://schemas.openxmlformats.org/officeDocument/2006/relationships/notesSlide" Target="/ppt/notesSlides/notesSlide18.xml" Id="R20661845664a467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d584340b44c4d7e" /><Relationship Type="http://schemas.openxmlformats.org/officeDocument/2006/relationships/notesSlide" Target="/ppt/notesSlides/notesSlide19.xml" Id="Rd2195caa14d94e3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8f7b024d5c34dc7" /><Relationship Type="http://schemas.openxmlformats.org/officeDocument/2006/relationships/notesSlide" Target="/ppt/notesSlides/notesSlide20.xml" Id="R227d0c783183431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d3cd2b52d8d4966" /><Relationship Type="http://schemas.openxmlformats.org/officeDocument/2006/relationships/notesSlide" Target="/ppt/notesSlides/notesSlide21.xml" Id="R2924e26e338d458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0c8385a95714fd5" /><Relationship Type="http://schemas.openxmlformats.org/officeDocument/2006/relationships/notesSlide" Target="/ppt/notesSlides/notesSlide22.xml" Id="R3059ddb457e84ed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605b920f8944407" /><Relationship Type="http://schemas.openxmlformats.org/officeDocument/2006/relationships/notesSlide" Target="/ppt/notesSlides/notesSlide23.xml" Id="R862d4732e479483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008dd0685364b77" /><Relationship Type="http://schemas.openxmlformats.org/officeDocument/2006/relationships/notesSlide" Target="/ppt/notesSlides/notesSlide24.xml" Id="Rbc2f1911b1c0421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4f3385a3ecf484f" /><Relationship Type="http://schemas.openxmlformats.org/officeDocument/2006/relationships/notesSlide" Target="/ppt/notesSlides/notesSlide25.xml" Id="Rcf0103e8d1fd45e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20feecd183b4577" /><Relationship Type="http://schemas.openxmlformats.org/officeDocument/2006/relationships/notesSlide" Target="/ppt/notesSlides/notesSlide26.xml" Id="R460009e65cd2482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c59daefaadd457e" /><Relationship Type="http://schemas.openxmlformats.org/officeDocument/2006/relationships/notesSlide" Target="/ppt/notesSlides/notesSlide27.xml" Id="Rf9c12291baab4b6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ff4f90556af4b64" /><Relationship Type="http://schemas.openxmlformats.org/officeDocument/2006/relationships/notesSlide" Target="/ppt/notesSlides/notesSlide28.xml" Id="R4363cd38872646a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기준</c:v>
          </c:tx>
          <c:spPr>
            <a:solidFill xmlns:a="http://schemas.openxmlformats.org/drawingml/2006/main">
              <a:srgbClr val="46856E"/>
            </a:solidFill>
            <a:ln xmlns:a="http://schemas.openxmlformats.org/drawingml/2006/main" w="28575">
              <a:solidFill>
                <a:srgbClr val="15734C"/>
              </a:solidFill>
              <a:prstDash val="solid"/>
            </a:ln>
          </c:spPr>
          <c:marker>
            <c:symbol val="none"/>
          </c:marker>
          <c:cat>
            <c:strRef>
              <c:f>'Chart Data'!$A$2:$A$7</c:f>
              <c:strCache>
                <c:ptCount val="6"/>
                <c:pt idx="0">
                  <c:v>0년</c:v>
                </c:pt>
                <c:pt idx="1">
                  <c:v>2년</c:v>
                </c:pt>
                <c:pt idx="2">
                  <c:v>4년</c:v>
                </c:pt>
                <c:pt idx="3">
                  <c:v>6년</c:v>
                </c:pt>
                <c:pt idx="4">
                  <c:v>8년</c:v>
                </c:pt>
                <c:pt idx="5">
                  <c:v>10년</c:v>
                </c:pt>
              </c:strCache>
            </c:strRef>
          </c:cat>
          <c:val>
            <c:numRef>
              <c:f>'Chart Data'!$B$2:$B$7</c:f>
              <c:numCache>
                <c:formatCode>#,##0</c:formatCode>
                <c:ptCount val="6"/>
                <c:pt idx="0">
                  <c:v>-11253.03</c:v>
                </c:pt>
                <c:pt idx="1">
                  <c:v>-7182.06</c:v>
                </c:pt>
                <c:pt idx="2">
                  <c:v>-3111.09</c:v>
                </c:pt>
                <c:pt idx="3">
                  <c:v>959.89</c:v>
                </c:pt>
                <c:pt idx="4">
                  <c:v>5030.86</c:v>
                </c:pt>
                <c:pt idx="5">
                  <c:v>9101.83</c:v>
                </c:pt>
              </c:numCache>
            </c:numRef>
          </c:val>
        </c:ser>
        <c:dLbls>
          <c:txPr>
            <a:bodyPr xmlns:a="http://schemas.openxmlformats.org/drawingml/2006/main" anchorCtr="1"/>
            <a:lstStyle xmlns:a="http://schemas.openxmlformats.org/drawingml/2006/main"/>
            <a:p xmlns:a="http://schemas.openxmlformats.org/drawingml/2006/main">
              <a:pPr>
                <a:defRPr>
                  <a:latin typeface="Gowun Dodum"/>
                  <a:ea typeface="Gowun Dodum"/>
                  <a:cs typeface="Gowun Dodum"/>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254F43"/>
                </a:solidFill>
                <a:latin typeface="Gowun Dodum"/>
                <a:ea typeface="Gowun Dodum"/>
                <a:cs typeface="Gowun Dodum"/>
              </a:defRPr>
            </a:pPr>
          </a:p>
        </c:txPr>
        <c:crossAx val="48672768"/>
      </c:catAx>
      <c:valAx>
        <c:axId val="48672768"/>
        <c:scaling>
          <c:orientation val="minMax"/>
        </c:scaling>
        <c:delete val="0"/>
        <c:axPos val="l"/>
        <c:majorGridlines>
          <c:spPr>
            <a:ln xmlns:a="http://schemas.openxmlformats.org/drawingml/2006/main" w="9525">
              <a:solidFill>
                <a:srgbClr val="CEDDD1"/>
              </a:solidFill>
            </a:ln>
          </c:spPr>
        </c:majorGridlines>
        <c:title>
          <c:tx>
            <c:rich>
              <a:bodyPr xmlns:a="http://schemas.openxmlformats.org/drawingml/2006/main"/>
              <a:lstStyle xmlns:a="http://schemas.openxmlformats.org/drawingml/2006/main"/>
              <a:p xmlns:a="http://schemas.openxmlformats.org/drawingml/2006/main">
                <a:r>
                  <a:rPr>
                    <a:latin typeface="Gowun Dodum"/>
                    <a:ea typeface="Gowun Dodum"/>
                    <a:cs typeface="Gowun Dodum"/>
                  </a:rPr>
                  <a:t>누적 현금 (만원)</a:t>
                </a:r>
              </a:p>
            </c:rich>
          </c:tx>
          <c:overlay val="0"/>
          <c:txPr>
            <a:bodyPr xmlns:a="http://schemas.openxmlformats.org/drawingml/2006/main" anchorCtr="1"/>
            <a:lstStyle xmlns:a="http://schemas.openxmlformats.org/drawingml/2006/main"/>
            <a:p xmlns:a="http://schemas.openxmlformats.org/drawingml/2006/main">
              <a:pPr>
                <a:defRPr>
                  <a:latin typeface="Gowun Dodum"/>
                  <a:ea typeface="Gowun Dodum"/>
                  <a:cs typeface="Gowun Dodum"/>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F6C61"/>
                </a:solidFill>
                <a:latin typeface="Gowun Dodum"/>
                <a:ea typeface="Gowun Dodum"/>
                <a:cs typeface="Gowun Dodum"/>
              </a:defRPr>
            </a:pPr>
          </a:p>
        </c:txPr>
        <c:crossAx val="48650112"/>
        <c:crossBetween val="between"/>
      </c:valAx>
      <c:spPr>
        <a:solidFill xmlns:a="http://schemas.openxmlformats.org/drawingml/2006/main">
          <a:srgbClr val="FFF9EE"/>
        </a:solidFill>
      </c:spPr>
    </c:plotArea>
    <c:plotVisOnly val="1"/>
  </c:chart>
  <c:spPr>
    <a:solidFill xmlns:a="http://schemas.openxmlformats.org/drawingml/2006/main">
      <a:srgbClr val="FFF9EE"/>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연소득 (만원)</c:v>
          </c:tx>
          <c:spPr>
            <a:solidFill xmlns:a="http://schemas.openxmlformats.org/drawingml/2006/main">
              <a:srgbClr val="46856E"/>
            </a:solidFill>
          </c:spPr>
          <c:cat>
            <c:strRef>
              <c:f>'Chart Data'!$A$2:$A$4</c:f>
              <c:strCache>
                <c:ptCount val="3"/>
                <c:pt idx="0">
                  <c:v>기준</c:v>
                </c:pt>
                <c:pt idx="1">
                  <c:v>가격 상승</c:v>
                </c:pt>
                <c:pt idx="2">
                  <c:v>가격 상승
+ 저온</c:v>
                </c:pt>
              </c:strCache>
            </c:strRef>
          </c:cat>
          <c:val>
            <c:numRef>
              <c:f>'Chart Data'!$B$2:$B$4</c:f>
              <c:numCache>
                <c:formatCode>#,##0</c:formatCode>
                <c:ptCount val="3"/>
                <c:pt idx="0">
                  <c:v>346.6801</c:v>
                </c:pt>
                <c:pt idx="1">
                  <c:v>659.2322</c:v>
                </c:pt>
                <c:pt idx="2">
                  <c:v>24.5992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a:solidFill>
                    <a:srgbClr val="254F43"/>
                  </a:solidFill>
                  <a:latin typeface="Gowun Dodum"/>
                  <a:ea typeface="Gowun Dodum"/>
                  <a:cs typeface="Gowun Dodum"/>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100">
                <a:solidFill>
                  <a:srgbClr val="254F43"/>
                </a:solidFill>
                <a:latin typeface="Gowun Dodum"/>
                <a:ea typeface="Gowun Dodum"/>
                <a:cs typeface="Gowun Dodum"/>
              </a:defRPr>
            </a:pPr>
          </a:p>
        </c:txPr>
        <c:crossAx val="48672768"/>
      </c:catAx>
      <c:valAx>
        <c:axId val="48672768"/>
        <c:scaling>
          <c:orientation val="minMax"/>
          <c:min val="0"/>
        </c:scaling>
        <c:delete val="0"/>
        <c:axPos val="l"/>
        <c:majorGridlines>
          <c:spPr>
            <a:ln xmlns:a="http://schemas.openxmlformats.org/drawingml/2006/main" w="9525">
              <a:solidFill>
                <a:srgbClr val="CEDDD1"/>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F6C61"/>
                </a:solidFill>
                <a:latin typeface="Gowun Dodum"/>
                <a:ea typeface="Gowun Dodum"/>
                <a:cs typeface="Gowun Dodum"/>
              </a:defRPr>
            </a:pPr>
          </a:p>
        </c:txPr>
        <c:crossAx val="48650112"/>
        <c:crossBetween val="between"/>
      </c:valAx>
      <c:spPr>
        <a:solidFill xmlns:a="http://schemas.openxmlformats.org/drawingml/2006/main">
          <a:srgbClr val="FFF9EE"/>
        </a:solidFill>
      </c:spPr>
    </c:plotArea>
    <c:plotVisOnly val="1"/>
  </c:chart>
  <c:spPr>
    <a:solidFill xmlns:a="http://schemas.openxmlformats.org/drawingml/2006/main">
      <a:srgbClr val="FFF9EE"/>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평균 예측 오차 (mm)</c:v>
          </c:tx>
          <c:spPr>
            <a:solidFill xmlns:a="http://schemas.openxmlformats.org/drawingml/2006/main">
              <a:srgbClr val="46856E"/>
            </a:solidFill>
          </c:spPr>
          <c:cat>
            <c:strRef>
              <c:f>'Chart Data'!$A$2:$A$5</c:f>
              <c:strCache>
                <c:ptCount val="4"/>
                <c:pt idx="0">
                  <c:v>현재 높이</c:v>
                </c:pt>
                <c:pt idx="1">
                  <c:v>생육만</c:v>
                </c:pt>
                <c:pt idx="2">
                  <c:v>생육+환경①</c:v>
                </c:pt>
                <c:pt idx="3">
                  <c:v>생육+환경②</c:v>
                </c:pt>
              </c:strCache>
            </c:strRef>
          </c:cat>
          <c:val>
            <c:numRef>
              <c:f>'Chart Data'!$B$2:$B$5</c:f>
              <c:numCache>
                <c:formatCode>#,##0</c:formatCode>
                <c:ptCount val="4"/>
                <c:pt idx="0">
                  <c:v>36.08</c:v>
                </c:pt>
                <c:pt idx="1">
                  <c:v>32.61</c:v>
                </c:pt>
                <c:pt idx="2">
                  <c:v>34.79</c:v>
                </c:pt>
                <c:pt idx="3">
                  <c:v>34.59</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a:solidFill>
                    <a:srgbClr val="254F43"/>
                  </a:solidFill>
                  <a:latin typeface="Gowun Dodum"/>
                  <a:ea typeface="Gowun Dodum"/>
                  <a:cs typeface="Gowun Dodum"/>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254F43"/>
                </a:solidFill>
                <a:latin typeface="Gowun Dodum"/>
                <a:ea typeface="Gowun Dodum"/>
                <a:cs typeface="Gowun Dodum"/>
              </a:defRPr>
            </a:pPr>
          </a:p>
        </c:txPr>
        <c:crossAx val="48672768"/>
      </c:catAx>
      <c:valAx>
        <c:axId val="48672768"/>
        <c:scaling>
          <c:orientation val="minMax"/>
          <c:min val="0"/>
        </c:scaling>
        <c:delete val="0"/>
        <c:axPos val="l"/>
        <c:majorGridlines>
          <c:spPr>
            <a:ln xmlns:a="http://schemas.openxmlformats.org/drawingml/2006/main" w="9525">
              <a:solidFill>
                <a:srgbClr val="CEDDD1"/>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F6C61"/>
                </a:solidFill>
                <a:latin typeface="Gowun Dodum"/>
                <a:ea typeface="Gowun Dodum"/>
                <a:cs typeface="Gowun Dodum"/>
              </a:defRPr>
            </a:pPr>
          </a:p>
        </c:txPr>
        <c:crossAx val="48650112"/>
        <c:crossBetween val="between"/>
      </c:valAx>
      <c:spPr>
        <a:solidFill xmlns:a="http://schemas.openxmlformats.org/drawingml/2006/main">
          <a:srgbClr val="FFF9EE"/>
        </a:solidFill>
      </c:spPr>
    </c:plotArea>
    <c:plotVisOnly val="1"/>
  </c:chart>
  <c:spPr>
    <a:solidFill xmlns:a="http://schemas.openxmlformats.org/drawingml/2006/main">
      <a:srgbClr val="FFF9EE"/>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38920DAF-079B-4DCE-BFEC-C68637E230B5}"/>
              </a:ext>
            </a:extLst>
          </p:cNvPr>
          <p:cNvPicPr>
            <a:picLocks xmlns:a="http://schemas.openxmlformats.org/drawingml/2006/main" noChangeAspect="1"/>
          </p:cNvPicPr>
          <p:nvPr/>
        </p:nvPicPr>
        <p:blipFill>
          <a:blip xmlns:r="http://schemas.openxmlformats.org/officeDocument/2006/relationships" xmlns:a="http://schemas.openxmlformats.org/drawingml/2006/main" r:embed="Re1a2d2e3fbf5400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딸기 농부의&#10;똑똑한 첫 투자">
            <a:extLst xmlns:a="http://schemas.openxmlformats.org/drawingml/2006/main">
              <a:ext uri="{FF2B5EF4-FFF2-40B4-BE49-F238E27FC236}">
                <a16:creationId xmlns:a16="http://schemas.microsoft.com/office/drawing/2014/main" id="{270FA9FF-76A8-4266-B36A-A1547EAFCD6E}"/>
              </a:ext>
            </a:extLst>
          </p:cNvPr>
          <p:cNvSpPr>
            <a:spLocks xmlns:a="http://schemas.openxmlformats.org/drawingml/2006/main" noGrp="1"/>
          </p:cNvSpPr>
          <p:nvPr/>
        </p:nvSpPr>
        <p:spPr>
          <a:xfrm xmlns:a="http://schemas.openxmlformats.org/drawingml/2006/main">
            <a:off x="590550" y="1162050"/>
            <a:ext cx="62865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0">
                <a:solidFill>
                  <a:srgbClr val="254F43"/>
                </a:solidFill>
                <a:latin typeface="Jua"/>
                <a:ea typeface="Jua"/>
                <a:cs typeface="Jua"/>
              </a:defRPr>
            </a:defPPr>
          </a:lstStyle>
          <a:p xmlns:a="http://schemas.openxmlformats.org/drawingml/2006/main">
            <a:pPr algn="l">
              <a:defRPr sz="5700" b="0">
                <a:solidFill>
                  <a:srgbClr val="254F43"/>
                </a:solidFill>
                <a:latin typeface="Jua"/>
                <a:ea typeface="Jua"/>
                <a:cs typeface="Jua"/>
              </a:defRPr>
            </a:pPr>
            <a:r>
              <a:rPr sz="5700" b="0">
                <a:solidFill>
                  <a:srgbClr val="254F43"/>
                </a:solidFill>
                <a:latin typeface="Jua"/>
                <a:ea typeface="Jua"/>
                <a:cs typeface="Jua"/>
              </a:rPr>
              <a:t>딸기 농부의</a:t>
            </a:r>
          </a:p>
          <a:p xmlns:a="http://schemas.openxmlformats.org/drawingml/2006/main">
            <a:pPr algn="l">
              <a:defRPr sz="5700" b="0">
                <a:solidFill>
                  <a:srgbClr val="254F43"/>
                </a:solidFill>
                <a:latin typeface="Jua"/>
                <a:ea typeface="Jua"/>
                <a:cs typeface="Jua"/>
              </a:defRPr>
            </a:pPr>
            <a:r>
              <a:rPr sz="5700" b="0">
                <a:solidFill>
                  <a:srgbClr val="254F43"/>
                </a:solidFill>
                <a:latin typeface="Jua"/>
                <a:ea typeface="Jua"/>
                <a:cs typeface="Jua"/>
              </a:rPr>
              <a:t>똑똑한 첫 투자</a:t>
            </a:r>
          </a:p>
        </p:txBody>
      </p:sp>
      <p:sp>
        <p:nvSpPr>
          <p:cNvPr id="3" name="스마트팜, 시작하기 전에&#10;얼마가 남을지 함께 살펴봐요.">
            <a:extLst xmlns:a="http://schemas.openxmlformats.org/drawingml/2006/main">
              <a:ext uri="{FF2B5EF4-FFF2-40B4-BE49-F238E27FC236}">
                <a16:creationId xmlns:a16="http://schemas.microsoft.com/office/drawing/2014/main" id="{F7294743-B709-4ED1-866B-6E95A6C1E103}"/>
              </a:ext>
            </a:extLst>
          </p:cNvPr>
          <p:cNvSpPr>
            <a:spLocks xmlns:a="http://schemas.openxmlformats.org/drawingml/2006/main" noGrp="1"/>
          </p:cNvSpPr>
          <p:nvPr/>
        </p:nvSpPr>
        <p:spPr>
          <a:xfrm xmlns:a="http://schemas.openxmlformats.org/drawingml/2006/main">
            <a:off x="647700" y="3648075"/>
            <a:ext cx="5781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54F43"/>
                </a:solidFill>
                <a:latin typeface="Gowun Dodum"/>
                <a:ea typeface="Gowun Dodum"/>
                <a:cs typeface="Gowun Dodum"/>
              </a:defRPr>
            </a:defPPr>
          </a:lstStyle>
          <a:p xmlns:a="http://schemas.openxmlformats.org/drawingml/2006/main">
            <a:pPr algn="l">
              <a:defRPr sz="2550" b="0">
                <a:solidFill>
                  <a:srgbClr val="254F43"/>
                </a:solidFill>
                <a:latin typeface="Gowun Dodum"/>
                <a:ea typeface="Gowun Dodum"/>
                <a:cs typeface="Gowun Dodum"/>
              </a:defRPr>
            </a:pPr>
            <a:r>
              <a:rPr sz="2550" b="0">
                <a:solidFill>
                  <a:srgbClr val="254F43"/>
                </a:solidFill>
                <a:latin typeface="Gowun Dodum"/>
                <a:ea typeface="Gowun Dodum"/>
                <a:cs typeface="Gowun Dodum"/>
              </a:rPr>
              <a:t>스마트팜, 시작하기 전에</a:t>
            </a:r>
          </a:p>
          <a:p xmlns:a="http://schemas.openxmlformats.org/drawingml/2006/main">
            <a:pPr algn="l">
              <a:defRPr sz="2550" b="0">
                <a:solidFill>
                  <a:srgbClr val="254F43"/>
                </a:solidFill>
                <a:latin typeface="Gowun Dodum"/>
                <a:ea typeface="Gowun Dodum"/>
                <a:cs typeface="Gowun Dodum"/>
              </a:defRPr>
            </a:pPr>
            <a:r>
              <a:rPr sz="2550" b="0">
                <a:solidFill>
                  <a:srgbClr val="254F43"/>
                </a:solidFill>
                <a:latin typeface="Gowun Dodum"/>
                <a:ea typeface="Gowun Dodum"/>
                <a:cs typeface="Gowun Dodum"/>
              </a:rPr>
              <a:t>얼마가 남을지 함께 살펴봐요.</a:t>
            </a:r>
          </a:p>
        </p:txBody>
      </p:sp>
      <p:sp>
        <p:nvSpPr>
          <p:cNvPr id="4" name="스마트팜 도입 시뮬레이터">
            <a:extLst xmlns:a="http://schemas.openxmlformats.org/drawingml/2006/main">
              <a:ext uri="{FF2B5EF4-FFF2-40B4-BE49-F238E27FC236}">
                <a16:creationId xmlns:a16="http://schemas.microsoft.com/office/drawing/2014/main" id="{C8DC387F-D600-4F59-8B91-210C47DFA33A}"/>
              </a:ext>
            </a:extLst>
          </p:cNvPr>
          <p:cNvSpPr>
            <a:spLocks xmlns:a="http://schemas.openxmlformats.org/drawingml/2006/main" noGrp="1"/>
          </p:cNvSpPr>
          <p:nvPr/>
        </p:nvSpPr>
        <p:spPr>
          <a:xfrm xmlns:a="http://schemas.openxmlformats.org/drawingml/2006/main">
            <a:off x="647700" y="5600700"/>
            <a:ext cx="5972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46856E"/>
                </a:solidFill>
                <a:latin typeface="Jua"/>
                <a:ea typeface="Jua"/>
                <a:cs typeface="Jua"/>
              </a:defRPr>
            </a:defPPr>
          </a:lstStyle>
          <a:p xmlns:a="http://schemas.openxmlformats.org/drawingml/2006/main">
            <a:pPr algn="l">
              <a:defRPr sz="2100" b="0">
                <a:solidFill>
                  <a:srgbClr val="46856E"/>
                </a:solidFill>
                <a:latin typeface="Jua"/>
                <a:ea typeface="Jua"/>
                <a:cs typeface="Jua"/>
              </a:defRPr>
            </a:pPr>
            <a:r>
              <a:rPr sz="2100" b="0">
                <a:solidFill>
                  <a:srgbClr val="46856E"/>
                </a:solidFill>
                <a:latin typeface="Jua"/>
                <a:ea typeface="Jua"/>
                <a:cs typeface="Jua"/>
              </a:rPr>
              <a:t>스마트팜 도입 시뮬레이터</a:t>
            </a:r>
          </a:p>
        </p:txBody>
      </p:sp>
      <p:sp>
        <p:nvSpPr>
          <p:cNvPr id="5" name="공개자료 실험과 안심구역 분석 계획 · 2026.10">
            <a:extLst xmlns:a="http://schemas.openxmlformats.org/drawingml/2006/main">
              <a:ext uri="{FF2B5EF4-FFF2-40B4-BE49-F238E27FC236}">
                <a16:creationId xmlns:a16="http://schemas.microsoft.com/office/drawing/2014/main" id="{16CA9104-D302-4929-890A-27FACE24D05C}"/>
              </a:ext>
            </a:extLst>
          </p:cNvPr>
          <p:cNvSpPr>
            <a:spLocks xmlns:a="http://schemas.openxmlformats.org/drawingml/2006/main" noGrp="1"/>
          </p:cNvSpPr>
          <p:nvPr/>
        </p:nvSpPr>
        <p:spPr>
          <a:xfrm xmlns:a="http://schemas.openxmlformats.org/drawingml/2006/main">
            <a:off x="657225" y="6181725"/>
            <a:ext cx="714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F6C61"/>
                </a:solidFill>
                <a:latin typeface="Gowun Dodum"/>
                <a:ea typeface="Gowun Dodum"/>
                <a:cs typeface="Gowun Dodum"/>
              </a:defRPr>
            </a:defPPr>
          </a:lstStyle>
          <a:p xmlns:a="http://schemas.openxmlformats.org/drawingml/2006/main">
            <a:pPr algn="l">
              <a:defRPr sz="1725" b="0">
                <a:solidFill>
                  <a:srgbClr val="5F6C61"/>
                </a:solidFill>
                <a:latin typeface="Gowun Dodum"/>
                <a:ea typeface="Gowun Dodum"/>
                <a:cs typeface="Gowun Dodum"/>
              </a:defRPr>
            </a:pPr>
            <a:r>
              <a:rPr sz="1725" b="0">
                <a:solidFill>
                  <a:srgbClr val="5F6C61"/>
                </a:solidFill>
                <a:latin typeface="Gowun Dodum"/>
                <a:ea typeface="Gowun Dodum"/>
                <a:cs typeface="Gowun Dodum"/>
              </a:rPr>
              <a:t>공개자료 실험과 안심구역 분석 계획 · 2026.10</a:t>
            </a:r>
          </a:p>
        </p:txBody>
      </p:sp>
    </p:spTree>
    <p:extLst>
      <p:ext uri="{BB962C8B-B14F-4D97-AF65-F5344CB8AC3E}">
        <p14:creationId xmlns:p14="http://schemas.microsoft.com/office/powerpoint/2010/main" val="146525551"/>
      </p:ext>
    </p:extLst>
  </p:cSld>
</p:sld>
</file>

<file path=ppt/slides/slide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6" name="시작은, 농부의 질문 하나">
            <a:extLst xmlns:a="http://schemas.openxmlformats.org/drawingml/2006/main">
              <a:ext uri="{FF2B5EF4-FFF2-40B4-BE49-F238E27FC236}">
                <a16:creationId xmlns:a16="http://schemas.microsoft.com/office/drawing/2014/main" id="{2F5F2DEF-D7DE-449E-95A0-F647A39484BE}"/>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시작은, 농부의 질문 하나</a:t>
            </a:r>
          </a:p>
        </p:txBody>
      </p:sp>
      <p:sp>
        <p:nvSpPr>
          <p:cNvPr id="2" name="02">
            <a:extLst xmlns:a="http://schemas.openxmlformats.org/drawingml/2006/main">
              <a:ext uri="{FF2B5EF4-FFF2-40B4-BE49-F238E27FC236}">
                <a16:creationId xmlns:a16="http://schemas.microsoft.com/office/drawing/2014/main" id="{B46A084A-2676-44B6-B44F-026CFC6E2F98}"/>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02</a:t>
            </a:r>
          </a:p>
        </p:txBody>
      </p:sp>
      <p:pic>
        <p:nvPicPr>
          <p:cNvPr id="3" name="">
            <a:extLst xmlns:a="http://schemas.openxmlformats.org/drawingml/2006/main">
              <a:ext uri="{FF2B5EF4-FFF2-40B4-BE49-F238E27FC236}">
                <a16:creationId xmlns:a16="http://schemas.microsoft.com/office/drawing/2014/main" id="{EC944504-81A0-40F8-B7E0-0705475595B4}"/>
              </a:ext>
            </a:extLst>
          </p:cNvPr>
          <p:cNvPicPr>
            <a:picLocks xmlns:a="http://schemas.openxmlformats.org/drawingml/2006/main" noChangeAspect="1"/>
          </p:cNvPicPr>
          <p:nvPr/>
        </p:nvPicPr>
        <p:blipFill>
          <a:blip xmlns:r="http://schemas.openxmlformats.org/officeDocument/2006/relationships" xmlns:a="http://schemas.openxmlformats.org/drawingml/2006/main" r:embed="R0673fcad82a943e7"/>
          <a:stretch xmlns:a="http://schemas.openxmlformats.org/drawingml/2006/main"/>
        </p:blipFill>
        <p:spPr>
          <a:xfrm xmlns:a="http://schemas.openxmlformats.org/drawingml/2006/main">
            <a:off x="5345113" y="1476375"/>
            <a:ext cx="6235700" cy="4676775"/>
          </a:xfrm>
          <a:prstGeom xmlns:a="http://schemas.openxmlformats.org/drawingml/2006/main" prst="rect">
            <a:avLst/>
          </a:prstGeom>
        </p:spPr>
      </p:pic>
      <p:sp>
        <p:nvSpPr>
          <p:cNvPr id="4" name="“장비를 사고 나면,&#10;매년 얼마가&#10;남을까?”">
            <a:extLst xmlns:a="http://schemas.openxmlformats.org/drawingml/2006/main">
              <a:ext uri="{FF2B5EF4-FFF2-40B4-BE49-F238E27FC236}">
                <a16:creationId xmlns:a16="http://schemas.microsoft.com/office/drawing/2014/main" id="{CFFC06D4-4E40-48C9-B629-DA7E21F5DB7E}"/>
              </a:ext>
            </a:extLst>
          </p:cNvPr>
          <p:cNvSpPr>
            <a:spLocks xmlns:a="http://schemas.openxmlformats.org/drawingml/2006/main" noGrp="1"/>
          </p:cNvSpPr>
          <p:nvPr/>
        </p:nvSpPr>
        <p:spPr>
          <a:xfrm xmlns:a="http://schemas.openxmlformats.org/drawingml/2006/main">
            <a:off x="638175" y="1876425"/>
            <a:ext cx="6200775" cy="1924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46856E"/>
                </a:solidFill>
                <a:latin typeface="Jua"/>
                <a:ea typeface="Jua"/>
                <a:cs typeface="Jua"/>
              </a:defRPr>
            </a:defPPr>
          </a:lstStyle>
          <a:p xmlns:a="http://schemas.openxmlformats.org/drawingml/2006/main">
            <a:pPr algn="l">
              <a:defRPr sz="3675" b="0">
                <a:solidFill>
                  <a:srgbClr val="46856E"/>
                </a:solidFill>
                <a:latin typeface="Jua"/>
                <a:ea typeface="Jua"/>
                <a:cs typeface="Jua"/>
              </a:defRPr>
            </a:pPr>
            <a:r>
              <a:rPr sz="3675" b="0">
                <a:solidFill>
                  <a:srgbClr val="46856E"/>
                </a:solidFill>
                <a:latin typeface="Jua"/>
                <a:ea typeface="Jua"/>
                <a:cs typeface="Jua"/>
              </a:rPr>
              <a:t>“장비를 사고 나면,</a:t>
            </a:r>
          </a:p>
          <a:p xmlns:a="http://schemas.openxmlformats.org/drawingml/2006/main">
            <a:pPr algn="l">
              <a:defRPr sz="3675" b="0">
                <a:solidFill>
                  <a:srgbClr val="46856E"/>
                </a:solidFill>
                <a:latin typeface="Jua"/>
                <a:ea typeface="Jua"/>
                <a:cs typeface="Jua"/>
              </a:defRPr>
            </a:pPr>
            <a:r>
              <a:rPr sz="3675" b="0">
                <a:solidFill>
                  <a:srgbClr val="46856E"/>
                </a:solidFill>
                <a:latin typeface="Jua"/>
                <a:ea typeface="Jua"/>
                <a:cs typeface="Jua"/>
              </a:rPr>
              <a:t>매년 얼마가</a:t>
            </a:r>
          </a:p>
          <a:p xmlns:a="http://schemas.openxmlformats.org/drawingml/2006/main">
            <a:pPr algn="l">
              <a:defRPr sz="3675" b="0">
                <a:solidFill>
                  <a:srgbClr val="46856E"/>
                </a:solidFill>
                <a:latin typeface="Jua"/>
                <a:ea typeface="Jua"/>
                <a:cs typeface="Jua"/>
              </a:defRPr>
            </a:pPr>
            <a:r>
              <a:rPr sz="3675" b="0">
                <a:solidFill>
                  <a:srgbClr val="46856E"/>
                </a:solidFill>
                <a:latin typeface="Jua"/>
                <a:ea typeface="Jua"/>
                <a:cs typeface="Jua"/>
              </a:rPr>
              <a:t>남을까?”</a:t>
            </a:r>
          </a:p>
        </p:txBody>
      </p:sp>
      <p:sp>
        <p:nvSpPr>
          <p:cNvPr id="5" name="운영비와 내 노동값까지 계산하고,&#10;가격이 떨어질 때도 살펴봐요.">
            <a:extLst xmlns:a="http://schemas.openxmlformats.org/drawingml/2006/main">
              <a:ext uri="{FF2B5EF4-FFF2-40B4-BE49-F238E27FC236}">
                <a16:creationId xmlns:a16="http://schemas.microsoft.com/office/drawing/2014/main" id="{E6BF0C0D-662F-47A8-926F-C0E82F89C6A1}"/>
              </a:ext>
            </a:extLst>
          </p:cNvPr>
          <p:cNvSpPr>
            <a:spLocks xmlns:a="http://schemas.openxmlformats.org/drawingml/2006/main" noGrp="1"/>
          </p:cNvSpPr>
          <p:nvPr/>
        </p:nvSpPr>
        <p:spPr>
          <a:xfrm xmlns:a="http://schemas.openxmlformats.org/drawingml/2006/main">
            <a:off x="685800" y="4657725"/>
            <a:ext cx="6000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254F43"/>
                </a:solidFill>
                <a:latin typeface="Gowun Dodum"/>
                <a:ea typeface="Gowun Dodum"/>
                <a:cs typeface="Gowun Dodum"/>
              </a:defRPr>
            </a:defPPr>
          </a:lstStyle>
          <a:p xmlns:a="http://schemas.openxmlformats.org/drawingml/2006/main">
            <a:pPr algn="l">
              <a:defRPr sz="2325" b="0">
                <a:solidFill>
                  <a:srgbClr val="254F43"/>
                </a:solidFill>
                <a:latin typeface="Gowun Dodum"/>
                <a:ea typeface="Gowun Dodum"/>
                <a:cs typeface="Gowun Dodum"/>
              </a:defRPr>
            </a:pPr>
            <a:r>
              <a:rPr sz="2325" b="0">
                <a:solidFill>
                  <a:srgbClr val="254F43"/>
                </a:solidFill>
                <a:latin typeface="Gowun Dodum"/>
                <a:ea typeface="Gowun Dodum"/>
                <a:cs typeface="Gowun Dodum"/>
              </a:rPr>
              <a:t>운영비와 내 노동값까지 계산하고,</a:t>
            </a:r>
          </a:p>
          <a:p xmlns:a="http://schemas.openxmlformats.org/drawingml/2006/main">
            <a:pPr algn="l">
              <a:defRPr sz="2325" b="0">
                <a:solidFill>
                  <a:srgbClr val="254F43"/>
                </a:solidFill>
                <a:latin typeface="Gowun Dodum"/>
                <a:ea typeface="Gowun Dodum"/>
                <a:cs typeface="Gowun Dodum"/>
              </a:defRPr>
            </a:pPr>
            <a:r>
              <a:rPr sz="2325" b="0">
                <a:solidFill>
                  <a:srgbClr val="254F43"/>
                </a:solidFill>
                <a:latin typeface="Gowun Dodum"/>
                <a:ea typeface="Gowun Dodum"/>
                <a:cs typeface="Gowun Dodum"/>
              </a:rPr>
              <a:t>가격이 떨어질 때도 살펴봐요.</a:t>
            </a:r>
          </a:p>
        </p:txBody>
      </p:sp>
    </p:spTree>
    <p:extLst>
      <p:ext uri="{BB962C8B-B14F-4D97-AF65-F5344CB8AC3E}">
        <p14:creationId xmlns:p14="http://schemas.microsoft.com/office/powerpoint/2010/main" val="1734669845"/>
      </p:ext>
    </p:extLst>
  </p:cSld>
</p:sld>
</file>

<file path=ppt/slides/slide3.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9" name="내 계획을 넣고, 다른 조건을 비교해요">
            <a:extLst xmlns:a="http://schemas.openxmlformats.org/drawingml/2006/main">
              <a:ext uri="{FF2B5EF4-FFF2-40B4-BE49-F238E27FC236}">
                <a16:creationId xmlns:a16="http://schemas.microsoft.com/office/drawing/2014/main" id="{5EDFB75B-E686-49D5-8D45-8440ED708BEA}"/>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내 계획을 넣고, 다른 조건을 비교해요</a:t>
            </a:r>
          </a:p>
        </p:txBody>
      </p:sp>
      <p:sp>
        <p:nvSpPr>
          <p:cNvPr id="2" name="03">
            <a:extLst xmlns:a="http://schemas.openxmlformats.org/drawingml/2006/main">
              <a:ext uri="{FF2B5EF4-FFF2-40B4-BE49-F238E27FC236}">
                <a16:creationId xmlns:a16="http://schemas.microsoft.com/office/drawing/2014/main" id="{EF9E18D8-5925-4A46-A9BE-A616C76F48BA}"/>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03</a:t>
            </a:r>
          </a:p>
        </p:txBody>
      </p:sp>
      <p:sp>
        <p:nvSpPr>
          <p:cNvPr id="3" name="01">
            <a:extLst xmlns:a="http://schemas.openxmlformats.org/drawingml/2006/main">
              <a:ext uri="{FF2B5EF4-FFF2-40B4-BE49-F238E27FC236}">
                <a16:creationId xmlns:a16="http://schemas.microsoft.com/office/drawing/2014/main" id="{FA3AF644-AEFC-4344-8B8C-075165677E1E}"/>
              </a:ext>
            </a:extLst>
          </p:cNvPr>
          <p:cNvSpPr>
            <a:spLocks xmlns:a="http://schemas.openxmlformats.org/drawingml/2006/main" noGrp="1"/>
          </p:cNvSpPr>
          <p:nvPr/>
        </p:nvSpPr>
        <p:spPr>
          <a:xfrm xmlns:a="http://schemas.openxmlformats.org/drawingml/2006/main">
            <a:off x="628650" y="2076450"/>
            <a:ext cx="240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0">
                <a:solidFill>
                  <a:srgbClr val="46856E"/>
                </a:solidFill>
                <a:latin typeface="Jua"/>
                <a:ea typeface="Jua"/>
                <a:cs typeface="Jua"/>
              </a:defRPr>
            </a:defPPr>
          </a:lstStyle>
          <a:p xmlns:a="http://schemas.openxmlformats.org/drawingml/2006/main">
            <a:pPr algn="l">
              <a:defRPr sz="5100" b="0">
                <a:solidFill>
                  <a:srgbClr val="46856E"/>
                </a:solidFill>
                <a:latin typeface="Jua"/>
                <a:ea typeface="Jua"/>
                <a:cs typeface="Jua"/>
              </a:defRPr>
            </a:pPr>
            <a:r>
              <a:rPr sz="5100" b="0">
                <a:solidFill>
                  <a:srgbClr val="46856E"/>
                </a:solidFill>
                <a:latin typeface="Jua"/>
                <a:ea typeface="Jua"/>
                <a:cs typeface="Jua"/>
              </a:rPr>
              <a:t>01</a:t>
            </a:r>
          </a:p>
        </p:txBody>
      </p:sp>
      <p:sp>
        <p:nvSpPr>
          <p:cNvPr id="4" name="농가 계획">
            <a:extLst xmlns:a="http://schemas.openxmlformats.org/drawingml/2006/main">
              <a:ext uri="{FF2B5EF4-FFF2-40B4-BE49-F238E27FC236}">
                <a16:creationId xmlns:a16="http://schemas.microsoft.com/office/drawing/2014/main" id="{EBC72D46-A49E-4BD4-AAC2-2288AE2E7796}"/>
              </a:ext>
            </a:extLst>
          </p:cNvPr>
          <p:cNvSpPr>
            <a:spLocks xmlns:a="http://schemas.openxmlformats.org/drawingml/2006/main" noGrp="1"/>
          </p:cNvSpPr>
          <p:nvPr/>
        </p:nvSpPr>
        <p:spPr>
          <a:xfrm xmlns:a="http://schemas.openxmlformats.org/drawingml/2006/main">
            <a:off x="628650" y="3114675"/>
            <a:ext cx="2619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54F43"/>
                </a:solidFill>
                <a:latin typeface="Jua"/>
                <a:ea typeface="Jua"/>
                <a:cs typeface="Jua"/>
              </a:defRPr>
            </a:defPPr>
          </a:lstStyle>
          <a:p xmlns:a="http://schemas.openxmlformats.org/drawingml/2006/main">
            <a:pPr algn="l">
              <a:defRPr sz="2625" b="0">
                <a:solidFill>
                  <a:srgbClr val="254F43"/>
                </a:solidFill>
                <a:latin typeface="Jua"/>
                <a:ea typeface="Jua"/>
                <a:cs typeface="Jua"/>
              </a:defRPr>
            </a:pPr>
            <a:r>
              <a:rPr sz="2625" b="0">
                <a:solidFill>
                  <a:srgbClr val="254F43"/>
                </a:solidFill>
                <a:latin typeface="Jua"/>
                <a:ea typeface="Jua"/>
                <a:cs typeface="Jua"/>
              </a:rPr>
              <a:t>농가 계획</a:t>
            </a:r>
          </a:p>
        </p:txBody>
      </p:sp>
      <p:sp>
        <p:nvSpPr>
          <p:cNvPr id="5" name="딸기와 지역&#10;면적과 재배 시기">
            <a:extLst xmlns:a="http://schemas.openxmlformats.org/drawingml/2006/main">
              <a:ext uri="{FF2B5EF4-FFF2-40B4-BE49-F238E27FC236}">
                <a16:creationId xmlns:a16="http://schemas.microsoft.com/office/drawing/2014/main" id="{F5813493-CE74-4BCB-B09C-9E526A338DE6}"/>
              </a:ext>
            </a:extLst>
          </p:cNvPr>
          <p:cNvSpPr>
            <a:spLocks xmlns:a="http://schemas.openxmlformats.org/drawingml/2006/main" noGrp="1"/>
          </p:cNvSpPr>
          <p:nvPr/>
        </p:nvSpPr>
        <p:spPr>
          <a:xfrm xmlns:a="http://schemas.openxmlformats.org/drawingml/2006/main">
            <a:off x="628650" y="3933825"/>
            <a:ext cx="26765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딸기와 지역</a:t>
            </a:r>
          </a:p>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면적과 재배 시기</a:t>
            </a:r>
          </a:p>
        </p:txBody>
      </p:sp>
      <p:sp>
        <p:nvSpPr>
          <p:cNvPr id="6" name="→">
            <a:extLst xmlns:a="http://schemas.openxmlformats.org/drawingml/2006/main">
              <a:ext uri="{FF2B5EF4-FFF2-40B4-BE49-F238E27FC236}">
                <a16:creationId xmlns:a16="http://schemas.microsoft.com/office/drawing/2014/main" id="{1C246B98-6A6E-43BB-9AA9-D73AC2D5B057}"/>
              </a:ext>
            </a:extLst>
          </p:cNvPr>
          <p:cNvSpPr>
            <a:spLocks xmlns:a="http://schemas.openxmlformats.org/drawingml/2006/main" noGrp="1"/>
          </p:cNvSpPr>
          <p:nvPr/>
        </p:nvSpPr>
        <p:spPr>
          <a:xfrm xmlns:a="http://schemas.openxmlformats.org/drawingml/2006/main">
            <a:off x="2828925" y="2447925"/>
            <a:ext cx="6286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D66F58"/>
                </a:solidFill>
                <a:latin typeface="Gowun Dodum"/>
                <a:ea typeface="Gowun Dodum"/>
                <a:cs typeface="Gowun Dodum"/>
              </a:defRPr>
            </a:defPPr>
          </a:lstStyle>
          <a:p xmlns:a="http://schemas.openxmlformats.org/drawingml/2006/main">
            <a:pPr algn="l">
              <a:defRPr sz="3450" b="0">
                <a:solidFill>
                  <a:srgbClr val="D66F58"/>
                </a:solidFill>
                <a:latin typeface="Gowun Dodum"/>
                <a:ea typeface="Gowun Dodum"/>
                <a:cs typeface="Gowun Dodum"/>
              </a:defRPr>
            </a:pPr>
            <a:r>
              <a:rPr sz="3450" b="0">
                <a:solidFill>
                  <a:srgbClr val="D66F58"/>
                </a:solidFill>
                <a:latin typeface="Gowun Dodum"/>
                <a:ea typeface="Gowun Dodum"/>
                <a:cs typeface="Gowun Dodum"/>
              </a:rPr>
              <a:t>→</a:t>
            </a:r>
          </a:p>
        </p:txBody>
      </p:sp>
      <p:sp>
        <p:nvSpPr>
          <p:cNvPr id="7" name="02">
            <a:extLst xmlns:a="http://schemas.openxmlformats.org/drawingml/2006/main">
              <a:ext uri="{FF2B5EF4-FFF2-40B4-BE49-F238E27FC236}">
                <a16:creationId xmlns:a16="http://schemas.microsoft.com/office/drawing/2014/main" id="{9C6C6A66-3524-47CE-BC87-14BEAAFEB1DD}"/>
              </a:ext>
            </a:extLst>
          </p:cNvPr>
          <p:cNvSpPr>
            <a:spLocks xmlns:a="http://schemas.openxmlformats.org/drawingml/2006/main" noGrp="1"/>
          </p:cNvSpPr>
          <p:nvPr/>
        </p:nvSpPr>
        <p:spPr>
          <a:xfrm xmlns:a="http://schemas.openxmlformats.org/drawingml/2006/main">
            <a:off x="3552825" y="2076450"/>
            <a:ext cx="240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0">
                <a:solidFill>
                  <a:srgbClr val="D66F58"/>
                </a:solidFill>
                <a:latin typeface="Jua"/>
                <a:ea typeface="Jua"/>
                <a:cs typeface="Jua"/>
              </a:defRPr>
            </a:defPPr>
          </a:lstStyle>
          <a:p xmlns:a="http://schemas.openxmlformats.org/drawingml/2006/main">
            <a:pPr algn="l">
              <a:defRPr sz="5100" b="0">
                <a:solidFill>
                  <a:srgbClr val="D66F58"/>
                </a:solidFill>
                <a:latin typeface="Jua"/>
                <a:ea typeface="Jua"/>
                <a:cs typeface="Jua"/>
              </a:defRPr>
            </a:pPr>
            <a:r>
              <a:rPr sz="5100" b="0">
                <a:solidFill>
                  <a:srgbClr val="D66F58"/>
                </a:solidFill>
                <a:latin typeface="Jua"/>
                <a:ea typeface="Jua"/>
                <a:cs typeface="Jua"/>
              </a:rPr>
              <a:t>02</a:t>
            </a:r>
          </a:p>
        </p:txBody>
      </p:sp>
      <p:sp>
        <p:nvSpPr>
          <p:cNvPr id="8" name="장비와 비용">
            <a:extLst xmlns:a="http://schemas.openxmlformats.org/drawingml/2006/main">
              <a:ext uri="{FF2B5EF4-FFF2-40B4-BE49-F238E27FC236}">
                <a16:creationId xmlns:a16="http://schemas.microsoft.com/office/drawing/2014/main" id="{D3718985-F368-48E6-966F-A35D4BAE1AF8}"/>
              </a:ext>
            </a:extLst>
          </p:cNvPr>
          <p:cNvSpPr>
            <a:spLocks xmlns:a="http://schemas.openxmlformats.org/drawingml/2006/main" noGrp="1"/>
          </p:cNvSpPr>
          <p:nvPr/>
        </p:nvSpPr>
        <p:spPr>
          <a:xfrm xmlns:a="http://schemas.openxmlformats.org/drawingml/2006/main">
            <a:off x="3552825" y="3114675"/>
            <a:ext cx="2619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54F43"/>
                </a:solidFill>
                <a:latin typeface="Jua"/>
                <a:ea typeface="Jua"/>
                <a:cs typeface="Jua"/>
              </a:defRPr>
            </a:defPPr>
          </a:lstStyle>
          <a:p xmlns:a="http://schemas.openxmlformats.org/drawingml/2006/main">
            <a:pPr algn="l">
              <a:defRPr sz="2625" b="0">
                <a:solidFill>
                  <a:srgbClr val="254F43"/>
                </a:solidFill>
                <a:latin typeface="Jua"/>
                <a:ea typeface="Jua"/>
                <a:cs typeface="Jua"/>
              </a:defRPr>
            </a:pPr>
            <a:r>
              <a:rPr sz="2625" b="0">
                <a:solidFill>
                  <a:srgbClr val="254F43"/>
                </a:solidFill>
                <a:latin typeface="Jua"/>
                <a:ea typeface="Jua"/>
                <a:cs typeface="Jua"/>
              </a:rPr>
              <a:t>장비와 비용</a:t>
            </a:r>
          </a:p>
        </p:txBody>
      </p:sp>
      <p:sp>
        <p:nvSpPr>
          <p:cNvPr id="9" name="필요한 설비&#10;실제 설치 견적">
            <a:extLst xmlns:a="http://schemas.openxmlformats.org/drawingml/2006/main">
              <a:ext uri="{FF2B5EF4-FFF2-40B4-BE49-F238E27FC236}">
                <a16:creationId xmlns:a16="http://schemas.microsoft.com/office/drawing/2014/main" id="{25E6E96F-9B78-415D-8C12-C450F532333F}"/>
              </a:ext>
            </a:extLst>
          </p:cNvPr>
          <p:cNvSpPr>
            <a:spLocks xmlns:a="http://schemas.openxmlformats.org/drawingml/2006/main" noGrp="1"/>
          </p:cNvSpPr>
          <p:nvPr/>
        </p:nvSpPr>
        <p:spPr>
          <a:xfrm xmlns:a="http://schemas.openxmlformats.org/drawingml/2006/main">
            <a:off x="3552825" y="3933825"/>
            <a:ext cx="26765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필요한 설비</a:t>
            </a:r>
          </a:p>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실제 설치 견적</a:t>
            </a:r>
          </a:p>
        </p:txBody>
      </p:sp>
      <p:sp>
        <p:nvSpPr>
          <p:cNvPr id="10" name="→">
            <a:extLst xmlns:a="http://schemas.openxmlformats.org/drawingml/2006/main">
              <a:ext uri="{FF2B5EF4-FFF2-40B4-BE49-F238E27FC236}">
                <a16:creationId xmlns:a16="http://schemas.microsoft.com/office/drawing/2014/main" id="{7430A77A-8673-4681-82F2-84D7107CBE8B}"/>
              </a:ext>
            </a:extLst>
          </p:cNvPr>
          <p:cNvSpPr>
            <a:spLocks xmlns:a="http://schemas.openxmlformats.org/drawingml/2006/main" noGrp="1"/>
          </p:cNvSpPr>
          <p:nvPr/>
        </p:nvSpPr>
        <p:spPr>
          <a:xfrm xmlns:a="http://schemas.openxmlformats.org/drawingml/2006/main">
            <a:off x="5753100" y="2447925"/>
            <a:ext cx="6286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D66F58"/>
                </a:solidFill>
                <a:latin typeface="Gowun Dodum"/>
                <a:ea typeface="Gowun Dodum"/>
                <a:cs typeface="Gowun Dodum"/>
              </a:defRPr>
            </a:defPPr>
          </a:lstStyle>
          <a:p xmlns:a="http://schemas.openxmlformats.org/drawingml/2006/main">
            <a:pPr algn="l">
              <a:defRPr sz="3450" b="0">
                <a:solidFill>
                  <a:srgbClr val="D66F58"/>
                </a:solidFill>
                <a:latin typeface="Gowun Dodum"/>
                <a:ea typeface="Gowun Dodum"/>
                <a:cs typeface="Gowun Dodum"/>
              </a:defRPr>
            </a:pPr>
            <a:r>
              <a:rPr sz="3450" b="0">
                <a:solidFill>
                  <a:srgbClr val="D66F58"/>
                </a:solidFill>
                <a:latin typeface="Gowun Dodum"/>
                <a:ea typeface="Gowun Dodum"/>
                <a:cs typeface="Gowun Dodum"/>
              </a:rPr>
              <a:t>→</a:t>
            </a:r>
          </a:p>
        </p:txBody>
      </p:sp>
      <p:sp>
        <p:nvSpPr>
          <p:cNvPr id="11" name="03">
            <a:extLst xmlns:a="http://schemas.openxmlformats.org/drawingml/2006/main">
              <a:ext uri="{FF2B5EF4-FFF2-40B4-BE49-F238E27FC236}">
                <a16:creationId xmlns:a16="http://schemas.microsoft.com/office/drawing/2014/main" id="{6B39F142-66CC-4924-98F9-18809A1552C8}"/>
              </a:ext>
            </a:extLst>
          </p:cNvPr>
          <p:cNvSpPr>
            <a:spLocks xmlns:a="http://schemas.openxmlformats.org/drawingml/2006/main" noGrp="1"/>
          </p:cNvSpPr>
          <p:nvPr/>
        </p:nvSpPr>
        <p:spPr>
          <a:xfrm xmlns:a="http://schemas.openxmlformats.org/drawingml/2006/main">
            <a:off x="6477000" y="2076450"/>
            <a:ext cx="240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0">
                <a:solidFill>
                  <a:srgbClr val="46856E"/>
                </a:solidFill>
                <a:latin typeface="Jua"/>
                <a:ea typeface="Jua"/>
                <a:cs typeface="Jua"/>
              </a:defRPr>
            </a:defPPr>
          </a:lstStyle>
          <a:p xmlns:a="http://schemas.openxmlformats.org/drawingml/2006/main">
            <a:pPr algn="l">
              <a:defRPr sz="5100" b="0">
                <a:solidFill>
                  <a:srgbClr val="46856E"/>
                </a:solidFill>
                <a:latin typeface="Jua"/>
                <a:ea typeface="Jua"/>
                <a:cs typeface="Jua"/>
              </a:defRPr>
            </a:pPr>
            <a:r>
              <a:rPr sz="5100" b="0">
                <a:solidFill>
                  <a:srgbClr val="46856E"/>
                </a:solidFill>
                <a:latin typeface="Jua"/>
                <a:ea typeface="Jua"/>
                <a:cs typeface="Jua"/>
              </a:rPr>
              <a:t>03</a:t>
            </a:r>
          </a:p>
        </p:txBody>
      </p:sp>
      <p:sp>
        <p:nvSpPr>
          <p:cNvPr id="12" name="조건 바꾸기">
            <a:extLst xmlns:a="http://schemas.openxmlformats.org/drawingml/2006/main">
              <a:ext uri="{FF2B5EF4-FFF2-40B4-BE49-F238E27FC236}">
                <a16:creationId xmlns:a16="http://schemas.microsoft.com/office/drawing/2014/main" id="{7E370649-2CB4-4A6F-B348-710C7E768986}"/>
              </a:ext>
            </a:extLst>
          </p:cNvPr>
          <p:cNvSpPr>
            <a:spLocks xmlns:a="http://schemas.openxmlformats.org/drawingml/2006/main" noGrp="1"/>
          </p:cNvSpPr>
          <p:nvPr/>
        </p:nvSpPr>
        <p:spPr>
          <a:xfrm xmlns:a="http://schemas.openxmlformats.org/drawingml/2006/main">
            <a:off x="6477000" y="3114675"/>
            <a:ext cx="2619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54F43"/>
                </a:solidFill>
                <a:latin typeface="Jua"/>
                <a:ea typeface="Jua"/>
                <a:cs typeface="Jua"/>
              </a:defRPr>
            </a:defPPr>
          </a:lstStyle>
          <a:p xmlns:a="http://schemas.openxmlformats.org/drawingml/2006/main">
            <a:pPr algn="l">
              <a:defRPr sz="2625" b="0">
                <a:solidFill>
                  <a:srgbClr val="254F43"/>
                </a:solidFill>
                <a:latin typeface="Jua"/>
                <a:ea typeface="Jua"/>
                <a:cs typeface="Jua"/>
              </a:defRPr>
            </a:pPr>
            <a:r>
              <a:rPr sz="2625" b="0">
                <a:solidFill>
                  <a:srgbClr val="254F43"/>
                </a:solidFill>
                <a:latin typeface="Jua"/>
                <a:ea typeface="Jua"/>
                <a:cs typeface="Jua"/>
              </a:rPr>
              <a:t>조건 바꾸기</a:t>
            </a:r>
          </a:p>
        </p:txBody>
      </p:sp>
      <p:sp>
        <p:nvSpPr>
          <p:cNvPr id="13" name="생산량 · 판매단가&#10;운영비">
            <a:extLst xmlns:a="http://schemas.openxmlformats.org/drawingml/2006/main">
              <a:ext uri="{FF2B5EF4-FFF2-40B4-BE49-F238E27FC236}">
                <a16:creationId xmlns:a16="http://schemas.microsoft.com/office/drawing/2014/main" id="{49C9B606-2BD3-49CD-BA74-1A0A5872FC8D}"/>
              </a:ext>
            </a:extLst>
          </p:cNvPr>
          <p:cNvSpPr>
            <a:spLocks xmlns:a="http://schemas.openxmlformats.org/drawingml/2006/main" noGrp="1"/>
          </p:cNvSpPr>
          <p:nvPr/>
        </p:nvSpPr>
        <p:spPr>
          <a:xfrm xmlns:a="http://schemas.openxmlformats.org/drawingml/2006/main">
            <a:off x="6477000" y="3933825"/>
            <a:ext cx="26765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생산량 · 판매단가</a:t>
            </a:r>
          </a:p>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운영비</a:t>
            </a:r>
          </a:p>
        </p:txBody>
      </p:sp>
      <p:sp>
        <p:nvSpPr>
          <p:cNvPr id="14" name="→">
            <a:extLst xmlns:a="http://schemas.openxmlformats.org/drawingml/2006/main">
              <a:ext uri="{FF2B5EF4-FFF2-40B4-BE49-F238E27FC236}">
                <a16:creationId xmlns:a16="http://schemas.microsoft.com/office/drawing/2014/main" id="{30C53ACC-ACA1-4503-BE2E-6680415044FA}"/>
              </a:ext>
            </a:extLst>
          </p:cNvPr>
          <p:cNvSpPr>
            <a:spLocks xmlns:a="http://schemas.openxmlformats.org/drawingml/2006/main" noGrp="1"/>
          </p:cNvSpPr>
          <p:nvPr/>
        </p:nvSpPr>
        <p:spPr>
          <a:xfrm xmlns:a="http://schemas.openxmlformats.org/drawingml/2006/main">
            <a:off x="8677275" y="2447925"/>
            <a:ext cx="6286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D66F58"/>
                </a:solidFill>
                <a:latin typeface="Gowun Dodum"/>
                <a:ea typeface="Gowun Dodum"/>
                <a:cs typeface="Gowun Dodum"/>
              </a:defRPr>
            </a:defPPr>
          </a:lstStyle>
          <a:p xmlns:a="http://schemas.openxmlformats.org/drawingml/2006/main">
            <a:pPr algn="l">
              <a:defRPr sz="3450" b="0">
                <a:solidFill>
                  <a:srgbClr val="D66F58"/>
                </a:solidFill>
                <a:latin typeface="Gowun Dodum"/>
                <a:ea typeface="Gowun Dodum"/>
                <a:cs typeface="Gowun Dodum"/>
              </a:defRPr>
            </a:pPr>
            <a:r>
              <a:rPr sz="3450" b="0">
                <a:solidFill>
                  <a:srgbClr val="D66F58"/>
                </a:solidFill>
                <a:latin typeface="Gowun Dodum"/>
                <a:ea typeface="Gowun Dodum"/>
                <a:cs typeface="Gowun Dodum"/>
              </a:rPr>
              <a:t>→</a:t>
            </a:r>
          </a:p>
        </p:txBody>
      </p:sp>
      <p:sp>
        <p:nvSpPr>
          <p:cNvPr id="15" name="04">
            <a:extLst xmlns:a="http://schemas.openxmlformats.org/drawingml/2006/main">
              <a:ext uri="{FF2B5EF4-FFF2-40B4-BE49-F238E27FC236}">
                <a16:creationId xmlns:a16="http://schemas.microsoft.com/office/drawing/2014/main" id="{B5D84EDE-2C8F-45CF-B80C-A126AAF0397E}"/>
              </a:ext>
            </a:extLst>
          </p:cNvPr>
          <p:cNvSpPr>
            <a:spLocks xmlns:a="http://schemas.openxmlformats.org/drawingml/2006/main" noGrp="1"/>
          </p:cNvSpPr>
          <p:nvPr/>
        </p:nvSpPr>
        <p:spPr>
          <a:xfrm xmlns:a="http://schemas.openxmlformats.org/drawingml/2006/main">
            <a:off x="9401175" y="2076450"/>
            <a:ext cx="240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0">
                <a:solidFill>
                  <a:srgbClr val="D66F58"/>
                </a:solidFill>
                <a:latin typeface="Jua"/>
                <a:ea typeface="Jua"/>
                <a:cs typeface="Jua"/>
              </a:defRPr>
            </a:defPPr>
          </a:lstStyle>
          <a:p xmlns:a="http://schemas.openxmlformats.org/drawingml/2006/main">
            <a:pPr algn="l">
              <a:defRPr sz="5100" b="0">
                <a:solidFill>
                  <a:srgbClr val="D66F58"/>
                </a:solidFill>
                <a:latin typeface="Jua"/>
                <a:ea typeface="Jua"/>
                <a:cs typeface="Jua"/>
              </a:defRPr>
            </a:pPr>
            <a:r>
              <a:rPr sz="5100" b="0">
                <a:solidFill>
                  <a:srgbClr val="D66F58"/>
                </a:solidFill>
                <a:latin typeface="Jua"/>
                <a:ea typeface="Jua"/>
                <a:cs typeface="Jua"/>
              </a:rPr>
              <a:t>04</a:t>
            </a:r>
          </a:p>
        </p:txBody>
      </p:sp>
      <p:sp>
        <p:nvSpPr>
          <p:cNvPr id="16" name="결과 살피기">
            <a:extLst xmlns:a="http://schemas.openxmlformats.org/drawingml/2006/main">
              <a:ext uri="{FF2B5EF4-FFF2-40B4-BE49-F238E27FC236}">
                <a16:creationId xmlns:a16="http://schemas.microsoft.com/office/drawing/2014/main" id="{64BE3924-801C-4788-B5AB-0B28F2E1D19B}"/>
              </a:ext>
            </a:extLst>
          </p:cNvPr>
          <p:cNvSpPr>
            <a:spLocks xmlns:a="http://schemas.openxmlformats.org/drawingml/2006/main" noGrp="1"/>
          </p:cNvSpPr>
          <p:nvPr/>
        </p:nvSpPr>
        <p:spPr>
          <a:xfrm xmlns:a="http://schemas.openxmlformats.org/drawingml/2006/main">
            <a:off x="9401175" y="3114675"/>
            <a:ext cx="2619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54F43"/>
                </a:solidFill>
                <a:latin typeface="Jua"/>
                <a:ea typeface="Jua"/>
                <a:cs typeface="Jua"/>
              </a:defRPr>
            </a:defPPr>
          </a:lstStyle>
          <a:p xmlns:a="http://schemas.openxmlformats.org/drawingml/2006/main">
            <a:pPr algn="l">
              <a:defRPr sz="2625" b="0">
                <a:solidFill>
                  <a:srgbClr val="254F43"/>
                </a:solidFill>
                <a:latin typeface="Jua"/>
                <a:ea typeface="Jua"/>
                <a:cs typeface="Jua"/>
              </a:defRPr>
            </a:pPr>
            <a:r>
              <a:rPr sz="2625" b="0">
                <a:solidFill>
                  <a:srgbClr val="254F43"/>
                </a:solidFill>
                <a:latin typeface="Jua"/>
                <a:ea typeface="Jua"/>
                <a:cs typeface="Jua"/>
              </a:rPr>
              <a:t>결과 살피기</a:t>
            </a:r>
          </a:p>
        </p:txBody>
      </p:sp>
      <p:sp>
        <p:nvSpPr>
          <p:cNvPr id="17" name="내 노동을 뺀 소득&#10;투자금 회수기간">
            <a:extLst xmlns:a="http://schemas.openxmlformats.org/drawingml/2006/main">
              <a:ext uri="{FF2B5EF4-FFF2-40B4-BE49-F238E27FC236}">
                <a16:creationId xmlns:a16="http://schemas.microsoft.com/office/drawing/2014/main" id="{3B6FBEA7-5FF1-4E69-923D-4FD4031E820C}"/>
              </a:ext>
            </a:extLst>
          </p:cNvPr>
          <p:cNvSpPr>
            <a:spLocks xmlns:a="http://schemas.openxmlformats.org/drawingml/2006/main" noGrp="1"/>
          </p:cNvSpPr>
          <p:nvPr/>
        </p:nvSpPr>
        <p:spPr>
          <a:xfrm xmlns:a="http://schemas.openxmlformats.org/drawingml/2006/main">
            <a:off x="9401175" y="3933825"/>
            <a:ext cx="26765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내 노동을 뺀 소득</a:t>
            </a:r>
          </a:p>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투자금 회수기간</a:t>
            </a:r>
          </a:p>
        </p:txBody>
      </p:sp>
      <p:sp>
        <p:nvSpPr>
          <p:cNvPr id="18" name="같은 농장이라도 조건이 바뀌면 결과는 달라집니다.">
            <a:extLst xmlns:a="http://schemas.openxmlformats.org/drawingml/2006/main">
              <a:ext uri="{FF2B5EF4-FFF2-40B4-BE49-F238E27FC236}">
                <a16:creationId xmlns:a16="http://schemas.microsoft.com/office/drawing/2014/main" id="{D451E700-C5EA-4BC4-B7C1-AD34A7D35139}"/>
              </a:ext>
            </a:extLst>
          </p:cNvPr>
          <p:cNvSpPr>
            <a:spLocks xmlns:a="http://schemas.openxmlformats.org/drawingml/2006/main" noGrp="1"/>
          </p:cNvSpPr>
          <p:nvPr/>
        </p:nvSpPr>
        <p:spPr>
          <a:xfrm xmlns:a="http://schemas.openxmlformats.org/drawingml/2006/main">
            <a:off x="685800" y="5772150"/>
            <a:ext cx="10668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46856E"/>
                </a:solidFill>
                <a:latin typeface="Jua"/>
                <a:ea typeface="Jua"/>
                <a:cs typeface="Jua"/>
              </a:defRPr>
            </a:defPPr>
          </a:lstStyle>
          <a:p xmlns:a="http://schemas.openxmlformats.org/drawingml/2006/main">
            <a:pPr algn="l">
              <a:defRPr sz="2325" b="0">
                <a:solidFill>
                  <a:srgbClr val="46856E"/>
                </a:solidFill>
                <a:latin typeface="Jua"/>
                <a:ea typeface="Jua"/>
                <a:cs typeface="Jua"/>
              </a:defRPr>
            </a:pPr>
            <a:r>
              <a:rPr sz="2325" b="0">
                <a:solidFill>
                  <a:srgbClr val="46856E"/>
                </a:solidFill>
                <a:latin typeface="Jua"/>
                <a:ea typeface="Jua"/>
                <a:cs typeface="Jua"/>
              </a:rPr>
              <a:t>같은 농장이라도 조건이 바뀌면 결과는 달라집니다.</a:t>
            </a:r>
          </a:p>
        </p:txBody>
      </p:sp>
    </p:spTree>
    <p:extLst>
      <p:ext uri="{BB962C8B-B14F-4D97-AF65-F5344CB8AC3E}">
        <p14:creationId xmlns:p14="http://schemas.microsoft.com/office/powerpoint/2010/main" val="699568012"/>
      </p:ext>
    </p:extLst>
  </p:cSld>
</p:sld>
</file>

<file path=ppt/slides/slide4.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0" name="숫자의 재료는 어디에서 올까요?">
            <a:extLst xmlns:a="http://schemas.openxmlformats.org/drawingml/2006/main">
              <a:ext uri="{FF2B5EF4-FFF2-40B4-BE49-F238E27FC236}">
                <a16:creationId xmlns:a16="http://schemas.microsoft.com/office/drawing/2014/main" id="{B1A9A1FD-9371-40A1-8F88-1B37ADAA8A79}"/>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숫자의 재료는 어디에서 올까요?</a:t>
            </a:r>
          </a:p>
        </p:txBody>
      </p:sp>
      <p:sp>
        <p:nvSpPr>
          <p:cNvPr id="2" name="04">
            <a:extLst xmlns:a="http://schemas.openxmlformats.org/drawingml/2006/main">
              <a:ext uri="{FF2B5EF4-FFF2-40B4-BE49-F238E27FC236}">
                <a16:creationId xmlns:a16="http://schemas.microsoft.com/office/drawing/2014/main" id="{400BD016-ADCE-4650-B92E-10096ECB88FE}"/>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04</a:t>
            </a:r>
          </a:p>
        </p:txBody>
      </p:sp>
      <p:pic>
        <p:nvPicPr>
          <p:cNvPr id="3" name="">
            <a:extLst xmlns:a="http://schemas.openxmlformats.org/drawingml/2006/main">
              <a:ext uri="{FF2B5EF4-FFF2-40B4-BE49-F238E27FC236}">
                <a16:creationId xmlns:a16="http://schemas.microsoft.com/office/drawing/2014/main" id="{5E8BFEE9-2578-4FA5-B68D-609BDA629F21}"/>
              </a:ext>
            </a:extLst>
          </p:cNvPr>
          <p:cNvPicPr>
            <a:picLocks xmlns:a="http://schemas.openxmlformats.org/drawingml/2006/main" noChangeAspect="1"/>
          </p:cNvPicPr>
          <p:nvPr/>
        </p:nvPicPr>
        <p:blipFill>
          <a:blip xmlns:r="http://schemas.openxmlformats.org/officeDocument/2006/relationships" xmlns:a="http://schemas.openxmlformats.org/drawingml/2006/main" r:embed="Re60a37d83c95479d"/>
          <a:stretch xmlns:a="http://schemas.openxmlformats.org/drawingml/2006/main"/>
        </p:blipFill>
        <p:spPr>
          <a:xfrm xmlns:a="http://schemas.openxmlformats.org/drawingml/2006/main">
            <a:off x="238125" y="1793081"/>
            <a:ext cx="5619750" cy="4214813"/>
          </a:xfrm>
          <a:prstGeom xmlns:a="http://schemas.openxmlformats.org/drawingml/2006/main" prst="rect">
            <a:avLst/>
          </a:prstGeom>
        </p:spPr>
      </p:pic>
      <p:sp>
        <p:nvSpPr>
          <p:cNvPr id="4" name="생산과 운영비">
            <a:extLst xmlns:a="http://schemas.openxmlformats.org/drawingml/2006/main">
              <a:ext uri="{FF2B5EF4-FFF2-40B4-BE49-F238E27FC236}">
                <a16:creationId xmlns:a16="http://schemas.microsoft.com/office/drawing/2014/main" id="{DE1EB79A-48AD-4466-9410-F3C3228A90BF}"/>
              </a:ext>
            </a:extLst>
          </p:cNvPr>
          <p:cNvSpPr>
            <a:spLocks xmlns:a="http://schemas.openxmlformats.org/drawingml/2006/main" noGrp="1"/>
          </p:cNvSpPr>
          <p:nvPr/>
        </p:nvSpPr>
        <p:spPr>
          <a:xfrm xmlns:a="http://schemas.openxmlformats.org/drawingml/2006/main">
            <a:off x="6191250" y="1971675"/>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46856E"/>
                </a:solidFill>
                <a:latin typeface="Jua"/>
                <a:ea typeface="Jua"/>
                <a:cs typeface="Jua"/>
              </a:defRPr>
            </a:defPPr>
          </a:lstStyle>
          <a:p xmlns:a="http://schemas.openxmlformats.org/drawingml/2006/main">
            <a:pPr algn="l">
              <a:defRPr sz="2625" b="0">
                <a:solidFill>
                  <a:srgbClr val="46856E"/>
                </a:solidFill>
                <a:latin typeface="Jua"/>
                <a:ea typeface="Jua"/>
                <a:cs typeface="Jua"/>
              </a:defRPr>
            </a:pPr>
            <a:r>
              <a:rPr sz="2625" b="0">
                <a:solidFill>
                  <a:srgbClr val="46856E"/>
                </a:solidFill>
                <a:latin typeface="Jua"/>
                <a:ea typeface="Jua"/>
                <a:cs typeface="Jua"/>
              </a:rPr>
              <a:t>생산과 운영비</a:t>
            </a:r>
          </a:p>
        </p:txBody>
      </p:sp>
      <p:sp>
        <p:nvSpPr>
          <p:cNvPr id="5" name="농촌진흥청 소득조사 · 농가 기록">
            <a:extLst xmlns:a="http://schemas.openxmlformats.org/drawingml/2006/main">
              <a:ext uri="{FF2B5EF4-FFF2-40B4-BE49-F238E27FC236}">
                <a16:creationId xmlns:a16="http://schemas.microsoft.com/office/drawing/2014/main" id="{644C4621-2F03-4A5B-976E-D628E223EB1D}"/>
              </a:ext>
            </a:extLst>
          </p:cNvPr>
          <p:cNvSpPr>
            <a:spLocks xmlns:a="http://schemas.openxmlformats.org/drawingml/2006/main" noGrp="1"/>
          </p:cNvSpPr>
          <p:nvPr/>
        </p:nvSpPr>
        <p:spPr>
          <a:xfrm xmlns:a="http://schemas.openxmlformats.org/drawingml/2006/main">
            <a:off x="6191250" y="2590800"/>
            <a:ext cx="5324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농촌진흥청 소득조사 · 농가 기록</a:t>
            </a:r>
          </a:p>
        </p:txBody>
      </p:sp>
      <p:sp>
        <p:nvSpPr>
          <p:cNvPr id="6" name="판매가격과 기후">
            <a:extLst xmlns:a="http://schemas.openxmlformats.org/drawingml/2006/main">
              <a:ext uri="{FF2B5EF4-FFF2-40B4-BE49-F238E27FC236}">
                <a16:creationId xmlns:a16="http://schemas.microsoft.com/office/drawing/2014/main" id="{4FB6C585-D8DB-4D6F-AEB8-6712A0150DAA}"/>
              </a:ext>
            </a:extLst>
          </p:cNvPr>
          <p:cNvSpPr>
            <a:spLocks xmlns:a="http://schemas.openxmlformats.org/drawingml/2006/main" noGrp="1"/>
          </p:cNvSpPr>
          <p:nvPr/>
        </p:nvSpPr>
        <p:spPr>
          <a:xfrm xmlns:a="http://schemas.openxmlformats.org/drawingml/2006/main">
            <a:off x="6191250" y="33337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46856E"/>
                </a:solidFill>
                <a:latin typeface="Jua"/>
                <a:ea typeface="Jua"/>
                <a:cs typeface="Jua"/>
              </a:defRPr>
            </a:defPPr>
          </a:lstStyle>
          <a:p xmlns:a="http://schemas.openxmlformats.org/drawingml/2006/main">
            <a:pPr algn="l">
              <a:defRPr sz="2625" b="0">
                <a:solidFill>
                  <a:srgbClr val="46856E"/>
                </a:solidFill>
                <a:latin typeface="Jua"/>
                <a:ea typeface="Jua"/>
                <a:cs typeface="Jua"/>
              </a:defRPr>
            </a:pPr>
            <a:r>
              <a:rPr sz="2625" b="0">
                <a:solidFill>
                  <a:srgbClr val="46856E"/>
                </a:solidFill>
                <a:latin typeface="Jua"/>
                <a:ea typeface="Jua"/>
                <a:cs typeface="Jua"/>
              </a:rPr>
              <a:t>판매가격과 기후</a:t>
            </a:r>
          </a:p>
        </p:txBody>
      </p:sp>
      <p:sp>
        <p:nvSpPr>
          <p:cNvPr id="7" name="KAMIS 가격 · 기상청 평년값">
            <a:extLst xmlns:a="http://schemas.openxmlformats.org/drawingml/2006/main">
              <a:ext uri="{FF2B5EF4-FFF2-40B4-BE49-F238E27FC236}">
                <a16:creationId xmlns:a16="http://schemas.microsoft.com/office/drawing/2014/main" id="{22CEA22D-7A31-46AB-A5C8-47007D886D75}"/>
              </a:ext>
            </a:extLst>
          </p:cNvPr>
          <p:cNvSpPr>
            <a:spLocks xmlns:a="http://schemas.openxmlformats.org/drawingml/2006/main" noGrp="1"/>
          </p:cNvSpPr>
          <p:nvPr/>
        </p:nvSpPr>
        <p:spPr>
          <a:xfrm xmlns:a="http://schemas.openxmlformats.org/drawingml/2006/main">
            <a:off x="6191250" y="3952875"/>
            <a:ext cx="5324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KAMIS 가격 · 기상청 평년값</a:t>
            </a:r>
          </a:p>
        </p:txBody>
      </p:sp>
      <p:sp>
        <p:nvSpPr>
          <p:cNvPr id="8" name="설비와 투자비">
            <a:extLst xmlns:a="http://schemas.openxmlformats.org/drawingml/2006/main">
              <a:ext uri="{FF2B5EF4-FFF2-40B4-BE49-F238E27FC236}">
                <a16:creationId xmlns:a16="http://schemas.microsoft.com/office/drawing/2014/main" id="{45376166-3DC3-4EA6-8AF4-0B26FD8B24E7}"/>
              </a:ext>
            </a:extLst>
          </p:cNvPr>
          <p:cNvSpPr>
            <a:spLocks xmlns:a="http://schemas.openxmlformats.org/drawingml/2006/main" noGrp="1"/>
          </p:cNvSpPr>
          <p:nvPr/>
        </p:nvSpPr>
        <p:spPr>
          <a:xfrm xmlns:a="http://schemas.openxmlformats.org/drawingml/2006/main">
            <a:off x="6191250" y="4695825"/>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46856E"/>
                </a:solidFill>
                <a:latin typeface="Jua"/>
                <a:ea typeface="Jua"/>
                <a:cs typeface="Jua"/>
              </a:defRPr>
            </a:defPPr>
          </a:lstStyle>
          <a:p xmlns:a="http://schemas.openxmlformats.org/drawingml/2006/main">
            <a:pPr algn="l">
              <a:defRPr sz="2625" b="0">
                <a:solidFill>
                  <a:srgbClr val="46856E"/>
                </a:solidFill>
                <a:latin typeface="Jua"/>
                <a:ea typeface="Jua"/>
                <a:cs typeface="Jua"/>
              </a:defRPr>
            </a:pPr>
            <a:r>
              <a:rPr sz="2625" b="0">
                <a:solidFill>
                  <a:srgbClr val="46856E"/>
                </a:solidFill>
                <a:latin typeface="Jua"/>
                <a:ea typeface="Jua"/>
                <a:cs typeface="Jua"/>
              </a:rPr>
              <a:t>설비와 투자비</a:t>
            </a:r>
          </a:p>
        </p:txBody>
      </p:sp>
      <p:sp>
        <p:nvSpPr>
          <p:cNvPr id="9" name="스마트팜코리아 장비 등록 가격">
            <a:extLst xmlns:a="http://schemas.openxmlformats.org/drawingml/2006/main">
              <a:ext uri="{FF2B5EF4-FFF2-40B4-BE49-F238E27FC236}">
                <a16:creationId xmlns:a16="http://schemas.microsoft.com/office/drawing/2014/main" id="{71A93A1F-4E61-4644-9C15-21708918E75F}"/>
              </a:ext>
            </a:extLst>
          </p:cNvPr>
          <p:cNvSpPr>
            <a:spLocks xmlns:a="http://schemas.openxmlformats.org/drawingml/2006/main" noGrp="1"/>
          </p:cNvSpPr>
          <p:nvPr/>
        </p:nvSpPr>
        <p:spPr>
          <a:xfrm xmlns:a="http://schemas.openxmlformats.org/drawingml/2006/main">
            <a:off x="6191250" y="5314950"/>
            <a:ext cx="5324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스마트팜코리아 장비 등록 가격</a:t>
            </a:r>
          </a:p>
        </p:txBody>
      </p:sp>
    </p:spTree>
    <p:extLst>
      <p:ext uri="{BB962C8B-B14F-4D97-AF65-F5344CB8AC3E}">
        <p14:creationId xmlns:p14="http://schemas.microsoft.com/office/powerpoint/2010/main" val="1448868656"/>
      </p:ext>
    </p:extLst>
  </p:cSld>
</p:sld>
</file>

<file path=ppt/slides/slide5.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9" name="설비를 고르면, 투자비가 보여요">
            <a:extLst xmlns:a="http://schemas.openxmlformats.org/drawingml/2006/main">
              <a:ext uri="{FF2B5EF4-FFF2-40B4-BE49-F238E27FC236}">
                <a16:creationId xmlns:a16="http://schemas.microsoft.com/office/drawing/2014/main" id="{08AD0F29-4822-417E-A695-02B6DDB6F010}"/>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설비를 고르면, 투자비가 보여요</a:t>
            </a:r>
          </a:p>
        </p:txBody>
      </p:sp>
      <p:sp>
        <p:nvSpPr>
          <p:cNvPr id="2" name="05">
            <a:extLst xmlns:a="http://schemas.openxmlformats.org/drawingml/2006/main">
              <a:ext uri="{FF2B5EF4-FFF2-40B4-BE49-F238E27FC236}">
                <a16:creationId xmlns:a16="http://schemas.microsoft.com/office/drawing/2014/main" id="{EA2A0A3E-CBA1-4DAB-ADE6-1018DFD283EB}"/>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05</a:t>
            </a:r>
          </a:p>
        </p:txBody>
      </p:sp>
      <p:pic>
        <p:nvPicPr>
          <p:cNvPr id="3" name="">
            <a:extLst xmlns:a="http://schemas.openxmlformats.org/drawingml/2006/main">
              <a:ext uri="{FF2B5EF4-FFF2-40B4-BE49-F238E27FC236}">
                <a16:creationId xmlns:a16="http://schemas.microsoft.com/office/drawing/2014/main" id="{FC858CCC-F5C4-46CC-828E-1C96BCBB0F7C}"/>
              </a:ext>
            </a:extLst>
          </p:cNvPr>
          <p:cNvPicPr>
            <a:picLocks xmlns:a="http://schemas.openxmlformats.org/drawingml/2006/main" noChangeAspect="1"/>
          </p:cNvPicPr>
          <p:nvPr/>
        </p:nvPicPr>
        <p:blipFill>
          <a:blip xmlns:r="http://schemas.openxmlformats.org/officeDocument/2006/relationships" xmlns:a="http://schemas.openxmlformats.org/drawingml/2006/main" r:embed="R487290bc3bee4eb6"/>
          <a:stretch xmlns:a="http://schemas.openxmlformats.org/drawingml/2006/main"/>
        </p:blipFill>
        <p:spPr>
          <a:xfrm xmlns:a="http://schemas.openxmlformats.org/drawingml/2006/main">
            <a:off x="203200" y="1581150"/>
            <a:ext cx="5613400" cy="4210050"/>
          </a:xfrm>
          <a:prstGeom xmlns:a="http://schemas.openxmlformats.org/drawingml/2006/main" prst="rect">
            <a:avLst/>
          </a:prstGeom>
        </p:spPr>
      </p:pic>
      <p:sp>
        <p:nvSpPr>
          <p:cNvPr id="4" name="초기 투자비 예시">
            <a:extLst xmlns:a="http://schemas.openxmlformats.org/drawingml/2006/main">
              <a:ext uri="{FF2B5EF4-FFF2-40B4-BE49-F238E27FC236}">
                <a16:creationId xmlns:a16="http://schemas.microsoft.com/office/drawing/2014/main" id="{8BDB9D1A-8037-4451-9167-6177D44AC240}"/>
              </a:ext>
            </a:extLst>
          </p:cNvPr>
          <p:cNvSpPr>
            <a:spLocks xmlns:a="http://schemas.openxmlformats.org/drawingml/2006/main" noGrp="1"/>
          </p:cNvSpPr>
          <p:nvPr/>
        </p:nvSpPr>
        <p:spPr>
          <a:xfrm xmlns:a="http://schemas.openxmlformats.org/drawingml/2006/main">
            <a:off x="6181725" y="1685925"/>
            <a:ext cx="5314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F6C61"/>
                </a:solidFill>
                <a:latin typeface="Gowun Dodum"/>
                <a:ea typeface="Gowun Dodum"/>
                <a:cs typeface="Gowun Dodum"/>
              </a:defRPr>
            </a:defPPr>
          </a:lstStyle>
          <a:p xmlns:a="http://schemas.openxmlformats.org/drawingml/2006/main">
            <a:pPr algn="l">
              <a:defRPr sz="2175" b="0">
                <a:solidFill>
                  <a:srgbClr val="5F6C61"/>
                </a:solidFill>
                <a:latin typeface="Gowun Dodum"/>
                <a:ea typeface="Gowun Dodum"/>
                <a:cs typeface="Gowun Dodum"/>
              </a:defRPr>
            </a:pPr>
            <a:r>
              <a:rPr sz="2175" b="0">
                <a:solidFill>
                  <a:srgbClr val="5F6C61"/>
                </a:solidFill>
                <a:latin typeface="Gowun Dodum"/>
                <a:ea typeface="Gowun Dodum"/>
                <a:cs typeface="Gowun Dodum"/>
              </a:rPr>
              <a:t>초기 투자비 예시</a:t>
            </a:r>
          </a:p>
        </p:txBody>
      </p:sp>
      <p:sp>
        <p:nvSpPr>
          <p:cNvPr id="5" name="1억 1,253만원">
            <a:extLst xmlns:a="http://schemas.openxmlformats.org/drawingml/2006/main">
              <a:ext uri="{FF2B5EF4-FFF2-40B4-BE49-F238E27FC236}">
                <a16:creationId xmlns:a16="http://schemas.microsoft.com/office/drawing/2014/main" id="{54942D4A-6634-4197-A3F0-92EC186A3CB8}"/>
              </a:ext>
            </a:extLst>
          </p:cNvPr>
          <p:cNvSpPr>
            <a:spLocks xmlns:a="http://schemas.openxmlformats.org/drawingml/2006/main" noGrp="1"/>
          </p:cNvSpPr>
          <p:nvPr/>
        </p:nvSpPr>
        <p:spPr>
          <a:xfrm xmlns:a="http://schemas.openxmlformats.org/drawingml/2006/main">
            <a:off x="6124575" y="2247900"/>
            <a:ext cx="54483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0">
                <a:solidFill>
                  <a:srgbClr val="46856E"/>
                </a:solidFill>
                <a:latin typeface="Jua"/>
                <a:ea typeface="Jua"/>
                <a:cs typeface="Jua"/>
              </a:defRPr>
            </a:defPPr>
          </a:lstStyle>
          <a:p xmlns:a="http://schemas.openxmlformats.org/drawingml/2006/main">
            <a:pPr algn="l">
              <a:defRPr sz="4350" b="0">
                <a:solidFill>
                  <a:srgbClr val="46856E"/>
                </a:solidFill>
                <a:latin typeface="Jua"/>
                <a:ea typeface="Jua"/>
                <a:cs typeface="Jua"/>
              </a:defRPr>
            </a:pPr>
            <a:r>
              <a:rPr sz="4350" b="0">
                <a:solidFill>
                  <a:srgbClr val="46856E"/>
                </a:solidFill>
                <a:latin typeface="Jua"/>
                <a:ea typeface="Jua"/>
                <a:cs typeface="Jua"/>
              </a:rPr>
              <a:t>1억 1,253만원</a:t>
            </a:r>
          </a:p>
        </p:txBody>
      </p:sp>
      <p:sp>
        <p:nvSpPr>
          <p:cNvPr id="6" name="장비 2,457만원 + 설치 500만원&#10;추가 부가세 296만원&#10;온실·토목 등 8,000만원">
            <a:extLst xmlns:a="http://schemas.openxmlformats.org/drawingml/2006/main">
              <a:ext uri="{FF2B5EF4-FFF2-40B4-BE49-F238E27FC236}">
                <a16:creationId xmlns:a16="http://schemas.microsoft.com/office/drawing/2014/main" id="{26BBDB8D-088F-4C08-843A-54B705121FF8}"/>
              </a:ext>
            </a:extLst>
          </p:cNvPr>
          <p:cNvSpPr>
            <a:spLocks xmlns:a="http://schemas.openxmlformats.org/drawingml/2006/main" noGrp="1"/>
          </p:cNvSpPr>
          <p:nvPr/>
        </p:nvSpPr>
        <p:spPr>
          <a:xfrm xmlns:a="http://schemas.openxmlformats.org/drawingml/2006/main">
            <a:off x="6229350" y="3419475"/>
            <a:ext cx="5267325"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장비 2,457만원 + 설치 500만원</a:t>
            </a:r>
          </a:p>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추가 부가세 296만원</a:t>
            </a:r>
          </a:p>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온실·토목 등 8,000만원</a:t>
            </a:r>
          </a:p>
        </p:txBody>
      </p:sp>
      <p:sp>
        <p:nvSpPr>
          <p:cNvPr id="7" name="장비는 공개 가격, 나머지는 가정입니다.">
            <a:extLst xmlns:a="http://schemas.openxmlformats.org/drawingml/2006/main">
              <a:ext uri="{FF2B5EF4-FFF2-40B4-BE49-F238E27FC236}">
                <a16:creationId xmlns:a16="http://schemas.microsoft.com/office/drawing/2014/main" id="{C1B854D6-6FE9-478E-85B9-A4A5C7725640}"/>
              </a:ext>
            </a:extLst>
          </p:cNvPr>
          <p:cNvSpPr>
            <a:spLocks xmlns:a="http://schemas.openxmlformats.org/drawingml/2006/main" noGrp="1"/>
          </p:cNvSpPr>
          <p:nvPr/>
        </p:nvSpPr>
        <p:spPr>
          <a:xfrm xmlns:a="http://schemas.openxmlformats.org/drawingml/2006/main">
            <a:off x="695325"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F6C61"/>
                </a:solidFill>
                <a:latin typeface="Gowun Dodum"/>
                <a:ea typeface="Gowun Dodum"/>
                <a:cs typeface="Gowun Dodum"/>
              </a:defRPr>
            </a:defPPr>
          </a:lstStyle>
          <a:p xmlns:a="http://schemas.openxmlformats.org/drawingml/2006/main">
            <a:pPr algn="l">
              <a:defRPr sz="2025" b="0">
                <a:solidFill>
                  <a:srgbClr val="5F6C61"/>
                </a:solidFill>
                <a:latin typeface="Gowun Dodum"/>
                <a:ea typeface="Gowun Dodum"/>
                <a:cs typeface="Gowun Dodum"/>
              </a:defRPr>
            </a:pPr>
            <a:r>
              <a:rPr sz="2025" b="0">
                <a:solidFill>
                  <a:srgbClr val="5F6C61"/>
                </a:solidFill>
                <a:latin typeface="Gowun Dodum"/>
                <a:ea typeface="Gowun Dodum"/>
                <a:cs typeface="Gowun Dodum"/>
              </a:rPr>
              <a:t>장비는 공개 가격, 나머지는 가정입니다.</a:t>
            </a:r>
          </a:p>
        </p:txBody>
      </p:sp>
      <p:sp>
        <p:nvSpPr>
          <p:cNvPr id="8" name="장비를 설치하면 수확이 늘어난다는 효과는 아직 검증하지 않았습니다.">
            <a:extLst xmlns:a="http://schemas.openxmlformats.org/drawingml/2006/main">
              <a:ext uri="{FF2B5EF4-FFF2-40B4-BE49-F238E27FC236}">
                <a16:creationId xmlns:a16="http://schemas.microsoft.com/office/drawing/2014/main" id="{AA9237A1-DEF4-466A-8B5C-C9C5CE640057}"/>
              </a:ext>
            </a:extLst>
          </p:cNvPr>
          <p:cNvSpPr>
            <a:spLocks xmlns:a="http://schemas.openxmlformats.org/drawingml/2006/main" noGrp="1"/>
          </p:cNvSpPr>
          <p:nvPr/>
        </p:nvSpPr>
        <p:spPr>
          <a:xfrm xmlns:a="http://schemas.openxmlformats.org/drawingml/2006/main">
            <a:off x="695325" y="62769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F6C61"/>
                </a:solidFill>
                <a:latin typeface="Gowun Dodum"/>
                <a:ea typeface="Gowun Dodum"/>
                <a:cs typeface="Gowun Dodum"/>
              </a:defRPr>
            </a:defPPr>
          </a:lstStyle>
          <a:p xmlns:a="http://schemas.openxmlformats.org/drawingml/2006/main">
            <a:pPr algn="l">
              <a:defRPr sz="1800" b="0">
                <a:solidFill>
                  <a:srgbClr val="5F6C61"/>
                </a:solidFill>
                <a:latin typeface="Gowun Dodum"/>
                <a:ea typeface="Gowun Dodum"/>
                <a:cs typeface="Gowun Dodum"/>
              </a:defRPr>
            </a:pPr>
            <a:r>
              <a:rPr sz="1800" b="0">
                <a:solidFill>
                  <a:srgbClr val="5F6C61"/>
                </a:solidFill>
                <a:latin typeface="Gowun Dodum"/>
                <a:ea typeface="Gowun Dodum"/>
                <a:cs typeface="Gowun Dodum"/>
              </a:rPr>
              <a:t>장비를 설치하면 수확이 늘어난다는 효과는 아직 검증하지 않았습니다.</a:t>
            </a:r>
          </a:p>
        </p:txBody>
      </p:sp>
    </p:spTree>
    <p:extLst>
      <p:ext uri="{BB962C8B-B14F-4D97-AF65-F5344CB8AC3E}">
        <p14:creationId xmlns:p14="http://schemas.microsoft.com/office/powerpoint/2010/main" val="408012239"/>
      </p:ext>
    </p:extLst>
  </p:cSld>
</p:sld>
</file>

<file path=ppt/slides/slide6.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9" name="매출보다 중요한, 내게 남는 돈">
            <a:extLst xmlns:a="http://schemas.openxmlformats.org/drawingml/2006/main">
              <a:ext uri="{FF2B5EF4-FFF2-40B4-BE49-F238E27FC236}">
                <a16:creationId xmlns:a16="http://schemas.microsoft.com/office/drawing/2014/main" id="{A3C684A7-9FE0-478B-ABF2-6A61AA47BE04}"/>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매출보다 중요한, 내게 남는 돈</a:t>
            </a:r>
          </a:p>
        </p:txBody>
      </p:sp>
      <p:sp>
        <p:nvSpPr>
          <p:cNvPr id="2" name="06">
            <a:extLst xmlns:a="http://schemas.openxmlformats.org/drawingml/2006/main">
              <a:ext uri="{FF2B5EF4-FFF2-40B4-BE49-F238E27FC236}">
                <a16:creationId xmlns:a16="http://schemas.microsoft.com/office/drawing/2014/main" id="{DB41016B-423F-4CDE-A2D1-5AD84C8B5F77}"/>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06</a:t>
            </a:r>
          </a:p>
        </p:txBody>
      </p:sp>
      <p:pic>
        <p:nvPicPr>
          <p:cNvPr id="3" name="">
            <a:extLst xmlns:a="http://schemas.openxmlformats.org/drawingml/2006/main">
              <a:ext uri="{FF2B5EF4-FFF2-40B4-BE49-F238E27FC236}">
                <a16:creationId xmlns:a16="http://schemas.microsoft.com/office/drawing/2014/main" id="{D04437E8-BE64-4DB9-BF18-DA3EE479A804}"/>
              </a:ext>
            </a:extLst>
          </p:cNvPr>
          <p:cNvPicPr>
            <a:picLocks xmlns:a="http://schemas.openxmlformats.org/drawingml/2006/main" noChangeAspect="1"/>
          </p:cNvPicPr>
          <p:nvPr/>
        </p:nvPicPr>
        <p:blipFill>
          <a:blip xmlns:r="http://schemas.openxmlformats.org/officeDocument/2006/relationships" xmlns:a="http://schemas.openxmlformats.org/drawingml/2006/main" r:embed="Rd16dfd3d9f654183"/>
          <a:stretch xmlns:a="http://schemas.openxmlformats.org/drawingml/2006/main"/>
        </p:blipFill>
        <p:spPr>
          <a:xfrm xmlns:a="http://schemas.openxmlformats.org/drawingml/2006/main">
            <a:off x="468313" y="1562100"/>
            <a:ext cx="5740400" cy="4305300"/>
          </a:xfrm>
          <a:prstGeom xmlns:a="http://schemas.openxmlformats.org/drawingml/2006/main" prst="rect">
            <a:avLst/>
          </a:prstGeom>
        </p:spPr>
      </p:pic>
      <p:sp>
        <p:nvSpPr>
          <p:cNvPr id="4" name="딸기 1,000㎡ · 연 1기작의 가정 예시">
            <a:extLst xmlns:a="http://schemas.openxmlformats.org/drawingml/2006/main">
              <a:ext uri="{FF2B5EF4-FFF2-40B4-BE49-F238E27FC236}">
                <a16:creationId xmlns:a16="http://schemas.microsoft.com/office/drawing/2014/main" id="{472A0186-37F2-40F2-859F-C50F7F2B5EB6}"/>
              </a:ext>
            </a:extLst>
          </p:cNvPr>
          <p:cNvSpPr>
            <a:spLocks xmlns:a="http://schemas.openxmlformats.org/drawingml/2006/main" noGrp="1"/>
          </p:cNvSpPr>
          <p:nvPr/>
        </p:nvSpPr>
        <p:spPr>
          <a:xfrm xmlns:a="http://schemas.openxmlformats.org/drawingml/2006/main">
            <a:off x="6610350" y="1666875"/>
            <a:ext cx="50101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F6C61"/>
                </a:solidFill>
                <a:latin typeface="Gowun Dodum"/>
                <a:ea typeface="Gowun Dodum"/>
                <a:cs typeface="Gowun Dodum"/>
              </a:defRPr>
            </a:defPPr>
          </a:lstStyle>
          <a:p xmlns:a="http://schemas.openxmlformats.org/drawingml/2006/main">
            <a:pPr algn="l">
              <a:defRPr sz="2025" b="0">
                <a:solidFill>
                  <a:srgbClr val="5F6C61"/>
                </a:solidFill>
                <a:latin typeface="Gowun Dodum"/>
                <a:ea typeface="Gowun Dodum"/>
                <a:cs typeface="Gowun Dodum"/>
              </a:defRPr>
            </a:pPr>
            <a:r>
              <a:rPr sz="2025" b="0">
                <a:solidFill>
                  <a:srgbClr val="5F6C61"/>
                </a:solidFill>
                <a:latin typeface="Gowun Dodum"/>
                <a:ea typeface="Gowun Dodum"/>
                <a:cs typeface="Gowun Dodum"/>
              </a:rPr>
              <a:t>딸기 1,000㎡ · 연 1기작의 가정 예시</a:t>
            </a:r>
          </a:p>
        </p:txBody>
      </p:sp>
      <p:sp>
        <p:nvSpPr>
          <p:cNvPr id="5" name="347">
            <a:extLst xmlns:a="http://schemas.openxmlformats.org/drawingml/2006/main">
              <a:ext uri="{FF2B5EF4-FFF2-40B4-BE49-F238E27FC236}">
                <a16:creationId xmlns:a16="http://schemas.microsoft.com/office/drawing/2014/main" id="{B4EBB091-AB25-4D90-8E7D-0C5ADE398872}"/>
              </a:ext>
            </a:extLst>
          </p:cNvPr>
          <p:cNvSpPr>
            <a:spLocks xmlns:a="http://schemas.openxmlformats.org/drawingml/2006/main" noGrp="1"/>
          </p:cNvSpPr>
          <p:nvPr/>
        </p:nvSpPr>
        <p:spPr>
          <a:xfrm xmlns:a="http://schemas.openxmlformats.org/drawingml/2006/main">
            <a:off x="6543675" y="2543175"/>
            <a:ext cx="395287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375" b="0">
                <a:solidFill>
                  <a:srgbClr val="46856E"/>
                </a:solidFill>
                <a:latin typeface="Jua"/>
                <a:ea typeface="Jua"/>
                <a:cs typeface="Jua"/>
              </a:defRPr>
            </a:defPPr>
          </a:lstStyle>
          <a:p xmlns:a="http://schemas.openxmlformats.org/drawingml/2006/main">
            <a:pPr algn="l">
              <a:defRPr sz="9375" b="0">
                <a:solidFill>
                  <a:srgbClr val="46856E"/>
                </a:solidFill>
                <a:latin typeface="Jua"/>
                <a:ea typeface="Jua"/>
                <a:cs typeface="Jua"/>
              </a:defRPr>
            </a:pPr>
            <a:r>
              <a:rPr sz="9375" b="0">
                <a:solidFill>
                  <a:srgbClr val="46856E"/>
                </a:solidFill>
                <a:latin typeface="Jua"/>
                <a:ea typeface="Jua"/>
                <a:cs typeface="Jua"/>
              </a:rPr>
              <a:t>347</a:t>
            </a:r>
          </a:p>
        </p:txBody>
      </p:sp>
      <p:sp>
        <p:nvSpPr>
          <p:cNvPr id="6" name="만원 / 년">
            <a:extLst xmlns:a="http://schemas.openxmlformats.org/drawingml/2006/main">
              <a:ext uri="{FF2B5EF4-FFF2-40B4-BE49-F238E27FC236}">
                <a16:creationId xmlns:a16="http://schemas.microsoft.com/office/drawing/2014/main" id="{573A135C-69EE-4139-890E-4BF91366B3FA}"/>
              </a:ext>
            </a:extLst>
          </p:cNvPr>
          <p:cNvSpPr>
            <a:spLocks xmlns:a="http://schemas.openxmlformats.org/drawingml/2006/main" noGrp="1"/>
          </p:cNvSpPr>
          <p:nvPr/>
        </p:nvSpPr>
        <p:spPr>
          <a:xfrm xmlns:a="http://schemas.openxmlformats.org/drawingml/2006/main">
            <a:off x="6648450" y="4010025"/>
            <a:ext cx="4295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46856E"/>
                </a:solidFill>
                <a:latin typeface="Jua"/>
                <a:ea typeface="Jua"/>
                <a:cs typeface="Jua"/>
              </a:defRPr>
            </a:defPPr>
          </a:lstStyle>
          <a:p xmlns:a="http://schemas.openxmlformats.org/drawingml/2006/main">
            <a:pPr algn="l">
              <a:defRPr sz="2925" b="0">
                <a:solidFill>
                  <a:srgbClr val="46856E"/>
                </a:solidFill>
                <a:latin typeface="Jua"/>
                <a:ea typeface="Jua"/>
                <a:cs typeface="Jua"/>
              </a:defRPr>
            </a:pPr>
            <a:r>
              <a:rPr sz="2925" b="0">
                <a:solidFill>
                  <a:srgbClr val="46856E"/>
                </a:solidFill>
                <a:latin typeface="Jua"/>
                <a:ea typeface="Jua"/>
                <a:cs typeface="Jua"/>
              </a:rPr>
              <a:t>만원 / 년</a:t>
            </a:r>
          </a:p>
        </p:txBody>
      </p:sp>
      <p:sp>
        <p:nvSpPr>
          <p:cNvPr id="7" name="매출 3,635만원에서&#10;경영비와 내 노동값을 뺀 소득">
            <a:extLst xmlns:a="http://schemas.openxmlformats.org/drawingml/2006/main">
              <a:ext uri="{FF2B5EF4-FFF2-40B4-BE49-F238E27FC236}">
                <a16:creationId xmlns:a16="http://schemas.microsoft.com/office/drawing/2014/main" id="{F38697E2-BB72-485C-B0C9-C4CE35E344BC}"/>
              </a:ext>
            </a:extLst>
          </p:cNvPr>
          <p:cNvSpPr>
            <a:spLocks xmlns:a="http://schemas.openxmlformats.org/drawingml/2006/main" noGrp="1"/>
          </p:cNvSpPr>
          <p:nvPr/>
        </p:nvSpPr>
        <p:spPr>
          <a:xfrm xmlns:a="http://schemas.openxmlformats.org/drawingml/2006/main">
            <a:off x="6638925" y="4810125"/>
            <a:ext cx="49244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54F43"/>
                </a:solidFill>
                <a:latin typeface="Gowun Dodum"/>
                <a:ea typeface="Gowun Dodum"/>
                <a:cs typeface="Gowun Dodum"/>
              </a:defRPr>
            </a:defPPr>
          </a:lstStyle>
          <a:p xmlns:a="http://schemas.openxmlformats.org/drawingml/2006/main">
            <a:pPr algn="l">
              <a:defRPr sz="2250" b="0">
                <a:solidFill>
                  <a:srgbClr val="254F43"/>
                </a:solidFill>
                <a:latin typeface="Gowun Dodum"/>
                <a:ea typeface="Gowun Dodum"/>
                <a:cs typeface="Gowun Dodum"/>
              </a:defRPr>
            </a:pPr>
            <a:r>
              <a:rPr sz="2250" b="0">
                <a:solidFill>
                  <a:srgbClr val="254F43"/>
                </a:solidFill>
                <a:latin typeface="Gowun Dodum"/>
                <a:ea typeface="Gowun Dodum"/>
                <a:cs typeface="Gowun Dodum"/>
              </a:rPr>
              <a:t>매출 3,635만원에서</a:t>
            </a:r>
          </a:p>
          <a:p xmlns:a="http://schemas.openxmlformats.org/drawingml/2006/main">
            <a:pPr algn="l">
              <a:defRPr sz="2250" b="0">
                <a:solidFill>
                  <a:srgbClr val="254F43"/>
                </a:solidFill>
                <a:latin typeface="Gowun Dodum"/>
                <a:ea typeface="Gowun Dodum"/>
                <a:cs typeface="Gowun Dodum"/>
              </a:defRPr>
            </a:pPr>
            <a:r>
              <a:rPr sz="2250" b="0">
                <a:solidFill>
                  <a:srgbClr val="254F43"/>
                </a:solidFill>
                <a:latin typeface="Gowun Dodum"/>
                <a:ea typeface="Gowun Dodum"/>
                <a:cs typeface="Gowun Dodum"/>
              </a:rPr>
              <a:t>경영비와 내 노동값을 뺀 소득</a:t>
            </a:r>
          </a:p>
        </p:txBody>
      </p:sp>
      <p:sp>
        <p:nvSpPr>
          <p:cNvPr id="8" name="공개 조사값으로 계산한 예시이며, 개별 농가의 미래 소득을 검증한 값은 아닙니다.">
            <a:extLst xmlns:a="http://schemas.openxmlformats.org/drawingml/2006/main">
              <a:ext uri="{FF2B5EF4-FFF2-40B4-BE49-F238E27FC236}">
                <a16:creationId xmlns:a16="http://schemas.microsoft.com/office/drawing/2014/main" id="{0C27BBE2-91C1-44B7-A980-00B749ABAD80}"/>
              </a:ext>
            </a:extLst>
          </p:cNvPr>
          <p:cNvSpPr>
            <a:spLocks xmlns:a="http://schemas.openxmlformats.org/drawingml/2006/main" noGrp="1"/>
          </p:cNvSpPr>
          <p:nvPr/>
        </p:nvSpPr>
        <p:spPr>
          <a:xfrm xmlns:a="http://schemas.openxmlformats.org/drawingml/2006/main">
            <a:off x="685800" y="62674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F6C61"/>
                </a:solidFill>
                <a:latin typeface="Gowun Dodum"/>
                <a:ea typeface="Gowun Dodum"/>
                <a:cs typeface="Gowun Dodum"/>
              </a:defRPr>
            </a:defPPr>
          </a:lstStyle>
          <a:p xmlns:a="http://schemas.openxmlformats.org/drawingml/2006/main">
            <a:pPr algn="l">
              <a:defRPr sz="1800" b="0">
                <a:solidFill>
                  <a:srgbClr val="5F6C61"/>
                </a:solidFill>
                <a:latin typeface="Gowun Dodum"/>
                <a:ea typeface="Gowun Dodum"/>
                <a:cs typeface="Gowun Dodum"/>
              </a:defRPr>
            </a:pPr>
            <a:r>
              <a:rPr sz="1800" b="0">
                <a:solidFill>
                  <a:srgbClr val="5F6C61"/>
                </a:solidFill>
                <a:latin typeface="Gowun Dodum"/>
                <a:ea typeface="Gowun Dodum"/>
                <a:cs typeface="Gowun Dodum"/>
              </a:rPr>
              <a:t>공개 조사값으로 계산한 예시이며, 개별 농가의 미래 소득을 검증한 값은 아닙니다.</a:t>
            </a:r>
          </a:p>
        </p:txBody>
      </p:sp>
    </p:spTree>
    <p:extLst>
      <p:ext uri="{BB962C8B-B14F-4D97-AF65-F5344CB8AC3E}">
        <p14:creationId xmlns:p14="http://schemas.microsoft.com/office/powerpoint/2010/main" val="1857598784"/>
      </p:ext>
    </p:extLst>
  </p:cSld>
</p:sld>
</file>

<file path=ppt/slides/slide7.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9" name="투자금은 언제 돌아올까요?">
            <a:extLst xmlns:a="http://schemas.openxmlformats.org/drawingml/2006/main">
              <a:ext uri="{FF2B5EF4-FFF2-40B4-BE49-F238E27FC236}">
                <a16:creationId xmlns:a16="http://schemas.microsoft.com/office/drawing/2014/main" id="{238F9975-052C-4073-9953-9BDB95989AC7}"/>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투자금은 언제 돌아올까요?</a:t>
            </a:r>
          </a:p>
        </p:txBody>
      </p:sp>
      <p:sp>
        <p:nvSpPr>
          <p:cNvPr id="2" name="07">
            <a:extLst xmlns:a="http://schemas.openxmlformats.org/drawingml/2006/main">
              <a:ext uri="{FF2B5EF4-FFF2-40B4-BE49-F238E27FC236}">
                <a16:creationId xmlns:a16="http://schemas.microsoft.com/office/drawing/2014/main" id="{B6682479-F545-4398-B904-7D82B6E364A4}"/>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07</a:t>
            </a:r>
          </a:p>
        </p:txBody>
      </p:sp>
      <p:sp>
        <p:nvSpPr>
          <p:cNvPr id="3" name="기준 조건에서는">
            <a:extLst xmlns:a="http://schemas.openxmlformats.org/drawingml/2006/main">
              <a:ext uri="{FF2B5EF4-FFF2-40B4-BE49-F238E27FC236}">
                <a16:creationId xmlns:a16="http://schemas.microsoft.com/office/drawing/2014/main" id="{43870DDB-E788-4F51-9029-C9D60006B759}"/>
              </a:ext>
            </a:extLst>
          </p:cNvPr>
          <p:cNvSpPr>
            <a:spLocks xmlns:a="http://schemas.openxmlformats.org/drawingml/2006/main" noGrp="1"/>
          </p:cNvSpPr>
          <p:nvPr/>
        </p:nvSpPr>
        <p:spPr>
          <a:xfrm xmlns:a="http://schemas.openxmlformats.org/drawingml/2006/main">
            <a:off x="714375" y="1552575"/>
            <a:ext cx="4371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F6C61"/>
                </a:solidFill>
                <a:latin typeface="Gowun Dodum"/>
                <a:ea typeface="Gowun Dodum"/>
                <a:cs typeface="Gowun Dodum"/>
              </a:defRPr>
            </a:defPPr>
          </a:lstStyle>
          <a:p xmlns:a="http://schemas.openxmlformats.org/drawingml/2006/main">
            <a:pPr algn="l">
              <a:defRPr sz="2250" b="0">
                <a:solidFill>
                  <a:srgbClr val="5F6C61"/>
                </a:solidFill>
                <a:latin typeface="Gowun Dodum"/>
                <a:ea typeface="Gowun Dodum"/>
                <a:cs typeface="Gowun Dodum"/>
              </a:defRPr>
            </a:pPr>
            <a:r>
              <a:rPr sz="2250" b="0">
                <a:solidFill>
                  <a:srgbClr val="5F6C61"/>
                </a:solidFill>
                <a:latin typeface="Gowun Dodum"/>
                <a:ea typeface="Gowun Dodum"/>
                <a:cs typeface="Gowun Dodum"/>
              </a:rPr>
              <a:t>기준 조건에서는</a:t>
            </a:r>
          </a:p>
        </p:txBody>
      </p:sp>
      <p:sp>
        <p:nvSpPr>
          <p:cNvPr id="4" name="6년째">
            <a:extLst xmlns:a="http://schemas.openxmlformats.org/drawingml/2006/main">
              <a:ext uri="{FF2B5EF4-FFF2-40B4-BE49-F238E27FC236}">
                <a16:creationId xmlns:a16="http://schemas.microsoft.com/office/drawing/2014/main" id="{A84D4D7C-07B6-450A-B4B0-F54B19B8239A}"/>
              </a:ext>
            </a:extLst>
          </p:cNvPr>
          <p:cNvSpPr>
            <a:spLocks xmlns:a="http://schemas.openxmlformats.org/drawingml/2006/main" noGrp="1"/>
          </p:cNvSpPr>
          <p:nvPr/>
        </p:nvSpPr>
        <p:spPr>
          <a:xfrm xmlns:a="http://schemas.openxmlformats.org/drawingml/2006/main">
            <a:off x="695325" y="2133600"/>
            <a:ext cx="42576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75" b="0">
                <a:solidFill>
                  <a:srgbClr val="46856E"/>
                </a:solidFill>
                <a:latin typeface="Jua"/>
                <a:ea typeface="Jua"/>
                <a:cs typeface="Jua"/>
              </a:defRPr>
            </a:defPPr>
          </a:lstStyle>
          <a:p xmlns:a="http://schemas.openxmlformats.org/drawingml/2006/main">
            <a:pPr algn="l">
              <a:defRPr sz="6375" b="0">
                <a:solidFill>
                  <a:srgbClr val="46856E"/>
                </a:solidFill>
                <a:latin typeface="Jua"/>
                <a:ea typeface="Jua"/>
                <a:cs typeface="Jua"/>
              </a:defRPr>
            </a:pPr>
            <a:r>
              <a:rPr sz="6375" b="0">
                <a:solidFill>
                  <a:srgbClr val="46856E"/>
                </a:solidFill>
                <a:latin typeface="Jua"/>
                <a:ea typeface="Jua"/>
                <a:cs typeface="Jua"/>
              </a:rPr>
              <a:t>6년째</a:t>
            </a:r>
          </a:p>
        </p:txBody>
      </p:sp>
      <p:pic>
        <p:nvPicPr>
          <p:cNvPr id="5" name="">
            <a:extLst xmlns:a="http://schemas.openxmlformats.org/drawingml/2006/main">
              <a:ext uri="{FF2B5EF4-FFF2-40B4-BE49-F238E27FC236}">
                <a16:creationId xmlns:a16="http://schemas.microsoft.com/office/drawing/2014/main" id="{0819A6F4-47D5-4F9A-B13E-4EC36B3CCD7B}"/>
              </a:ext>
            </a:extLst>
          </p:cNvPr>
          <p:cNvPicPr>
            <a:picLocks xmlns:a="http://schemas.openxmlformats.org/drawingml/2006/main" noChangeAspect="1"/>
          </p:cNvPicPr>
          <p:nvPr/>
        </p:nvPicPr>
        <p:blipFill>
          <a:blip xmlns:r="http://schemas.openxmlformats.org/officeDocument/2006/relationships" xmlns:a="http://schemas.openxmlformats.org/drawingml/2006/main" r:embed="Rfadd033d728a4036"/>
          <a:stretch xmlns:a="http://schemas.openxmlformats.org/drawingml/2006/main"/>
        </p:blipFill>
        <p:spPr>
          <a:xfrm xmlns:a="http://schemas.openxmlformats.org/drawingml/2006/main">
            <a:off x="542925" y="3190875"/>
            <a:ext cx="4114800" cy="3086100"/>
          </a:xfrm>
          <a:prstGeom xmlns:a="http://schemas.openxmlformats.org/drawingml/2006/main" prst="rect">
            <a:avLst/>
          </a:prstGeom>
        </p:spPr>
      </p:pic>
      <p:graphicFrame>
        <p:nvGraphicFramePr>
          <p:cNvPr id="6" name="Chart">
            <a:extLst xmlns:a="http://schemas.openxmlformats.org/drawingml/2006/main">
              <a:ext uri="{FF2B5EF4-FFF2-40B4-BE49-F238E27FC236}">
                <a16:creationId xmlns:a16="http://schemas.microsoft.com/office/drawing/2014/main" id="{E295164A-AE62-40BF-A1C2-8BC5DF2BBD9C}"/>
              </a:ext>
            </a:extLst>
          </p:cNvPr>
          <p:cNvGraphicFramePr/>
          <p:nvPr/>
        </p:nvGraphicFramePr>
        <p:xfrm>
          <a:off xmlns:a="http://schemas.openxmlformats.org/drawingml/2006/main" x="5105400" y="1752600"/>
          <a:ext xmlns:a="http://schemas.openxmlformats.org/drawingml/2006/main" cx="6381750" cy="3238500"/>
        </p:xfrm>
        <a:graphic xmlns:a="http://schemas.openxmlformats.org/drawingml/2006/main">
          <a:graphicData uri="http://schemas.openxmlformats.org/drawingml/2006/chart">
            <c:chart xmlns:r="http://schemas.openxmlformats.org/officeDocument/2006/relationships" xmlns:c="http://schemas.openxmlformats.org/drawingml/2006/chart" r:id="Rc181e760cea04930"/>
          </a:graphicData>
        </a:graphic>
      </p:graphicFrame>
      <p:sp>
        <p:nvSpPr>
          <p:cNvPr id="7" name="연간 현금 약 2,035만원 기준">
            <a:extLst xmlns:a="http://schemas.openxmlformats.org/drawingml/2006/main">
              <a:ext uri="{FF2B5EF4-FFF2-40B4-BE49-F238E27FC236}">
                <a16:creationId xmlns:a16="http://schemas.microsoft.com/office/drawing/2014/main" id="{6888DC13-17E0-4EC0-810C-4E08C4E34129}"/>
              </a:ext>
            </a:extLst>
          </p:cNvPr>
          <p:cNvSpPr>
            <a:spLocks xmlns:a="http://schemas.openxmlformats.org/drawingml/2006/main" noGrp="1"/>
          </p:cNvSpPr>
          <p:nvPr/>
        </p:nvSpPr>
        <p:spPr>
          <a:xfrm xmlns:a="http://schemas.openxmlformats.org/drawingml/2006/main">
            <a:off x="5314950" y="5153025"/>
            <a:ext cx="60102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46856E"/>
                </a:solidFill>
                <a:latin typeface="Jua"/>
                <a:ea typeface="Jua"/>
                <a:cs typeface="Jua"/>
              </a:defRPr>
            </a:defPPr>
          </a:lstStyle>
          <a:p xmlns:a="http://schemas.openxmlformats.org/drawingml/2006/main">
            <a:pPr algn="l">
              <a:defRPr sz="2250" b="0">
                <a:solidFill>
                  <a:srgbClr val="46856E"/>
                </a:solidFill>
                <a:latin typeface="Jua"/>
                <a:ea typeface="Jua"/>
                <a:cs typeface="Jua"/>
              </a:defRPr>
            </a:pPr>
            <a:r>
              <a:rPr sz="2250" b="0">
                <a:solidFill>
                  <a:srgbClr val="46856E"/>
                </a:solidFill>
                <a:latin typeface="Jua"/>
                <a:ea typeface="Jua"/>
                <a:cs typeface="Jua"/>
              </a:rPr>
              <a:t>연간 현금 약 2,035만원 기준</a:t>
            </a:r>
          </a:p>
        </p:txBody>
      </p:sp>
      <p:sp>
        <p:nvSpPr>
          <p:cNvPr id="8" name="자가노동 기회비용을 빼기 전입니다.&#10;10년간 같은 조건, 장비 교체비 0을 가정했습니다.">
            <a:extLst xmlns:a="http://schemas.openxmlformats.org/drawingml/2006/main">
              <a:ext uri="{FF2B5EF4-FFF2-40B4-BE49-F238E27FC236}">
                <a16:creationId xmlns:a16="http://schemas.microsoft.com/office/drawing/2014/main" id="{E88D9F6D-C96B-40D9-A188-10C72A4AF084}"/>
              </a:ext>
            </a:extLst>
          </p:cNvPr>
          <p:cNvSpPr>
            <a:spLocks xmlns:a="http://schemas.openxmlformats.org/drawingml/2006/main" noGrp="1"/>
          </p:cNvSpPr>
          <p:nvPr/>
        </p:nvSpPr>
        <p:spPr>
          <a:xfrm xmlns:a="http://schemas.openxmlformats.org/drawingml/2006/main">
            <a:off x="5314950" y="5695950"/>
            <a:ext cx="60102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F6C61"/>
                </a:solidFill>
                <a:latin typeface="Gowun Dodum"/>
                <a:ea typeface="Gowun Dodum"/>
                <a:cs typeface="Gowun Dodum"/>
              </a:defRPr>
            </a:defPPr>
          </a:lstStyle>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자가노동 기회비용을 빼기 전입니다.</a:t>
            </a:r>
          </a:p>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10년간 같은 조건, 장비 교체비 0을 가정했습니다.</a:t>
            </a:r>
          </a:p>
        </p:txBody>
      </p:sp>
    </p:spTree>
    <p:extLst>
      <p:ext uri="{BB962C8B-B14F-4D97-AF65-F5344CB8AC3E}">
        <p14:creationId xmlns:p14="http://schemas.microsoft.com/office/powerpoint/2010/main" val="1716070176"/>
      </p:ext>
    </p:extLst>
  </p:cSld>
</p:sld>
</file>

<file path=ppt/slides/slide8.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0" name="조건이 나빠지면, 회수가 늦어져요">
            <a:extLst xmlns:a="http://schemas.openxmlformats.org/drawingml/2006/main">
              <a:ext uri="{FF2B5EF4-FFF2-40B4-BE49-F238E27FC236}">
                <a16:creationId xmlns:a16="http://schemas.microsoft.com/office/drawing/2014/main" id="{53DBDEEA-9774-4EB9-8E37-E7BF53E5BAC6}"/>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조건이 나빠지면, 회수가 늦어져요</a:t>
            </a:r>
          </a:p>
        </p:txBody>
      </p:sp>
      <p:sp>
        <p:nvSpPr>
          <p:cNvPr id="2" name="08">
            <a:extLst xmlns:a="http://schemas.openxmlformats.org/drawingml/2006/main">
              <a:ext uri="{FF2B5EF4-FFF2-40B4-BE49-F238E27FC236}">
                <a16:creationId xmlns:a16="http://schemas.microsoft.com/office/drawing/2014/main" id="{424EB752-61C6-4422-973B-719B4FEE9FF1}"/>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08</a:t>
            </a:r>
          </a:p>
        </p:txBody>
      </p:sp>
      <p:sp>
        <p:nvSpPr>
          <p:cNvPr id="3" name="10년">
            <a:extLst xmlns:a="http://schemas.openxmlformats.org/drawingml/2006/main">
              <a:ext uri="{FF2B5EF4-FFF2-40B4-BE49-F238E27FC236}">
                <a16:creationId xmlns:a16="http://schemas.microsoft.com/office/drawing/2014/main" id="{B204B23B-61BB-477D-91F5-25F831FC2E34}"/>
              </a:ext>
            </a:extLst>
          </p:cNvPr>
          <p:cNvSpPr>
            <a:spLocks xmlns:a="http://schemas.openxmlformats.org/drawingml/2006/main" noGrp="1"/>
          </p:cNvSpPr>
          <p:nvPr/>
        </p:nvSpPr>
        <p:spPr>
          <a:xfrm xmlns:a="http://schemas.openxmlformats.org/drawingml/2006/main">
            <a:off x="695325" y="1724025"/>
            <a:ext cx="589597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825" b="0">
                <a:solidFill>
                  <a:srgbClr val="D66F58"/>
                </a:solidFill>
                <a:latin typeface="Jua"/>
                <a:ea typeface="Jua"/>
                <a:cs typeface="Jua"/>
              </a:defRPr>
            </a:defPPr>
          </a:lstStyle>
          <a:p xmlns:a="http://schemas.openxmlformats.org/drawingml/2006/main">
            <a:pPr algn="l">
              <a:defRPr sz="9825" b="0">
                <a:solidFill>
                  <a:srgbClr val="D66F58"/>
                </a:solidFill>
                <a:latin typeface="Jua"/>
                <a:ea typeface="Jua"/>
                <a:cs typeface="Jua"/>
              </a:defRPr>
            </a:pPr>
            <a:r>
              <a:rPr sz="9825" b="0">
                <a:solidFill>
                  <a:srgbClr val="D66F58"/>
                </a:solidFill>
                <a:latin typeface="Jua"/>
                <a:ea typeface="Jua"/>
                <a:cs typeface="Jua"/>
              </a:rPr>
              <a:t>10년</a:t>
            </a:r>
          </a:p>
        </p:txBody>
      </p:sp>
      <p:sp>
        <p:nvSpPr>
          <p:cNvPr id="4" name="지나도 회수하지 못해요">
            <a:extLst xmlns:a="http://schemas.openxmlformats.org/drawingml/2006/main">
              <a:ext uri="{FF2B5EF4-FFF2-40B4-BE49-F238E27FC236}">
                <a16:creationId xmlns:a16="http://schemas.microsoft.com/office/drawing/2014/main" id="{4C132E94-3138-424C-81F0-BAF64F0A78A5}"/>
              </a:ext>
            </a:extLst>
          </p:cNvPr>
          <p:cNvSpPr>
            <a:spLocks xmlns:a="http://schemas.openxmlformats.org/drawingml/2006/main" noGrp="1"/>
          </p:cNvSpPr>
          <p:nvPr/>
        </p:nvSpPr>
        <p:spPr>
          <a:xfrm xmlns:a="http://schemas.openxmlformats.org/drawingml/2006/main">
            <a:off x="752475" y="3371850"/>
            <a:ext cx="638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D66F58"/>
                </a:solidFill>
                <a:latin typeface="Jua"/>
                <a:ea typeface="Jua"/>
                <a:cs typeface="Jua"/>
              </a:defRPr>
            </a:defPPr>
          </a:lstStyle>
          <a:p xmlns:a="http://schemas.openxmlformats.org/drawingml/2006/main">
            <a:pPr algn="l">
              <a:defRPr sz="3225" b="0">
                <a:solidFill>
                  <a:srgbClr val="D66F58"/>
                </a:solidFill>
                <a:latin typeface="Jua"/>
                <a:ea typeface="Jua"/>
                <a:cs typeface="Jua"/>
              </a:defRPr>
            </a:pPr>
            <a:r>
              <a:rPr sz="3225" b="0">
                <a:solidFill>
                  <a:srgbClr val="D66F58"/>
                </a:solidFill>
                <a:latin typeface="Jua"/>
                <a:ea typeface="Jua"/>
                <a:cs typeface="Jua"/>
              </a:rPr>
              <a:t>지나도 회수하지 못해요</a:t>
            </a:r>
          </a:p>
        </p:txBody>
      </p:sp>
      <p:sp>
        <p:nvSpPr>
          <p:cNvPr id="5" name="미회수 투자금 2,675만원">
            <a:extLst xmlns:a="http://schemas.openxmlformats.org/drawingml/2006/main">
              <a:ext uri="{FF2B5EF4-FFF2-40B4-BE49-F238E27FC236}">
                <a16:creationId xmlns:a16="http://schemas.microsoft.com/office/drawing/2014/main" id="{4635A1BA-C4B8-4C38-BD36-E503754238E2}"/>
              </a:ext>
            </a:extLst>
          </p:cNvPr>
          <p:cNvSpPr>
            <a:spLocks xmlns:a="http://schemas.openxmlformats.org/drawingml/2006/main" noGrp="1"/>
          </p:cNvSpPr>
          <p:nvPr/>
        </p:nvSpPr>
        <p:spPr>
          <a:xfrm xmlns:a="http://schemas.openxmlformats.org/drawingml/2006/main">
            <a:off x="762000" y="4381500"/>
            <a:ext cx="64389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0">
                <a:solidFill>
                  <a:srgbClr val="254F43"/>
                </a:solidFill>
                <a:latin typeface="Jua"/>
                <a:ea typeface="Jua"/>
                <a:cs typeface="Jua"/>
              </a:defRPr>
            </a:defPPr>
          </a:lstStyle>
          <a:p xmlns:a="http://schemas.openxmlformats.org/drawingml/2006/main">
            <a:pPr algn="l">
              <a:defRPr sz="2775" b="0">
                <a:solidFill>
                  <a:srgbClr val="254F43"/>
                </a:solidFill>
                <a:latin typeface="Jua"/>
                <a:ea typeface="Jua"/>
                <a:cs typeface="Jua"/>
              </a:defRPr>
            </a:pPr>
            <a:r>
              <a:rPr sz="2775" b="0">
                <a:solidFill>
                  <a:srgbClr val="254F43"/>
                </a:solidFill>
                <a:latin typeface="Jua"/>
                <a:ea typeface="Jua"/>
                <a:cs typeface="Jua"/>
              </a:rPr>
              <a:t>미회수 투자금 2,675만원</a:t>
            </a:r>
          </a:p>
        </p:txBody>
      </p:sp>
      <p:sp>
        <p:nvSpPr>
          <p:cNvPr id="6" name="생산량 10% 감소&#10;판매단가 20% 하락&#10;현금 운영비 10% 상승">
            <a:extLst xmlns:a="http://schemas.openxmlformats.org/drawingml/2006/main">
              <a:ext uri="{FF2B5EF4-FFF2-40B4-BE49-F238E27FC236}">
                <a16:creationId xmlns:a16="http://schemas.microsoft.com/office/drawing/2014/main" id="{E6047A61-05E0-4696-8BCC-19459C13D316}"/>
              </a:ext>
            </a:extLst>
          </p:cNvPr>
          <p:cNvSpPr>
            <a:spLocks xmlns:a="http://schemas.openxmlformats.org/drawingml/2006/main" noGrp="1"/>
          </p:cNvSpPr>
          <p:nvPr/>
        </p:nvSpPr>
        <p:spPr>
          <a:xfrm xmlns:a="http://schemas.openxmlformats.org/drawingml/2006/main">
            <a:off x="7839075" y="2133600"/>
            <a:ext cx="37338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254F43"/>
                </a:solidFill>
                <a:latin typeface="Gowun Dodum"/>
                <a:ea typeface="Gowun Dodum"/>
                <a:cs typeface="Gowun Dodum"/>
              </a:defRPr>
            </a:defPPr>
          </a:lstStyle>
          <a:p xmlns:a="http://schemas.openxmlformats.org/drawingml/2006/main">
            <a:pPr algn="l">
              <a:defRPr sz="2475" b="0">
                <a:solidFill>
                  <a:srgbClr val="254F43"/>
                </a:solidFill>
                <a:latin typeface="Gowun Dodum"/>
                <a:ea typeface="Gowun Dodum"/>
                <a:cs typeface="Gowun Dodum"/>
              </a:defRPr>
            </a:pPr>
            <a:r>
              <a:rPr sz="2475" b="0">
                <a:solidFill>
                  <a:srgbClr val="254F43"/>
                </a:solidFill>
                <a:latin typeface="Gowun Dodum"/>
                <a:ea typeface="Gowun Dodum"/>
                <a:cs typeface="Gowun Dodum"/>
              </a:rPr>
              <a:t>생산량 10% 감소</a:t>
            </a:r>
          </a:p>
          <a:p xmlns:a="http://schemas.openxmlformats.org/drawingml/2006/main">
            <a:pPr algn="l">
              <a:defRPr sz="2475" b="0">
                <a:solidFill>
                  <a:srgbClr val="254F43"/>
                </a:solidFill>
                <a:latin typeface="Gowun Dodum"/>
                <a:ea typeface="Gowun Dodum"/>
                <a:cs typeface="Gowun Dodum"/>
              </a:defRPr>
            </a:pPr>
            <a:r>
              <a:rPr sz="2475" b="0">
                <a:solidFill>
                  <a:srgbClr val="254F43"/>
                </a:solidFill>
                <a:latin typeface="Gowun Dodum"/>
                <a:ea typeface="Gowun Dodum"/>
                <a:cs typeface="Gowun Dodum"/>
              </a:rPr>
              <a:t>판매단가 20% 하락</a:t>
            </a:r>
          </a:p>
          <a:p xmlns:a="http://schemas.openxmlformats.org/drawingml/2006/main">
            <a:pPr algn="l">
              <a:defRPr sz="2475" b="0">
                <a:solidFill>
                  <a:srgbClr val="254F43"/>
                </a:solidFill>
                <a:latin typeface="Gowun Dodum"/>
                <a:ea typeface="Gowun Dodum"/>
                <a:cs typeface="Gowun Dodum"/>
              </a:defRPr>
            </a:pPr>
            <a:r>
              <a:rPr sz="2475" b="0">
                <a:solidFill>
                  <a:srgbClr val="254F43"/>
                </a:solidFill>
                <a:latin typeface="Gowun Dodum"/>
                <a:ea typeface="Gowun Dodum"/>
                <a:cs typeface="Gowun Dodum"/>
              </a:rPr>
              <a:t>현금 운영비 10% 상승</a:t>
            </a:r>
          </a:p>
        </p:txBody>
      </p:sp>
      <p:sp>
        <p:nvSpPr>
          <p:cNvPr id="7" name="">
            <a:extLst xmlns:a="http://schemas.openxmlformats.org/drawingml/2006/main">
              <a:ext uri="{FF2B5EF4-FFF2-40B4-BE49-F238E27FC236}">
                <a16:creationId xmlns:a16="http://schemas.microsoft.com/office/drawing/2014/main" id="{CBE9C48F-B00A-4DCB-8F0D-D14F3FF6BD8D}"/>
              </a:ext>
            </a:extLst>
          </p:cNvPr>
          <p:cNvSpPr>
            <a:spLocks xmlns:a="http://schemas.openxmlformats.org/drawingml/2006/main" noGrp="1"/>
          </p:cNvSpPr>
          <p:nvPr/>
        </p:nvSpPr>
        <p:spPr>
          <a:xfrm xmlns:a="http://schemas.openxmlformats.org/drawingml/2006/main">
            <a:off x="723900" y="5400675"/>
            <a:ext cx="10744200" cy="0"/>
          </a:xfrm>
          <a:prstGeom xmlns:a="http://schemas.openxmlformats.org/drawingml/2006/main" prst="line">
            <a:avLst/>
          </a:prstGeom>
          <a:noFill xmlns:a="http://schemas.openxmlformats.org/drawingml/2006/main"/>
          <a:ln xmlns:a="http://schemas.openxmlformats.org/drawingml/2006/main" w="12383">
            <a:solidFill>
              <a:srgbClr val="CEDDD1"/>
            </a:solidFill>
          </a:ln>
        </p:spPr>
      </p:sp>
      <p:sp>
        <p:nvSpPr>
          <p:cNvPr id="8" name="유리한 조건 4년">
            <a:extLst xmlns:a="http://schemas.openxmlformats.org/drawingml/2006/main">
              <a:ext uri="{FF2B5EF4-FFF2-40B4-BE49-F238E27FC236}">
                <a16:creationId xmlns:a16="http://schemas.microsoft.com/office/drawing/2014/main" id="{C4D157B9-0402-413D-8495-E27E1E6C8189}"/>
              </a:ext>
            </a:extLst>
          </p:cNvPr>
          <p:cNvSpPr>
            <a:spLocks xmlns:a="http://schemas.openxmlformats.org/drawingml/2006/main" noGrp="1"/>
          </p:cNvSpPr>
          <p:nvPr/>
        </p:nvSpPr>
        <p:spPr>
          <a:xfrm xmlns:a="http://schemas.openxmlformats.org/drawingml/2006/main">
            <a:off x="752475" y="5819775"/>
            <a:ext cx="47529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46856E"/>
                </a:solidFill>
                <a:latin typeface="Jua"/>
                <a:ea typeface="Jua"/>
                <a:cs typeface="Jua"/>
              </a:defRPr>
            </a:defPPr>
          </a:lstStyle>
          <a:p xmlns:a="http://schemas.openxmlformats.org/drawingml/2006/main">
            <a:pPr algn="l">
              <a:defRPr sz="2625" b="0">
                <a:solidFill>
                  <a:srgbClr val="46856E"/>
                </a:solidFill>
                <a:latin typeface="Jua"/>
                <a:ea typeface="Jua"/>
                <a:cs typeface="Jua"/>
              </a:defRPr>
            </a:pPr>
            <a:r>
              <a:rPr sz="2625" b="0">
                <a:solidFill>
                  <a:srgbClr val="46856E"/>
                </a:solidFill>
                <a:latin typeface="Jua"/>
                <a:ea typeface="Jua"/>
                <a:cs typeface="Jua"/>
              </a:rPr>
              <a:t>유리한 조건 4년</a:t>
            </a:r>
          </a:p>
        </p:txBody>
      </p:sp>
      <p:sp>
        <p:nvSpPr>
          <p:cNvPr id="9" name="기준 조건 6년">
            <a:extLst xmlns:a="http://schemas.openxmlformats.org/drawingml/2006/main">
              <a:ext uri="{FF2B5EF4-FFF2-40B4-BE49-F238E27FC236}">
                <a16:creationId xmlns:a16="http://schemas.microsoft.com/office/drawing/2014/main" id="{C017AEAC-5851-44E6-AB87-79D8128DC093}"/>
              </a:ext>
            </a:extLst>
          </p:cNvPr>
          <p:cNvSpPr>
            <a:spLocks xmlns:a="http://schemas.openxmlformats.org/drawingml/2006/main" noGrp="1"/>
          </p:cNvSpPr>
          <p:nvPr/>
        </p:nvSpPr>
        <p:spPr>
          <a:xfrm xmlns:a="http://schemas.openxmlformats.org/drawingml/2006/main">
            <a:off x="6896100" y="5819775"/>
            <a:ext cx="4572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46856E"/>
                </a:solidFill>
                <a:latin typeface="Jua"/>
                <a:ea typeface="Jua"/>
                <a:cs typeface="Jua"/>
              </a:defRPr>
            </a:defPPr>
          </a:lstStyle>
          <a:p xmlns:a="http://schemas.openxmlformats.org/drawingml/2006/main">
            <a:pPr algn="l">
              <a:defRPr sz="2625" b="0">
                <a:solidFill>
                  <a:srgbClr val="46856E"/>
                </a:solidFill>
                <a:latin typeface="Jua"/>
                <a:ea typeface="Jua"/>
                <a:cs typeface="Jua"/>
              </a:defRPr>
            </a:pPr>
            <a:r>
              <a:rPr sz="2625" b="0">
                <a:solidFill>
                  <a:srgbClr val="46856E"/>
                </a:solidFill>
                <a:latin typeface="Jua"/>
                <a:ea typeface="Jua"/>
                <a:cs typeface="Jua"/>
              </a:rPr>
              <a:t>기준 조건 6년</a:t>
            </a:r>
          </a:p>
        </p:txBody>
      </p:sp>
    </p:spTree>
    <p:extLst>
      <p:ext uri="{BB962C8B-B14F-4D97-AF65-F5344CB8AC3E}">
        <p14:creationId xmlns:p14="http://schemas.microsoft.com/office/powerpoint/2010/main" val="1810281157"/>
      </p:ext>
    </p:extLst>
  </p:cSld>
</p:sld>
</file>

<file path=ppt/slides/slide9.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8" name="가격이 올라도, 저온이 겹친다면?">
            <a:extLst xmlns:a="http://schemas.openxmlformats.org/drawingml/2006/main">
              <a:ext uri="{FF2B5EF4-FFF2-40B4-BE49-F238E27FC236}">
                <a16:creationId xmlns:a16="http://schemas.microsoft.com/office/drawing/2014/main" id="{F72ABB80-6225-49B6-A24D-114395CF05EF}"/>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가격이 올라도, 저온이 겹친다면?</a:t>
            </a:r>
          </a:p>
        </p:txBody>
      </p:sp>
      <p:sp>
        <p:nvSpPr>
          <p:cNvPr id="2" name="09">
            <a:extLst xmlns:a="http://schemas.openxmlformats.org/drawingml/2006/main">
              <a:ext uri="{FF2B5EF4-FFF2-40B4-BE49-F238E27FC236}">
                <a16:creationId xmlns:a16="http://schemas.microsoft.com/office/drawing/2014/main" id="{46638025-0151-4B09-B3A2-2AC3241FBDB2}"/>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09</a:t>
            </a:r>
          </a:p>
        </p:txBody>
      </p:sp>
      <p:sp>
        <p:nvSpPr>
          <p:cNvPr id="3" name="자가노동 비용을 뺀 연소득 · 만원">
            <a:extLst xmlns:a="http://schemas.openxmlformats.org/drawingml/2006/main">
              <a:ext uri="{FF2B5EF4-FFF2-40B4-BE49-F238E27FC236}">
                <a16:creationId xmlns:a16="http://schemas.microsoft.com/office/drawing/2014/main" id="{B1FA9F48-8E5A-4485-9906-781E96A3D54A}"/>
              </a:ext>
            </a:extLst>
          </p:cNvPr>
          <p:cNvSpPr>
            <a:spLocks xmlns:a="http://schemas.openxmlformats.org/drawingml/2006/main" noGrp="1"/>
          </p:cNvSpPr>
          <p:nvPr/>
        </p:nvSpPr>
        <p:spPr>
          <a:xfrm xmlns:a="http://schemas.openxmlformats.org/drawingml/2006/main">
            <a:off x="695325" y="1552575"/>
            <a:ext cx="748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F6C61"/>
                </a:solidFill>
                <a:latin typeface="Gowun Dodum"/>
                <a:ea typeface="Gowun Dodum"/>
                <a:cs typeface="Gowun Dodum"/>
              </a:defRPr>
            </a:defPPr>
          </a:lstStyle>
          <a:p xmlns:a="http://schemas.openxmlformats.org/drawingml/2006/main">
            <a:pPr algn="l">
              <a:defRPr sz="2100" b="0">
                <a:solidFill>
                  <a:srgbClr val="5F6C61"/>
                </a:solidFill>
                <a:latin typeface="Gowun Dodum"/>
                <a:ea typeface="Gowun Dodum"/>
                <a:cs typeface="Gowun Dodum"/>
              </a:defRPr>
            </a:pPr>
            <a:r>
              <a:rPr sz="2100" b="0">
                <a:solidFill>
                  <a:srgbClr val="5F6C61"/>
                </a:solidFill>
                <a:latin typeface="Gowun Dodum"/>
                <a:ea typeface="Gowun Dodum"/>
                <a:cs typeface="Gowun Dodum"/>
              </a:rPr>
              <a:t>자가노동 비용을 뺀 연소득 · 만원</a:t>
            </a:r>
          </a:p>
        </p:txBody>
      </p:sp>
      <p:graphicFrame>
        <p:nvGraphicFramePr>
          <p:cNvPr id="4" name="Chart">
            <a:extLst xmlns:a="http://schemas.openxmlformats.org/drawingml/2006/main">
              <a:ext uri="{FF2B5EF4-FFF2-40B4-BE49-F238E27FC236}">
                <a16:creationId xmlns:a16="http://schemas.microsoft.com/office/drawing/2014/main" id="{D5E54431-1AE5-49A4-89E4-0AB9786A9E1B}"/>
              </a:ext>
            </a:extLst>
          </p:cNvPr>
          <p:cNvGraphicFramePr/>
          <p:nvPr/>
        </p:nvGraphicFramePr>
        <p:xfrm>
          <a:off xmlns:a="http://schemas.openxmlformats.org/drawingml/2006/main" x="561975" y="2181225"/>
          <a:ext xmlns:a="http://schemas.openxmlformats.org/drawingml/2006/main" cx="7334250" cy="3133725"/>
        </p:xfrm>
        <a:graphic xmlns:a="http://schemas.openxmlformats.org/drawingml/2006/main">
          <a:graphicData uri="http://schemas.openxmlformats.org/drawingml/2006/chart">
            <c:chart xmlns:r="http://schemas.openxmlformats.org/officeDocument/2006/relationships" xmlns:c="http://schemas.openxmlformats.org/drawingml/2006/chart" r:id="R2f2cdd4ad2574e26"/>
          </a:graphicData>
        </a:graphic>
      </p:graphicFrame>
      <p:pic>
        <p:nvPicPr>
          <p:cNvPr id="5" name="">
            <a:extLst xmlns:a="http://schemas.openxmlformats.org/drawingml/2006/main">
              <a:ext uri="{FF2B5EF4-FFF2-40B4-BE49-F238E27FC236}">
                <a16:creationId xmlns:a16="http://schemas.microsoft.com/office/drawing/2014/main" id="{2B7093D1-8C8D-4E2B-828E-0035EE3B0D5D}"/>
              </a:ext>
            </a:extLst>
          </p:cNvPr>
          <p:cNvPicPr>
            <a:picLocks xmlns:a="http://schemas.openxmlformats.org/drawingml/2006/main" noChangeAspect="1"/>
          </p:cNvPicPr>
          <p:nvPr/>
        </p:nvPicPr>
        <p:blipFill>
          <a:blip xmlns:r="http://schemas.openxmlformats.org/officeDocument/2006/relationships" xmlns:a="http://schemas.openxmlformats.org/drawingml/2006/main" r:embed="R175358f223334f47"/>
          <a:stretch xmlns:a="http://schemas.openxmlformats.org/drawingml/2006/main"/>
        </p:blipFill>
        <p:spPr>
          <a:xfrm xmlns:a="http://schemas.openxmlformats.org/drawingml/2006/main">
            <a:off x="7991475" y="2316956"/>
            <a:ext cx="3943350" cy="2957513"/>
          </a:xfrm>
          <a:prstGeom xmlns:a="http://schemas.openxmlformats.org/drawingml/2006/main" prst="rect">
            <a:avLst/>
          </a:prstGeom>
        </p:spPr>
      </p:pic>
      <p:sp>
        <p:nvSpPr>
          <p:cNvPr id="6" name="가격 +8.6%, 저온 시 생산 −10%·현금 운영비 +15%를 가정했습니다.">
            <a:extLst xmlns:a="http://schemas.openxmlformats.org/drawingml/2006/main">
              <a:ext uri="{FF2B5EF4-FFF2-40B4-BE49-F238E27FC236}">
                <a16:creationId xmlns:a16="http://schemas.microsoft.com/office/drawing/2014/main" id="{EA50B953-7E9B-470F-81CC-9690E1B780C0}"/>
              </a:ext>
            </a:extLst>
          </p:cNvPr>
          <p:cNvSpPr>
            <a:spLocks xmlns:a="http://schemas.openxmlformats.org/drawingml/2006/main" noGrp="1"/>
          </p:cNvSpPr>
          <p:nvPr/>
        </p:nvSpPr>
        <p:spPr>
          <a:xfrm xmlns:a="http://schemas.openxmlformats.org/drawingml/2006/main">
            <a:off x="704850" y="5829300"/>
            <a:ext cx="1071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54F43"/>
                </a:solidFill>
                <a:latin typeface="Gowun Dodum"/>
                <a:ea typeface="Gowun Dodum"/>
                <a:cs typeface="Gowun Dodum"/>
              </a:defRPr>
            </a:defPPr>
          </a:lstStyle>
          <a:p xmlns:a="http://schemas.openxmlformats.org/drawingml/2006/main">
            <a:pPr algn="l">
              <a:defRPr sz="1950" b="0">
                <a:solidFill>
                  <a:srgbClr val="254F43"/>
                </a:solidFill>
                <a:latin typeface="Gowun Dodum"/>
                <a:ea typeface="Gowun Dodum"/>
                <a:cs typeface="Gowun Dodum"/>
              </a:defRPr>
            </a:pPr>
            <a:r>
              <a:rPr sz="1950" b="0">
                <a:solidFill>
                  <a:srgbClr val="254F43"/>
                </a:solidFill>
                <a:latin typeface="Gowun Dodum"/>
                <a:ea typeface="Gowun Dodum"/>
                <a:cs typeface="Gowun Dodum"/>
              </a:rPr>
              <a:t>가격 +8.6%, 저온 시 생산 −10%·현금 운영비 +15%를 가정했습니다.</a:t>
            </a:r>
          </a:p>
        </p:txBody>
      </p:sp>
      <p:sp>
        <p:nvSpPr>
          <p:cNvPr id="7" name="실제 가격·저온 효과를 입증한 예측은 아닙니다.">
            <a:extLst xmlns:a="http://schemas.openxmlformats.org/drawingml/2006/main">
              <a:ext uri="{FF2B5EF4-FFF2-40B4-BE49-F238E27FC236}">
                <a16:creationId xmlns:a16="http://schemas.microsoft.com/office/drawing/2014/main" id="{C3D9F055-6130-49C3-A8DD-34D0C3C62E52}"/>
              </a:ext>
            </a:extLst>
          </p:cNvPr>
          <p:cNvSpPr>
            <a:spLocks xmlns:a="http://schemas.openxmlformats.org/drawingml/2006/main" noGrp="1"/>
          </p:cNvSpPr>
          <p:nvPr/>
        </p:nvSpPr>
        <p:spPr>
          <a:xfrm xmlns:a="http://schemas.openxmlformats.org/drawingml/2006/main">
            <a:off x="704850" y="6286500"/>
            <a:ext cx="10715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F6C61"/>
                </a:solidFill>
                <a:latin typeface="Gowun Dodum"/>
                <a:ea typeface="Gowun Dodum"/>
                <a:cs typeface="Gowun Dodum"/>
              </a:defRPr>
            </a:defPPr>
          </a:lstStyle>
          <a:p xmlns:a="http://schemas.openxmlformats.org/drawingml/2006/main">
            <a:pPr algn="l">
              <a:defRPr sz="1800" b="0">
                <a:solidFill>
                  <a:srgbClr val="5F6C61"/>
                </a:solidFill>
                <a:latin typeface="Gowun Dodum"/>
                <a:ea typeface="Gowun Dodum"/>
                <a:cs typeface="Gowun Dodum"/>
              </a:defRPr>
            </a:pPr>
            <a:r>
              <a:rPr sz="1800" b="0">
                <a:solidFill>
                  <a:srgbClr val="5F6C61"/>
                </a:solidFill>
                <a:latin typeface="Gowun Dodum"/>
                <a:ea typeface="Gowun Dodum"/>
                <a:cs typeface="Gowun Dodum"/>
              </a:rPr>
              <a:t>실제 가격·저온 효과를 입증한 예측은 아닙니다.</a:t>
            </a:r>
          </a:p>
        </p:txBody>
      </p:sp>
    </p:spTree>
    <p:extLst>
      <p:ext uri="{BB962C8B-B14F-4D97-AF65-F5344CB8AC3E}">
        <p14:creationId xmlns:p14="http://schemas.microsoft.com/office/powerpoint/2010/main" val="2092034017"/>
      </p:ext>
    </p:extLst>
  </p:cSld>
</p:sld>
</file>

<file path=ppt/slides/slide10.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1" name="AI가 언제나 더 정확하지는 않았어요">
            <a:extLst xmlns:a="http://schemas.openxmlformats.org/drawingml/2006/main">
              <a:ext uri="{FF2B5EF4-FFF2-40B4-BE49-F238E27FC236}">
                <a16:creationId xmlns:a16="http://schemas.microsoft.com/office/drawing/2014/main" id="{A8ACBE01-5CD5-4C51-9D8D-A43E1B5E00A0}"/>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AI가 언제나 더 정확하지는 않았어요</a:t>
            </a:r>
          </a:p>
        </p:txBody>
      </p:sp>
      <p:sp>
        <p:nvSpPr>
          <p:cNvPr id="2" name="10">
            <a:extLst xmlns:a="http://schemas.openxmlformats.org/drawingml/2006/main">
              <a:ext uri="{FF2B5EF4-FFF2-40B4-BE49-F238E27FC236}">
                <a16:creationId xmlns:a16="http://schemas.microsoft.com/office/drawing/2014/main" id="{F7DEDC66-2525-46EF-A299-8175A1A639E6}"/>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10</a:t>
            </a:r>
          </a:p>
        </p:txBody>
      </p:sp>
      <p:sp>
        <p:nvSpPr>
          <p:cNvPr id="3" name="과거의&#10;보통값이&#10;더 나을 때도.">
            <a:extLst xmlns:a="http://schemas.openxmlformats.org/drawingml/2006/main">
              <a:ext uri="{FF2B5EF4-FFF2-40B4-BE49-F238E27FC236}">
                <a16:creationId xmlns:a16="http://schemas.microsoft.com/office/drawing/2014/main" id="{A12D7059-E8C6-46F9-9556-D94520D3BB04}"/>
              </a:ext>
            </a:extLst>
          </p:cNvPr>
          <p:cNvSpPr>
            <a:spLocks xmlns:a="http://schemas.openxmlformats.org/drawingml/2006/main" noGrp="1"/>
          </p:cNvSpPr>
          <p:nvPr/>
        </p:nvSpPr>
        <p:spPr>
          <a:xfrm xmlns:a="http://schemas.openxmlformats.org/drawingml/2006/main">
            <a:off x="695325" y="1924050"/>
            <a:ext cx="572452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0">
                <a:solidFill>
                  <a:srgbClr val="46856E"/>
                </a:solidFill>
                <a:latin typeface="Jua"/>
                <a:ea typeface="Jua"/>
                <a:cs typeface="Jua"/>
              </a:defRPr>
            </a:defPPr>
          </a:lstStyle>
          <a:p xmlns:a="http://schemas.openxmlformats.org/drawingml/2006/main">
            <a:pPr algn="l">
              <a:defRPr sz="5100" b="0">
                <a:solidFill>
                  <a:srgbClr val="46856E"/>
                </a:solidFill>
                <a:latin typeface="Jua"/>
                <a:ea typeface="Jua"/>
                <a:cs typeface="Jua"/>
              </a:defRPr>
            </a:pPr>
            <a:r>
              <a:rPr sz="5100" b="0">
                <a:solidFill>
                  <a:srgbClr val="46856E"/>
                </a:solidFill>
                <a:latin typeface="Jua"/>
                <a:ea typeface="Jua"/>
                <a:cs typeface="Jua"/>
              </a:rPr>
              <a:t>과거의</a:t>
            </a:r>
          </a:p>
          <a:p xmlns:a="http://schemas.openxmlformats.org/drawingml/2006/main">
            <a:pPr algn="l">
              <a:defRPr sz="5100" b="0">
                <a:solidFill>
                  <a:srgbClr val="46856E"/>
                </a:solidFill>
                <a:latin typeface="Jua"/>
                <a:ea typeface="Jua"/>
                <a:cs typeface="Jua"/>
              </a:defRPr>
            </a:pPr>
            <a:r>
              <a:rPr sz="5100" b="0">
                <a:solidFill>
                  <a:srgbClr val="46856E"/>
                </a:solidFill>
                <a:latin typeface="Jua"/>
                <a:ea typeface="Jua"/>
                <a:cs typeface="Jua"/>
              </a:rPr>
              <a:t>보통값이</a:t>
            </a:r>
          </a:p>
          <a:p xmlns:a="http://schemas.openxmlformats.org/drawingml/2006/main">
            <a:pPr algn="l">
              <a:defRPr sz="5100" b="0">
                <a:solidFill>
                  <a:srgbClr val="46856E"/>
                </a:solidFill>
                <a:latin typeface="Jua"/>
                <a:ea typeface="Jua"/>
                <a:cs typeface="Jua"/>
              </a:defRPr>
            </a:pPr>
            <a:r>
              <a:rPr sz="5100" b="0">
                <a:solidFill>
                  <a:srgbClr val="46856E"/>
                </a:solidFill>
                <a:latin typeface="Jua"/>
                <a:ea typeface="Jua"/>
                <a:cs typeface="Jua"/>
              </a:rPr>
              <a:t>더 나을 때도.</a:t>
            </a:r>
          </a:p>
        </p:txBody>
      </p:sp>
      <p:sp>
        <p:nvSpPr>
          <p:cNvPr id="4" name="생산량">
            <a:extLst xmlns:a="http://schemas.openxmlformats.org/drawingml/2006/main">
              <a:ext uri="{FF2B5EF4-FFF2-40B4-BE49-F238E27FC236}">
                <a16:creationId xmlns:a16="http://schemas.microsoft.com/office/drawing/2014/main" id="{2FA6EA35-76B5-4BBA-9BF5-29817F6D38FE}"/>
              </a:ext>
            </a:extLst>
          </p:cNvPr>
          <p:cNvSpPr>
            <a:spLocks xmlns:a="http://schemas.openxmlformats.org/drawingml/2006/main" noGrp="1"/>
          </p:cNvSpPr>
          <p:nvPr/>
        </p:nvSpPr>
        <p:spPr>
          <a:xfrm xmlns:a="http://schemas.openxmlformats.org/drawingml/2006/main">
            <a:off x="6705600" y="1990725"/>
            <a:ext cx="47720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D66F58"/>
                </a:solidFill>
                <a:latin typeface="Jua"/>
                <a:ea typeface="Jua"/>
                <a:cs typeface="Jua"/>
              </a:defRPr>
            </a:defPPr>
          </a:lstStyle>
          <a:p xmlns:a="http://schemas.openxmlformats.org/drawingml/2006/main">
            <a:pPr algn="l">
              <a:defRPr sz="2700" b="0">
                <a:solidFill>
                  <a:srgbClr val="D66F58"/>
                </a:solidFill>
                <a:latin typeface="Jua"/>
                <a:ea typeface="Jua"/>
                <a:cs typeface="Jua"/>
              </a:defRPr>
            </a:pPr>
            <a:r>
              <a:rPr sz="2700" b="0">
                <a:solidFill>
                  <a:srgbClr val="D66F58"/>
                </a:solidFill>
                <a:latin typeface="Jua"/>
                <a:ea typeface="Jua"/>
                <a:cs typeface="Jua"/>
              </a:rPr>
              <a:t>생산량</a:t>
            </a:r>
          </a:p>
        </p:txBody>
      </p:sp>
      <p:sp>
        <p:nvSpPr>
          <p:cNvPr id="5" name="소득조사에서는 과거 중앙값이 우세">
            <a:extLst xmlns:a="http://schemas.openxmlformats.org/drawingml/2006/main">
              <a:ext uri="{FF2B5EF4-FFF2-40B4-BE49-F238E27FC236}">
                <a16:creationId xmlns:a16="http://schemas.microsoft.com/office/drawing/2014/main" id="{A10D01C8-3844-4DC4-9004-9CEB1F9750D4}"/>
              </a:ext>
            </a:extLst>
          </p:cNvPr>
          <p:cNvSpPr>
            <a:spLocks xmlns:a="http://schemas.openxmlformats.org/drawingml/2006/main" noGrp="1"/>
          </p:cNvSpPr>
          <p:nvPr/>
        </p:nvSpPr>
        <p:spPr>
          <a:xfrm xmlns:a="http://schemas.openxmlformats.org/drawingml/2006/main">
            <a:off x="6724650" y="2609850"/>
            <a:ext cx="47434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54F43"/>
                </a:solidFill>
                <a:latin typeface="Gowun Dodum"/>
                <a:ea typeface="Gowun Dodum"/>
                <a:cs typeface="Gowun Dodum"/>
              </a:defRPr>
            </a:defPPr>
          </a:lstStyle>
          <a:p xmlns:a="http://schemas.openxmlformats.org/drawingml/2006/main">
            <a:pPr algn="l">
              <a:defRPr sz="2100" b="0">
                <a:solidFill>
                  <a:srgbClr val="254F43"/>
                </a:solidFill>
                <a:latin typeface="Gowun Dodum"/>
                <a:ea typeface="Gowun Dodum"/>
                <a:cs typeface="Gowun Dodum"/>
              </a:defRPr>
            </a:pPr>
            <a:r>
              <a:rPr sz="2100" b="0">
                <a:solidFill>
                  <a:srgbClr val="254F43"/>
                </a:solidFill>
                <a:latin typeface="Gowun Dodum"/>
                <a:ea typeface="Gowun Dodum"/>
                <a:cs typeface="Gowun Dodum"/>
              </a:rPr>
              <a:t>소득조사에서는 과거 중앙값이 우세</a:t>
            </a:r>
          </a:p>
        </p:txBody>
      </p:sp>
      <p:sp>
        <p:nvSpPr>
          <p:cNvPr id="6" name="첫 출하 시점">
            <a:extLst xmlns:a="http://schemas.openxmlformats.org/drawingml/2006/main">
              <a:ext uri="{FF2B5EF4-FFF2-40B4-BE49-F238E27FC236}">
                <a16:creationId xmlns:a16="http://schemas.microsoft.com/office/drawing/2014/main" id="{971CD560-7C8F-4F68-9039-123AC4D981D4}"/>
              </a:ext>
            </a:extLst>
          </p:cNvPr>
          <p:cNvSpPr>
            <a:spLocks xmlns:a="http://schemas.openxmlformats.org/drawingml/2006/main" noGrp="1"/>
          </p:cNvSpPr>
          <p:nvPr/>
        </p:nvSpPr>
        <p:spPr>
          <a:xfrm xmlns:a="http://schemas.openxmlformats.org/drawingml/2006/main">
            <a:off x="6705600" y="3362325"/>
            <a:ext cx="47720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D66F58"/>
                </a:solidFill>
                <a:latin typeface="Jua"/>
                <a:ea typeface="Jua"/>
                <a:cs typeface="Jua"/>
              </a:defRPr>
            </a:defPPr>
          </a:lstStyle>
          <a:p xmlns:a="http://schemas.openxmlformats.org/drawingml/2006/main">
            <a:pPr algn="l">
              <a:defRPr sz="2700" b="0">
                <a:solidFill>
                  <a:srgbClr val="D66F58"/>
                </a:solidFill>
                <a:latin typeface="Jua"/>
                <a:ea typeface="Jua"/>
                <a:cs typeface="Jua"/>
              </a:defRPr>
            </a:pPr>
            <a:r>
              <a:rPr sz="2700" b="0">
                <a:solidFill>
                  <a:srgbClr val="D66F58"/>
                </a:solidFill>
                <a:latin typeface="Jua"/>
                <a:ea typeface="Jua"/>
                <a:cs typeface="Jua"/>
              </a:rPr>
              <a:t>첫 출하 시점</a:t>
            </a:r>
          </a:p>
        </p:txBody>
      </p:sp>
      <p:sp>
        <p:nvSpPr>
          <p:cNvPr id="7" name="품목·정식월의 중앙값이 우세">
            <a:extLst xmlns:a="http://schemas.openxmlformats.org/drawingml/2006/main">
              <a:ext uri="{FF2B5EF4-FFF2-40B4-BE49-F238E27FC236}">
                <a16:creationId xmlns:a16="http://schemas.microsoft.com/office/drawing/2014/main" id="{076BAFEE-30D0-4E59-B46C-12B0E9A3D822}"/>
              </a:ext>
            </a:extLst>
          </p:cNvPr>
          <p:cNvSpPr>
            <a:spLocks xmlns:a="http://schemas.openxmlformats.org/drawingml/2006/main" noGrp="1"/>
          </p:cNvSpPr>
          <p:nvPr/>
        </p:nvSpPr>
        <p:spPr>
          <a:xfrm xmlns:a="http://schemas.openxmlformats.org/drawingml/2006/main">
            <a:off x="6724650" y="3981450"/>
            <a:ext cx="47434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54F43"/>
                </a:solidFill>
                <a:latin typeface="Gowun Dodum"/>
                <a:ea typeface="Gowun Dodum"/>
                <a:cs typeface="Gowun Dodum"/>
              </a:defRPr>
            </a:defPPr>
          </a:lstStyle>
          <a:p xmlns:a="http://schemas.openxmlformats.org/drawingml/2006/main">
            <a:pPr algn="l">
              <a:defRPr sz="2100" b="0">
                <a:solidFill>
                  <a:srgbClr val="254F43"/>
                </a:solidFill>
                <a:latin typeface="Gowun Dodum"/>
                <a:ea typeface="Gowun Dodum"/>
                <a:cs typeface="Gowun Dodum"/>
              </a:defRPr>
            </a:pPr>
            <a:r>
              <a:rPr sz="2100" b="0">
                <a:solidFill>
                  <a:srgbClr val="254F43"/>
                </a:solidFill>
                <a:latin typeface="Gowun Dodum"/>
                <a:ea typeface="Gowun Dodum"/>
                <a:cs typeface="Gowun Dodum"/>
              </a:rPr>
              <a:t>품목·정식월의 중앙값이 우세</a:t>
            </a:r>
          </a:p>
        </p:txBody>
      </p:sp>
      <p:sp>
        <p:nvSpPr>
          <p:cNvPr id="8" name="판매가격">
            <a:extLst xmlns:a="http://schemas.openxmlformats.org/drawingml/2006/main">
              <a:ext uri="{FF2B5EF4-FFF2-40B4-BE49-F238E27FC236}">
                <a16:creationId xmlns:a16="http://schemas.microsoft.com/office/drawing/2014/main" id="{12AF831F-5104-4245-B279-473FEE01BF77}"/>
              </a:ext>
            </a:extLst>
          </p:cNvPr>
          <p:cNvSpPr>
            <a:spLocks xmlns:a="http://schemas.openxmlformats.org/drawingml/2006/main" noGrp="1"/>
          </p:cNvSpPr>
          <p:nvPr/>
        </p:nvSpPr>
        <p:spPr>
          <a:xfrm xmlns:a="http://schemas.openxmlformats.org/drawingml/2006/main">
            <a:off x="6705600" y="4733925"/>
            <a:ext cx="47720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D66F58"/>
                </a:solidFill>
                <a:latin typeface="Jua"/>
                <a:ea typeface="Jua"/>
                <a:cs typeface="Jua"/>
              </a:defRPr>
            </a:defPPr>
          </a:lstStyle>
          <a:p xmlns:a="http://schemas.openxmlformats.org/drawingml/2006/main">
            <a:pPr algn="l">
              <a:defRPr sz="2700" b="0">
                <a:solidFill>
                  <a:srgbClr val="D66F58"/>
                </a:solidFill>
                <a:latin typeface="Jua"/>
                <a:ea typeface="Jua"/>
                <a:cs typeface="Jua"/>
              </a:defRPr>
            </a:pPr>
            <a:r>
              <a:rPr sz="2700" b="0">
                <a:solidFill>
                  <a:srgbClr val="D66F58"/>
                </a:solidFill>
                <a:latin typeface="Jua"/>
                <a:ea typeface="Jua"/>
                <a:cs typeface="Jua"/>
              </a:rPr>
              <a:t>판매가격</a:t>
            </a:r>
          </a:p>
        </p:txBody>
      </p:sp>
      <p:sp>
        <p:nvSpPr>
          <p:cNvPr id="9" name="같은 달의 최근 가격이 우세">
            <a:extLst xmlns:a="http://schemas.openxmlformats.org/drawingml/2006/main">
              <a:ext uri="{FF2B5EF4-FFF2-40B4-BE49-F238E27FC236}">
                <a16:creationId xmlns:a16="http://schemas.microsoft.com/office/drawing/2014/main" id="{442E41FE-FED2-4ED7-B47B-6767EFEA901C}"/>
              </a:ext>
            </a:extLst>
          </p:cNvPr>
          <p:cNvSpPr>
            <a:spLocks xmlns:a="http://schemas.openxmlformats.org/drawingml/2006/main" noGrp="1"/>
          </p:cNvSpPr>
          <p:nvPr/>
        </p:nvSpPr>
        <p:spPr>
          <a:xfrm xmlns:a="http://schemas.openxmlformats.org/drawingml/2006/main">
            <a:off x="6724650" y="5353050"/>
            <a:ext cx="47434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54F43"/>
                </a:solidFill>
                <a:latin typeface="Gowun Dodum"/>
                <a:ea typeface="Gowun Dodum"/>
                <a:cs typeface="Gowun Dodum"/>
              </a:defRPr>
            </a:defPPr>
          </a:lstStyle>
          <a:p xmlns:a="http://schemas.openxmlformats.org/drawingml/2006/main">
            <a:pPr algn="l">
              <a:defRPr sz="2100" b="0">
                <a:solidFill>
                  <a:srgbClr val="254F43"/>
                </a:solidFill>
                <a:latin typeface="Gowun Dodum"/>
                <a:ea typeface="Gowun Dodum"/>
                <a:cs typeface="Gowun Dodum"/>
              </a:defRPr>
            </a:pPr>
            <a:r>
              <a:rPr sz="2100" b="0">
                <a:solidFill>
                  <a:srgbClr val="254F43"/>
                </a:solidFill>
                <a:latin typeface="Gowun Dodum"/>
                <a:ea typeface="Gowun Dodum"/>
                <a:cs typeface="Gowun Dodum"/>
              </a:rPr>
              <a:t>같은 달의 최근 가격이 우세</a:t>
            </a:r>
          </a:p>
        </p:txBody>
      </p:sp>
      <p:sp>
        <p:nvSpPr>
          <p:cNvPr id="10" name="단순한 기준과 같은 조건에서 비교한 뒤, 더 나은 방법을 선택합니다.">
            <a:extLst xmlns:a="http://schemas.openxmlformats.org/drawingml/2006/main">
              <a:ext uri="{FF2B5EF4-FFF2-40B4-BE49-F238E27FC236}">
                <a16:creationId xmlns:a16="http://schemas.microsoft.com/office/drawing/2014/main" id="{81BC346B-8BF1-472A-B191-DC236D0DE31A}"/>
              </a:ext>
            </a:extLst>
          </p:cNvPr>
          <p:cNvSpPr>
            <a:spLocks xmlns:a="http://schemas.openxmlformats.org/drawingml/2006/main" noGrp="1"/>
          </p:cNvSpPr>
          <p:nvPr/>
        </p:nvSpPr>
        <p:spPr>
          <a:xfrm xmlns:a="http://schemas.openxmlformats.org/drawingml/2006/main">
            <a:off x="714375" y="5962650"/>
            <a:ext cx="10734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F6C61"/>
                </a:solidFill>
                <a:latin typeface="Gowun Dodum"/>
                <a:ea typeface="Gowun Dodum"/>
                <a:cs typeface="Gowun Dodum"/>
              </a:defRPr>
            </a:defPPr>
          </a:lstStyle>
          <a:p xmlns:a="http://schemas.openxmlformats.org/drawingml/2006/main">
            <a:pPr algn="l">
              <a:defRPr sz="2100" b="0">
                <a:solidFill>
                  <a:srgbClr val="5F6C61"/>
                </a:solidFill>
                <a:latin typeface="Gowun Dodum"/>
                <a:ea typeface="Gowun Dodum"/>
                <a:cs typeface="Gowun Dodum"/>
              </a:defRPr>
            </a:pPr>
            <a:r>
              <a:rPr sz="2100" b="0">
                <a:solidFill>
                  <a:srgbClr val="5F6C61"/>
                </a:solidFill>
                <a:latin typeface="Gowun Dodum"/>
                <a:ea typeface="Gowun Dodum"/>
                <a:cs typeface="Gowun Dodum"/>
              </a:rPr>
              <a:t>단순한 기준과 같은 조건에서 비교한 뒤, 더 나은 방법을 선택합니다.</a:t>
            </a:r>
          </a:p>
        </p:txBody>
      </p:sp>
    </p:spTree>
    <p:extLst>
      <p:ext uri="{BB962C8B-B14F-4D97-AF65-F5344CB8AC3E}">
        <p14:creationId xmlns:p14="http://schemas.microsoft.com/office/powerpoint/2010/main" val="882251335"/>
      </p:ext>
    </p:extLst>
  </p:cSld>
</p:sld>
</file>

<file path=ppt/slides/slide1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9" name="아주 큰 기록은, 먼저 확인해요">
            <a:extLst xmlns:a="http://schemas.openxmlformats.org/drawingml/2006/main">
              <a:ext uri="{FF2B5EF4-FFF2-40B4-BE49-F238E27FC236}">
                <a16:creationId xmlns:a16="http://schemas.microsoft.com/office/drawing/2014/main" id="{9924BCF6-D27E-40E8-894D-4D8087171F66}"/>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아주 큰 기록은, 먼저 확인해요</a:t>
            </a:r>
          </a:p>
        </p:txBody>
      </p:sp>
      <p:sp>
        <p:nvSpPr>
          <p:cNvPr id="2" name="11">
            <a:extLst xmlns:a="http://schemas.openxmlformats.org/drawingml/2006/main">
              <a:ext uri="{FF2B5EF4-FFF2-40B4-BE49-F238E27FC236}">
                <a16:creationId xmlns:a16="http://schemas.microsoft.com/office/drawing/2014/main" id="{8C7DFCB4-D6C6-4B37-B442-50681037F8E7}"/>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11</a:t>
            </a:r>
          </a:p>
        </p:txBody>
      </p:sp>
      <p:pic>
        <p:nvPicPr>
          <p:cNvPr id="3" name="">
            <a:extLst xmlns:a="http://schemas.openxmlformats.org/drawingml/2006/main">
              <a:ext uri="{FF2B5EF4-FFF2-40B4-BE49-F238E27FC236}">
                <a16:creationId xmlns:a16="http://schemas.microsoft.com/office/drawing/2014/main" id="{7E67AEBB-618C-4D11-A552-F2FD5C31F292}"/>
              </a:ext>
            </a:extLst>
          </p:cNvPr>
          <p:cNvPicPr>
            <a:picLocks xmlns:a="http://schemas.openxmlformats.org/drawingml/2006/main" noChangeAspect="1"/>
          </p:cNvPicPr>
          <p:nvPr/>
        </p:nvPicPr>
        <p:blipFill>
          <a:blip xmlns:r="http://schemas.openxmlformats.org/officeDocument/2006/relationships" xmlns:a="http://schemas.openxmlformats.org/drawingml/2006/main" r:embed="R9659a44ea9964e87"/>
          <a:stretch xmlns:a="http://schemas.openxmlformats.org/drawingml/2006/main"/>
        </p:blipFill>
        <p:spPr>
          <a:xfrm xmlns:a="http://schemas.openxmlformats.org/drawingml/2006/main">
            <a:off x="231775" y="1800225"/>
            <a:ext cx="5499100" cy="4124325"/>
          </a:xfrm>
          <a:prstGeom xmlns:a="http://schemas.openxmlformats.org/drawingml/2006/main" prst="rect">
            <a:avLst/>
          </a:prstGeom>
        </p:spPr>
      </p:pic>
      <p:sp>
        <p:nvSpPr>
          <p:cNvPr id="4" name="딸기 출하 기록 1건">
            <a:extLst xmlns:a="http://schemas.openxmlformats.org/drawingml/2006/main">
              <a:ext uri="{FF2B5EF4-FFF2-40B4-BE49-F238E27FC236}">
                <a16:creationId xmlns:a16="http://schemas.microsoft.com/office/drawing/2014/main" id="{F7E3B5E9-D872-4FC9-8BF5-8D300511BAC0}"/>
              </a:ext>
            </a:extLst>
          </p:cNvPr>
          <p:cNvSpPr>
            <a:spLocks xmlns:a="http://schemas.openxmlformats.org/drawingml/2006/main" noGrp="1"/>
          </p:cNvSpPr>
          <p:nvPr/>
        </p:nvSpPr>
        <p:spPr>
          <a:xfrm xmlns:a="http://schemas.openxmlformats.org/drawingml/2006/main">
            <a:off x="6162675" y="1838325"/>
            <a:ext cx="5381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F6C61"/>
                </a:solidFill>
                <a:latin typeface="Gowun Dodum"/>
                <a:ea typeface="Gowun Dodum"/>
                <a:cs typeface="Gowun Dodum"/>
              </a:defRPr>
            </a:defPPr>
          </a:lstStyle>
          <a:p xmlns:a="http://schemas.openxmlformats.org/drawingml/2006/main">
            <a:pPr algn="l">
              <a:defRPr sz="2175" b="0">
                <a:solidFill>
                  <a:srgbClr val="5F6C61"/>
                </a:solidFill>
                <a:latin typeface="Gowun Dodum"/>
                <a:ea typeface="Gowun Dodum"/>
                <a:cs typeface="Gowun Dodum"/>
              </a:defRPr>
            </a:pPr>
            <a:r>
              <a:rPr sz="2175" b="0">
                <a:solidFill>
                  <a:srgbClr val="5F6C61"/>
                </a:solidFill>
                <a:latin typeface="Gowun Dodum"/>
                <a:ea typeface="Gowun Dodum"/>
                <a:cs typeface="Gowun Dodum"/>
              </a:rPr>
              <a:t>딸기 출하 기록 1건</a:t>
            </a:r>
          </a:p>
        </p:txBody>
      </p:sp>
      <p:sp>
        <p:nvSpPr>
          <p:cNvPr id="5" name="약 1,460만 kg">
            <a:extLst xmlns:a="http://schemas.openxmlformats.org/drawingml/2006/main">
              <a:ext uri="{FF2B5EF4-FFF2-40B4-BE49-F238E27FC236}">
                <a16:creationId xmlns:a16="http://schemas.microsoft.com/office/drawing/2014/main" id="{EA90F3CD-5231-4AB0-B3DF-29161F508983}"/>
              </a:ext>
            </a:extLst>
          </p:cNvPr>
          <p:cNvSpPr>
            <a:spLocks xmlns:a="http://schemas.openxmlformats.org/drawingml/2006/main" noGrp="1"/>
          </p:cNvSpPr>
          <p:nvPr/>
        </p:nvSpPr>
        <p:spPr>
          <a:xfrm xmlns:a="http://schemas.openxmlformats.org/drawingml/2006/main">
            <a:off x="6124575" y="2400300"/>
            <a:ext cx="5505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0">
                <a:solidFill>
                  <a:srgbClr val="D66F58"/>
                </a:solidFill>
                <a:latin typeface="Jua"/>
                <a:ea typeface="Jua"/>
                <a:cs typeface="Jua"/>
              </a:defRPr>
            </a:defPPr>
          </a:lstStyle>
          <a:p xmlns:a="http://schemas.openxmlformats.org/drawingml/2006/main">
            <a:pPr algn="l">
              <a:defRPr sz="4050" b="0">
                <a:solidFill>
                  <a:srgbClr val="D66F58"/>
                </a:solidFill>
                <a:latin typeface="Jua"/>
                <a:ea typeface="Jua"/>
                <a:cs typeface="Jua"/>
              </a:defRPr>
            </a:pPr>
            <a:r>
              <a:rPr sz="4050" b="0">
                <a:solidFill>
                  <a:srgbClr val="D66F58"/>
                </a:solidFill>
                <a:latin typeface="Jua"/>
                <a:ea typeface="Jua"/>
                <a:cs typeface="Jua"/>
              </a:rPr>
              <a:t>약 1,460만 kg</a:t>
            </a:r>
          </a:p>
        </p:txBody>
      </p:sp>
      <p:sp>
        <p:nvSpPr>
          <p:cNvPr id="6" name="5품목 매출 기록 중 1건">
            <a:extLst xmlns:a="http://schemas.openxmlformats.org/drawingml/2006/main">
              <a:ext uri="{FF2B5EF4-FFF2-40B4-BE49-F238E27FC236}">
                <a16:creationId xmlns:a16="http://schemas.microsoft.com/office/drawing/2014/main" id="{E654E1D0-17DB-4C0D-91B2-FEB53819A98C}"/>
              </a:ext>
            </a:extLst>
          </p:cNvPr>
          <p:cNvSpPr>
            <a:spLocks xmlns:a="http://schemas.openxmlformats.org/drawingml/2006/main" noGrp="1"/>
          </p:cNvSpPr>
          <p:nvPr/>
        </p:nvSpPr>
        <p:spPr>
          <a:xfrm xmlns:a="http://schemas.openxmlformats.org/drawingml/2006/main">
            <a:off x="6162675" y="3667125"/>
            <a:ext cx="5381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F6C61"/>
                </a:solidFill>
                <a:latin typeface="Gowun Dodum"/>
                <a:ea typeface="Gowun Dodum"/>
                <a:cs typeface="Gowun Dodum"/>
              </a:defRPr>
            </a:defPPr>
          </a:lstStyle>
          <a:p xmlns:a="http://schemas.openxmlformats.org/drawingml/2006/main">
            <a:pPr algn="l">
              <a:defRPr sz="2175" b="0">
                <a:solidFill>
                  <a:srgbClr val="5F6C61"/>
                </a:solidFill>
                <a:latin typeface="Gowun Dodum"/>
                <a:ea typeface="Gowun Dodum"/>
                <a:cs typeface="Gowun Dodum"/>
              </a:defRPr>
            </a:pPr>
            <a:r>
              <a:rPr sz="2175" b="0">
                <a:solidFill>
                  <a:srgbClr val="5F6C61"/>
                </a:solidFill>
                <a:latin typeface="Gowun Dodum"/>
                <a:ea typeface="Gowun Dodum"/>
                <a:cs typeface="Gowun Dodum"/>
              </a:rPr>
              <a:t>5품목 매출 기록 중 1건</a:t>
            </a:r>
          </a:p>
        </p:txBody>
      </p:sp>
      <p:sp>
        <p:nvSpPr>
          <p:cNvPr id="7" name="약 2,336억원">
            <a:extLst xmlns:a="http://schemas.openxmlformats.org/drawingml/2006/main">
              <a:ext uri="{FF2B5EF4-FFF2-40B4-BE49-F238E27FC236}">
                <a16:creationId xmlns:a16="http://schemas.microsoft.com/office/drawing/2014/main" id="{F07A9EF1-BEBF-4BAB-835F-08776CA24058}"/>
              </a:ext>
            </a:extLst>
          </p:cNvPr>
          <p:cNvSpPr>
            <a:spLocks xmlns:a="http://schemas.openxmlformats.org/drawingml/2006/main" noGrp="1"/>
          </p:cNvSpPr>
          <p:nvPr/>
        </p:nvSpPr>
        <p:spPr>
          <a:xfrm xmlns:a="http://schemas.openxmlformats.org/drawingml/2006/main">
            <a:off x="6124575" y="4238625"/>
            <a:ext cx="5505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0">
                <a:solidFill>
                  <a:srgbClr val="D66F58"/>
                </a:solidFill>
                <a:latin typeface="Jua"/>
                <a:ea typeface="Jua"/>
                <a:cs typeface="Jua"/>
              </a:defRPr>
            </a:defPPr>
          </a:lstStyle>
          <a:p xmlns:a="http://schemas.openxmlformats.org/drawingml/2006/main">
            <a:pPr algn="l">
              <a:defRPr sz="4425" b="0">
                <a:solidFill>
                  <a:srgbClr val="D66F58"/>
                </a:solidFill>
                <a:latin typeface="Jua"/>
                <a:ea typeface="Jua"/>
                <a:cs typeface="Jua"/>
              </a:defRPr>
            </a:pPr>
            <a:r>
              <a:rPr sz="4425" b="0">
                <a:solidFill>
                  <a:srgbClr val="D66F58"/>
                </a:solidFill>
                <a:latin typeface="Jua"/>
                <a:ea typeface="Jua"/>
                <a:cs typeface="Jua"/>
              </a:rPr>
              <a:t>약 2,336억원</a:t>
            </a:r>
          </a:p>
        </p:txBody>
      </p:sp>
      <p:sp>
        <p:nvSpPr>
          <p:cNvPr id="8" name="1행을 빼도 점수가 크게 달라집니다. 원본 결과를 보존하고 단위를 확인합니다.">
            <a:extLst xmlns:a="http://schemas.openxmlformats.org/drawingml/2006/main">
              <a:ext uri="{FF2B5EF4-FFF2-40B4-BE49-F238E27FC236}">
                <a16:creationId xmlns:a16="http://schemas.microsoft.com/office/drawing/2014/main" id="{74364CB0-653D-4348-A9A4-E8D266566ACE}"/>
              </a:ext>
            </a:extLst>
          </p:cNvPr>
          <p:cNvSpPr>
            <a:spLocks xmlns:a="http://schemas.openxmlformats.org/drawingml/2006/main" noGrp="1"/>
          </p:cNvSpPr>
          <p:nvPr/>
        </p:nvSpPr>
        <p:spPr>
          <a:xfrm xmlns:a="http://schemas.openxmlformats.org/drawingml/2006/main">
            <a:off x="704850" y="6048375"/>
            <a:ext cx="107156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54F43"/>
                </a:solidFill>
                <a:latin typeface="Gowun Dodum"/>
                <a:ea typeface="Gowun Dodum"/>
                <a:cs typeface="Gowun Dodum"/>
              </a:defRPr>
            </a:defPPr>
          </a:lstStyle>
          <a:p xmlns:a="http://schemas.openxmlformats.org/drawingml/2006/main">
            <a:pPr algn="l">
              <a:defRPr sz="1950" b="0">
                <a:solidFill>
                  <a:srgbClr val="254F43"/>
                </a:solidFill>
                <a:latin typeface="Gowun Dodum"/>
                <a:ea typeface="Gowun Dodum"/>
                <a:cs typeface="Gowun Dodum"/>
              </a:defRPr>
            </a:pPr>
            <a:r>
              <a:rPr sz="1950" b="0">
                <a:solidFill>
                  <a:srgbClr val="254F43"/>
                </a:solidFill>
                <a:latin typeface="Gowun Dodum"/>
                <a:ea typeface="Gowun Dodum"/>
                <a:cs typeface="Gowun Dodum"/>
              </a:rPr>
              <a:t>1행을 빼도 점수가 크게 달라집니다. 원본 결과를 보존하고 단위를 확인합니다.</a:t>
            </a:r>
          </a:p>
        </p:txBody>
      </p:sp>
    </p:spTree>
    <p:extLst>
      <p:ext uri="{BB962C8B-B14F-4D97-AF65-F5344CB8AC3E}">
        <p14:creationId xmlns:p14="http://schemas.microsoft.com/office/powerpoint/2010/main" val="276546992"/>
      </p:ext>
    </p:extLst>
  </p:cSld>
</p:sld>
</file>

<file path=ppt/slides/slide1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8" name="일주일 뒤 작물 높이를 살펴봐요">
            <a:extLst xmlns:a="http://schemas.openxmlformats.org/drawingml/2006/main">
              <a:ext uri="{FF2B5EF4-FFF2-40B4-BE49-F238E27FC236}">
                <a16:creationId xmlns:a16="http://schemas.microsoft.com/office/drawing/2014/main" id="{EAA36EA3-ED84-4953-B45B-ED9C5AADC208}"/>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일주일 뒤 작물 높이를 살펴봐요</a:t>
            </a:r>
          </a:p>
        </p:txBody>
      </p:sp>
      <p:sp>
        <p:nvSpPr>
          <p:cNvPr id="2" name="12">
            <a:extLst xmlns:a="http://schemas.openxmlformats.org/drawingml/2006/main">
              <a:ext uri="{FF2B5EF4-FFF2-40B4-BE49-F238E27FC236}">
                <a16:creationId xmlns:a16="http://schemas.microsoft.com/office/drawing/2014/main" id="{88B360B6-46C9-432B-A51B-B567917CD667}"/>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12</a:t>
            </a:r>
          </a:p>
        </p:txBody>
      </p:sp>
      <p:pic>
        <p:nvPicPr>
          <p:cNvPr id="3" name="">
            <a:extLst xmlns:a="http://schemas.openxmlformats.org/drawingml/2006/main">
              <a:ext uri="{FF2B5EF4-FFF2-40B4-BE49-F238E27FC236}">
                <a16:creationId xmlns:a16="http://schemas.microsoft.com/office/drawing/2014/main" id="{319116F4-3C21-4D57-B507-8AB3EA5F1BC3}"/>
              </a:ext>
            </a:extLst>
          </p:cNvPr>
          <p:cNvPicPr>
            <a:picLocks xmlns:a="http://schemas.openxmlformats.org/drawingml/2006/main" noChangeAspect="1"/>
          </p:cNvPicPr>
          <p:nvPr/>
        </p:nvPicPr>
        <p:blipFill>
          <a:blip xmlns:r="http://schemas.openxmlformats.org/officeDocument/2006/relationships" xmlns:a="http://schemas.openxmlformats.org/drawingml/2006/main" r:embed="R76190c4b338e4e40"/>
          <a:stretch xmlns:a="http://schemas.openxmlformats.org/drawingml/2006/main"/>
        </p:blipFill>
        <p:spPr>
          <a:xfrm xmlns:a="http://schemas.openxmlformats.org/drawingml/2006/main">
            <a:off x="161925" y="2328863"/>
            <a:ext cx="3733800" cy="2800350"/>
          </a:xfrm>
          <a:prstGeom xmlns:a="http://schemas.openxmlformats.org/drawingml/2006/main" prst="rect">
            <a:avLst/>
          </a:prstGeom>
        </p:spPr>
      </p:pic>
      <p:sp>
        <p:nvSpPr>
          <p:cNvPr id="4" name="21개 시설 · 7일 간격 관측 40쌍">
            <a:extLst xmlns:a="http://schemas.openxmlformats.org/drawingml/2006/main">
              <a:ext uri="{FF2B5EF4-FFF2-40B4-BE49-F238E27FC236}">
                <a16:creationId xmlns:a16="http://schemas.microsoft.com/office/drawing/2014/main" id="{B7986507-4F00-4739-856A-B1334C66EA4C}"/>
              </a:ext>
            </a:extLst>
          </p:cNvPr>
          <p:cNvSpPr>
            <a:spLocks xmlns:a="http://schemas.openxmlformats.org/drawingml/2006/main" noGrp="1"/>
          </p:cNvSpPr>
          <p:nvPr/>
        </p:nvSpPr>
        <p:spPr>
          <a:xfrm xmlns:a="http://schemas.openxmlformats.org/drawingml/2006/main">
            <a:off x="4076700" y="1562100"/>
            <a:ext cx="7353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F6C61"/>
                </a:solidFill>
                <a:latin typeface="Gowun Dodum"/>
                <a:ea typeface="Gowun Dodum"/>
                <a:cs typeface="Gowun Dodum"/>
              </a:defRPr>
            </a:defPPr>
          </a:lstStyle>
          <a:p xmlns:a="http://schemas.openxmlformats.org/drawingml/2006/main">
            <a:pPr algn="l">
              <a:defRPr sz="2100" b="0">
                <a:solidFill>
                  <a:srgbClr val="5F6C61"/>
                </a:solidFill>
                <a:latin typeface="Gowun Dodum"/>
                <a:ea typeface="Gowun Dodum"/>
                <a:cs typeface="Gowun Dodum"/>
              </a:defRPr>
            </a:pPr>
            <a:r>
              <a:rPr sz="2100" b="0">
                <a:solidFill>
                  <a:srgbClr val="5F6C61"/>
                </a:solidFill>
                <a:latin typeface="Gowun Dodum"/>
                <a:ea typeface="Gowun Dodum"/>
                <a:cs typeface="Gowun Dodum"/>
              </a:rPr>
              <a:t>21개 시설 · 7일 간격 관측 40쌍</a:t>
            </a:r>
          </a:p>
        </p:txBody>
      </p:sp>
      <p:graphicFrame>
        <p:nvGraphicFramePr>
          <p:cNvPr id="5" name="Chart">
            <a:extLst xmlns:a="http://schemas.openxmlformats.org/drawingml/2006/main">
              <a:ext uri="{FF2B5EF4-FFF2-40B4-BE49-F238E27FC236}">
                <a16:creationId xmlns:a16="http://schemas.microsoft.com/office/drawing/2014/main" id="{CC09F9FE-1C38-44AF-947C-0348849B18B4}"/>
              </a:ext>
            </a:extLst>
          </p:cNvPr>
          <p:cNvGraphicFramePr/>
          <p:nvPr/>
        </p:nvGraphicFramePr>
        <p:xfrm>
          <a:off xmlns:a="http://schemas.openxmlformats.org/drawingml/2006/main" x="3838575" y="2238375"/>
          <a:ext xmlns:a="http://schemas.openxmlformats.org/drawingml/2006/main" cx="7762875" cy="3009900"/>
        </p:xfrm>
        <a:graphic xmlns:a="http://schemas.openxmlformats.org/drawingml/2006/main">
          <a:graphicData uri="http://schemas.openxmlformats.org/drawingml/2006/chart">
            <c:chart xmlns:r="http://schemas.openxmlformats.org/officeDocument/2006/relationships" xmlns:c="http://schemas.openxmlformats.org/drawingml/2006/chart" r:id="R65e73368d8214bd9"/>
          </a:graphicData>
        </a:graphic>
      </p:graphicFrame>
      <p:sp>
        <p:nvSpPr>
          <p:cNvPr id="6" name="환경을 더해도, 생육 기록만 쓴 결과보다 좋아지지 않았습니다.">
            <a:extLst xmlns:a="http://schemas.openxmlformats.org/drawingml/2006/main">
              <a:ext uri="{FF2B5EF4-FFF2-40B4-BE49-F238E27FC236}">
                <a16:creationId xmlns:a16="http://schemas.microsoft.com/office/drawing/2014/main" id="{04583D26-BFF3-4395-A4E2-8CFD610AD90C}"/>
              </a:ext>
            </a:extLst>
          </p:cNvPr>
          <p:cNvSpPr>
            <a:spLocks xmlns:a="http://schemas.openxmlformats.org/drawingml/2006/main" noGrp="1"/>
          </p:cNvSpPr>
          <p:nvPr/>
        </p:nvSpPr>
        <p:spPr>
          <a:xfrm xmlns:a="http://schemas.openxmlformats.org/drawingml/2006/main">
            <a:off x="695325" y="5781675"/>
            <a:ext cx="107823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46856E"/>
                </a:solidFill>
                <a:latin typeface="Jua"/>
                <a:ea typeface="Jua"/>
                <a:cs typeface="Jua"/>
              </a:defRPr>
            </a:defPPr>
          </a:lstStyle>
          <a:p xmlns:a="http://schemas.openxmlformats.org/drawingml/2006/main">
            <a:pPr algn="l">
              <a:defRPr sz="2250" b="0">
                <a:solidFill>
                  <a:srgbClr val="46856E"/>
                </a:solidFill>
                <a:latin typeface="Jua"/>
                <a:ea typeface="Jua"/>
                <a:cs typeface="Jua"/>
              </a:defRPr>
            </a:pPr>
            <a:r>
              <a:rPr sz="2250" b="0">
                <a:solidFill>
                  <a:srgbClr val="46856E"/>
                </a:solidFill>
                <a:latin typeface="Jua"/>
                <a:ea typeface="Jua"/>
                <a:cs typeface="Jua"/>
              </a:rPr>
              <a:t>환경을 더해도, 생육 기록만 쓴 결과보다 좋아지지 않았습니다.</a:t>
            </a:r>
          </a:p>
        </p:txBody>
      </p:sp>
      <p:sp>
        <p:nvSpPr>
          <p:cNvPr id="7" name="평균 오차(mm)는 작을수록 좋습니다. 수확량이 아닌 다음 방문의 시설 평균 높이입니다.">
            <a:extLst xmlns:a="http://schemas.openxmlformats.org/drawingml/2006/main">
              <a:ext uri="{FF2B5EF4-FFF2-40B4-BE49-F238E27FC236}">
                <a16:creationId xmlns:a16="http://schemas.microsoft.com/office/drawing/2014/main" id="{B11DD033-15E2-4EE3-B575-45503B4ACA16}"/>
              </a:ext>
            </a:extLst>
          </p:cNvPr>
          <p:cNvSpPr>
            <a:spLocks xmlns:a="http://schemas.openxmlformats.org/drawingml/2006/main" noGrp="1"/>
          </p:cNvSpPr>
          <p:nvPr/>
        </p:nvSpPr>
        <p:spPr>
          <a:xfrm xmlns:a="http://schemas.openxmlformats.org/drawingml/2006/main">
            <a:off x="695325" y="6296025"/>
            <a:ext cx="107156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F6C61"/>
                </a:solidFill>
                <a:latin typeface="Gowun Dodum"/>
                <a:ea typeface="Gowun Dodum"/>
                <a:cs typeface="Gowun Dodum"/>
              </a:defRPr>
            </a:defPPr>
          </a:lstStyle>
          <a:p xmlns:a="http://schemas.openxmlformats.org/drawingml/2006/main">
            <a:pPr algn="l">
              <a:defRPr sz="1725" b="0">
                <a:solidFill>
                  <a:srgbClr val="5F6C61"/>
                </a:solidFill>
                <a:latin typeface="Gowun Dodum"/>
                <a:ea typeface="Gowun Dodum"/>
                <a:cs typeface="Gowun Dodum"/>
              </a:defRPr>
            </a:pPr>
            <a:r>
              <a:rPr sz="1725" b="0">
                <a:solidFill>
                  <a:srgbClr val="5F6C61"/>
                </a:solidFill>
                <a:latin typeface="Gowun Dodum"/>
                <a:ea typeface="Gowun Dodum"/>
                <a:cs typeface="Gowun Dodum"/>
              </a:rPr>
              <a:t>평균 오차(mm)는 작을수록 좋습니다. 수확량이 아닌 다음 방문의 시설 평균 높이입니다.</a:t>
            </a:r>
          </a:p>
        </p:txBody>
      </p:sp>
    </p:spTree>
    <p:extLst>
      <p:ext uri="{BB962C8B-B14F-4D97-AF65-F5344CB8AC3E}">
        <p14:creationId xmlns:p14="http://schemas.microsoft.com/office/powerpoint/2010/main" val="1811497117"/>
      </p:ext>
    </p:extLst>
  </p:cSld>
</p:sld>
</file>

<file path=ppt/slides/slide13.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5" name="내 농장 계획을 직접 바꿔봐요">
            <a:extLst xmlns:a="http://schemas.openxmlformats.org/drawingml/2006/main">
              <a:ext uri="{FF2B5EF4-FFF2-40B4-BE49-F238E27FC236}">
                <a16:creationId xmlns:a16="http://schemas.microsoft.com/office/drawing/2014/main" id="{7A115C6B-AAEF-4791-BAE7-AD8057E8EDBC}"/>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내 농장 계획을 직접 바꿔봐요</a:t>
            </a:r>
          </a:p>
        </p:txBody>
      </p:sp>
      <p:sp>
        <p:nvSpPr>
          <p:cNvPr id="2" name="13">
            <a:extLst xmlns:a="http://schemas.openxmlformats.org/drawingml/2006/main">
              <a:ext uri="{FF2B5EF4-FFF2-40B4-BE49-F238E27FC236}">
                <a16:creationId xmlns:a16="http://schemas.microsoft.com/office/drawing/2014/main" id="{B873B859-6E32-4260-A7AB-EC105F1AC5C6}"/>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13</a:t>
            </a:r>
          </a:p>
        </p:txBody>
      </p:sp>
      <p:pic>
        <p:nvPicPr>
          <p:cNvPr id="3" name="">
            <a:extLst xmlns:a="http://schemas.openxmlformats.org/drawingml/2006/main">
              <a:ext uri="{FF2B5EF4-FFF2-40B4-BE49-F238E27FC236}">
                <a16:creationId xmlns:a16="http://schemas.microsoft.com/office/drawing/2014/main" id="{20B4FB94-6747-4962-9183-306B75F22529}"/>
              </a:ext>
            </a:extLst>
          </p:cNvPr>
          <p:cNvPicPr>
            <a:picLocks xmlns:a="http://schemas.openxmlformats.org/drawingml/2006/main" noChangeAspect="1"/>
          </p:cNvPicPr>
          <p:nvPr/>
        </p:nvPicPr>
        <p:blipFill>
          <a:blip xmlns:r="http://schemas.openxmlformats.org/officeDocument/2006/relationships" xmlns:a="http://schemas.openxmlformats.org/drawingml/2006/main" r:embed="Re9a28f238af840dd"/>
          <a:stretch xmlns:a="http://schemas.openxmlformats.org/drawingml/2006/main"/>
        </p:blipFill>
        <p:spPr>
          <a:xfrm xmlns:a="http://schemas.openxmlformats.org/drawingml/2006/main">
            <a:off x="890911" y="1590675"/>
            <a:ext cx="10410178" cy="4543425"/>
          </a:xfrm>
          <a:prstGeom xmlns:a="http://schemas.openxmlformats.org/drawingml/2006/main" prst="rect">
            <a:avLst/>
          </a:prstGeom>
        </p:spPr>
      </p:pic>
      <p:sp>
        <p:nvSpPr>
          <p:cNvPr id="4" name="계산에 사용한 자료와 가정까지 내려받을 수 있습니다.">
            <a:extLst xmlns:a="http://schemas.openxmlformats.org/drawingml/2006/main">
              <a:ext uri="{FF2B5EF4-FFF2-40B4-BE49-F238E27FC236}">
                <a16:creationId xmlns:a16="http://schemas.microsoft.com/office/drawing/2014/main" id="{E13406A8-7B8E-47D4-8A65-82E1325E4B38}"/>
              </a:ext>
            </a:extLst>
          </p:cNvPr>
          <p:cNvSpPr>
            <a:spLocks xmlns:a="http://schemas.openxmlformats.org/drawingml/2006/main" noGrp="1"/>
          </p:cNvSpPr>
          <p:nvPr/>
        </p:nvSpPr>
        <p:spPr>
          <a:xfrm xmlns:a="http://schemas.openxmlformats.org/drawingml/2006/main">
            <a:off x="704850" y="6257925"/>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F6C61"/>
                </a:solidFill>
                <a:latin typeface="Gowun Dodum"/>
                <a:ea typeface="Gowun Dodum"/>
                <a:cs typeface="Gowun Dodum"/>
              </a:defRPr>
            </a:defPPr>
          </a:lstStyle>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계산에 사용한 자료와 가정까지 내려받을 수 있습니다.</a:t>
            </a:r>
          </a:p>
        </p:txBody>
      </p:sp>
    </p:spTree>
    <p:extLst>
      <p:ext uri="{BB962C8B-B14F-4D97-AF65-F5344CB8AC3E}">
        <p14:creationId xmlns:p14="http://schemas.microsoft.com/office/powerpoint/2010/main" val="646642873"/>
      </p:ext>
    </p:extLst>
  </p:cSld>
</p:sld>
</file>

<file path=ppt/slides/slide14.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9" name="다음은, 안심구역에서 실제 자료로">
            <a:extLst xmlns:a="http://schemas.openxmlformats.org/drawingml/2006/main">
              <a:ext uri="{FF2B5EF4-FFF2-40B4-BE49-F238E27FC236}">
                <a16:creationId xmlns:a16="http://schemas.microsoft.com/office/drawing/2014/main" id="{0B6B09F0-674D-424B-A985-59908585C056}"/>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다음은, 안심구역에서 실제 자료로</a:t>
            </a:r>
          </a:p>
        </p:txBody>
      </p:sp>
      <p:sp>
        <p:nvSpPr>
          <p:cNvPr id="2" name="14">
            <a:extLst xmlns:a="http://schemas.openxmlformats.org/drawingml/2006/main">
              <a:ext uri="{FF2B5EF4-FFF2-40B4-BE49-F238E27FC236}">
                <a16:creationId xmlns:a16="http://schemas.microsoft.com/office/drawing/2014/main" id="{B24E498A-75C8-42C2-9FE0-22A4301975DE}"/>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14</a:t>
            </a:r>
          </a:p>
        </p:txBody>
      </p:sp>
      <p:pic>
        <p:nvPicPr>
          <p:cNvPr id="3" name="">
            <a:extLst xmlns:a="http://schemas.openxmlformats.org/drawingml/2006/main">
              <a:ext uri="{FF2B5EF4-FFF2-40B4-BE49-F238E27FC236}">
                <a16:creationId xmlns:a16="http://schemas.microsoft.com/office/drawing/2014/main" id="{52951E53-8038-4355-80C5-7AA9734935F4}"/>
              </a:ext>
            </a:extLst>
          </p:cNvPr>
          <p:cNvPicPr>
            <a:picLocks xmlns:a="http://schemas.openxmlformats.org/drawingml/2006/main" noChangeAspect="1"/>
          </p:cNvPicPr>
          <p:nvPr/>
        </p:nvPicPr>
        <p:blipFill>
          <a:blip xmlns:r="http://schemas.openxmlformats.org/officeDocument/2006/relationships" xmlns:a="http://schemas.openxmlformats.org/drawingml/2006/main" r:embed="Rff73ab1b6c3b4a9d"/>
          <a:stretch xmlns:a="http://schemas.openxmlformats.org/drawingml/2006/main"/>
        </p:blipFill>
        <p:spPr>
          <a:xfrm xmlns:a="http://schemas.openxmlformats.org/drawingml/2006/main">
            <a:off x="247650" y="1658541"/>
            <a:ext cx="5648325" cy="4236244"/>
          </a:xfrm>
          <a:prstGeom xmlns:a="http://schemas.openxmlformats.org/drawingml/2006/main" prst="rect">
            <a:avLst/>
          </a:prstGeom>
        </p:spPr>
      </p:pic>
      <p:sp>
        <p:nvSpPr>
          <p:cNvPr id="4" name="현재 미개방 원자료">
            <a:extLst xmlns:a="http://schemas.openxmlformats.org/drawingml/2006/main">
              <a:ext uri="{FF2B5EF4-FFF2-40B4-BE49-F238E27FC236}">
                <a16:creationId xmlns:a16="http://schemas.microsoft.com/office/drawing/2014/main" id="{51A80624-266B-40AD-8DB2-2DEED9D8BF40}"/>
              </a:ext>
            </a:extLst>
          </p:cNvPr>
          <p:cNvSpPr>
            <a:spLocks xmlns:a="http://schemas.openxmlformats.org/drawingml/2006/main" noGrp="1"/>
          </p:cNvSpPr>
          <p:nvPr/>
        </p:nvSpPr>
        <p:spPr>
          <a:xfrm xmlns:a="http://schemas.openxmlformats.org/drawingml/2006/main">
            <a:off x="6172200" y="1666875"/>
            <a:ext cx="53054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F6C61"/>
                </a:solidFill>
                <a:latin typeface="Gowun Dodum"/>
                <a:ea typeface="Gowun Dodum"/>
                <a:cs typeface="Gowun Dodum"/>
              </a:defRPr>
            </a:defPPr>
          </a:lstStyle>
          <a:p xmlns:a="http://schemas.openxmlformats.org/drawingml/2006/main">
            <a:pPr algn="l">
              <a:defRPr sz="2250" b="0">
                <a:solidFill>
                  <a:srgbClr val="5F6C61"/>
                </a:solidFill>
                <a:latin typeface="Gowun Dodum"/>
                <a:ea typeface="Gowun Dodum"/>
                <a:cs typeface="Gowun Dodum"/>
              </a:defRPr>
            </a:pPr>
            <a:r>
              <a:rPr sz="2250" b="0">
                <a:solidFill>
                  <a:srgbClr val="5F6C61"/>
                </a:solidFill>
                <a:latin typeface="Gowun Dodum"/>
                <a:ea typeface="Gowun Dodum"/>
                <a:cs typeface="Gowun Dodum"/>
              </a:rPr>
              <a:t>현재 미개방 원자료</a:t>
            </a:r>
          </a:p>
        </p:txBody>
      </p:sp>
      <p:sp>
        <p:nvSpPr>
          <p:cNvPr id="5" name="0행">
            <a:extLst xmlns:a="http://schemas.openxmlformats.org/drawingml/2006/main">
              <a:ext uri="{FF2B5EF4-FFF2-40B4-BE49-F238E27FC236}">
                <a16:creationId xmlns:a16="http://schemas.microsoft.com/office/drawing/2014/main" id="{2F8191FB-918E-4FA6-B2B4-24B84B89F441}"/>
              </a:ext>
            </a:extLst>
          </p:cNvPr>
          <p:cNvSpPr>
            <a:spLocks xmlns:a="http://schemas.openxmlformats.org/drawingml/2006/main" noGrp="1"/>
          </p:cNvSpPr>
          <p:nvPr/>
        </p:nvSpPr>
        <p:spPr>
          <a:xfrm xmlns:a="http://schemas.openxmlformats.org/drawingml/2006/main">
            <a:off x="6115050" y="2314575"/>
            <a:ext cx="5076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050" b="0">
                <a:solidFill>
                  <a:srgbClr val="D66F58"/>
                </a:solidFill>
                <a:latin typeface="Jua"/>
                <a:ea typeface="Jua"/>
                <a:cs typeface="Jua"/>
              </a:defRPr>
            </a:defPPr>
          </a:lstStyle>
          <a:p xmlns:a="http://schemas.openxmlformats.org/drawingml/2006/main">
            <a:pPr algn="l">
              <a:defRPr sz="7050" b="0">
                <a:solidFill>
                  <a:srgbClr val="D66F58"/>
                </a:solidFill>
                <a:latin typeface="Jua"/>
                <a:ea typeface="Jua"/>
                <a:cs typeface="Jua"/>
              </a:defRPr>
            </a:pPr>
            <a:r>
              <a:rPr sz="7050" b="0">
                <a:solidFill>
                  <a:srgbClr val="D66F58"/>
                </a:solidFill>
                <a:latin typeface="Jua"/>
                <a:ea typeface="Jua"/>
                <a:cs typeface="Jua"/>
              </a:rPr>
              <a:t>0행</a:t>
            </a:r>
          </a:p>
        </p:txBody>
      </p:sp>
      <p:sp>
        <p:nvSpPr>
          <p:cNvPr id="6" name="79개 항목의 명세를 연결하고&#10;가상 80작기로 실행을 확인했어요.">
            <a:extLst xmlns:a="http://schemas.openxmlformats.org/drawingml/2006/main">
              <a:ext uri="{FF2B5EF4-FFF2-40B4-BE49-F238E27FC236}">
                <a16:creationId xmlns:a16="http://schemas.microsoft.com/office/drawing/2014/main" id="{7AF5BD79-5D42-4BFC-9DE5-987BE39FAB04}"/>
              </a:ext>
            </a:extLst>
          </p:cNvPr>
          <p:cNvSpPr>
            <a:spLocks xmlns:a="http://schemas.openxmlformats.org/drawingml/2006/main" noGrp="1"/>
          </p:cNvSpPr>
          <p:nvPr/>
        </p:nvSpPr>
        <p:spPr>
          <a:xfrm xmlns:a="http://schemas.openxmlformats.org/drawingml/2006/main">
            <a:off x="6191250" y="3724275"/>
            <a:ext cx="5238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54F43"/>
                </a:solidFill>
                <a:latin typeface="Gowun Dodum"/>
                <a:ea typeface="Gowun Dodum"/>
                <a:cs typeface="Gowun Dodum"/>
              </a:defRPr>
            </a:defPPr>
          </a:lstStyle>
          <a:p xmlns:a="http://schemas.openxmlformats.org/drawingml/2006/main">
            <a:pPr algn="l">
              <a:defRPr sz="2250" b="0">
                <a:solidFill>
                  <a:srgbClr val="254F43"/>
                </a:solidFill>
                <a:latin typeface="Gowun Dodum"/>
                <a:ea typeface="Gowun Dodum"/>
                <a:cs typeface="Gowun Dodum"/>
              </a:defRPr>
            </a:pPr>
            <a:r>
              <a:rPr sz="2250" b="0">
                <a:solidFill>
                  <a:srgbClr val="254F43"/>
                </a:solidFill>
                <a:latin typeface="Gowun Dodum"/>
                <a:ea typeface="Gowun Dodum"/>
                <a:cs typeface="Gowun Dodum"/>
              </a:rPr>
              <a:t>79개 항목의 명세를 연결하고</a:t>
            </a:r>
          </a:p>
          <a:p xmlns:a="http://schemas.openxmlformats.org/drawingml/2006/main">
            <a:pPr algn="l">
              <a:defRPr sz="2250" b="0">
                <a:solidFill>
                  <a:srgbClr val="254F43"/>
                </a:solidFill>
                <a:latin typeface="Gowun Dodum"/>
                <a:ea typeface="Gowun Dodum"/>
                <a:cs typeface="Gowun Dodum"/>
              </a:defRPr>
            </a:pPr>
            <a:r>
              <a:rPr sz="2250" b="0">
                <a:solidFill>
                  <a:srgbClr val="254F43"/>
                </a:solidFill>
                <a:latin typeface="Gowun Dodum"/>
                <a:ea typeface="Gowun Dodum"/>
                <a:cs typeface="Gowun Dodum"/>
              </a:rPr>
              <a:t>가상 80작기로 실행을 확인했어요.</a:t>
            </a:r>
          </a:p>
        </p:txBody>
      </p:sp>
      <p:sp>
        <p:nvSpPr>
          <p:cNvPr id="7" name="현장에서는 단위와 성능을 검증하고,&#10;허용된 결과만 가져옵니다.">
            <a:extLst xmlns:a="http://schemas.openxmlformats.org/drawingml/2006/main">
              <a:ext uri="{FF2B5EF4-FFF2-40B4-BE49-F238E27FC236}">
                <a16:creationId xmlns:a16="http://schemas.microsoft.com/office/drawing/2014/main" id="{3289049A-E80E-4FE2-91B3-443184CE8C91}"/>
              </a:ext>
            </a:extLst>
          </p:cNvPr>
          <p:cNvSpPr>
            <a:spLocks xmlns:a="http://schemas.openxmlformats.org/drawingml/2006/main" noGrp="1"/>
          </p:cNvSpPr>
          <p:nvPr/>
        </p:nvSpPr>
        <p:spPr>
          <a:xfrm xmlns:a="http://schemas.openxmlformats.org/drawingml/2006/main">
            <a:off x="6191250" y="5105400"/>
            <a:ext cx="52197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46856E"/>
                </a:solidFill>
                <a:latin typeface="Jua"/>
                <a:ea typeface="Jua"/>
                <a:cs typeface="Jua"/>
              </a:defRPr>
            </a:defPPr>
          </a:lstStyle>
          <a:p xmlns:a="http://schemas.openxmlformats.org/drawingml/2006/main">
            <a:pPr algn="l">
              <a:defRPr sz="2175" b="0">
                <a:solidFill>
                  <a:srgbClr val="46856E"/>
                </a:solidFill>
                <a:latin typeface="Jua"/>
                <a:ea typeface="Jua"/>
                <a:cs typeface="Jua"/>
              </a:defRPr>
            </a:pPr>
            <a:r>
              <a:rPr sz="2175" b="0">
                <a:solidFill>
                  <a:srgbClr val="46856E"/>
                </a:solidFill>
                <a:latin typeface="Jua"/>
                <a:ea typeface="Jua"/>
                <a:cs typeface="Jua"/>
              </a:rPr>
              <a:t>현장에서는 단위와 성능을 검증하고,</a:t>
            </a:r>
          </a:p>
          <a:p xmlns:a="http://schemas.openxmlformats.org/drawingml/2006/main">
            <a:pPr algn="l">
              <a:defRPr sz="2175" b="0">
                <a:solidFill>
                  <a:srgbClr val="46856E"/>
                </a:solidFill>
                <a:latin typeface="Jua"/>
                <a:ea typeface="Jua"/>
                <a:cs typeface="Jua"/>
              </a:defRPr>
            </a:pPr>
            <a:r>
              <a:rPr sz="2175" b="0">
                <a:solidFill>
                  <a:srgbClr val="46856E"/>
                </a:solidFill>
                <a:latin typeface="Jua"/>
                <a:ea typeface="Jua"/>
                <a:cs typeface="Jua"/>
              </a:rPr>
              <a:t>허용된 결과만 가져옵니다.</a:t>
            </a:r>
          </a:p>
        </p:txBody>
      </p:sp>
      <p:sp>
        <p:nvSpPr>
          <p:cNvPr id="8" name="대회 원자료의 예측 성능은 현장 실행 후 제시합니다.">
            <a:extLst xmlns:a="http://schemas.openxmlformats.org/drawingml/2006/main">
              <a:ext uri="{FF2B5EF4-FFF2-40B4-BE49-F238E27FC236}">
                <a16:creationId xmlns:a16="http://schemas.microsoft.com/office/drawing/2014/main" id="{316929B7-3852-4BC8-872D-9CF18C31036B}"/>
              </a:ext>
            </a:extLst>
          </p:cNvPr>
          <p:cNvSpPr>
            <a:spLocks xmlns:a="http://schemas.openxmlformats.org/drawingml/2006/main" noGrp="1"/>
          </p:cNvSpPr>
          <p:nvPr/>
        </p:nvSpPr>
        <p:spPr>
          <a:xfrm xmlns:a="http://schemas.openxmlformats.org/drawingml/2006/main">
            <a:off x="704850" y="631507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F6C61"/>
                </a:solidFill>
                <a:latin typeface="Gowun Dodum"/>
                <a:ea typeface="Gowun Dodum"/>
                <a:cs typeface="Gowun Dodum"/>
              </a:defRPr>
            </a:defPPr>
          </a:lstStyle>
          <a:p xmlns:a="http://schemas.openxmlformats.org/drawingml/2006/main">
            <a:pPr algn="l">
              <a:defRPr sz="1800" b="0">
                <a:solidFill>
                  <a:srgbClr val="5F6C61"/>
                </a:solidFill>
                <a:latin typeface="Gowun Dodum"/>
                <a:ea typeface="Gowun Dodum"/>
                <a:cs typeface="Gowun Dodum"/>
              </a:defRPr>
            </a:pPr>
            <a:r>
              <a:rPr sz="1800" b="0">
                <a:solidFill>
                  <a:srgbClr val="5F6C61"/>
                </a:solidFill>
                <a:latin typeface="Gowun Dodum"/>
                <a:ea typeface="Gowun Dodum"/>
                <a:cs typeface="Gowun Dodum"/>
              </a:rPr>
              <a:t>대회 원자료의 예측 성능은 현장 실행 후 제시합니다.</a:t>
            </a:r>
          </a:p>
        </p:txBody>
      </p:sp>
    </p:spTree>
    <p:extLst>
      <p:ext uri="{BB962C8B-B14F-4D97-AF65-F5344CB8AC3E}">
        <p14:creationId xmlns:p14="http://schemas.microsoft.com/office/powerpoint/2010/main" val="1817265473"/>
      </p:ext>
    </p:extLst>
  </p:cSld>
</p:sld>
</file>

<file path=ppt/slides/slide15.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5" name="농업 원자료의 확보 범위">
            <a:extLst xmlns:a="http://schemas.openxmlformats.org/drawingml/2006/main">
              <a:ext uri="{FF2B5EF4-FFF2-40B4-BE49-F238E27FC236}">
                <a16:creationId xmlns:a16="http://schemas.microsoft.com/office/drawing/2014/main" id="{175F17A6-F737-4D3B-9388-436D5BC9D626}"/>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농업 원자료의 확보 범위</a:t>
            </a:r>
          </a:p>
        </p:txBody>
      </p:sp>
      <p:sp>
        <p:nvSpPr>
          <p:cNvPr id="2" name="근거 자료  15">
            <a:extLst xmlns:a="http://schemas.openxmlformats.org/drawingml/2006/main">
              <a:ext uri="{FF2B5EF4-FFF2-40B4-BE49-F238E27FC236}">
                <a16:creationId xmlns:a16="http://schemas.microsoft.com/office/drawing/2014/main" id="{6EE30529-0A29-4BEA-8C6D-E50A3044513B}"/>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15</a:t>
            </a:r>
          </a:p>
        </p:txBody>
      </p:sp>
      <p:graphicFrame>
        <p:nvGraphicFramePr>
          <p:cNvPr id="3" name="">
            <a:extLst xmlns:a="http://schemas.openxmlformats.org/drawingml/2006/main">
              <a:ext uri="{FF2B5EF4-FFF2-40B4-BE49-F238E27FC236}">
                <a16:creationId xmlns:a16="http://schemas.microsoft.com/office/drawing/2014/main" id="{B1F79F47-0CD1-48B1-8F99-A7FAEB7D8E29}"/>
              </a:ext>
            </a:extLst>
          </p:cNvPr>
          <p:cNvGraphicFramePr/>
          <p:nvPr/>
        </p:nvGraphicFramePr>
        <p:xfrm>
          <a:off xmlns:a="http://schemas.openxmlformats.org/drawingml/2006/main" x="685800" y="1762125"/>
          <a:ext xmlns:a="http://schemas.openxmlformats.org/drawingml/2006/main" cx="10820400" cy="3543300"/>
        </p:xfrm>
        <a:graphic xmlns:a="http://schemas.openxmlformats.org/drawingml/2006/main">
          <a:graphicData uri="http://schemas.openxmlformats.org/drawingml/2006/table">
            <a:tbl>
              <a:tblPr/>
              <a:tblGrid>
                <a:gridCol w="3638550"/>
                <a:gridCol w="3352800"/>
                <a:gridCol w="3829050"/>
              </a:tblGrid>
              <a:tr h="708660">
                <a:tc>
                  <a:txBody>
                    <a:bodyPr lIns="114300" tIns="114300" rIns="114300" bIns="114300"/>
                    <a:lstStyle/>
                    <a:p>
                      <a:r>
                        <a:rPr sz="2025" b="0">
                          <a:solidFill>
                            <a:srgbClr val="254F43"/>
                          </a:solidFill>
                          <a:latin typeface="Jua"/>
                          <a:ea typeface="Jua"/>
                          <a:cs typeface="Jua"/>
                        </a:rPr>
                        <a:t>자료</a:t>
                      </a:r>
                    </a:p>
                  </a:txBody>
                  <a:tcPr marL="91440" marR="91440" marT="45720" marB="45720" anchor="ctr">
                    <a:solidFill>
                      <a:srgbClr val="DCECDF"/>
                    </a:solidFill>
                  </a:tcPr>
                </a:tc>
                <a:tc>
                  <a:txBody>
                    <a:bodyPr lIns="114300" tIns="114300" rIns="114300" bIns="114300"/>
                    <a:lstStyle/>
                    <a:p>
                      <a:r>
                        <a:rPr sz="2025" b="0">
                          <a:solidFill>
                            <a:srgbClr val="254F43"/>
                          </a:solidFill>
                          <a:latin typeface="Jua"/>
                          <a:ea typeface="Jua"/>
                          <a:cs typeface="Jua"/>
                        </a:rPr>
                        <a:t>확보 규모</a:t>
                      </a:r>
                    </a:p>
                  </a:txBody>
                  <a:tcPr marL="91440" marR="91440" marT="45720" marB="45720" anchor="ctr">
                    <a:solidFill>
                      <a:srgbClr val="DCECDF"/>
                    </a:solidFill>
                  </a:tcPr>
                </a:tc>
                <a:tc>
                  <a:txBody>
                    <a:bodyPr lIns="114300" tIns="114300" rIns="114300" bIns="114300"/>
                    <a:lstStyle/>
                    <a:p>
                      <a:r>
                        <a:rPr sz="2025" b="0">
                          <a:solidFill>
                            <a:srgbClr val="254F43"/>
                          </a:solidFill>
                          <a:latin typeface="Jua"/>
                          <a:ea typeface="Jua"/>
                          <a:cs typeface="Jua"/>
                        </a:rPr>
                        <a:t>사용 범위</a:t>
                      </a:r>
                    </a:p>
                  </a:txBody>
                  <a:tcPr marL="91440" marR="91440" marT="45720" marB="45720" anchor="ctr">
                    <a:solidFill>
                      <a:srgbClr val="DCECDF"/>
                    </a:solidFill>
                  </a:tcPr>
                </a:tc>
              </a:tr>
              <a:tr h="708660">
                <a:tc>
                  <a:txBody>
                    <a:bodyPr lIns="114300" tIns="114300" rIns="114300" bIns="114300"/>
                    <a:lstStyle/>
                    <a:p>
                      <a:r>
                        <a:rPr sz="2025" b="0">
                          <a:solidFill>
                            <a:srgbClr val="254F43"/>
                          </a:solidFill>
                          <a:latin typeface="Gowun Dodum"/>
                          <a:ea typeface="Gowun Dodum"/>
                          <a:cs typeface="Gowun Dodum"/>
                        </a:rPr>
                        <a:t>농촌진흥청 소득조사</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2020~2024년</a:t>
                      </a:r>
                    </a:p>
                    <a:p>
                      <a:r>
                        <a:rPr sz="2025" b="0">
                          <a:solidFill>
                            <a:srgbClr val="254F43"/>
                          </a:solidFill>
                          <a:latin typeface="Gowun Dodum"/>
                          <a:ea typeface="Gowun Dodum"/>
                          <a:cs typeface="Gowun Dodum"/>
                        </a:rPr>
                        <a:t>266개 집계행</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연간 생산·비용 기준</a:t>
                      </a:r>
                    </a:p>
                  </a:txBody>
                  <a:tcPr marL="91440" marR="91440" marT="45720" marB="45720" anchor="ctr">
                    <a:solidFill>
                      <a:srgbClr val="FFF9EE"/>
                    </a:solidFill>
                  </a:tcPr>
                </a:tc>
              </a:tr>
              <a:tr h="708660">
                <a:tc>
                  <a:txBody>
                    <a:bodyPr lIns="114300" tIns="114300" rIns="114300" bIns="114300"/>
                    <a:lstStyle/>
                    <a:p>
                      <a:r>
                        <a:rPr sz="2025" b="0">
                          <a:solidFill>
                            <a:srgbClr val="254F43"/>
                          </a:solidFill>
                          <a:latin typeface="Gowun Dodum"/>
                          <a:ea typeface="Gowun Dodum"/>
                          <a:cs typeface="Gowun Dodum"/>
                        </a:rPr>
                        <a:t>농가 큐레이션</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딸기 77작기</a:t>
                      </a:r>
                    </a:p>
                    <a:p>
                      <a:r>
                        <a:rPr sz="2025" b="0">
                          <a:solidFill>
                            <a:srgbClr val="254F43"/>
                          </a:solidFill>
                          <a:latin typeface="Gowun Dodum"/>
                          <a:ea typeface="Gowun Dodum"/>
                          <a:cs typeface="Gowun Dodum"/>
                        </a:rPr>
                        <a:t>5품목 매출 192작기</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기록된 출하량·매출</a:t>
                      </a:r>
                    </a:p>
                  </a:txBody>
                  <a:tcPr marL="91440" marR="91440" marT="45720" marB="45720" anchor="ctr">
                    <a:solidFill>
                      <a:srgbClr val="FFF9EE"/>
                    </a:solidFill>
                  </a:tcPr>
                </a:tc>
              </a:tr>
              <a:tr h="708660">
                <a:tc>
                  <a:txBody>
                    <a:bodyPr lIns="114300" tIns="114300" rIns="114300" bIns="114300"/>
                    <a:lstStyle/>
                    <a:p>
                      <a:r>
                        <a:rPr sz="2025" b="0">
                          <a:solidFill>
                            <a:srgbClr val="254F43"/>
                          </a:solidFill>
                          <a:latin typeface="Gowun Dodum"/>
                          <a:ea typeface="Gowun Dodum"/>
                          <a:cs typeface="Gowun Dodum"/>
                        </a:rPr>
                        <a:t>스마트팜 API</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238시설</a:t>
                      </a:r>
                    </a:p>
                    <a:p>
                      <a:r>
                        <a:rPr sz="2025" b="0">
                          <a:solidFill>
                            <a:srgbClr val="254F43"/>
                          </a:solidFill>
                          <a:latin typeface="Gowun Dodum"/>
                          <a:ea typeface="Gowun Dodum"/>
                          <a:cs typeface="Gowun Dodum"/>
                        </a:rPr>
                        <a:t>578시설·연도 / 651작기</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시설 정보와 관측자료</a:t>
                      </a:r>
                    </a:p>
                  </a:txBody>
                  <a:tcPr marL="91440" marR="91440" marT="45720" marB="45720" anchor="ctr">
                    <a:solidFill>
                      <a:srgbClr val="FFF9EE"/>
                    </a:solidFill>
                  </a:tcPr>
                </a:tc>
              </a:tr>
              <a:tr h="708660">
                <a:tc>
                  <a:txBody>
                    <a:bodyPr lIns="114300" tIns="114300" rIns="114300" bIns="114300"/>
                    <a:lstStyle/>
                    <a:p>
                      <a:r>
                        <a:rPr sz="2025" b="0">
                          <a:solidFill>
                            <a:srgbClr val="254F43"/>
                          </a:solidFill>
                          <a:latin typeface="Gowun Dodum"/>
                          <a:ea typeface="Gowun Dodum"/>
                          <a:cs typeface="Gowun Dodum"/>
                        </a:rPr>
                        <a:t>ADP 농가 자료</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237작기</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첫 출하 기록까지의 일수</a:t>
                      </a:r>
                    </a:p>
                  </a:txBody>
                  <a:tcPr marL="91440" marR="91440" marT="45720" marB="45720" anchor="ctr">
                    <a:solidFill>
                      <a:srgbClr val="FFF9EE"/>
                    </a:solidFill>
                  </a:tcPr>
                </a:tc>
              </a:tr>
            </a:tbl>
          </a:graphicData>
        </a:graphic>
      </p:graphicFrame>
      <p:sp>
        <p:nvSpPr>
          <p:cNvPr id="4" name="행 수, 시설 수, 작기 수는 서로 다른 단위입니다.&#10;작기는 한 번의 재배 기간을 뜻합니다">
            <a:extLst xmlns:a="http://schemas.openxmlformats.org/drawingml/2006/main">
              <a:ext uri="{FF2B5EF4-FFF2-40B4-BE49-F238E27FC236}">
                <a16:creationId xmlns:a16="http://schemas.microsoft.com/office/drawing/2014/main" id="{1CE7EE3A-0B2C-4C57-BC9E-E1DD4720AF77}"/>
              </a:ext>
            </a:extLst>
          </p:cNvPr>
          <p:cNvSpPr>
            <a:spLocks xmlns:a="http://schemas.openxmlformats.org/drawingml/2006/main" noGrp="1"/>
          </p:cNvSpPr>
          <p:nvPr/>
        </p:nvSpPr>
        <p:spPr>
          <a:xfrm xmlns:a="http://schemas.openxmlformats.org/drawingml/2006/main">
            <a:off x="685800" y="56864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F6C61"/>
                </a:solidFill>
                <a:latin typeface="Gowun Dodum"/>
                <a:ea typeface="Gowun Dodum"/>
                <a:cs typeface="Gowun Dodum"/>
              </a:defRPr>
            </a:defPPr>
          </a:lstStyle>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행 수, 시설 수, 작기 수는 서로 다른 단위입니다.</a:t>
            </a:r>
          </a:p>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작기는 한 번의 재배 기간을 뜻합니다.</a:t>
            </a:r>
          </a:p>
        </p:txBody>
      </p:sp>
    </p:spTree>
    <p:extLst>
      <p:ext uri="{BB962C8B-B14F-4D97-AF65-F5344CB8AC3E}">
        <p14:creationId xmlns:p14="http://schemas.microsoft.com/office/powerpoint/2010/main" val="1153715227"/>
      </p:ext>
    </p:extLst>
  </p:cSld>
</p:sld>
</file>

<file path=ppt/slides/slide16.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5" name="가격, 기후, 설비 자료의 확보 범위">
            <a:extLst xmlns:a="http://schemas.openxmlformats.org/drawingml/2006/main">
              <a:ext uri="{FF2B5EF4-FFF2-40B4-BE49-F238E27FC236}">
                <a16:creationId xmlns:a16="http://schemas.microsoft.com/office/drawing/2014/main" id="{DDE45FA4-51E9-47FF-829C-717C1EF13D9D}"/>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가격, 기후, 설비 자료의 확보 범위</a:t>
            </a:r>
          </a:p>
        </p:txBody>
      </p:sp>
      <p:sp>
        <p:nvSpPr>
          <p:cNvPr id="2" name="근거 자료  16">
            <a:extLst xmlns:a="http://schemas.openxmlformats.org/drawingml/2006/main">
              <a:ext uri="{FF2B5EF4-FFF2-40B4-BE49-F238E27FC236}">
                <a16:creationId xmlns:a16="http://schemas.microsoft.com/office/drawing/2014/main" id="{83EC8BD7-ADFE-445A-B7C8-AD3EF59D5604}"/>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16</a:t>
            </a:r>
          </a:p>
        </p:txBody>
      </p:sp>
      <p:graphicFrame>
        <p:nvGraphicFramePr>
          <p:cNvPr id="3" name="">
            <a:extLst xmlns:a="http://schemas.openxmlformats.org/drawingml/2006/main">
              <a:ext uri="{FF2B5EF4-FFF2-40B4-BE49-F238E27FC236}">
                <a16:creationId xmlns:a16="http://schemas.microsoft.com/office/drawing/2014/main" id="{FA0A7408-34BB-4B2D-90C1-B5239DC3D435}"/>
              </a:ext>
            </a:extLst>
          </p:cNvPr>
          <p:cNvGraphicFramePr/>
          <p:nvPr/>
        </p:nvGraphicFramePr>
        <p:xfrm>
          <a:off xmlns:a="http://schemas.openxmlformats.org/drawingml/2006/main" x="685800" y="1762125"/>
          <a:ext xmlns:a="http://schemas.openxmlformats.org/drawingml/2006/main" cx="10820400" cy="3667125"/>
        </p:xfrm>
        <a:graphic xmlns:a="http://schemas.openxmlformats.org/drawingml/2006/main">
          <a:graphicData uri="http://schemas.openxmlformats.org/drawingml/2006/table">
            <a:tbl>
              <a:tblPr/>
              <a:tblGrid>
                <a:gridCol w="3095625"/>
                <a:gridCol w="3962400"/>
                <a:gridCol w="3762375"/>
              </a:tblGrid>
              <a:tr h="733425">
                <a:tc>
                  <a:txBody>
                    <a:bodyPr lIns="114300" tIns="114300" rIns="114300" bIns="114300"/>
                    <a:lstStyle/>
                    <a:p>
                      <a:r>
                        <a:rPr sz="2025" b="0">
                          <a:solidFill>
                            <a:srgbClr val="254F43"/>
                          </a:solidFill>
                          <a:latin typeface="Jua"/>
                          <a:ea typeface="Jua"/>
                          <a:cs typeface="Jua"/>
                        </a:rPr>
                        <a:t>자료</a:t>
                      </a:r>
                    </a:p>
                  </a:txBody>
                  <a:tcPr marL="91440" marR="91440" marT="45720" marB="45720" anchor="ctr">
                    <a:solidFill>
                      <a:srgbClr val="DCECDF"/>
                    </a:solidFill>
                  </a:tcPr>
                </a:tc>
                <a:tc>
                  <a:txBody>
                    <a:bodyPr lIns="114300" tIns="114300" rIns="114300" bIns="114300"/>
                    <a:lstStyle/>
                    <a:p>
                      <a:r>
                        <a:rPr sz="2025" b="0">
                          <a:solidFill>
                            <a:srgbClr val="254F43"/>
                          </a:solidFill>
                          <a:latin typeface="Jua"/>
                          <a:ea typeface="Jua"/>
                          <a:cs typeface="Jua"/>
                        </a:rPr>
                        <a:t>확보 범위</a:t>
                      </a:r>
                    </a:p>
                  </a:txBody>
                  <a:tcPr marL="91440" marR="91440" marT="45720" marB="45720" anchor="ctr">
                    <a:solidFill>
                      <a:srgbClr val="DCECDF"/>
                    </a:solidFill>
                  </a:tcPr>
                </a:tc>
                <a:tc>
                  <a:txBody>
                    <a:bodyPr lIns="114300" tIns="114300" rIns="114300" bIns="114300"/>
                    <a:lstStyle/>
                    <a:p>
                      <a:r>
                        <a:rPr sz="2025" b="0">
                          <a:solidFill>
                            <a:srgbClr val="254F43"/>
                          </a:solidFill>
                          <a:latin typeface="Jua"/>
                          <a:ea typeface="Jua"/>
                          <a:cs typeface="Jua"/>
                        </a:rPr>
                        <a:t>해석</a:t>
                      </a:r>
                    </a:p>
                  </a:txBody>
                  <a:tcPr marL="91440" marR="91440" marT="45720" marB="45720" anchor="ctr">
                    <a:solidFill>
                      <a:srgbClr val="DCECDF"/>
                    </a:solidFill>
                  </a:tcPr>
                </a:tc>
              </a:tr>
              <a:tr h="733425">
                <a:tc>
                  <a:txBody>
                    <a:bodyPr lIns="114300" tIns="114300" rIns="114300" bIns="114300"/>
                    <a:lstStyle/>
                    <a:p>
                      <a:r>
                        <a:rPr sz="2025" b="0">
                          <a:solidFill>
                            <a:srgbClr val="254F43"/>
                          </a:solidFill>
                          <a:latin typeface="Gowun Dodum"/>
                          <a:ea typeface="Gowun Dodum"/>
                          <a:cs typeface="Gowun Dodum"/>
                        </a:rPr>
                        <a:t>KAMIS 가격</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월별 가격 814개</a:t>
                      </a:r>
                    </a:p>
                    <a:p>
                      <a:r>
                        <a:rPr sz="2025" b="0">
                          <a:solidFill>
                            <a:srgbClr val="254F43"/>
                          </a:solidFill>
                          <a:latin typeface="Gowun Dodum"/>
                          <a:ea typeface="Gowun Dodum"/>
                          <a:cs typeface="Gowun Dodum"/>
                        </a:rPr>
                        <a:t>kg 가격 574개 사용</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농가수취가격과 다름</a:t>
                      </a:r>
                    </a:p>
                  </a:txBody>
                  <a:tcPr marL="91440" marR="91440" marT="45720" marB="45720" anchor="ctr">
                    <a:solidFill>
                      <a:srgbClr val="FFF9EE"/>
                    </a:solidFill>
                  </a:tcPr>
                </a:tc>
              </a:tr>
              <a:tr h="733425">
                <a:tc>
                  <a:txBody>
                    <a:bodyPr lIns="114300" tIns="114300" rIns="114300" bIns="114300"/>
                    <a:lstStyle/>
                    <a:p>
                      <a:r>
                        <a:rPr sz="2025" b="0">
                          <a:solidFill>
                            <a:srgbClr val="254F43"/>
                          </a:solidFill>
                          <a:latin typeface="Gowun Dodum"/>
                          <a:ea typeface="Gowun Dodum"/>
                          <a:cs typeface="Gowun Dodum"/>
                        </a:rPr>
                        <a:t>기상청 평년값</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219지점 × 12개월</a:t>
                      </a:r>
                    </a:p>
                    <a:p>
                      <a:r>
                        <a:rPr sz="2025" b="0">
                          <a:solidFill>
                            <a:srgbClr val="254F43"/>
                          </a:solidFill>
                          <a:latin typeface="Gowun Dodum"/>
                          <a:ea typeface="Gowun Dodum"/>
                          <a:cs typeface="Gowun Dodum"/>
                        </a:rPr>
                        <a:t>2,628개 기후값</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1991~2020년 평년</a:t>
                      </a:r>
                    </a:p>
                    <a:p>
                      <a:r>
                        <a:rPr sz="2025" b="0">
                          <a:solidFill>
                            <a:srgbClr val="254F43"/>
                          </a:solidFill>
                          <a:latin typeface="Gowun Dodum"/>
                          <a:ea typeface="Gowun Dodum"/>
                          <a:cs typeface="Gowun Dodum"/>
                        </a:rPr>
                        <a:t>미래 예보와 다름</a:t>
                      </a:r>
                    </a:p>
                  </a:txBody>
                  <a:tcPr marL="91440" marR="91440" marT="45720" marB="45720" anchor="ctr">
                    <a:solidFill>
                      <a:srgbClr val="FFF9EE"/>
                    </a:solidFill>
                  </a:tcPr>
                </a:tc>
              </a:tr>
              <a:tr h="733425">
                <a:tc>
                  <a:txBody>
                    <a:bodyPr lIns="114300" tIns="114300" rIns="114300" bIns="114300"/>
                    <a:lstStyle/>
                    <a:p>
                      <a:r>
                        <a:rPr sz="2025" b="0">
                          <a:solidFill>
                            <a:srgbClr val="254F43"/>
                          </a:solidFill>
                          <a:latin typeface="Gowun Dodum"/>
                          <a:ea typeface="Gowun Dodum"/>
                          <a:cs typeface="Gowun Dodum"/>
                        </a:rPr>
                        <a:t>공개 장비 가격</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등록 패키지 3종</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실제 설치 견적 확인 필요</a:t>
                      </a:r>
                    </a:p>
                  </a:txBody>
                  <a:tcPr marL="91440" marR="91440" marT="45720" marB="45720" anchor="ctr">
                    <a:solidFill>
                      <a:srgbClr val="FFF9EE"/>
                    </a:solidFill>
                  </a:tcPr>
                </a:tc>
              </a:tr>
              <a:tr h="733425">
                <a:tc>
                  <a:txBody>
                    <a:bodyPr lIns="114300" tIns="114300" rIns="114300" bIns="114300"/>
                    <a:lstStyle/>
                    <a:p>
                      <a:r>
                        <a:rPr sz="2025" b="0">
                          <a:solidFill>
                            <a:srgbClr val="254F43"/>
                          </a:solidFill>
                          <a:latin typeface="Gowun Dodum"/>
                          <a:ea typeface="Gowun Dodum"/>
                          <a:cs typeface="Gowun Dodum"/>
                        </a:rPr>
                        <a:t>대회 미개방 자료</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79개 항목의 명세</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원자료는 안심구역 분석</a:t>
                      </a:r>
                    </a:p>
                  </a:txBody>
                  <a:tcPr marL="91440" marR="91440" marT="45720" marB="45720" anchor="ctr">
                    <a:solidFill>
                      <a:srgbClr val="FFF9EE"/>
                    </a:solidFill>
                  </a:tcPr>
                </a:tc>
              </a:tr>
            </a:tbl>
          </a:graphicData>
        </a:graphic>
      </p:graphicFrame>
      <p:sp>
        <p:nvSpPr>
          <p:cNvPr id="4" name="품목은 딸기부터 시연하며, 기준자료가 있는 5개 품목으로 확장할 수 있습니다.">
            <a:extLst xmlns:a="http://schemas.openxmlformats.org/drawingml/2006/main">
              <a:ext uri="{FF2B5EF4-FFF2-40B4-BE49-F238E27FC236}">
                <a16:creationId xmlns:a16="http://schemas.microsoft.com/office/drawing/2014/main" id="{0A201476-9323-4C7F-BB6C-2A5D8CD67154}"/>
              </a:ext>
            </a:extLst>
          </p:cNvPr>
          <p:cNvSpPr>
            <a:spLocks xmlns:a="http://schemas.openxmlformats.org/drawingml/2006/main" noGrp="1"/>
          </p:cNvSpPr>
          <p:nvPr/>
        </p:nvSpPr>
        <p:spPr>
          <a:xfrm xmlns:a="http://schemas.openxmlformats.org/drawingml/2006/main">
            <a:off x="685800" y="59150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F6C61"/>
                </a:solidFill>
                <a:latin typeface="Gowun Dodum"/>
                <a:ea typeface="Gowun Dodum"/>
                <a:cs typeface="Gowun Dodum"/>
              </a:defRPr>
            </a:defPPr>
          </a:lstStyle>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품목은 딸기부터 시연하며, 기준자료가 있는 5개 품목으로 확장할 수 있습니다.</a:t>
            </a:r>
          </a:p>
        </p:txBody>
      </p:sp>
    </p:spTree>
    <p:extLst>
      <p:ext uri="{BB962C8B-B14F-4D97-AF65-F5344CB8AC3E}">
        <p14:creationId xmlns:p14="http://schemas.microsoft.com/office/powerpoint/2010/main" val="1174816507"/>
      </p:ext>
    </p:extLst>
  </p:cSld>
</p:sld>
</file>

<file path=ppt/slides/slide17.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2" name="같은 시설과 같은 재배 기간을 연결합니다">
            <a:extLst xmlns:a="http://schemas.openxmlformats.org/drawingml/2006/main">
              <a:ext uri="{FF2B5EF4-FFF2-40B4-BE49-F238E27FC236}">
                <a16:creationId xmlns:a16="http://schemas.microsoft.com/office/drawing/2014/main" id="{A6B95BA3-70B3-46C0-8E7D-05036881AD98}"/>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같은 시설과 같은 재배 기간을 연결합니다</a:t>
            </a:r>
          </a:p>
        </p:txBody>
      </p:sp>
      <p:sp>
        <p:nvSpPr>
          <p:cNvPr id="2" name="근거 자료  17">
            <a:extLst xmlns:a="http://schemas.openxmlformats.org/drawingml/2006/main">
              <a:ext uri="{FF2B5EF4-FFF2-40B4-BE49-F238E27FC236}">
                <a16:creationId xmlns:a16="http://schemas.microsoft.com/office/drawing/2014/main" id="{D8507EA6-1C8A-4A60-8959-8D61267F5CFF}"/>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17</a:t>
            </a:r>
          </a:p>
        </p:txBody>
      </p:sp>
      <p:sp>
        <p:nvSpPr>
          <p:cNvPr id="3" name="시설의 재배 기간">
            <a:extLst xmlns:a="http://schemas.openxmlformats.org/drawingml/2006/main">
              <a:ext uri="{FF2B5EF4-FFF2-40B4-BE49-F238E27FC236}">
                <a16:creationId xmlns:a16="http://schemas.microsoft.com/office/drawing/2014/main" id="{31B731DE-8DD9-49B6-9227-B246E71FE35B}"/>
              </a:ext>
            </a:extLst>
          </p:cNvPr>
          <p:cNvSpPr>
            <a:spLocks xmlns:a="http://schemas.openxmlformats.org/drawingml/2006/main" noGrp="1"/>
          </p:cNvSpPr>
          <p:nvPr/>
        </p:nvSpPr>
        <p:spPr>
          <a:xfrm xmlns:a="http://schemas.openxmlformats.org/drawingml/2006/main">
            <a:off x="685800" y="18573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46856E"/>
                </a:solidFill>
                <a:latin typeface="Jua"/>
                <a:ea typeface="Jua"/>
                <a:cs typeface="Jua"/>
              </a:defRPr>
            </a:defPPr>
          </a:lstStyle>
          <a:p xmlns:a="http://schemas.openxmlformats.org/drawingml/2006/main">
            <a:pPr algn="l">
              <a:defRPr sz="2625" b="0">
                <a:solidFill>
                  <a:srgbClr val="46856E"/>
                </a:solidFill>
                <a:latin typeface="Jua"/>
                <a:ea typeface="Jua"/>
                <a:cs typeface="Jua"/>
              </a:defRPr>
            </a:pPr>
            <a:r>
              <a:rPr sz="2625" b="0">
                <a:solidFill>
                  <a:srgbClr val="46856E"/>
                </a:solidFill>
                <a:latin typeface="Jua"/>
                <a:ea typeface="Jua"/>
                <a:cs typeface="Jua"/>
              </a:rPr>
              <a:t>시설의 재배 기간</a:t>
            </a:r>
          </a:p>
        </p:txBody>
      </p:sp>
      <p:sp>
        <p:nvSpPr>
          <p:cNvPr id="4" name="같은 시설의 조사일이 그 기간 안에 들어오면 연결">
            <a:extLst xmlns:a="http://schemas.openxmlformats.org/drawingml/2006/main">
              <a:ext uri="{FF2B5EF4-FFF2-40B4-BE49-F238E27FC236}">
                <a16:creationId xmlns:a16="http://schemas.microsoft.com/office/drawing/2014/main" id="{FE847B18-31B7-4F64-867E-544E87BFC1F3}"/>
              </a:ext>
            </a:extLst>
          </p:cNvPr>
          <p:cNvSpPr>
            <a:spLocks xmlns:a="http://schemas.openxmlformats.org/drawingml/2006/main" noGrp="1"/>
          </p:cNvSpPr>
          <p:nvPr/>
        </p:nvSpPr>
        <p:spPr>
          <a:xfrm xmlns:a="http://schemas.openxmlformats.org/drawingml/2006/main">
            <a:off x="685800" y="2552700"/>
            <a:ext cx="1057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54F43"/>
                </a:solidFill>
                <a:latin typeface="Gowun Dodum"/>
                <a:ea typeface="Gowun Dodum"/>
                <a:cs typeface="Gowun Dodum"/>
              </a:defRPr>
            </a:defPPr>
          </a:lstStyle>
          <a:p xmlns:a="http://schemas.openxmlformats.org/drawingml/2006/main">
            <a:pPr algn="l">
              <a:defRPr sz="2550" b="0">
                <a:solidFill>
                  <a:srgbClr val="254F43"/>
                </a:solidFill>
                <a:latin typeface="Gowun Dodum"/>
                <a:ea typeface="Gowun Dodum"/>
                <a:cs typeface="Gowun Dodum"/>
              </a:defRPr>
            </a:pPr>
            <a:r>
              <a:rPr sz="2550" b="0">
                <a:solidFill>
                  <a:srgbClr val="254F43"/>
                </a:solidFill>
                <a:latin typeface="Gowun Dodum"/>
                <a:ea typeface="Gowun Dodum"/>
                <a:cs typeface="Gowun Dodum"/>
              </a:rPr>
              <a:t>같은 시설의 조사일이 그 기간 안에 들어오면 연결</a:t>
            </a:r>
          </a:p>
        </p:txBody>
      </p:sp>
      <p:sp>
        <p:nvSpPr>
          <p:cNvPr id="5" name="두 기간에 동시에 걸리거나 뜻이 모호한 기록은 제외">
            <a:extLst xmlns:a="http://schemas.openxmlformats.org/drawingml/2006/main">
              <a:ext uri="{FF2B5EF4-FFF2-40B4-BE49-F238E27FC236}">
                <a16:creationId xmlns:a16="http://schemas.microsoft.com/office/drawing/2014/main" id="{829185B6-5E65-4575-AFEC-9A67B835C3BE}"/>
              </a:ext>
            </a:extLst>
          </p:cNvPr>
          <p:cNvSpPr>
            <a:spLocks xmlns:a="http://schemas.openxmlformats.org/drawingml/2006/main" noGrp="1"/>
          </p:cNvSpPr>
          <p:nvPr/>
        </p:nvSpPr>
        <p:spPr>
          <a:xfrm xmlns:a="http://schemas.openxmlformats.org/drawingml/2006/main">
            <a:off x="685800" y="340995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D66F58"/>
                </a:solidFill>
                <a:latin typeface="Jua"/>
                <a:ea typeface="Jua"/>
                <a:cs typeface="Jua"/>
              </a:defRPr>
            </a:defPPr>
          </a:lstStyle>
          <a:p xmlns:a="http://schemas.openxmlformats.org/drawingml/2006/main">
            <a:pPr algn="l">
              <a:defRPr sz="2325" b="0">
                <a:solidFill>
                  <a:srgbClr val="D66F58"/>
                </a:solidFill>
                <a:latin typeface="Jua"/>
                <a:ea typeface="Jua"/>
                <a:cs typeface="Jua"/>
              </a:defRPr>
            </a:pPr>
            <a:r>
              <a:rPr sz="2325" b="0">
                <a:solidFill>
                  <a:srgbClr val="D66F58"/>
                </a:solidFill>
                <a:latin typeface="Jua"/>
                <a:ea typeface="Jua"/>
                <a:cs typeface="Jua"/>
              </a:rPr>
              <a:t>두 기간에 동시에 걸리거나 뜻이 모호한 기록은 제외</a:t>
            </a:r>
          </a:p>
        </p:txBody>
      </p:sp>
      <p:sp>
        <p:nvSpPr>
          <p:cNvPr id="6" name="">
            <a:extLst xmlns:a="http://schemas.openxmlformats.org/drawingml/2006/main">
              <a:ext uri="{FF2B5EF4-FFF2-40B4-BE49-F238E27FC236}">
                <a16:creationId xmlns:a16="http://schemas.microsoft.com/office/drawing/2014/main" id="{668E8508-5A15-4557-B261-0D65C3CFF7F7}"/>
              </a:ext>
            </a:extLst>
          </p:cNvPr>
          <p:cNvSpPr>
            <a:spLocks xmlns:a="http://schemas.openxmlformats.org/drawingml/2006/main" noGrp="1"/>
          </p:cNvSpPr>
          <p:nvPr/>
        </p:nvSpPr>
        <p:spPr>
          <a:xfrm xmlns:a="http://schemas.openxmlformats.org/drawingml/2006/main">
            <a:off x="685800" y="4438650"/>
            <a:ext cx="10820400" cy="0"/>
          </a:xfrm>
          <a:prstGeom xmlns:a="http://schemas.openxmlformats.org/drawingml/2006/main" prst="line">
            <a:avLst/>
          </a:prstGeom>
          <a:noFill xmlns:a="http://schemas.openxmlformats.org/drawingml/2006/main"/>
          <a:ln xmlns:a="http://schemas.openxmlformats.org/drawingml/2006/main" w="12383">
            <a:solidFill>
              <a:srgbClr val="CEDDD1"/>
            </a:solidFill>
          </a:ln>
        </p:spPr>
      </p:sp>
      <p:sp>
        <p:nvSpPr>
          <p:cNvPr id="7" name="딸기 출하 / 5품목 매출">
            <a:extLst xmlns:a="http://schemas.openxmlformats.org/drawingml/2006/main">
              <a:ext uri="{FF2B5EF4-FFF2-40B4-BE49-F238E27FC236}">
                <a16:creationId xmlns:a16="http://schemas.microsoft.com/office/drawing/2014/main" id="{9FF82576-C2D0-4513-907E-44E87E9479DF}"/>
              </a:ext>
            </a:extLst>
          </p:cNvPr>
          <p:cNvSpPr>
            <a:spLocks xmlns:a="http://schemas.openxmlformats.org/drawingml/2006/main" noGrp="1"/>
          </p:cNvSpPr>
          <p:nvPr/>
        </p:nvSpPr>
        <p:spPr>
          <a:xfrm xmlns:a="http://schemas.openxmlformats.org/drawingml/2006/main">
            <a:off x="685800" y="4800600"/>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F6C61"/>
                </a:solidFill>
                <a:latin typeface="Gowun Dodum"/>
                <a:ea typeface="Gowun Dodum"/>
                <a:cs typeface="Gowun Dodum"/>
              </a:defRPr>
            </a:defPPr>
          </a:lstStyle>
          <a:p xmlns:a="http://schemas.openxmlformats.org/drawingml/2006/main">
            <a:pPr algn="l">
              <a:defRPr sz="2175" b="0">
                <a:solidFill>
                  <a:srgbClr val="5F6C61"/>
                </a:solidFill>
                <a:latin typeface="Gowun Dodum"/>
                <a:ea typeface="Gowun Dodum"/>
                <a:cs typeface="Gowun Dodum"/>
              </a:defRPr>
            </a:pPr>
            <a:r>
              <a:rPr sz="2175" b="0">
                <a:solidFill>
                  <a:srgbClr val="5F6C61"/>
                </a:solidFill>
                <a:latin typeface="Gowun Dodum"/>
                <a:ea typeface="Gowun Dodum"/>
                <a:cs typeface="Gowun Dodum"/>
              </a:rPr>
              <a:t>딸기 출하 / 5품목 매출</a:t>
            </a:r>
          </a:p>
        </p:txBody>
      </p:sp>
      <p:sp>
        <p:nvSpPr>
          <p:cNvPr id="8" name="kg/작기, 원/작기">
            <a:extLst xmlns:a="http://schemas.openxmlformats.org/drawingml/2006/main">
              <a:ext uri="{FF2B5EF4-FFF2-40B4-BE49-F238E27FC236}">
                <a16:creationId xmlns:a16="http://schemas.microsoft.com/office/drawing/2014/main" id="{B5FBA5B3-8D24-41A1-87A4-73241ED101AD}"/>
              </a:ext>
            </a:extLst>
          </p:cNvPr>
          <p:cNvSpPr>
            <a:spLocks xmlns:a="http://schemas.openxmlformats.org/drawingml/2006/main" noGrp="1"/>
          </p:cNvSpPr>
          <p:nvPr/>
        </p:nvSpPr>
        <p:spPr>
          <a:xfrm xmlns:a="http://schemas.openxmlformats.org/drawingml/2006/main">
            <a:off x="6096000" y="4762500"/>
            <a:ext cx="5410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254F43"/>
                </a:solidFill>
                <a:latin typeface="Gowun Dodum"/>
                <a:ea typeface="Gowun Dodum"/>
                <a:cs typeface="Gowun Dodum"/>
              </a:defRPr>
            </a:defPPr>
          </a:lstStyle>
          <a:p xmlns:a="http://schemas.openxmlformats.org/drawingml/2006/main">
            <a:pPr algn="l">
              <a:defRPr sz="2325" b="0">
                <a:solidFill>
                  <a:srgbClr val="254F43"/>
                </a:solidFill>
                <a:latin typeface="Gowun Dodum"/>
                <a:ea typeface="Gowun Dodum"/>
                <a:cs typeface="Gowun Dodum"/>
              </a:defRPr>
            </a:pPr>
            <a:r>
              <a:rPr sz="2325" b="0">
                <a:solidFill>
                  <a:srgbClr val="254F43"/>
                </a:solidFill>
                <a:latin typeface="Gowun Dodum"/>
                <a:ea typeface="Gowun Dodum"/>
                <a:cs typeface="Gowun Dodum"/>
              </a:rPr>
              <a:t>kg/작기, 원/작기</a:t>
            </a:r>
          </a:p>
        </p:txBody>
      </p:sp>
      <p:sp>
        <p:nvSpPr>
          <p:cNvPr id="9" name="소득조사">
            <a:extLst xmlns:a="http://schemas.openxmlformats.org/drawingml/2006/main">
              <a:ext uri="{FF2B5EF4-FFF2-40B4-BE49-F238E27FC236}">
                <a16:creationId xmlns:a16="http://schemas.microsoft.com/office/drawing/2014/main" id="{3ACF8FF0-4AF3-426E-9520-A1B69EDD6D2E}"/>
              </a:ext>
            </a:extLst>
          </p:cNvPr>
          <p:cNvSpPr>
            <a:spLocks xmlns:a="http://schemas.openxmlformats.org/drawingml/2006/main" noGrp="1"/>
          </p:cNvSpPr>
          <p:nvPr/>
        </p:nvSpPr>
        <p:spPr>
          <a:xfrm xmlns:a="http://schemas.openxmlformats.org/drawingml/2006/main">
            <a:off x="685800" y="5410200"/>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F6C61"/>
                </a:solidFill>
                <a:latin typeface="Gowun Dodum"/>
                <a:ea typeface="Gowun Dodum"/>
                <a:cs typeface="Gowun Dodum"/>
              </a:defRPr>
            </a:defPPr>
          </a:lstStyle>
          <a:p xmlns:a="http://schemas.openxmlformats.org/drawingml/2006/main">
            <a:pPr algn="l">
              <a:defRPr sz="2175" b="0">
                <a:solidFill>
                  <a:srgbClr val="5F6C61"/>
                </a:solidFill>
                <a:latin typeface="Gowun Dodum"/>
                <a:ea typeface="Gowun Dodum"/>
                <a:cs typeface="Gowun Dodum"/>
              </a:defRPr>
            </a:pPr>
            <a:r>
              <a:rPr sz="2175" b="0">
                <a:solidFill>
                  <a:srgbClr val="5F6C61"/>
                </a:solidFill>
                <a:latin typeface="Gowun Dodum"/>
                <a:ea typeface="Gowun Dodum"/>
                <a:cs typeface="Gowun Dodum"/>
              </a:rPr>
              <a:t>소득조사</a:t>
            </a:r>
          </a:p>
        </p:txBody>
      </p:sp>
      <p:sp>
        <p:nvSpPr>
          <p:cNvPr id="10" name="kg/1,000㎡/연간 1기작">
            <a:extLst xmlns:a="http://schemas.openxmlformats.org/drawingml/2006/main">
              <a:ext uri="{FF2B5EF4-FFF2-40B4-BE49-F238E27FC236}">
                <a16:creationId xmlns:a16="http://schemas.microsoft.com/office/drawing/2014/main" id="{E6A0BA68-627A-40EE-96FE-DB077F52677B}"/>
              </a:ext>
            </a:extLst>
          </p:cNvPr>
          <p:cNvSpPr>
            <a:spLocks xmlns:a="http://schemas.openxmlformats.org/drawingml/2006/main" noGrp="1"/>
          </p:cNvSpPr>
          <p:nvPr/>
        </p:nvSpPr>
        <p:spPr>
          <a:xfrm xmlns:a="http://schemas.openxmlformats.org/drawingml/2006/main">
            <a:off x="6096000" y="5372100"/>
            <a:ext cx="5410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254F43"/>
                </a:solidFill>
                <a:latin typeface="Gowun Dodum"/>
                <a:ea typeface="Gowun Dodum"/>
                <a:cs typeface="Gowun Dodum"/>
              </a:defRPr>
            </a:defPPr>
          </a:lstStyle>
          <a:p xmlns:a="http://schemas.openxmlformats.org/drawingml/2006/main">
            <a:pPr algn="l">
              <a:defRPr sz="2325" b="0">
                <a:solidFill>
                  <a:srgbClr val="254F43"/>
                </a:solidFill>
                <a:latin typeface="Gowun Dodum"/>
                <a:ea typeface="Gowun Dodum"/>
                <a:cs typeface="Gowun Dodum"/>
              </a:defRPr>
            </a:pPr>
            <a:r>
              <a:rPr sz="2325" b="0">
                <a:solidFill>
                  <a:srgbClr val="254F43"/>
                </a:solidFill>
                <a:latin typeface="Gowun Dodum"/>
                <a:ea typeface="Gowun Dodum"/>
                <a:cs typeface="Gowun Dodum"/>
              </a:rPr>
              <a:t>kg/1,000㎡/연간 1기작</a:t>
            </a:r>
          </a:p>
        </p:txBody>
      </p:sp>
      <p:sp>
        <p:nvSpPr>
          <p:cNvPr id="11" name="평·㎡ 정의가 충돌한 매출 자료에서는 면적 입력을 제외했습니다.&#10;작기 총량을 연간 생산량으">
            <a:extLst xmlns:a="http://schemas.openxmlformats.org/drawingml/2006/main">
              <a:ext uri="{FF2B5EF4-FFF2-40B4-BE49-F238E27FC236}">
                <a16:creationId xmlns:a16="http://schemas.microsoft.com/office/drawing/2014/main" id="{1A2072BD-2F03-41E7-A7E7-BD4F22CD2A3E}"/>
              </a:ext>
            </a:extLst>
          </p:cNvPr>
          <p:cNvSpPr>
            <a:spLocks xmlns:a="http://schemas.openxmlformats.org/drawingml/2006/main" noGrp="1"/>
          </p:cNvSpPr>
          <p:nvPr/>
        </p:nvSpPr>
        <p:spPr>
          <a:xfrm xmlns:a="http://schemas.openxmlformats.org/drawingml/2006/main">
            <a:off x="685800" y="5981700"/>
            <a:ext cx="9525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F6C61"/>
                </a:solidFill>
                <a:latin typeface="Gowun Dodum"/>
                <a:ea typeface="Gowun Dodum"/>
                <a:cs typeface="Gowun Dodum"/>
              </a:defRPr>
            </a:defPPr>
          </a:lstStyle>
          <a:p xmlns:a="http://schemas.openxmlformats.org/drawingml/2006/main">
            <a:pPr algn="l">
              <a:defRPr sz="1800" b="0">
                <a:solidFill>
                  <a:srgbClr val="5F6C61"/>
                </a:solidFill>
                <a:latin typeface="Gowun Dodum"/>
                <a:ea typeface="Gowun Dodum"/>
                <a:cs typeface="Gowun Dodum"/>
              </a:defRPr>
            </a:pPr>
            <a:r>
              <a:rPr sz="1800" b="0">
                <a:solidFill>
                  <a:srgbClr val="5F6C61"/>
                </a:solidFill>
                <a:latin typeface="Gowun Dodum"/>
                <a:ea typeface="Gowun Dodum"/>
                <a:cs typeface="Gowun Dodum"/>
              </a:rPr>
              <a:t>평·㎡ 정의가 충돌한 매출 자료에서는 면적 입력을 제외했습니다.</a:t>
            </a:r>
          </a:p>
          <a:p xmlns:a="http://schemas.openxmlformats.org/drawingml/2006/main">
            <a:pPr algn="l">
              <a:defRPr sz="1800" b="0">
                <a:solidFill>
                  <a:srgbClr val="5F6C61"/>
                </a:solidFill>
                <a:latin typeface="Gowun Dodum"/>
                <a:ea typeface="Gowun Dodum"/>
                <a:cs typeface="Gowun Dodum"/>
              </a:defRPr>
            </a:pPr>
            <a:r>
              <a:rPr sz="1800" b="0">
                <a:solidFill>
                  <a:srgbClr val="5F6C61"/>
                </a:solidFill>
                <a:latin typeface="Gowun Dodum"/>
                <a:ea typeface="Gowun Dodum"/>
                <a:cs typeface="Gowun Dodum"/>
              </a:rPr>
              <a:t>작기 총량을 연간 생산량으로 자동 대입하지 않습니다.</a:t>
            </a:r>
          </a:p>
        </p:txBody>
      </p:sp>
    </p:spTree>
    <p:extLst>
      <p:ext uri="{BB962C8B-B14F-4D97-AF65-F5344CB8AC3E}">
        <p14:creationId xmlns:p14="http://schemas.microsoft.com/office/powerpoint/2010/main" val="1128063049"/>
      </p:ext>
    </p:extLst>
  </p:cSld>
</p:sld>
</file>

<file path=ppt/slides/slide18.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6" name="중앙값과 같은 조건에서 비교했습니다">
            <a:extLst xmlns:a="http://schemas.openxmlformats.org/drawingml/2006/main">
              <a:ext uri="{FF2B5EF4-FFF2-40B4-BE49-F238E27FC236}">
                <a16:creationId xmlns:a16="http://schemas.microsoft.com/office/drawing/2014/main" id="{F98CF030-135A-4E04-A8AA-5308A0288C1B}"/>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중앙값과 같은 조건에서 비교했습니다</a:t>
            </a:r>
          </a:p>
        </p:txBody>
      </p:sp>
      <p:sp>
        <p:nvSpPr>
          <p:cNvPr id="2" name="근거 자료  18">
            <a:extLst xmlns:a="http://schemas.openxmlformats.org/drawingml/2006/main">
              <a:ext uri="{FF2B5EF4-FFF2-40B4-BE49-F238E27FC236}">
                <a16:creationId xmlns:a16="http://schemas.microsoft.com/office/drawing/2014/main" id="{D42E3981-1FBA-4234-8601-625E97961DE1}"/>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18</a:t>
            </a:r>
          </a:p>
        </p:txBody>
      </p:sp>
      <p:sp>
        <p:nvSpPr>
          <p:cNvPr id="3" name="평균 예측 오차, 작을수록 좋음. 생산 49행, 출하 170작기·127시설">
            <a:extLst xmlns:a="http://schemas.openxmlformats.org/drawingml/2006/main">
              <a:ext uri="{FF2B5EF4-FFF2-40B4-BE49-F238E27FC236}">
                <a16:creationId xmlns:a16="http://schemas.microsoft.com/office/drawing/2014/main" id="{9EB04260-7DEB-4D08-A455-6691158DC76E}"/>
              </a:ext>
            </a:extLst>
          </p:cNvPr>
          <p:cNvSpPr>
            <a:spLocks xmlns:a="http://schemas.openxmlformats.org/drawingml/2006/main" noGrp="1"/>
          </p:cNvSpPr>
          <p:nvPr/>
        </p:nvSpPr>
        <p:spPr>
          <a:xfrm xmlns:a="http://schemas.openxmlformats.org/drawingml/2006/main">
            <a:off x="685800" y="15335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F6C61"/>
                </a:solidFill>
                <a:latin typeface="Gowun Dodum"/>
                <a:ea typeface="Gowun Dodum"/>
                <a:cs typeface="Gowun Dodum"/>
              </a:defRPr>
            </a:defPPr>
          </a:lstStyle>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평균 예측 오차, 작을수록 좋음. 생산 49행, 출하 170작기·127시설</a:t>
            </a:r>
          </a:p>
        </p:txBody>
      </p:sp>
      <p:graphicFrame>
        <p:nvGraphicFramePr>
          <p:cNvPr id="4" name="">
            <a:extLst xmlns:a="http://schemas.openxmlformats.org/drawingml/2006/main">
              <a:ext uri="{FF2B5EF4-FFF2-40B4-BE49-F238E27FC236}">
                <a16:creationId xmlns:a16="http://schemas.microsoft.com/office/drawing/2014/main" id="{2CA71805-2FF5-454B-B036-153745614F0D}"/>
              </a:ext>
            </a:extLst>
          </p:cNvPr>
          <p:cNvGraphicFramePr/>
          <p:nvPr/>
        </p:nvGraphicFramePr>
        <p:xfrm>
          <a:off xmlns:a="http://schemas.openxmlformats.org/drawingml/2006/main" x="685800" y="2057400"/>
          <a:ext xmlns:a="http://schemas.openxmlformats.org/drawingml/2006/main" cx="10820400" cy="3381375"/>
        </p:xfrm>
        <a:graphic xmlns:a="http://schemas.openxmlformats.org/drawingml/2006/main">
          <a:graphicData uri="http://schemas.openxmlformats.org/drawingml/2006/table">
            <a:tbl>
              <a:tblPr/>
              <a:tblGrid>
                <a:gridCol w="3790950"/>
                <a:gridCol w="3724275"/>
                <a:gridCol w="3305175"/>
              </a:tblGrid>
              <a:tr h="676275">
                <a:tc>
                  <a:txBody>
                    <a:bodyPr lIns="114300" tIns="114300" rIns="114300" bIns="114300"/>
                    <a:lstStyle/>
                    <a:p>
                      <a:r>
                        <a:rPr sz="2100" b="0">
                          <a:solidFill>
                            <a:srgbClr val="254F43"/>
                          </a:solidFill>
                          <a:latin typeface="Jua"/>
                          <a:ea typeface="Jua"/>
                          <a:cs typeface="Jua"/>
                        </a:rPr>
                        <a:t>방법</a:t>
                      </a:r>
                    </a:p>
                  </a:txBody>
                  <a:tcPr marL="91440" marR="91440" marT="45720" marB="45720" anchor="ctr">
                    <a:solidFill>
                      <a:srgbClr val="DCECDF"/>
                    </a:solidFill>
                  </a:tcPr>
                </a:tc>
                <a:tc>
                  <a:txBody>
                    <a:bodyPr lIns="114300" tIns="114300" rIns="114300" bIns="114300"/>
                    <a:lstStyle/>
                    <a:p>
                      <a:r>
                        <a:rPr sz="2100" b="0">
                          <a:solidFill>
                            <a:srgbClr val="254F43"/>
                          </a:solidFill>
                          <a:latin typeface="Gowun Dodum"/>
                          <a:ea typeface="Gowun Dodum"/>
                          <a:cs typeface="Gowun Dodum"/>
                        </a:rPr>
                        <a:t>소득조사 생산량</a:t>
                      </a:r>
                    </a:p>
                    <a:p>
                      <a:r>
                        <a:rPr sz="2100" b="0">
                          <a:solidFill>
                            <a:srgbClr val="254F43"/>
                          </a:solidFill>
                          <a:latin typeface="Gowun Dodum"/>
                          <a:ea typeface="Gowun Dodum"/>
                          <a:cs typeface="Gowun Dodum"/>
                        </a:rPr>
                        <a:t>kg/1,000㎡</a:t>
                      </a:r>
                    </a:p>
                  </a:txBody>
                  <a:tcPr marL="91440" marR="91440" marT="45720" marB="45720" anchor="ctr">
                    <a:solidFill>
                      <a:srgbClr val="DCECDF"/>
                    </a:solidFill>
                  </a:tcPr>
                </a:tc>
                <a:tc>
                  <a:txBody>
                    <a:bodyPr lIns="114300" tIns="114300" rIns="114300" bIns="114300"/>
                    <a:lstStyle/>
                    <a:p>
                      <a:r>
                        <a:rPr sz="2100" b="0">
                          <a:solidFill>
                            <a:srgbClr val="254F43"/>
                          </a:solidFill>
                          <a:latin typeface="Jua"/>
                          <a:ea typeface="Jua"/>
                          <a:cs typeface="Jua"/>
                        </a:rPr>
                        <a:t>첫 출하 기록</a:t>
                      </a:r>
                    </a:p>
                    <a:p>
                      <a:r>
                        <a:rPr sz="2100" b="0">
                          <a:solidFill>
                            <a:srgbClr val="254F43"/>
                          </a:solidFill>
                          <a:latin typeface="Jua"/>
                          <a:ea typeface="Jua"/>
                          <a:cs typeface="Jua"/>
                        </a:rPr>
                        <a:t>일</a:t>
                      </a:r>
                    </a:p>
                  </a:txBody>
                  <a:tcPr marL="91440" marR="91440" marT="45720" marB="45720" anchor="ctr">
                    <a:solidFill>
                      <a:srgbClr val="DCECDF"/>
                    </a:solidFill>
                  </a:tcPr>
                </a:tc>
              </a:tr>
              <a:tr h="676275">
                <a:tc>
                  <a:txBody>
                    <a:bodyPr lIns="114300" tIns="114300" rIns="114300" bIns="114300"/>
                    <a:lstStyle/>
                    <a:p>
                      <a:r>
                        <a:rPr sz="2100" b="0">
                          <a:solidFill>
                            <a:srgbClr val="254F43"/>
                          </a:solidFill>
                          <a:latin typeface="Gowun Dodum"/>
                          <a:ea typeface="Gowun Dodum"/>
                          <a:cs typeface="Gowun Dodum"/>
                        </a:rPr>
                        <a:t>중앙값 기준</a:t>
                      </a:r>
                    </a:p>
                  </a:txBody>
                  <a:tcPr marL="91440" marR="91440" marT="45720" marB="45720" anchor="ctr">
                    <a:solidFill>
                      <a:srgbClr val="FFF9EE"/>
                    </a:solidFill>
                  </a:tcPr>
                </a:tc>
                <a:tc>
                  <a:txBody>
                    <a:bodyPr lIns="114300" tIns="114300" rIns="114300" bIns="114300"/>
                    <a:lstStyle/>
                    <a:p>
                      <a:r>
                        <a:rPr sz="2100" b="0">
                          <a:solidFill>
                            <a:srgbClr val="254F43"/>
                          </a:solidFill>
                          <a:latin typeface="Gowun Dodum"/>
                          <a:ea typeface="Gowun Dodum"/>
                          <a:cs typeface="Gowun Dodum"/>
                        </a:rPr>
                        <a:t>775.7</a:t>
                      </a:r>
                    </a:p>
                  </a:txBody>
                  <a:tcPr marL="91440" marR="91440" marT="45720" marB="45720" anchor="ctr">
                    <a:solidFill>
                      <a:srgbClr val="FFF9EE"/>
                    </a:solidFill>
                  </a:tcPr>
                </a:tc>
                <a:tc>
                  <a:txBody>
                    <a:bodyPr lIns="114300" tIns="114300" rIns="114300" bIns="114300"/>
                    <a:lstStyle/>
                    <a:p>
                      <a:r>
                        <a:rPr sz="2100" b="0">
                          <a:solidFill>
                            <a:srgbClr val="254F43"/>
                          </a:solidFill>
                          <a:latin typeface="Gowun Dodum"/>
                          <a:ea typeface="Gowun Dodum"/>
                          <a:cs typeface="Gowun Dodum"/>
                        </a:rPr>
                        <a:t>20.52</a:t>
                      </a:r>
                    </a:p>
                  </a:txBody>
                  <a:tcPr marL="91440" marR="91440" marT="45720" marB="45720" anchor="ctr">
                    <a:solidFill>
                      <a:srgbClr val="FFF9EE"/>
                    </a:solidFill>
                  </a:tcPr>
                </a:tc>
              </a:tr>
              <a:tr h="676275">
                <a:tc>
                  <a:txBody>
                    <a:bodyPr lIns="114300" tIns="114300" rIns="114300" bIns="114300"/>
                    <a:lstStyle/>
                    <a:p>
                      <a:r>
                        <a:rPr sz="2100" b="0">
                          <a:solidFill>
                            <a:srgbClr val="254F43"/>
                          </a:solidFill>
                          <a:latin typeface="Gowun Dodum"/>
                          <a:ea typeface="Gowun Dodum"/>
                          <a:cs typeface="Gowun Dodum"/>
                        </a:rPr>
                        <a:t>XGBoost</a:t>
                      </a:r>
                    </a:p>
                  </a:txBody>
                  <a:tcPr marL="91440" marR="91440" marT="45720" marB="45720" anchor="ctr">
                    <a:solidFill>
                      <a:srgbClr val="FFF9EE"/>
                    </a:solidFill>
                  </a:tcPr>
                </a:tc>
                <a:tc>
                  <a:txBody>
                    <a:bodyPr lIns="114300" tIns="114300" rIns="114300" bIns="114300"/>
                    <a:lstStyle/>
                    <a:p>
                      <a:r>
                        <a:rPr sz="2100" b="0">
                          <a:solidFill>
                            <a:srgbClr val="254F43"/>
                          </a:solidFill>
                          <a:latin typeface="Gowun Dodum"/>
                          <a:ea typeface="Gowun Dodum"/>
                          <a:cs typeface="Gowun Dodum"/>
                        </a:rPr>
                        <a:t>1,241.6</a:t>
                      </a:r>
                    </a:p>
                  </a:txBody>
                  <a:tcPr marL="91440" marR="91440" marT="45720" marB="45720" anchor="ctr">
                    <a:solidFill>
                      <a:srgbClr val="FFF9EE"/>
                    </a:solidFill>
                  </a:tcPr>
                </a:tc>
                <a:tc>
                  <a:txBody>
                    <a:bodyPr lIns="114300" tIns="114300" rIns="114300" bIns="114300"/>
                    <a:lstStyle/>
                    <a:p>
                      <a:r>
                        <a:rPr sz="2100" b="0">
                          <a:solidFill>
                            <a:srgbClr val="254F43"/>
                          </a:solidFill>
                          <a:latin typeface="Gowun Dodum"/>
                          <a:ea typeface="Gowun Dodum"/>
                          <a:cs typeface="Gowun Dodum"/>
                        </a:rPr>
                        <a:t>20.81</a:t>
                      </a:r>
                    </a:p>
                  </a:txBody>
                  <a:tcPr marL="91440" marR="91440" marT="45720" marB="45720" anchor="ctr">
                    <a:solidFill>
                      <a:srgbClr val="FFF9EE"/>
                    </a:solidFill>
                  </a:tcPr>
                </a:tc>
              </a:tr>
              <a:tr h="676275">
                <a:tc>
                  <a:txBody>
                    <a:bodyPr lIns="114300" tIns="114300" rIns="114300" bIns="114300"/>
                    <a:lstStyle/>
                    <a:p>
                      <a:r>
                        <a:rPr sz="2100" b="0">
                          <a:solidFill>
                            <a:srgbClr val="254F43"/>
                          </a:solidFill>
                          <a:latin typeface="Gowun Dodum"/>
                          <a:ea typeface="Gowun Dodum"/>
                          <a:cs typeface="Gowun Dodum"/>
                        </a:rPr>
                        <a:t>CatBoost</a:t>
                      </a:r>
                    </a:p>
                  </a:txBody>
                  <a:tcPr marL="91440" marR="91440" marT="45720" marB="45720" anchor="ctr">
                    <a:solidFill>
                      <a:srgbClr val="FFF9EE"/>
                    </a:solidFill>
                  </a:tcPr>
                </a:tc>
                <a:tc>
                  <a:txBody>
                    <a:bodyPr lIns="114300" tIns="114300" rIns="114300" bIns="114300"/>
                    <a:lstStyle/>
                    <a:p>
                      <a:r>
                        <a:rPr sz="2100" b="0">
                          <a:solidFill>
                            <a:srgbClr val="254F43"/>
                          </a:solidFill>
                          <a:latin typeface="Gowun Dodum"/>
                          <a:ea typeface="Gowun Dodum"/>
                          <a:cs typeface="Gowun Dodum"/>
                        </a:rPr>
                        <a:t>1,483.5</a:t>
                      </a:r>
                    </a:p>
                  </a:txBody>
                  <a:tcPr marL="91440" marR="91440" marT="45720" marB="45720" anchor="ctr">
                    <a:solidFill>
                      <a:srgbClr val="FFF9EE"/>
                    </a:solidFill>
                  </a:tcPr>
                </a:tc>
                <a:tc>
                  <a:txBody>
                    <a:bodyPr lIns="114300" tIns="114300" rIns="114300" bIns="114300"/>
                    <a:lstStyle/>
                    <a:p>
                      <a:r>
                        <a:rPr sz="2100" b="0">
                          <a:solidFill>
                            <a:srgbClr val="254F43"/>
                          </a:solidFill>
                          <a:latin typeface="Gowun Dodum"/>
                          <a:ea typeface="Gowun Dodum"/>
                          <a:cs typeface="Gowun Dodum"/>
                        </a:rPr>
                        <a:t>22.41</a:t>
                      </a:r>
                    </a:p>
                  </a:txBody>
                  <a:tcPr marL="91440" marR="91440" marT="45720" marB="45720" anchor="ctr">
                    <a:solidFill>
                      <a:srgbClr val="FFF9EE"/>
                    </a:solidFill>
                  </a:tcPr>
                </a:tc>
              </a:tr>
              <a:tr h="676275">
                <a:tc>
                  <a:txBody>
                    <a:bodyPr lIns="114300" tIns="114300" rIns="114300" bIns="114300"/>
                    <a:lstStyle/>
                    <a:p>
                      <a:r>
                        <a:rPr sz="2100" b="0">
                          <a:solidFill>
                            <a:srgbClr val="254F43"/>
                          </a:solidFill>
                          <a:latin typeface="Gowun Dodum"/>
                          <a:ea typeface="Gowun Dodum"/>
                          <a:cs typeface="Gowun Dodum"/>
                        </a:rPr>
                        <a:t>LimiX</a:t>
                      </a:r>
                    </a:p>
                  </a:txBody>
                  <a:tcPr marL="91440" marR="91440" marT="45720" marB="45720" anchor="ctr">
                    <a:solidFill>
                      <a:srgbClr val="FFF9EE"/>
                    </a:solidFill>
                  </a:tcPr>
                </a:tc>
                <a:tc>
                  <a:txBody>
                    <a:bodyPr lIns="114300" tIns="114300" rIns="114300" bIns="114300"/>
                    <a:lstStyle/>
                    <a:p>
                      <a:r>
                        <a:rPr sz="2100" b="0">
                          <a:solidFill>
                            <a:srgbClr val="254F43"/>
                          </a:solidFill>
                          <a:latin typeface="Gowun Dodum"/>
                          <a:ea typeface="Gowun Dodum"/>
                          <a:cs typeface="Gowun Dodum"/>
                        </a:rPr>
                        <a:t>1,441.0</a:t>
                      </a:r>
                    </a:p>
                  </a:txBody>
                  <a:tcPr marL="91440" marR="91440" marT="45720" marB="45720" anchor="ctr">
                    <a:solidFill>
                      <a:srgbClr val="FFF9EE"/>
                    </a:solidFill>
                  </a:tcPr>
                </a:tc>
                <a:tc>
                  <a:txBody>
                    <a:bodyPr lIns="114300" tIns="114300" rIns="114300" bIns="114300"/>
                    <a:lstStyle/>
                    <a:p>
                      <a:r>
                        <a:rPr sz="2100" b="0">
                          <a:solidFill>
                            <a:srgbClr val="254F43"/>
                          </a:solidFill>
                          <a:latin typeface="Gowun Dodum"/>
                          <a:ea typeface="Gowun Dodum"/>
                          <a:cs typeface="Gowun Dodum"/>
                        </a:rPr>
                        <a:t>20.63</a:t>
                      </a:r>
                    </a:p>
                  </a:txBody>
                  <a:tcPr marL="91440" marR="91440" marT="45720" marB="45720" anchor="ctr">
                    <a:solidFill>
                      <a:srgbClr val="FFF9EE"/>
                    </a:solidFill>
                  </a:tcPr>
                </a:tc>
              </a:tr>
            </a:tbl>
          </a:graphicData>
        </a:graphic>
      </p:graphicFrame>
      <p:sp>
        <p:nvSpPr>
          <p:cNvPr id="5" name="모델 선택용 평가이며 별도의 최종 검증은 남아 있습니다.&#10;출하 시점은 첫 기록일이며 실제 ">
            <a:extLst xmlns:a="http://schemas.openxmlformats.org/drawingml/2006/main">
              <a:ext uri="{FF2B5EF4-FFF2-40B4-BE49-F238E27FC236}">
                <a16:creationId xmlns:a16="http://schemas.microsoft.com/office/drawing/2014/main" id="{2D17B378-6A99-4950-9F90-4621FF71603D}"/>
              </a:ext>
            </a:extLst>
          </p:cNvPr>
          <p:cNvSpPr>
            <a:spLocks xmlns:a="http://schemas.openxmlformats.org/drawingml/2006/main" noGrp="1"/>
          </p:cNvSpPr>
          <p:nvPr/>
        </p:nvSpPr>
        <p:spPr>
          <a:xfrm xmlns:a="http://schemas.openxmlformats.org/drawingml/2006/main">
            <a:off x="685800" y="57816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F6C61"/>
                </a:solidFill>
                <a:latin typeface="Gowun Dodum"/>
                <a:ea typeface="Gowun Dodum"/>
                <a:cs typeface="Gowun Dodum"/>
              </a:defRPr>
            </a:defPPr>
          </a:lstStyle>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모델 선택용 평가이며 별도의 최종 검증은 남아 있습니다.</a:t>
            </a:r>
          </a:p>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출하 시점은 첫 기록일이며 실제 첫 수확일과 다를 수 있습니다.</a:t>
            </a:r>
          </a:p>
        </p:txBody>
      </p:sp>
    </p:spTree>
    <p:extLst>
      <p:ext uri="{BB962C8B-B14F-4D97-AF65-F5344CB8AC3E}">
        <p14:creationId xmlns:p14="http://schemas.microsoft.com/office/powerpoint/2010/main" val="438996029"/>
      </p:ext>
    </p:extLst>
  </p:cSld>
</p:sld>
</file>

<file path=ppt/slides/slide19.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6" name="극단값을 뺀 점수는 별도 분석입니다">
            <a:extLst xmlns:a="http://schemas.openxmlformats.org/drawingml/2006/main">
              <a:ext uri="{FF2B5EF4-FFF2-40B4-BE49-F238E27FC236}">
                <a16:creationId xmlns:a16="http://schemas.microsoft.com/office/drawing/2014/main" id="{6024E605-26B7-4D3A-A81C-9AE37B00315D}"/>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극단값을 뺀 점수는 별도 분석입니다</a:t>
            </a:r>
          </a:p>
        </p:txBody>
      </p:sp>
      <p:sp>
        <p:nvSpPr>
          <p:cNvPr id="2" name="근거 자료  19">
            <a:extLst xmlns:a="http://schemas.openxmlformats.org/drawingml/2006/main">
              <a:ext uri="{FF2B5EF4-FFF2-40B4-BE49-F238E27FC236}">
                <a16:creationId xmlns:a16="http://schemas.microsoft.com/office/drawing/2014/main" id="{11891408-CB27-4715-AA55-1E19A7DF0DF5}"/>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19</a:t>
            </a:r>
          </a:p>
        </p:txBody>
      </p:sp>
      <p:graphicFrame>
        <p:nvGraphicFramePr>
          <p:cNvPr id="3" name="">
            <a:extLst xmlns:a="http://schemas.openxmlformats.org/drawingml/2006/main">
              <a:ext uri="{FF2B5EF4-FFF2-40B4-BE49-F238E27FC236}">
                <a16:creationId xmlns:a16="http://schemas.microsoft.com/office/drawing/2014/main" id="{2EC5C20C-1518-4F9E-B840-78D10641C12D}"/>
              </a:ext>
            </a:extLst>
          </p:cNvPr>
          <p:cNvGraphicFramePr/>
          <p:nvPr/>
        </p:nvGraphicFramePr>
        <p:xfrm>
          <a:off xmlns:a="http://schemas.openxmlformats.org/drawingml/2006/main" x="685800" y="1828800"/>
          <a:ext xmlns:a="http://schemas.openxmlformats.org/drawingml/2006/main" cx="10820400" cy="2895600"/>
        </p:xfrm>
        <a:graphic xmlns:a="http://schemas.openxmlformats.org/drawingml/2006/main">
          <a:graphicData uri="http://schemas.openxmlformats.org/drawingml/2006/table">
            <a:tbl>
              <a:tblPr/>
              <a:tblGrid>
                <a:gridCol w="2552700"/>
                <a:gridCol w="4133850"/>
                <a:gridCol w="4133850"/>
              </a:tblGrid>
              <a:tr h="965200">
                <a:tc>
                  <a:txBody>
                    <a:bodyPr lIns="114300" tIns="114300" rIns="114300" bIns="114300"/>
                    <a:lstStyle/>
                    <a:p>
                      <a:r>
                        <a:rPr sz="2025" b="0">
                          <a:solidFill>
                            <a:srgbClr val="254F43"/>
                          </a:solidFill>
                          <a:latin typeface="Jua"/>
                          <a:ea typeface="Jua"/>
                          <a:cs typeface="Jua"/>
                        </a:rPr>
                        <a:t>실험</a:t>
                      </a:r>
                    </a:p>
                  </a:txBody>
                  <a:tcPr marL="91440" marR="91440" marT="45720" marB="45720" anchor="ctr">
                    <a:solidFill>
                      <a:srgbClr val="DCECDF"/>
                    </a:solidFill>
                  </a:tcPr>
                </a:tc>
                <a:tc>
                  <a:txBody>
                    <a:bodyPr lIns="114300" tIns="114300" rIns="114300" bIns="114300"/>
                    <a:lstStyle/>
                    <a:p>
                      <a:r>
                        <a:rPr sz="2025" b="0">
                          <a:solidFill>
                            <a:srgbClr val="254F43"/>
                          </a:solidFill>
                          <a:latin typeface="Jua"/>
                          <a:ea typeface="Jua"/>
                          <a:cs typeface="Jua"/>
                        </a:rPr>
                        <a:t>전체 기록의 최저 오차</a:t>
                      </a:r>
                    </a:p>
                  </a:txBody>
                  <a:tcPr marL="91440" marR="91440" marT="45720" marB="45720" anchor="ctr">
                    <a:solidFill>
                      <a:srgbClr val="DCECDF"/>
                    </a:solidFill>
                  </a:tcPr>
                </a:tc>
                <a:tc>
                  <a:txBody>
                    <a:bodyPr lIns="114300" tIns="114300" rIns="114300" bIns="114300"/>
                    <a:lstStyle/>
                    <a:p>
                      <a:r>
                        <a:rPr sz="2025" b="0">
                          <a:solidFill>
                            <a:srgbClr val="254F43"/>
                          </a:solidFill>
                          <a:latin typeface="Jua"/>
                          <a:ea typeface="Jua"/>
                          <a:cs typeface="Jua"/>
                        </a:rPr>
                        <a:t>1행 제외 후 최저 오차</a:t>
                      </a:r>
                    </a:p>
                  </a:txBody>
                  <a:tcPr marL="91440" marR="91440" marT="45720" marB="45720" anchor="ctr">
                    <a:solidFill>
                      <a:srgbClr val="DCECDF"/>
                    </a:solidFill>
                  </a:tcPr>
                </a:tc>
              </a:tr>
              <a:tr h="965200">
                <a:tc>
                  <a:txBody>
                    <a:bodyPr lIns="114300" tIns="114300" rIns="114300" bIns="114300"/>
                    <a:lstStyle/>
                    <a:p>
                      <a:r>
                        <a:rPr sz="2025" b="0">
                          <a:solidFill>
                            <a:srgbClr val="254F43"/>
                          </a:solidFill>
                          <a:latin typeface="Gowun Dodum"/>
                          <a:ea typeface="Gowun Dodum"/>
                          <a:cs typeface="Gowun Dodum"/>
                        </a:rPr>
                        <a:t>딸기 출하량</a:t>
                      </a:r>
                    </a:p>
                    <a:p>
                      <a:r>
                        <a:rPr sz="2025" b="0">
                          <a:solidFill>
                            <a:srgbClr val="254F43"/>
                          </a:solidFill>
                          <a:latin typeface="Gowun Dodum"/>
                          <a:ea typeface="Gowun Dodum"/>
                          <a:cs typeface="Gowun Dodum"/>
                        </a:rPr>
                        <a:t>77작기</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195,256 kg/작기</a:t>
                      </a:r>
                    </a:p>
                    <a:p>
                      <a:r>
                        <a:rPr sz="2025" b="0">
                          <a:solidFill>
                            <a:srgbClr val="254F43"/>
                          </a:solidFill>
                          <a:latin typeface="Gowun Dodum"/>
                          <a:ea typeface="Gowun Dodum"/>
                          <a:cs typeface="Gowun Dodum"/>
                        </a:rPr>
                        <a:t>XGBoost</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5,047 kg/작기</a:t>
                      </a:r>
                    </a:p>
                    <a:p>
                      <a:r>
                        <a:rPr sz="2025" b="0">
                          <a:solidFill>
                            <a:srgbClr val="254F43"/>
                          </a:solidFill>
                          <a:latin typeface="Gowun Dodum"/>
                          <a:ea typeface="Gowun Dodum"/>
                          <a:cs typeface="Gowun Dodum"/>
                        </a:rPr>
                        <a:t>LimiX, 76작기</a:t>
                      </a:r>
                    </a:p>
                  </a:txBody>
                  <a:tcPr marL="91440" marR="91440" marT="45720" marB="45720" anchor="ctr">
                    <a:solidFill>
                      <a:srgbClr val="FFF9EE"/>
                    </a:solidFill>
                  </a:tcPr>
                </a:tc>
              </a:tr>
              <a:tr h="965200">
                <a:tc>
                  <a:txBody>
                    <a:bodyPr lIns="114300" tIns="114300" rIns="114300" bIns="114300"/>
                    <a:lstStyle/>
                    <a:p>
                      <a:r>
                        <a:rPr sz="2025" b="0">
                          <a:solidFill>
                            <a:srgbClr val="254F43"/>
                          </a:solidFill>
                          <a:latin typeface="Gowun Dodum"/>
                          <a:ea typeface="Gowun Dodum"/>
                          <a:cs typeface="Gowun Dodum"/>
                        </a:rPr>
                        <a:t>5품목 매출</a:t>
                      </a:r>
                    </a:p>
                    <a:p>
                      <a:r>
                        <a:rPr sz="2025" b="0">
                          <a:solidFill>
                            <a:srgbClr val="254F43"/>
                          </a:solidFill>
                          <a:latin typeface="Gowun Dodum"/>
                          <a:ea typeface="Gowun Dodum"/>
                          <a:cs typeface="Gowun Dodum"/>
                        </a:rPr>
                        <a:t>192작기</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13.52억원/작기</a:t>
                      </a:r>
                    </a:p>
                    <a:p>
                      <a:r>
                        <a:rPr sz="2025" b="0">
                          <a:solidFill>
                            <a:srgbClr val="254F43"/>
                          </a:solidFill>
                          <a:latin typeface="Gowun Dodum"/>
                          <a:ea typeface="Gowun Dodum"/>
                          <a:cs typeface="Gowun Dodum"/>
                        </a:rPr>
                        <a:t>품목별 중앙값</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1.37억원/작기</a:t>
                      </a:r>
                    </a:p>
                    <a:p>
                      <a:r>
                        <a:rPr sz="2025" b="0">
                          <a:solidFill>
                            <a:srgbClr val="254F43"/>
                          </a:solidFill>
                          <a:latin typeface="Gowun Dodum"/>
                          <a:ea typeface="Gowun Dodum"/>
                          <a:cs typeface="Gowun Dodum"/>
                        </a:rPr>
                        <a:t>XGBoost, 191작기</a:t>
                      </a:r>
                    </a:p>
                  </a:txBody>
                  <a:tcPr marL="91440" marR="91440" marT="45720" marB="45720" anchor="ctr">
                    <a:solidFill>
                      <a:srgbClr val="FFF9EE"/>
                    </a:solidFill>
                  </a:tcPr>
                </a:tc>
              </a:tr>
            </a:tbl>
          </a:graphicData>
        </a:graphic>
      </p:graphicFrame>
      <p:sp>
        <p:nvSpPr>
          <p:cNvPr id="4" name="원본 전체 결과를 주 결과로 보존했습니다.">
            <a:extLst xmlns:a="http://schemas.openxmlformats.org/drawingml/2006/main">
              <a:ext uri="{FF2B5EF4-FFF2-40B4-BE49-F238E27FC236}">
                <a16:creationId xmlns:a16="http://schemas.microsoft.com/office/drawing/2014/main" id="{3E727710-C14E-4E97-84C8-A0284FAB063F}"/>
              </a:ext>
            </a:extLst>
          </p:cNvPr>
          <p:cNvSpPr>
            <a:spLocks xmlns:a="http://schemas.openxmlformats.org/drawingml/2006/main" noGrp="1"/>
          </p:cNvSpPr>
          <p:nvPr/>
        </p:nvSpPr>
        <p:spPr>
          <a:xfrm xmlns:a="http://schemas.openxmlformats.org/drawingml/2006/main">
            <a:off x="685800" y="511492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46856E"/>
                </a:solidFill>
                <a:latin typeface="Jua"/>
                <a:ea typeface="Jua"/>
                <a:cs typeface="Jua"/>
              </a:defRPr>
            </a:defPPr>
          </a:lstStyle>
          <a:p xmlns:a="http://schemas.openxmlformats.org/drawingml/2006/main">
            <a:pPr algn="l">
              <a:defRPr sz="2475" b="0">
                <a:solidFill>
                  <a:srgbClr val="46856E"/>
                </a:solidFill>
                <a:latin typeface="Jua"/>
                <a:ea typeface="Jua"/>
                <a:cs typeface="Jua"/>
              </a:defRPr>
            </a:pPr>
            <a:r>
              <a:rPr sz="2475" b="0">
                <a:solidFill>
                  <a:srgbClr val="46856E"/>
                </a:solidFill>
                <a:latin typeface="Jua"/>
                <a:ea typeface="Jua"/>
                <a:cs typeface="Jua"/>
              </a:rPr>
              <a:t>원본 전체 결과를 주 결과로 보존했습니다.</a:t>
            </a:r>
          </a:p>
        </p:txBody>
      </p:sp>
      <p:sp>
        <p:nvSpPr>
          <p:cNvPr id="5" name="기록이 있는 농가의 선택 편향과 큰 오차가 남아 있습니다.&#10;극단값 제거를 신규 농가의 성능">
            <a:extLst xmlns:a="http://schemas.openxmlformats.org/drawingml/2006/main">
              <a:ext uri="{FF2B5EF4-FFF2-40B4-BE49-F238E27FC236}">
                <a16:creationId xmlns:a16="http://schemas.microsoft.com/office/drawing/2014/main" id="{D4C64CCC-D5C0-48EB-B084-29AF589B1FC7}"/>
              </a:ext>
            </a:extLst>
          </p:cNvPr>
          <p:cNvSpPr>
            <a:spLocks xmlns:a="http://schemas.openxmlformats.org/drawingml/2006/main" noGrp="1"/>
          </p:cNvSpPr>
          <p:nvPr/>
        </p:nvSpPr>
        <p:spPr>
          <a:xfrm xmlns:a="http://schemas.openxmlformats.org/drawingml/2006/main">
            <a:off x="6858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F6C61"/>
                </a:solidFill>
                <a:latin typeface="Gowun Dodum"/>
                <a:ea typeface="Gowun Dodum"/>
                <a:cs typeface="Gowun Dodum"/>
              </a:defRPr>
            </a:defPPr>
          </a:lstStyle>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기록이 있는 농가의 선택 편향과 큰 오차가 남아 있습니다.</a:t>
            </a:r>
          </a:p>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극단값 제거를 신규 농가의 성능 향상으로 해석하지 않습니다.</a:t>
            </a:r>
          </a:p>
        </p:txBody>
      </p:sp>
    </p:spTree>
    <p:extLst>
      <p:ext uri="{BB962C8B-B14F-4D97-AF65-F5344CB8AC3E}">
        <p14:creationId xmlns:p14="http://schemas.microsoft.com/office/powerpoint/2010/main" val="2000731483"/>
      </p:ext>
    </p:extLst>
  </p:cSld>
</p:sld>
</file>

<file path=ppt/slides/slide20.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6" name="확인한 장비 등록 가격 3종">
            <a:extLst xmlns:a="http://schemas.openxmlformats.org/drawingml/2006/main">
              <a:ext uri="{FF2B5EF4-FFF2-40B4-BE49-F238E27FC236}">
                <a16:creationId xmlns:a16="http://schemas.microsoft.com/office/drawing/2014/main" id="{84F241AF-FC41-4F7F-8C57-2148BB1C7BBD}"/>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확인한 장비 등록 가격 3종</a:t>
            </a:r>
          </a:p>
        </p:txBody>
      </p:sp>
      <p:sp>
        <p:nvSpPr>
          <p:cNvPr id="2" name="근거 자료  20">
            <a:extLst xmlns:a="http://schemas.openxmlformats.org/drawingml/2006/main">
              <a:ext uri="{FF2B5EF4-FFF2-40B4-BE49-F238E27FC236}">
                <a16:creationId xmlns:a16="http://schemas.microsoft.com/office/drawing/2014/main" id="{B69ADC1A-F722-4BF6-89C8-54BB972BA9DD}"/>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20</a:t>
            </a:r>
          </a:p>
        </p:txBody>
      </p:sp>
      <p:graphicFrame>
        <p:nvGraphicFramePr>
          <p:cNvPr id="3" name="">
            <a:extLst xmlns:a="http://schemas.openxmlformats.org/drawingml/2006/main">
              <a:ext uri="{FF2B5EF4-FFF2-40B4-BE49-F238E27FC236}">
                <a16:creationId xmlns:a16="http://schemas.microsoft.com/office/drawing/2014/main" id="{E6E6642A-D148-4830-A41C-55A6AA57AB08}"/>
              </a:ext>
            </a:extLst>
          </p:cNvPr>
          <p:cNvGraphicFramePr/>
          <p:nvPr/>
        </p:nvGraphicFramePr>
        <p:xfrm>
          <a:off xmlns:a="http://schemas.openxmlformats.org/drawingml/2006/main" x="685800" y="1762125"/>
          <a:ext xmlns:a="http://schemas.openxmlformats.org/drawingml/2006/main" cx="10820400" cy="3000375"/>
        </p:xfrm>
        <a:graphic xmlns:a="http://schemas.openxmlformats.org/drawingml/2006/main">
          <a:graphicData uri="http://schemas.openxmlformats.org/drawingml/2006/table">
            <a:tbl>
              <a:tblPr/>
              <a:tblGrid>
                <a:gridCol w="4667250"/>
                <a:gridCol w="2305050"/>
                <a:gridCol w="3848100"/>
              </a:tblGrid>
              <a:tr h="750094">
                <a:tc>
                  <a:txBody>
                    <a:bodyPr lIns="114300" tIns="114300" rIns="114300" bIns="114300"/>
                    <a:lstStyle/>
                    <a:p>
                      <a:r>
                        <a:rPr sz="2025" b="0">
                          <a:solidFill>
                            <a:srgbClr val="254F43"/>
                          </a:solidFill>
                          <a:latin typeface="Jua"/>
                          <a:ea typeface="Jua"/>
                          <a:cs typeface="Jua"/>
                        </a:rPr>
                        <a:t>공개 장비 패키지</a:t>
                      </a:r>
                    </a:p>
                  </a:txBody>
                  <a:tcPr marL="91440" marR="91440" marT="45720" marB="45720" anchor="ctr">
                    <a:solidFill>
                      <a:srgbClr val="DCECDF"/>
                    </a:solidFill>
                  </a:tcPr>
                </a:tc>
                <a:tc>
                  <a:txBody>
                    <a:bodyPr lIns="114300" tIns="114300" rIns="114300" bIns="114300"/>
                    <a:lstStyle/>
                    <a:p>
                      <a:r>
                        <a:rPr sz="2025" b="0">
                          <a:solidFill>
                            <a:srgbClr val="254F43"/>
                          </a:solidFill>
                          <a:latin typeface="Jua"/>
                          <a:ea typeface="Jua"/>
                          <a:cs typeface="Jua"/>
                        </a:rPr>
                        <a:t>기본 가격</a:t>
                      </a:r>
                    </a:p>
                  </a:txBody>
                  <a:tcPr marL="91440" marR="91440" marT="45720" marB="45720" anchor="ctr">
                    <a:solidFill>
                      <a:srgbClr val="DCECDF"/>
                    </a:solidFill>
                  </a:tcPr>
                </a:tc>
                <a:tc>
                  <a:txBody>
                    <a:bodyPr lIns="114300" tIns="114300" rIns="114300" bIns="114300"/>
                    <a:lstStyle/>
                    <a:p>
                      <a:r>
                        <a:rPr sz="2025" b="0">
                          <a:solidFill>
                            <a:srgbClr val="254F43"/>
                          </a:solidFill>
                          <a:latin typeface="Jua"/>
                          <a:ea typeface="Jua"/>
                          <a:cs typeface="Jua"/>
                        </a:rPr>
                        <a:t>구성 또는 선택 항목</a:t>
                      </a:r>
                    </a:p>
                  </a:txBody>
                  <a:tcPr marL="91440" marR="91440" marT="45720" marB="45720" anchor="ctr">
                    <a:solidFill>
                      <a:srgbClr val="DCECDF"/>
                    </a:solidFill>
                  </a:tcPr>
                </a:tc>
              </a:tr>
              <a:tr h="750094">
                <a:tc>
                  <a:txBody>
                    <a:bodyPr lIns="114300" tIns="114300" rIns="114300" bIns="114300"/>
                    <a:lstStyle/>
                    <a:p>
                      <a:r>
                        <a:rPr sz="2025" b="0">
                          <a:solidFill>
                            <a:srgbClr val="254F43"/>
                          </a:solidFill>
                          <a:latin typeface="Gowun Dodum"/>
                          <a:ea typeface="Gowun Dodum"/>
                          <a:cs typeface="Gowun Dodum"/>
                        </a:rPr>
                        <a:t>CRONOUS-AV-CR01</a:t>
                      </a:r>
                    </a:p>
                    <a:p>
                      <a:r>
                        <a:rPr sz="2025" b="0">
                          <a:solidFill>
                            <a:srgbClr val="254F43"/>
                          </a:solidFill>
                          <a:latin typeface="Gowun Dodum"/>
                          <a:ea typeface="Gowun Dodum"/>
                          <a:cs typeface="Gowun Dodum"/>
                        </a:rPr>
                        <a:t>환경제어 구성</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2,090.3만원</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온습도·CO₂</a:t>
                      </a:r>
                    </a:p>
                    <a:p>
                      <a:r>
                        <a:rPr sz="2025" b="0">
                          <a:solidFill>
                            <a:srgbClr val="254F43"/>
                          </a:solidFill>
                          <a:latin typeface="Gowun Dodum"/>
                          <a:ea typeface="Gowun Dodum"/>
                          <a:cs typeface="Gowun Dodum"/>
                        </a:rPr>
                        <a:t>토양 센서 포함</a:t>
                      </a:r>
                    </a:p>
                  </a:txBody>
                  <a:tcPr marL="91440" marR="91440" marT="45720" marB="45720" anchor="ctr">
                    <a:solidFill>
                      <a:srgbClr val="FFF9EE"/>
                    </a:solidFill>
                  </a:tcPr>
                </a:tc>
              </a:tr>
              <a:tr h="750094">
                <a:tc>
                  <a:txBody>
                    <a:bodyPr lIns="114300" tIns="114300" rIns="114300" bIns="114300"/>
                    <a:lstStyle/>
                    <a:p>
                      <a:r>
                        <a:rPr sz="2025" b="0">
                          <a:solidFill>
                            <a:srgbClr val="254F43"/>
                          </a:solidFill>
                          <a:latin typeface="Gowun Dodum"/>
                          <a:ea typeface="Gowun Dodum"/>
                          <a:cs typeface="Gowun Dodum"/>
                        </a:rPr>
                        <a:t>옹달샘300</a:t>
                      </a:r>
                    </a:p>
                    <a:p>
                      <a:r>
                        <a:rPr sz="2025" b="0">
                          <a:solidFill>
                            <a:srgbClr val="254F43"/>
                          </a:solidFill>
                          <a:latin typeface="Gowun Dodum"/>
                          <a:ea typeface="Gowun Dodum"/>
                          <a:cs typeface="Gowun Dodum"/>
                        </a:rPr>
                        <a:t>양액 공급 구성</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327만원</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일사 센서 40만원</a:t>
                      </a:r>
                    </a:p>
                  </a:txBody>
                  <a:tcPr marL="91440" marR="91440" marT="45720" marB="45720" anchor="ctr">
                    <a:solidFill>
                      <a:srgbClr val="FFF9EE"/>
                    </a:solidFill>
                  </a:tcPr>
                </a:tc>
              </a:tr>
              <a:tr h="750094">
                <a:tc>
                  <a:txBody>
                    <a:bodyPr lIns="114300" tIns="114300" rIns="114300" bIns="114300"/>
                    <a:lstStyle/>
                    <a:p>
                      <a:r>
                        <a:rPr sz="2025" b="0">
                          <a:solidFill>
                            <a:srgbClr val="254F43"/>
                          </a:solidFill>
                          <a:latin typeface="Gowun Dodum"/>
                          <a:ea typeface="Gowun Dodum"/>
                          <a:cs typeface="Gowun Dodum"/>
                        </a:rPr>
                        <a:t>MAGMA1000V20</a:t>
                      </a:r>
                    </a:p>
                    <a:p>
                      <a:r>
                        <a:rPr sz="2025" b="0">
                          <a:solidFill>
                            <a:srgbClr val="254F43"/>
                          </a:solidFill>
                          <a:latin typeface="Gowun Dodum"/>
                          <a:ea typeface="Gowun Dodum"/>
                          <a:cs typeface="Gowun Dodum"/>
                        </a:rPr>
                        <a:t>양액 공급 구성</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1,500만원</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선택한 옵션만 합산</a:t>
                      </a:r>
                    </a:p>
                  </a:txBody>
                  <a:tcPr marL="91440" marR="91440" marT="45720" marB="45720" anchor="ctr">
                    <a:solidFill>
                      <a:srgbClr val="FFF9EE"/>
                    </a:solidFill>
                  </a:tcPr>
                </a:tc>
              </a:tr>
            </a:tbl>
          </a:graphicData>
        </a:graphic>
      </p:graphicFrame>
      <p:sp>
        <p:nvSpPr>
          <p:cNvPr id="4" name="패키지에 포함된 구성품을 다시 더하지 않습니다.">
            <a:extLst xmlns:a="http://schemas.openxmlformats.org/drawingml/2006/main">
              <a:ext uri="{FF2B5EF4-FFF2-40B4-BE49-F238E27FC236}">
                <a16:creationId xmlns:a16="http://schemas.microsoft.com/office/drawing/2014/main" id="{D0BA8724-BA63-477E-8EA2-2EFA1D125287}"/>
              </a:ext>
            </a:extLst>
          </p:cNvPr>
          <p:cNvSpPr>
            <a:spLocks xmlns:a="http://schemas.openxmlformats.org/drawingml/2006/main" noGrp="1"/>
          </p:cNvSpPr>
          <p:nvPr/>
        </p:nvSpPr>
        <p:spPr>
          <a:xfrm xmlns:a="http://schemas.openxmlformats.org/drawingml/2006/main">
            <a:off x="685800" y="5124450"/>
            <a:ext cx="10572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46856E"/>
                </a:solidFill>
                <a:latin typeface="Jua"/>
                <a:ea typeface="Jua"/>
                <a:cs typeface="Jua"/>
              </a:defRPr>
            </a:defPPr>
          </a:lstStyle>
          <a:p xmlns:a="http://schemas.openxmlformats.org/drawingml/2006/main">
            <a:pPr algn="l">
              <a:defRPr sz="2400" b="0">
                <a:solidFill>
                  <a:srgbClr val="46856E"/>
                </a:solidFill>
                <a:latin typeface="Jua"/>
                <a:ea typeface="Jua"/>
                <a:cs typeface="Jua"/>
              </a:defRPr>
            </a:pPr>
            <a:r>
              <a:rPr sz="2400" b="0">
                <a:solidFill>
                  <a:srgbClr val="46856E"/>
                </a:solidFill>
                <a:latin typeface="Jua"/>
                <a:ea typeface="Jua"/>
                <a:cs typeface="Jua"/>
              </a:rPr>
              <a:t>패키지에 포함된 구성품을 다시 더하지 않습니다.</a:t>
            </a:r>
          </a:p>
        </p:txBody>
      </p:sp>
      <p:sp>
        <p:nvSpPr>
          <p:cNvPr id="5" name="설치비와 부가세 포함 여부, 호환성, 필요 수량, 수명은 현장 확인이 필요합니다.">
            <a:extLst xmlns:a="http://schemas.openxmlformats.org/drawingml/2006/main">
              <a:ext uri="{FF2B5EF4-FFF2-40B4-BE49-F238E27FC236}">
                <a16:creationId xmlns:a16="http://schemas.microsoft.com/office/drawing/2014/main" id="{AA47503A-EB83-416E-9DE1-7020F7AB783C}"/>
              </a:ext>
            </a:extLst>
          </p:cNvPr>
          <p:cNvSpPr>
            <a:spLocks xmlns:a="http://schemas.openxmlformats.org/drawingml/2006/main" noGrp="1"/>
          </p:cNvSpPr>
          <p:nvPr/>
        </p:nvSpPr>
        <p:spPr>
          <a:xfrm xmlns:a="http://schemas.openxmlformats.org/drawingml/2006/main">
            <a:off x="685800" y="58483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F6C61"/>
                </a:solidFill>
                <a:latin typeface="Gowun Dodum"/>
                <a:ea typeface="Gowun Dodum"/>
                <a:cs typeface="Gowun Dodum"/>
              </a:defRPr>
            </a:defPPr>
          </a:lstStyle>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설치비와 부가세 포함 여부, 호환성, 필요 수량, 수명은 현장 확인이 필요합니다.</a:t>
            </a:r>
          </a:p>
        </p:txBody>
      </p:sp>
    </p:spTree>
    <p:extLst>
      <p:ext uri="{BB962C8B-B14F-4D97-AF65-F5344CB8AC3E}">
        <p14:creationId xmlns:p14="http://schemas.microsoft.com/office/powerpoint/2010/main" val="1176475478"/>
      </p:ext>
    </p:extLst>
  </p:cSld>
</p:sld>
</file>

<file path=ppt/slides/slide2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6" name="가격 예측도 단순 기준보다 오차가 컸습니다">
            <a:extLst xmlns:a="http://schemas.openxmlformats.org/drawingml/2006/main">
              <a:ext uri="{FF2B5EF4-FFF2-40B4-BE49-F238E27FC236}">
                <a16:creationId xmlns:a16="http://schemas.microsoft.com/office/drawing/2014/main" id="{948998A2-E176-4600-BE66-4180266DF621}"/>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가격 예측도 단순 기준보다 오차가 컸습니다</a:t>
            </a:r>
          </a:p>
        </p:txBody>
      </p:sp>
      <p:sp>
        <p:nvSpPr>
          <p:cNvPr id="2" name="근거 자료  21">
            <a:extLst xmlns:a="http://schemas.openxmlformats.org/drawingml/2006/main">
              <a:ext uri="{FF2B5EF4-FFF2-40B4-BE49-F238E27FC236}">
                <a16:creationId xmlns:a16="http://schemas.microsoft.com/office/drawing/2014/main" id="{630C7CFD-6355-4342-94C1-A64BA4E65B58}"/>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21</a:t>
            </a:r>
          </a:p>
        </p:txBody>
      </p:sp>
      <p:sp>
        <p:nvSpPr>
          <p:cNvPr id="3" name="2021~2023년 학습, 2024년 선택, 2025년 평가">
            <a:extLst xmlns:a="http://schemas.openxmlformats.org/drawingml/2006/main">
              <a:ext uri="{FF2B5EF4-FFF2-40B4-BE49-F238E27FC236}">
                <a16:creationId xmlns:a16="http://schemas.microsoft.com/office/drawing/2014/main" id="{07380107-7683-4264-97BE-01E94EDB66F4}"/>
              </a:ext>
            </a:extLst>
          </p:cNvPr>
          <p:cNvSpPr>
            <a:spLocks xmlns:a="http://schemas.openxmlformats.org/drawingml/2006/main" noGrp="1"/>
          </p:cNvSpPr>
          <p:nvPr/>
        </p:nvSpPr>
        <p:spPr>
          <a:xfrm xmlns:a="http://schemas.openxmlformats.org/drawingml/2006/main">
            <a:off x="685800" y="1666875"/>
            <a:ext cx="106203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254F43"/>
                </a:solidFill>
                <a:latin typeface="Gowun Dodum"/>
                <a:ea typeface="Gowun Dodum"/>
                <a:cs typeface="Gowun Dodum"/>
              </a:defRPr>
            </a:defPPr>
          </a:lstStyle>
          <a:p xmlns:a="http://schemas.openxmlformats.org/drawingml/2006/main">
            <a:pPr algn="l">
              <a:defRPr sz="2325" b="0">
                <a:solidFill>
                  <a:srgbClr val="254F43"/>
                </a:solidFill>
                <a:latin typeface="Gowun Dodum"/>
                <a:ea typeface="Gowun Dodum"/>
                <a:cs typeface="Gowun Dodum"/>
              </a:defRPr>
            </a:pPr>
            <a:r>
              <a:rPr sz="2325" b="0">
                <a:solidFill>
                  <a:srgbClr val="254F43"/>
                </a:solidFill>
                <a:latin typeface="Gowun Dodum"/>
                <a:ea typeface="Gowun Dodum"/>
                <a:cs typeface="Gowun Dodum"/>
              </a:rPr>
              <a:t>2021~2023년 학습, 2024년 선택, 2025년 평가</a:t>
            </a:r>
          </a:p>
        </p:txBody>
      </p:sp>
      <p:graphicFrame>
        <p:nvGraphicFramePr>
          <p:cNvPr id="4" name="">
            <a:extLst xmlns:a="http://schemas.openxmlformats.org/drawingml/2006/main">
              <a:ext uri="{FF2B5EF4-FFF2-40B4-BE49-F238E27FC236}">
                <a16:creationId xmlns:a16="http://schemas.microsoft.com/office/drawing/2014/main" id="{4DC432A5-0E48-46F5-8AC8-7D3572D9553E}"/>
              </a:ext>
            </a:extLst>
          </p:cNvPr>
          <p:cNvGraphicFramePr/>
          <p:nvPr/>
        </p:nvGraphicFramePr>
        <p:xfrm>
          <a:off xmlns:a="http://schemas.openxmlformats.org/drawingml/2006/main" x="685800" y="2609850"/>
          <a:ext xmlns:a="http://schemas.openxmlformats.org/drawingml/2006/main" cx="10820400" cy="2095500"/>
        </p:xfrm>
        <a:graphic xmlns:a="http://schemas.openxmlformats.org/drawingml/2006/main">
          <a:graphicData uri="http://schemas.openxmlformats.org/drawingml/2006/table">
            <a:tbl>
              <a:tblPr/>
              <a:tblGrid>
                <a:gridCol w="7181850"/>
                <a:gridCol w="3638550"/>
              </a:tblGrid>
              <a:tr h="698500">
                <a:tc>
                  <a:txBody>
                    <a:bodyPr lIns="114300" tIns="114300" rIns="114300" bIns="114300"/>
                    <a:lstStyle/>
                    <a:p>
                      <a:r>
                        <a:rPr sz="2250" b="0">
                          <a:solidFill>
                            <a:srgbClr val="254F43"/>
                          </a:solidFill>
                          <a:latin typeface="Jua"/>
                          <a:ea typeface="Jua"/>
                          <a:cs typeface="Jua"/>
                        </a:rPr>
                        <a:t>2025년 106개 관측 비교</a:t>
                      </a:r>
                    </a:p>
                  </a:txBody>
                  <a:tcPr marL="91440" marR="91440" marT="45720" marB="45720" anchor="ctr">
                    <a:solidFill>
                      <a:srgbClr val="DCECDF"/>
                    </a:solidFill>
                  </a:tcPr>
                </a:tc>
                <a:tc>
                  <a:txBody>
                    <a:bodyPr lIns="114300" tIns="114300" rIns="114300" bIns="114300"/>
                    <a:lstStyle/>
                    <a:p>
                      <a:r>
                        <a:rPr sz="2250" b="0">
                          <a:solidFill>
                            <a:srgbClr val="254F43"/>
                          </a:solidFill>
                          <a:latin typeface="Jua"/>
                          <a:ea typeface="Jua"/>
                          <a:cs typeface="Jua"/>
                        </a:rPr>
                        <a:t>평균 오차 원/kg</a:t>
                      </a:r>
                    </a:p>
                  </a:txBody>
                  <a:tcPr marL="91440" marR="91440" marT="45720" marB="45720" anchor="ctr">
                    <a:solidFill>
                      <a:srgbClr val="DCECDF"/>
                    </a:solidFill>
                  </a:tcPr>
                </a:tc>
              </a:tr>
              <a:tr h="698500">
                <a:tc>
                  <a:txBody>
                    <a:bodyPr lIns="114300" tIns="114300" rIns="114300" bIns="114300"/>
                    <a:lstStyle/>
                    <a:p>
                      <a:r>
                        <a:rPr sz="2250" b="0">
                          <a:solidFill>
                            <a:srgbClr val="254F43"/>
                          </a:solidFill>
                          <a:latin typeface="Gowun Dodum"/>
                          <a:ea typeface="Gowun Dodum"/>
                          <a:cs typeface="Gowun Dodum"/>
                        </a:rPr>
                        <a:t>선택한 가격 모형</a:t>
                      </a:r>
                    </a:p>
                  </a:txBody>
                  <a:tcPr marL="91440" marR="91440" marT="45720" marB="45720" anchor="ctr">
                    <a:solidFill>
                      <a:srgbClr val="FFF9EE"/>
                    </a:solidFill>
                  </a:tcPr>
                </a:tc>
                <a:tc>
                  <a:txBody>
                    <a:bodyPr lIns="114300" tIns="114300" rIns="114300" bIns="114300"/>
                    <a:lstStyle/>
                    <a:p>
                      <a:r>
                        <a:rPr sz="2250" b="0">
                          <a:solidFill>
                            <a:srgbClr val="254F43"/>
                          </a:solidFill>
                          <a:latin typeface="Gowun Dodum"/>
                          <a:ea typeface="Gowun Dodum"/>
                          <a:cs typeface="Gowun Dodum"/>
                        </a:rPr>
                        <a:t>1,249.16</a:t>
                      </a:r>
                    </a:p>
                  </a:txBody>
                  <a:tcPr marL="91440" marR="91440" marT="45720" marB="45720" anchor="ctr">
                    <a:solidFill>
                      <a:srgbClr val="FFF9EE"/>
                    </a:solidFill>
                  </a:tcPr>
                </a:tc>
              </a:tr>
              <a:tr h="698500">
                <a:tc>
                  <a:txBody>
                    <a:bodyPr lIns="114300" tIns="114300" rIns="114300" bIns="114300"/>
                    <a:lstStyle/>
                    <a:p>
                      <a:r>
                        <a:rPr sz="2250" b="0">
                          <a:solidFill>
                            <a:srgbClr val="254F43"/>
                          </a:solidFill>
                          <a:latin typeface="Gowun Dodum"/>
                          <a:ea typeface="Gowun Dodum"/>
                          <a:cs typeface="Gowun Dodum"/>
                        </a:rPr>
                        <a:t>같은 달의 최근 가격</a:t>
                      </a:r>
                    </a:p>
                  </a:txBody>
                  <a:tcPr marL="91440" marR="91440" marT="45720" marB="45720" anchor="ctr">
                    <a:solidFill>
                      <a:srgbClr val="FFF9EE"/>
                    </a:solidFill>
                  </a:tcPr>
                </a:tc>
                <a:tc>
                  <a:txBody>
                    <a:bodyPr lIns="114300" tIns="114300" rIns="114300" bIns="114300"/>
                    <a:lstStyle/>
                    <a:p>
                      <a:r>
                        <a:rPr sz="2250" b="0">
                          <a:solidFill>
                            <a:srgbClr val="254F43"/>
                          </a:solidFill>
                          <a:latin typeface="Gowun Dodum"/>
                          <a:ea typeface="Gowun Dodum"/>
                          <a:cs typeface="Gowun Dodum"/>
                        </a:rPr>
                        <a:t>1,061.62</a:t>
                      </a:r>
                    </a:p>
                  </a:txBody>
                  <a:tcPr marL="91440" marR="91440" marT="45720" marB="45720" anchor="ctr">
                    <a:solidFill>
                      <a:srgbClr val="FFF9EE"/>
                    </a:solidFill>
                  </a:tcPr>
                </a:tc>
              </a:tr>
            </a:tbl>
          </a:graphicData>
        </a:graphic>
      </p:graphicFrame>
      <p:sp>
        <p:nvSpPr>
          <p:cNvPr id="5" name="2026년 가격 곡선은 2025년 말 기준의 보관된 전망입니다.&#10;현재 시점의 예측이나 20">
            <a:extLst xmlns:a="http://schemas.openxmlformats.org/drawingml/2006/main">
              <a:ext uri="{FF2B5EF4-FFF2-40B4-BE49-F238E27FC236}">
                <a16:creationId xmlns:a16="http://schemas.microsoft.com/office/drawing/2014/main" id="{34933B7B-ECFF-4B86-BF66-D83642E471CA}"/>
              </a:ext>
            </a:extLst>
          </p:cNvPr>
          <p:cNvSpPr>
            <a:spLocks xmlns:a="http://schemas.openxmlformats.org/drawingml/2006/main" noGrp="1"/>
          </p:cNvSpPr>
          <p:nvPr/>
        </p:nvSpPr>
        <p:spPr>
          <a:xfrm xmlns:a="http://schemas.openxmlformats.org/drawingml/2006/main">
            <a:off x="685800" y="55530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F6C61"/>
                </a:solidFill>
                <a:latin typeface="Gowun Dodum"/>
                <a:ea typeface="Gowun Dodum"/>
                <a:cs typeface="Gowun Dodum"/>
              </a:defRPr>
            </a:defPPr>
          </a:lstStyle>
          <a:p xmlns:a="http://schemas.openxmlformats.org/drawingml/2006/main">
            <a:pPr algn="l">
              <a:defRPr sz="2025" b="0">
                <a:solidFill>
                  <a:srgbClr val="5F6C61"/>
                </a:solidFill>
                <a:latin typeface="Gowun Dodum"/>
                <a:ea typeface="Gowun Dodum"/>
                <a:cs typeface="Gowun Dodum"/>
              </a:defRPr>
            </a:pPr>
            <a:r>
              <a:rPr sz="2025" b="0">
                <a:solidFill>
                  <a:srgbClr val="5F6C61"/>
                </a:solidFill>
                <a:latin typeface="Gowun Dodum"/>
                <a:ea typeface="Gowun Dodum"/>
                <a:cs typeface="Gowun Dodum"/>
              </a:rPr>
              <a:t>2026년 가격 곡선은 2025년 말 기준의 보관된 전망입니다.</a:t>
            </a:r>
          </a:p>
          <a:p xmlns:a="http://schemas.openxmlformats.org/drawingml/2006/main">
            <a:pPr algn="l">
              <a:defRPr sz="2025" b="0">
                <a:solidFill>
                  <a:srgbClr val="5F6C61"/>
                </a:solidFill>
                <a:latin typeface="Gowun Dodum"/>
                <a:ea typeface="Gowun Dodum"/>
                <a:cs typeface="Gowun Dodum"/>
              </a:defRPr>
            </a:pPr>
            <a:r>
              <a:rPr sz="2025" b="0">
                <a:solidFill>
                  <a:srgbClr val="5F6C61"/>
                </a:solidFill>
                <a:latin typeface="Gowun Dodum"/>
                <a:ea typeface="Gowun Dodum"/>
                <a:cs typeface="Gowun Dodum"/>
              </a:rPr>
              <a:t>현재 시점의 예측이나 2027년 검증 결과로 제시하지 않습니다.</a:t>
            </a:r>
          </a:p>
        </p:txBody>
      </p:sp>
    </p:spTree>
    <p:extLst>
      <p:ext uri="{BB962C8B-B14F-4D97-AF65-F5344CB8AC3E}">
        <p14:creationId xmlns:p14="http://schemas.microsoft.com/office/powerpoint/2010/main" val="166723697"/>
      </p:ext>
    </p:extLst>
  </p:cSld>
</p:sld>
</file>

<file path=ppt/slides/slide2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9" name="소득과 투자 회수는 계산 기준이 다릅니다">
            <a:extLst xmlns:a="http://schemas.openxmlformats.org/drawingml/2006/main">
              <a:ext uri="{FF2B5EF4-FFF2-40B4-BE49-F238E27FC236}">
                <a16:creationId xmlns:a16="http://schemas.microsoft.com/office/drawing/2014/main" id="{103A5819-AFF0-427C-A095-BB2C7D9CEEF8}"/>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소득과 투자 회수는 계산 기준이 다릅니다</a:t>
            </a:r>
          </a:p>
        </p:txBody>
      </p:sp>
      <p:sp>
        <p:nvSpPr>
          <p:cNvPr id="2" name="근거 자료  22">
            <a:extLst xmlns:a="http://schemas.openxmlformats.org/drawingml/2006/main">
              <a:ext uri="{FF2B5EF4-FFF2-40B4-BE49-F238E27FC236}">
                <a16:creationId xmlns:a16="http://schemas.microsoft.com/office/drawing/2014/main" id="{F17387B7-1949-4DDE-81CF-CD092417A93B}"/>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22</a:t>
            </a:r>
          </a:p>
        </p:txBody>
      </p:sp>
      <p:sp>
        <p:nvSpPr>
          <p:cNvPr id="3" name="소득">
            <a:extLst xmlns:a="http://schemas.openxmlformats.org/drawingml/2006/main">
              <a:ext uri="{FF2B5EF4-FFF2-40B4-BE49-F238E27FC236}">
                <a16:creationId xmlns:a16="http://schemas.microsoft.com/office/drawing/2014/main" id="{449691E3-8687-4547-AEF7-F37EE6B35013}"/>
              </a:ext>
            </a:extLst>
          </p:cNvPr>
          <p:cNvSpPr>
            <a:spLocks xmlns:a="http://schemas.openxmlformats.org/drawingml/2006/main" noGrp="1"/>
          </p:cNvSpPr>
          <p:nvPr/>
        </p:nvSpPr>
        <p:spPr>
          <a:xfrm xmlns:a="http://schemas.openxmlformats.org/drawingml/2006/main">
            <a:off x="685800" y="1952625"/>
            <a:ext cx="266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46856E"/>
                </a:solidFill>
                <a:latin typeface="Jua"/>
                <a:ea typeface="Jua"/>
                <a:cs typeface="Jua"/>
              </a:defRPr>
            </a:defPPr>
          </a:lstStyle>
          <a:p xmlns:a="http://schemas.openxmlformats.org/drawingml/2006/main">
            <a:pPr algn="l">
              <a:defRPr sz="2925" b="0">
                <a:solidFill>
                  <a:srgbClr val="46856E"/>
                </a:solidFill>
                <a:latin typeface="Jua"/>
                <a:ea typeface="Jua"/>
                <a:cs typeface="Jua"/>
              </a:defRPr>
            </a:pPr>
            <a:r>
              <a:rPr sz="2925" b="0">
                <a:solidFill>
                  <a:srgbClr val="46856E"/>
                </a:solidFill>
                <a:latin typeface="Jua"/>
                <a:ea typeface="Jua"/>
                <a:cs typeface="Jua"/>
              </a:rPr>
              <a:t>소득</a:t>
            </a:r>
          </a:p>
        </p:txBody>
      </p:sp>
      <p:sp>
        <p:nvSpPr>
          <p:cNvPr id="4" name="매출에서 경영비와 자가노동 비용을 뺍니다.&#10;경영비에는 감가상각이 들어 있습니다.">
            <a:extLst xmlns:a="http://schemas.openxmlformats.org/drawingml/2006/main">
              <a:ext uri="{FF2B5EF4-FFF2-40B4-BE49-F238E27FC236}">
                <a16:creationId xmlns:a16="http://schemas.microsoft.com/office/drawing/2014/main" id="{E26B468E-CEBC-4C03-B7CE-2CE5C08C31CB}"/>
              </a:ext>
            </a:extLst>
          </p:cNvPr>
          <p:cNvSpPr>
            <a:spLocks xmlns:a="http://schemas.openxmlformats.org/drawingml/2006/main" noGrp="1"/>
          </p:cNvSpPr>
          <p:nvPr/>
        </p:nvSpPr>
        <p:spPr>
          <a:xfrm xmlns:a="http://schemas.openxmlformats.org/drawingml/2006/main">
            <a:off x="3638550" y="1924050"/>
            <a:ext cx="78486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254F43"/>
                </a:solidFill>
                <a:latin typeface="Gowun Dodum"/>
                <a:ea typeface="Gowun Dodum"/>
                <a:cs typeface="Gowun Dodum"/>
              </a:defRPr>
            </a:defPPr>
          </a:lstStyle>
          <a:p xmlns:a="http://schemas.openxmlformats.org/drawingml/2006/main">
            <a:pPr algn="l">
              <a:defRPr sz="2400" b="0">
                <a:solidFill>
                  <a:srgbClr val="254F43"/>
                </a:solidFill>
                <a:latin typeface="Gowun Dodum"/>
                <a:ea typeface="Gowun Dodum"/>
                <a:cs typeface="Gowun Dodum"/>
              </a:defRPr>
            </a:pPr>
            <a:r>
              <a:rPr sz="2400" b="0">
                <a:solidFill>
                  <a:srgbClr val="254F43"/>
                </a:solidFill>
                <a:latin typeface="Gowun Dodum"/>
                <a:ea typeface="Gowun Dodum"/>
                <a:cs typeface="Gowun Dodum"/>
              </a:rPr>
              <a:t>매출에서 경영비와 자가노동 비용을 뺍니다.</a:t>
            </a:r>
          </a:p>
          <a:p xmlns:a="http://schemas.openxmlformats.org/drawingml/2006/main">
            <a:pPr algn="l">
              <a:defRPr sz="2400" b="0">
                <a:solidFill>
                  <a:srgbClr val="254F43"/>
                </a:solidFill>
                <a:latin typeface="Gowun Dodum"/>
                <a:ea typeface="Gowun Dodum"/>
                <a:cs typeface="Gowun Dodum"/>
              </a:defRPr>
            </a:pPr>
            <a:r>
              <a:rPr sz="2400" b="0">
                <a:solidFill>
                  <a:srgbClr val="254F43"/>
                </a:solidFill>
                <a:latin typeface="Gowun Dodum"/>
                <a:ea typeface="Gowun Dodum"/>
                <a:cs typeface="Gowun Dodum"/>
              </a:rPr>
              <a:t>경영비에는 감가상각이 들어 있습니다.</a:t>
            </a:r>
          </a:p>
        </p:txBody>
      </p:sp>
      <p:sp>
        <p:nvSpPr>
          <p:cNvPr id="5" name="">
            <a:extLst xmlns:a="http://schemas.openxmlformats.org/drawingml/2006/main">
              <a:ext uri="{FF2B5EF4-FFF2-40B4-BE49-F238E27FC236}">
                <a16:creationId xmlns:a16="http://schemas.microsoft.com/office/drawing/2014/main" id="{D4FD721D-204E-4742-B52B-60C185F80CAD}"/>
              </a:ext>
            </a:extLst>
          </p:cNvPr>
          <p:cNvSpPr>
            <a:spLocks xmlns:a="http://schemas.openxmlformats.org/drawingml/2006/main" noGrp="1"/>
          </p:cNvSpPr>
          <p:nvPr/>
        </p:nvSpPr>
        <p:spPr>
          <a:xfrm xmlns:a="http://schemas.openxmlformats.org/drawingml/2006/main">
            <a:off x="685800" y="3409950"/>
            <a:ext cx="10820400" cy="0"/>
          </a:xfrm>
          <a:prstGeom xmlns:a="http://schemas.openxmlformats.org/drawingml/2006/main" prst="line">
            <a:avLst/>
          </a:prstGeom>
          <a:noFill xmlns:a="http://schemas.openxmlformats.org/drawingml/2006/main"/>
          <a:ln xmlns:a="http://schemas.openxmlformats.org/drawingml/2006/main" w="12383">
            <a:solidFill>
              <a:srgbClr val="CEDDD1"/>
            </a:solidFill>
          </a:ln>
        </p:spPr>
      </p:sp>
      <p:sp>
        <p:nvSpPr>
          <p:cNvPr id="6" name="투자 회수">
            <a:extLst xmlns:a="http://schemas.openxmlformats.org/drawingml/2006/main">
              <a:ext uri="{FF2B5EF4-FFF2-40B4-BE49-F238E27FC236}">
                <a16:creationId xmlns:a16="http://schemas.microsoft.com/office/drawing/2014/main" id="{6E59851F-0F63-47DB-ADD3-B5DA4F21EE51}"/>
              </a:ext>
            </a:extLst>
          </p:cNvPr>
          <p:cNvSpPr>
            <a:spLocks xmlns:a="http://schemas.openxmlformats.org/drawingml/2006/main" noGrp="1"/>
          </p:cNvSpPr>
          <p:nvPr/>
        </p:nvSpPr>
        <p:spPr>
          <a:xfrm xmlns:a="http://schemas.openxmlformats.org/drawingml/2006/main">
            <a:off x="685800" y="3876675"/>
            <a:ext cx="266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46856E"/>
                </a:solidFill>
                <a:latin typeface="Jua"/>
                <a:ea typeface="Jua"/>
                <a:cs typeface="Jua"/>
              </a:defRPr>
            </a:defPPr>
          </a:lstStyle>
          <a:p xmlns:a="http://schemas.openxmlformats.org/drawingml/2006/main">
            <a:pPr algn="l">
              <a:defRPr sz="2925" b="0">
                <a:solidFill>
                  <a:srgbClr val="46856E"/>
                </a:solidFill>
                <a:latin typeface="Jua"/>
                <a:ea typeface="Jua"/>
                <a:cs typeface="Jua"/>
              </a:defRPr>
            </a:pPr>
            <a:r>
              <a:rPr sz="2925" b="0">
                <a:solidFill>
                  <a:srgbClr val="46856E"/>
                </a:solidFill>
                <a:latin typeface="Jua"/>
                <a:ea typeface="Jua"/>
                <a:cs typeface="Jua"/>
              </a:rPr>
              <a:t>투자 회수</a:t>
            </a:r>
          </a:p>
        </p:txBody>
      </p:sp>
      <p:sp>
        <p:nvSpPr>
          <p:cNvPr id="7" name="매출에서 실제 현금 운영비를 빼고,&#10;투자·교체 지출과 비교합니다.">
            <a:extLst xmlns:a="http://schemas.openxmlformats.org/drawingml/2006/main">
              <a:ext uri="{FF2B5EF4-FFF2-40B4-BE49-F238E27FC236}">
                <a16:creationId xmlns:a16="http://schemas.microsoft.com/office/drawing/2014/main" id="{466E0E33-850F-4B4C-991A-499E6E43A9EB}"/>
              </a:ext>
            </a:extLst>
          </p:cNvPr>
          <p:cNvSpPr>
            <a:spLocks xmlns:a="http://schemas.openxmlformats.org/drawingml/2006/main" noGrp="1"/>
          </p:cNvSpPr>
          <p:nvPr/>
        </p:nvSpPr>
        <p:spPr>
          <a:xfrm xmlns:a="http://schemas.openxmlformats.org/drawingml/2006/main">
            <a:off x="3638550" y="3838575"/>
            <a:ext cx="78486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254F43"/>
                </a:solidFill>
                <a:latin typeface="Gowun Dodum"/>
                <a:ea typeface="Gowun Dodum"/>
                <a:cs typeface="Gowun Dodum"/>
              </a:defRPr>
            </a:defPPr>
          </a:lstStyle>
          <a:p xmlns:a="http://schemas.openxmlformats.org/drawingml/2006/main">
            <a:pPr algn="l">
              <a:defRPr sz="2400" b="0">
                <a:solidFill>
                  <a:srgbClr val="254F43"/>
                </a:solidFill>
                <a:latin typeface="Gowun Dodum"/>
                <a:ea typeface="Gowun Dodum"/>
                <a:cs typeface="Gowun Dodum"/>
              </a:defRPr>
            </a:pPr>
            <a:r>
              <a:rPr sz="2400" b="0">
                <a:solidFill>
                  <a:srgbClr val="254F43"/>
                </a:solidFill>
                <a:latin typeface="Gowun Dodum"/>
                <a:ea typeface="Gowun Dodum"/>
                <a:cs typeface="Gowun Dodum"/>
              </a:rPr>
              <a:t>매출에서 실제 현금 운영비를 빼고,</a:t>
            </a:r>
          </a:p>
          <a:p xmlns:a="http://schemas.openxmlformats.org/drawingml/2006/main">
            <a:pPr algn="l">
              <a:defRPr sz="2400" b="0">
                <a:solidFill>
                  <a:srgbClr val="254F43"/>
                </a:solidFill>
                <a:latin typeface="Gowun Dodum"/>
                <a:ea typeface="Gowun Dodum"/>
                <a:cs typeface="Gowun Dodum"/>
              </a:defRPr>
            </a:pPr>
            <a:r>
              <a:rPr sz="2400" b="0">
                <a:solidFill>
                  <a:srgbClr val="254F43"/>
                </a:solidFill>
                <a:latin typeface="Gowun Dodum"/>
                <a:ea typeface="Gowun Dodum"/>
                <a:cs typeface="Gowun Dodum"/>
              </a:rPr>
              <a:t>투자·교체 지출과 비교합니다.</a:t>
            </a:r>
          </a:p>
        </p:txBody>
      </p:sp>
      <p:sp>
        <p:nvSpPr>
          <p:cNvPr id="8" name="기존 시설 개량은 도입 후와 기존 유지의 차이를 계산합니다.&#10;세금·대출·보조금·운전자금·기">
            <a:extLst xmlns:a="http://schemas.openxmlformats.org/drawingml/2006/main">
              <a:ext uri="{FF2B5EF4-FFF2-40B4-BE49-F238E27FC236}">
                <a16:creationId xmlns:a16="http://schemas.microsoft.com/office/drawing/2014/main" id="{2C230686-5AE9-4406-8D89-C98369B3D510}"/>
              </a:ext>
            </a:extLst>
          </p:cNvPr>
          <p:cNvSpPr>
            <a:spLocks xmlns:a="http://schemas.openxmlformats.org/drawingml/2006/main" noGrp="1"/>
          </p:cNvSpPr>
          <p:nvPr/>
        </p:nvSpPr>
        <p:spPr>
          <a:xfrm xmlns:a="http://schemas.openxmlformats.org/drawingml/2006/main">
            <a:off x="685800" y="57245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F6C61"/>
                </a:solidFill>
                <a:latin typeface="Gowun Dodum"/>
                <a:ea typeface="Gowun Dodum"/>
                <a:cs typeface="Gowun Dodum"/>
              </a:defRPr>
            </a:defPPr>
          </a:lstStyle>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기존 시설 개량은 도입 후와 기존 유지의 차이를 계산합니다.</a:t>
            </a:r>
          </a:p>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세금·대출·보조금·운전자금·기말 처분가치는 이 예시에서 제외했습니다.</a:t>
            </a:r>
          </a:p>
        </p:txBody>
      </p:sp>
    </p:spTree>
    <p:extLst>
      <p:ext uri="{BB962C8B-B14F-4D97-AF65-F5344CB8AC3E}">
        <p14:creationId xmlns:p14="http://schemas.microsoft.com/office/powerpoint/2010/main" val="1326368257"/>
      </p:ext>
    </p:extLst>
  </p:cSld>
</p:sld>
</file>

<file path=ppt/slides/slide23.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5" name="딸기 시연에 사용한 값">
            <a:extLst xmlns:a="http://schemas.openxmlformats.org/drawingml/2006/main">
              <a:ext uri="{FF2B5EF4-FFF2-40B4-BE49-F238E27FC236}">
                <a16:creationId xmlns:a16="http://schemas.microsoft.com/office/drawing/2014/main" id="{3C92601D-2D33-4308-8AA7-B8B47D177F28}"/>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딸기 시연에 사용한 값</a:t>
            </a:r>
          </a:p>
        </p:txBody>
      </p:sp>
      <p:sp>
        <p:nvSpPr>
          <p:cNvPr id="2" name="근거 자료  23">
            <a:extLst xmlns:a="http://schemas.openxmlformats.org/drawingml/2006/main">
              <a:ext uri="{FF2B5EF4-FFF2-40B4-BE49-F238E27FC236}">
                <a16:creationId xmlns:a16="http://schemas.microsoft.com/office/drawing/2014/main" id="{39DD14FF-EFB7-4ABD-A6BF-E37514E947AC}"/>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23</a:t>
            </a:r>
          </a:p>
        </p:txBody>
      </p:sp>
      <p:graphicFrame>
        <p:nvGraphicFramePr>
          <p:cNvPr id="3" name="">
            <a:extLst xmlns:a="http://schemas.openxmlformats.org/drawingml/2006/main">
              <a:ext uri="{FF2B5EF4-FFF2-40B4-BE49-F238E27FC236}">
                <a16:creationId xmlns:a16="http://schemas.microsoft.com/office/drawing/2014/main" id="{BF356C85-940A-4E27-AA6D-74744699D654}"/>
              </a:ext>
            </a:extLst>
          </p:cNvPr>
          <p:cNvGraphicFramePr/>
          <p:nvPr/>
        </p:nvGraphicFramePr>
        <p:xfrm>
          <a:off xmlns:a="http://schemas.openxmlformats.org/drawingml/2006/main" x="685800" y="1733550"/>
          <a:ext xmlns:a="http://schemas.openxmlformats.org/drawingml/2006/main" cx="10820400" cy="3476625"/>
        </p:xfrm>
        <a:graphic xmlns:a="http://schemas.openxmlformats.org/drawingml/2006/main">
          <a:graphicData uri="http://schemas.openxmlformats.org/drawingml/2006/table">
            <a:tbl>
              <a:tblPr/>
              <a:tblGrid>
                <a:gridCol w="7096125"/>
                <a:gridCol w="3724275"/>
              </a:tblGrid>
              <a:tr h="579438">
                <a:tc>
                  <a:txBody>
                    <a:bodyPr lIns="114300" tIns="114300" rIns="114300" bIns="114300"/>
                    <a:lstStyle/>
                    <a:p>
                      <a:r>
                        <a:rPr sz="2025" b="0">
                          <a:solidFill>
                            <a:srgbClr val="254F43"/>
                          </a:solidFill>
                          <a:latin typeface="Gowun Dodum"/>
                          <a:ea typeface="Gowun Dodum"/>
                          <a:cs typeface="Gowun Dodum"/>
                        </a:rPr>
                        <a:t>전국 시설딸기 수경, 1,000㎡</a:t>
                      </a:r>
                    </a:p>
                  </a:txBody>
                  <a:tcPr marL="91440" marR="91440" marT="45720" marB="45720" anchor="ctr">
                    <a:solidFill>
                      <a:srgbClr val="DCECDF"/>
                    </a:solidFill>
                  </a:tcPr>
                </a:tc>
                <a:tc>
                  <a:txBody>
                    <a:bodyPr lIns="114300" tIns="114300" rIns="114300" bIns="114300"/>
                    <a:lstStyle/>
                    <a:p>
                      <a:r>
                        <a:rPr sz="2025" b="0">
                          <a:solidFill>
                            <a:srgbClr val="254F43"/>
                          </a:solidFill>
                          <a:latin typeface="Jua"/>
                          <a:ea typeface="Jua"/>
                          <a:cs typeface="Jua"/>
                        </a:rPr>
                        <a:t>연간 1기작 기준</a:t>
                      </a:r>
                    </a:p>
                  </a:txBody>
                  <a:tcPr marL="91440" marR="91440" marT="45720" marB="45720" anchor="ctr">
                    <a:solidFill>
                      <a:srgbClr val="DCECDF"/>
                    </a:solidFill>
                  </a:tcPr>
                </a:tc>
              </a:tr>
              <a:tr h="579438">
                <a:tc>
                  <a:txBody>
                    <a:bodyPr lIns="114300" tIns="114300" rIns="114300" bIns="114300"/>
                    <a:lstStyle/>
                    <a:p>
                      <a:r>
                        <a:rPr sz="2025" b="0">
                          <a:solidFill>
                            <a:srgbClr val="254F43"/>
                          </a:solidFill>
                          <a:latin typeface="Gowun Dodum"/>
                          <a:ea typeface="Gowun Dodum"/>
                          <a:cs typeface="Gowun Dodum"/>
                        </a:rPr>
                        <a:t>출하량</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3,344.5 kg</a:t>
                      </a:r>
                    </a:p>
                  </a:txBody>
                  <a:tcPr marL="91440" marR="91440" marT="45720" marB="45720" anchor="ctr">
                    <a:solidFill>
                      <a:srgbClr val="FFF9EE"/>
                    </a:solidFill>
                  </a:tcPr>
                </a:tc>
              </a:tr>
              <a:tr h="579438">
                <a:tc>
                  <a:txBody>
                    <a:bodyPr lIns="114300" tIns="114300" rIns="114300" bIns="114300"/>
                    <a:lstStyle/>
                    <a:p>
                      <a:r>
                        <a:rPr sz="2025" b="0">
                          <a:solidFill>
                            <a:srgbClr val="254F43"/>
                          </a:solidFill>
                          <a:latin typeface="Gowun Dodum"/>
                          <a:ea typeface="Gowun Dodum"/>
                          <a:cs typeface="Gowun Dodum"/>
                        </a:rPr>
                        <a:t>농가수취단가</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10,868 원/kg</a:t>
                      </a:r>
                    </a:p>
                  </a:txBody>
                  <a:tcPr marL="91440" marR="91440" marT="45720" marB="45720" anchor="ctr">
                    <a:solidFill>
                      <a:srgbClr val="FFF9EE"/>
                    </a:solidFill>
                  </a:tcPr>
                </a:tc>
              </a:tr>
              <a:tr h="579438">
                <a:tc>
                  <a:txBody>
                    <a:bodyPr lIns="114300" tIns="114300" rIns="114300" bIns="114300"/>
                    <a:lstStyle/>
                    <a:p>
                      <a:r>
                        <a:rPr sz="2025" b="0">
                          <a:solidFill>
                            <a:srgbClr val="254F43"/>
                          </a:solidFill>
                          <a:latin typeface="Gowun Dodum"/>
                          <a:ea typeface="Gowun Dodum"/>
                          <a:cs typeface="Gowun Dodum"/>
                        </a:rPr>
                        <a:t>경영비 / 그중 감가상각</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2,078.3 / 479.0 만원</a:t>
                      </a:r>
                    </a:p>
                  </a:txBody>
                  <a:tcPr marL="91440" marR="91440" marT="45720" marB="45720" anchor="ctr">
                    <a:solidFill>
                      <a:srgbClr val="FFF9EE"/>
                    </a:solidFill>
                  </a:tcPr>
                </a:tc>
              </a:tr>
              <a:tr h="579438">
                <a:tc>
                  <a:txBody>
                    <a:bodyPr lIns="114300" tIns="114300" rIns="114300" bIns="114300"/>
                    <a:lstStyle/>
                    <a:p>
                      <a:r>
                        <a:rPr sz="2025" b="0">
                          <a:solidFill>
                            <a:srgbClr val="254F43"/>
                          </a:solidFill>
                          <a:latin typeface="Gowun Dodum"/>
                          <a:ea typeface="Gowun Dodum"/>
                          <a:cs typeface="Gowun Dodum"/>
                        </a:rPr>
                        <a:t>자가노동 기회비용</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1,209.8 만원</a:t>
                      </a:r>
                    </a:p>
                  </a:txBody>
                  <a:tcPr marL="91440" marR="91440" marT="45720" marB="45720" anchor="ctr">
                    <a:solidFill>
                      <a:srgbClr val="FFF9EE"/>
                    </a:solidFill>
                  </a:tcPr>
                </a:tc>
              </a:tr>
              <a:tr h="579438">
                <a:tc>
                  <a:txBody>
                    <a:bodyPr lIns="114300" tIns="114300" rIns="114300" bIns="114300"/>
                    <a:lstStyle/>
                    <a:p>
                      <a:r>
                        <a:rPr sz="2025" b="0">
                          <a:solidFill>
                            <a:srgbClr val="254F43"/>
                          </a:solidFill>
                          <a:latin typeface="Gowun Dodum"/>
                          <a:ea typeface="Gowun Dodum"/>
                          <a:cs typeface="Gowun Dodum"/>
                        </a:rPr>
                        <a:t>설치 / 추가 부가세 / 기타 투자</a:t>
                      </a:r>
                    </a:p>
                  </a:txBody>
                  <a:tcPr marL="91440" marR="91440" marT="45720" marB="45720" anchor="ctr">
                    <a:solidFill>
                      <a:srgbClr val="FFF9EE"/>
                    </a:solidFill>
                  </a:tcPr>
                </a:tc>
                <a:tc>
                  <a:txBody>
                    <a:bodyPr lIns="114300" tIns="114300" rIns="114300" bIns="114300"/>
                    <a:lstStyle/>
                    <a:p>
                      <a:r>
                        <a:rPr sz="2025" b="0">
                          <a:solidFill>
                            <a:srgbClr val="254F43"/>
                          </a:solidFill>
                          <a:latin typeface="Gowun Dodum"/>
                          <a:ea typeface="Gowun Dodum"/>
                          <a:cs typeface="Gowun Dodum"/>
                        </a:rPr>
                        <a:t>500 / 295.7 / 8,000 만원</a:t>
                      </a:r>
                    </a:p>
                  </a:txBody>
                  <a:tcPr marL="91440" marR="91440" marT="45720" marB="45720" anchor="ctr">
                    <a:solidFill>
                      <a:srgbClr val="FFF9EE"/>
                    </a:solidFill>
                  </a:tcPr>
                </a:tc>
              </a:tr>
            </a:tbl>
          </a:graphicData>
        </a:graphic>
      </p:graphicFrame>
      <p:sp>
        <p:nvSpPr>
          <p:cNvPr id="4" name="생산량은 2023·2024년 조사 2행의 중앙값입니다.&#10;가격·비용은 2024년 조사값이며,">
            <a:extLst xmlns:a="http://schemas.openxmlformats.org/drawingml/2006/main">
              <a:ext uri="{FF2B5EF4-FFF2-40B4-BE49-F238E27FC236}">
                <a16:creationId xmlns:a16="http://schemas.microsoft.com/office/drawing/2014/main" id="{8B917E91-B104-408A-9FDA-97023B31D4F4}"/>
              </a:ext>
            </a:extLst>
          </p:cNvPr>
          <p:cNvSpPr>
            <a:spLocks xmlns:a="http://schemas.openxmlformats.org/drawingml/2006/main" noGrp="1"/>
          </p:cNvSpPr>
          <p:nvPr/>
        </p:nvSpPr>
        <p:spPr>
          <a:xfrm xmlns:a="http://schemas.openxmlformats.org/drawingml/2006/main">
            <a:off x="685800" y="56578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F6C61"/>
                </a:solidFill>
                <a:latin typeface="Gowun Dodum"/>
                <a:ea typeface="Gowun Dodum"/>
                <a:cs typeface="Gowun Dodum"/>
              </a:defRPr>
            </a:defPPr>
          </a:lstStyle>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생산량은 2023·2024년 조사 2행의 중앙값입니다.</a:t>
            </a:r>
          </a:p>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가격·비용은 2024년 조사값이며, 2027년 계획의 시연 가정으로 사용했습니다.</a:t>
            </a:r>
          </a:p>
        </p:txBody>
      </p:sp>
    </p:spTree>
    <p:extLst>
      <p:ext uri="{BB962C8B-B14F-4D97-AF65-F5344CB8AC3E}">
        <p14:creationId xmlns:p14="http://schemas.microsoft.com/office/powerpoint/2010/main" val="640163521"/>
      </p:ext>
    </p:extLst>
  </p:cSld>
</p:sld>
</file>

<file path=ppt/slides/slide24.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6" name="조건별 회수기간과 10년 투자 가치">
            <a:extLst xmlns:a="http://schemas.openxmlformats.org/drawingml/2006/main">
              <a:ext uri="{FF2B5EF4-FFF2-40B4-BE49-F238E27FC236}">
                <a16:creationId xmlns:a16="http://schemas.microsoft.com/office/drawing/2014/main" id="{CC2EF869-89CE-4E8C-A510-3E09A808451C}"/>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조건별 회수기간과 10년 투자 가치</a:t>
            </a:r>
          </a:p>
        </p:txBody>
      </p:sp>
      <p:sp>
        <p:nvSpPr>
          <p:cNvPr id="2" name="근거 자료  24">
            <a:extLst xmlns:a="http://schemas.openxmlformats.org/drawingml/2006/main">
              <a:ext uri="{FF2B5EF4-FFF2-40B4-BE49-F238E27FC236}">
                <a16:creationId xmlns:a16="http://schemas.microsoft.com/office/drawing/2014/main" id="{21884928-F2E8-4FA5-99AA-4840A1AFCF4B}"/>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24</a:t>
            </a:r>
          </a:p>
        </p:txBody>
      </p:sp>
      <p:graphicFrame>
        <p:nvGraphicFramePr>
          <p:cNvPr id="3" name="">
            <a:extLst xmlns:a="http://schemas.openxmlformats.org/drawingml/2006/main">
              <a:ext uri="{FF2B5EF4-FFF2-40B4-BE49-F238E27FC236}">
                <a16:creationId xmlns:a16="http://schemas.microsoft.com/office/drawing/2014/main" id="{92497CF2-B081-4173-A869-521AA5377C70}"/>
              </a:ext>
            </a:extLst>
          </p:cNvPr>
          <p:cNvGraphicFramePr/>
          <p:nvPr/>
        </p:nvGraphicFramePr>
        <p:xfrm>
          <a:off xmlns:a="http://schemas.openxmlformats.org/drawingml/2006/main" x="685800" y="1752600"/>
          <a:ext xmlns:a="http://schemas.openxmlformats.org/drawingml/2006/main" cx="10820400" cy="3324225"/>
        </p:xfrm>
        <a:graphic xmlns:a="http://schemas.openxmlformats.org/drawingml/2006/main">
          <a:graphicData uri="http://schemas.openxmlformats.org/drawingml/2006/table">
            <a:tbl>
              <a:tblPr/>
              <a:tblGrid>
                <a:gridCol w="3962400"/>
                <a:gridCol w="2286000"/>
                <a:gridCol w="2286000"/>
                <a:gridCol w="2286000"/>
              </a:tblGrid>
              <a:tr h="664845">
                <a:tc>
                  <a:txBody>
                    <a:bodyPr lIns="114300" tIns="114300" rIns="114300" bIns="114300"/>
                    <a:lstStyle/>
                    <a:p>
                      <a:r>
                        <a:rPr sz="1950" b="0">
                          <a:solidFill>
                            <a:srgbClr val="254F43"/>
                          </a:solidFill>
                          <a:latin typeface="Jua"/>
                          <a:ea typeface="Jua"/>
                          <a:cs typeface="Jua"/>
                        </a:rPr>
                        <a:t>조건</a:t>
                      </a:r>
                    </a:p>
                  </a:txBody>
                  <a:tcPr marL="91440" marR="91440" marT="45720" marB="45720" anchor="ctr">
                    <a:solidFill>
                      <a:srgbClr val="DCECDF"/>
                    </a:solidFill>
                  </a:tcPr>
                </a:tc>
                <a:tc>
                  <a:txBody>
                    <a:bodyPr lIns="114300" tIns="114300" rIns="114300" bIns="114300"/>
                    <a:lstStyle/>
                    <a:p>
                      <a:r>
                        <a:rPr sz="1950" b="0">
                          <a:solidFill>
                            <a:srgbClr val="254F43"/>
                          </a:solidFill>
                          <a:latin typeface="Jua"/>
                          <a:ea typeface="Jua"/>
                          <a:cs typeface="Jua"/>
                        </a:rPr>
                        <a:t>불리</a:t>
                      </a:r>
                    </a:p>
                  </a:txBody>
                  <a:tcPr marL="91440" marR="91440" marT="45720" marB="45720" anchor="ctr">
                    <a:solidFill>
                      <a:srgbClr val="DCECDF"/>
                    </a:solidFill>
                  </a:tcPr>
                </a:tc>
                <a:tc>
                  <a:txBody>
                    <a:bodyPr lIns="114300" tIns="114300" rIns="114300" bIns="114300"/>
                    <a:lstStyle/>
                    <a:p>
                      <a:r>
                        <a:rPr sz="1950" b="0">
                          <a:solidFill>
                            <a:srgbClr val="254F43"/>
                          </a:solidFill>
                          <a:latin typeface="Jua"/>
                          <a:ea typeface="Jua"/>
                          <a:cs typeface="Jua"/>
                        </a:rPr>
                        <a:t>기준</a:t>
                      </a:r>
                    </a:p>
                  </a:txBody>
                  <a:tcPr marL="91440" marR="91440" marT="45720" marB="45720" anchor="ctr">
                    <a:solidFill>
                      <a:srgbClr val="DCECDF"/>
                    </a:solidFill>
                  </a:tcPr>
                </a:tc>
                <a:tc>
                  <a:txBody>
                    <a:bodyPr lIns="114300" tIns="114300" rIns="114300" bIns="114300"/>
                    <a:lstStyle/>
                    <a:p>
                      <a:r>
                        <a:rPr sz="1950" b="0">
                          <a:solidFill>
                            <a:srgbClr val="254F43"/>
                          </a:solidFill>
                          <a:latin typeface="Jua"/>
                          <a:ea typeface="Jua"/>
                          <a:cs typeface="Jua"/>
                        </a:rPr>
                        <a:t>유리</a:t>
                      </a:r>
                    </a:p>
                  </a:txBody>
                  <a:tcPr marL="91440" marR="91440" marT="45720" marB="45720" anchor="ctr">
                    <a:solidFill>
                      <a:srgbClr val="DCECDF"/>
                    </a:solidFill>
                  </a:tcPr>
                </a:tc>
              </a:tr>
              <a:tr h="664845">
                <a:tc>
                  <a:txBody>
                    <a:bodyPr lIns="114300" tIns="114300" rIns="114300" bIns="114300"/>
                    <a:lstStyle/>
                    <a:p>
                      <a:r>
                        <a:rPr sz="1950" b="0">
                          <a:solidFill>
                            <a:srgbClr val="254F43"/>
                          </a:solidFill>
                          <a:latin typeface="Gowun Dodum"/>
                          <a:ea typeface="Gowun Dodum"/>
                          <a:cs typeface="Gowun Dodum"/>
                        </a:rPr>
                        <a:t>생산량 / 판매단가 변화</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−10% / −20%</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변화 없음</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+10% / +20%</a:t>
                      </a:r>
                    </a:p>
                  </a:txBody>
                  <a:tcPr marL="91440" marR="91440" marT="45720" marB="45720" anchor="ctr">
                    <a:solidFill>
                      <a:srgbClr val="FFF9EE"/>
                    </a:solidFill>
                  </a:tcPr>
                </a:tc>
              </a:tr>
              <a:tr h="664845">
                <a:tc>
                  <a:txBody>
                    <a:bodyPr lIns="114300" tIns="114300" rIns="114300" bIns="114300"/>
                    <a:lstStyle/>
                    <a:p>
                      <a:r>
                        <a:rPr sz="1950" b="0">
                          <a:solidFill>
                            <a:srgbClr val="254F43"/>
                          </a:solidFill>
                          <a:latin typeface="Gowun Dodum"/>
                          <a:ea typeface="Gowun Dodum"/>
                          <a:cs typeface="Gowun Dodum"/>
                        </a:rPr>
                        <a:t>현금 운영비 변화</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+10%</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변화 없음</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−10%</a:t>
                      </a:r>
                    </a:p>
                  </a:txBody>
                  <a:tcPr marL="91440" marR="91440" marT="45720" marB="45720" anchor="ctr">
                    <a:solidFill>
                      <a:srgbClr val="FFF9EE"/>
                    </a:solidFill>
                  </a:tcPr>
                </a:tc>
              </a:tr>
              <a:tr h="664845">
                <a:tc>
                  <a:txBody>
                    <a:bodyPr lIns="114300" tIns="114300" rIns="114300" bIns="114300"/>
                    <a:lstStyle/>
                    <a:p>
                      <a:r>
                        <a:rPr sz="1950" b="0">
                          <a:solidFill>
                            <a:srgbClr val="254F43"/>
                          </a:solidFill>
                          <a:latin typeface="Gowun Dodum"/>
                          <a:ea typeface="Gowun Dodum"/>
                          <a:cs typeface="Gowun Dodum"/>
                        </a:rPr>
                        <a:t>투자 회수</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10년 내 못 함</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6년</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4년</a:t>
                      </a:r>
                    </a:p>
                  </a:txBody>
                  <a:tcPr marL="91440" marR="91440" marT="45720" marB="45720" anchor="ctr">
                    <a:solidFill>
                      <a:srgbClr val="FFF9EE"/>
                    </a:solidFill>
                  </a:tcPr>
                </a:tc>
              </a:tr>
              <a:tr h="664845">
                <a:tc>
                  <a:txBody>
                    <a:bodyPr lIns="114300" tIns="114300" rIns="114300" bIns="114300"/>
                    <a:lstStyle/>
                    <a:p>
                      <a:r>
                        <a:rPr sz="1950" b="0">
                          <a:solidFill>
                            <a:srgbClr val="254F43"/>
                          </a:solidFill>
                          <a:latin typeface="Gowun Dodum"/>
                          <a:ea typeface="Gowun Dodum"/>
                          <a:cs typeface="Gowun Dodum"/>
                        </a:rPr>
                        <a:t>10년 순현재가치</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−4,295만원</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5,257만원</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15,988만원</a:t>
                      </a:r>
                    </a:p>
                  </a:txBody>
                  <a:tcPr marL="91440" marR="91440" marT="45720" marB="45720" anchor="ctr">
                    <a:solidFill>
                      <a:srgbClr val="FFF9EE"/>
                    </a:solidFill>
                  </a:tcPr>
                </a:tc>
              </a:tr>
            </a:tbl>
          </a:graphicData>
        </a:graphic>
      </p:graphicFrame>
      <p:sp>
        <p:nvSpPr>
          <p:cNvPr id="4" name="할인율 4%, 교체비 0, 자가노동 차감 전 현금흐름입니다.&#10;2,000회 가정 실험의 순현">
            <a:extLst xmlns:a="http://schemas.openxmlformats.org/drawingml/2006/main">
              <a:ext uri="{FF2B5EF4-FFF2-40B4-BE49-F238E27FC236}">
                <a16:creationId xmlns:a16="http://schemas.microsoft.com/office/drawing/2014/main" id="{79FE4687-BCEF-497A-A8F6-53FF14D14DC2}"/>
              </a:ext>
            </a:extLst>
          </p:cNvPr>
          <p:cNvSpPr>
            <a:spLocks xmlns:a="http://schemas.openxmlformats.org/drawingml/2006/main" noGrp="1"/>
          </p:cNvSpPr>
          <p:nvPr/>
        </p:nvSpPr>
        <p:spPr>
          <a:xfrm xmlns:a="http://schemas.openxmlformats.org/drawingml/2006/main">
            <a:off x="685800" y="53911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F6C61"/>
                </a:solidFill>
                <a:latin typeface="Gowun Dodum"/>
                <a:ea typeface="Gowun Dodum"/>
                <a:cs typeface="Gowun Dodum"/>
              </a:defRPr>
            </a:defPPr>
          </a:lstStyle>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할인율 4%, 교체비 0, 자가노동 차감 전 현금흐름입니다.</a:t>
            </a:r>
          </a:p>
          <a:p xmlns:a="http://schemas.openxmlformats.org/drawingml/2006/main">
            <a:pPr algn="l">
              <a:defRPr sz="1950" b="0">
                <a:solidFill>
                  <a:srgbClr val="5F6C61"/>
                </a:solidFill>
                <a:latin typeface="Gowun Dodum"/>
                <a:ea typeface="Gowun Dodum"/>
                <a:cs typeface="Gowun Dodum"/>
              </a:defRPr>
            </a:pPr>
            <a:r>
              <a:rPr sz="1950" b="0">
                <a:solidFill>
                  <a:srgbClr val="5F6C61"/>
                </a:solidFill>
                <a:latin typeface="Gowun Dodum"/>
                <a:ea typeface="Gowun Dodum"/>
                <a:cs typeface="Gowun Dodum"/>
              </a:rPr>
              <a:t>2,000회 가정 실험의 순현재가치 5~95백분위는 792~9,921만원입니다.</a:t>
            </a:r>
          </a:p>
        </p:txBody>
      </p:sp>
      <p:sp>
        <p:nvSpPr>
          <p:cNvPr id="5" name="이 범위는 설정한 가정의 분포이며, 성공 확률이나 신뢰구간이 아닙니다.">
            <a:extLst xmlns:a="http://schemas.openxmlformats.org/drawingml/2006/main">
              <a:ext uri="{FF2B5EF4-FFF2-40B4-BE49-F238E27FC236}">
                <a16:creationId xmlns:a16="http://schemas.microsoft.com/office/drawing/2014/main" id="{6FA51648-BA69-4526-9A84-42F6A73AAC46}"/>
              </a:ext>
            </a:extLst>
          </p:cNvPr>
          <p:cNvSpPr>
            <a:spLocks xmlns:a="http://schemas.openxmlformats.org/drawingml/2006/main" noGrp="1"/>
          </p:cNvSpPr>
          <p:nvPr/>
        </p:nvSpPr>
        <p:spPr>
          <a:xfrm xmlns:a="http://schemas.openxmlformats.org/drawingml/2006/main">
            <a:off x="685800" y="61341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66F58"/>
                </a:solidFill>
                <a:latin typeface="Jua"/>
                <a:ea typeface="Jua"/>
                <a:cs typeface="Jua"/>
              </a:defRPr>
            </a:defPPr>
          </a:lstStyle>
          <a:p xmlns:a="http://schemas.openxmlformats.org/drawingml/2006/main">
            <a:pPr algn="l">
              <a:defRPr sz="1800" b="0">
                <a:solidFill>
                  <a:srgbClr val="D66F58"/>
                </a:solidFill>
                <a:latin typeface="Jua"/>
                <a:ea typeface="Jua"/>
                <a:cs typeface="Jua"/>
              </a:defRPr>
            </a:pPr>
            <a:r>
              <a:rPr sz="1800" b="0">
                <a:solidFill>
                  <a:srgbClr val="D66F58"/>
                </a:solidFill>
                <a:latin typeface="Jua"/>
                <a:ea typeface="Jua"/>
                <a:cs typeface="Jua"/>
              </a:rPr>
              <a:t>이 범위는 설정한 가정의 분포이며, 성공 확률이나 신뢰구간이 아닙니다.</a:t>
            </a:r>
          </a:p>
        </p:txBody>
      </p:sp>
    </p:spTree>
    <p:extLst>
      <p:ext uri="{BB962C8B-B14F-4D97-AF65-F5344CB8AC3E}">
        <p14:creationId xmlns:p14="http://schemas.microsoft.com/office/powerpoint/2010/main" val="2100982823"/>
      </p:ext>
    </p:extLst>
  </p:cSld>
</p:sld>
</file>

<file path=ppt/slides/slide25.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8" name="가격과 저온 가정의 연결 근거">
            <a:extLst xmlns:a="http://schemas.openxmlformats.org/drawingml/2006/main">
              <a:ext uri="{FF2B5EF4-FFF2-40B4-BE49-F238E27FC236}">
                <a16:creationId xmlns:a16="http://schemas.microsoft.com/office/drawing/2014/main" id="{476D0F6C-E2B1-413A-AD78-45AD8FA13965}"/>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가격과 저온 가정의 연결 근거</a:t>
            </a:r>
          </a:p>
        </p:txBody>
      </p:sp>
      <p:sp>
        <p:nvSpPr>
          <p:cNvPr id="2" name="근거 자료  25">
            <a:extLst xmlns:a="http://schemas.openxmlformats.org/drawingml/2006/main">
              <a:ext uri="{FF2B5EF4-FFF2-40B4-BE49-F238E27FC236}">
                <a16:creationId xmlns:a16="http://schemas.microsoft.com/office/drawing/2014/main" id="{555AAE4B-647C-40C5-AE37-53A6AE1ACE80}"/>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25</a:t>
            </a:r>
          </a:p>
        </p:txBody>
      </p:sp>
      <p:sp>
        <p:nvSpPr>
          <p:cNvPr id="3" name="가격">
            <a:extLst xmlns:a="http://schemas.openxmlformats.org/drawingml/2006/main">
              <a:ext uri="{FF2B5EF4-FFF2-40B4-BE49-F238E27FC236}">
                <a16:creationId xmlns:a16="http://schemas.microsoft.com/office/drawing/2014/main" id="{12B2A7F3-B850-412A-AFBD-D5AD12ECD09D}"/>
              </a:ext>
            </a:extLst>
          </p:cNvPr>
          <p:cNvSpPr>
            <a:spLocks xmlns:a="http://schemas.openxmlformats.org/drawingml/2006/main" noGrp="1"/>
          </p:cNvSpPr>
          <p:nvPr/>
        </p:nvSpPr>
        <p:spPr>
          <a:xfrm xmlns:a="http://schemas.openxmlformats.org/drawingml/2006/main">
            <a:off x="685800" y="1743075"/>
            <a:ext cx="21240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46856E"/>
                </a:solidFill>
                <a:latin typeface="Jua"/>
                <a:ea typeface="Jua"/>
                <a:cs typeface="Jua"/>
              </a:defRPr>
            </a:defPPr>
          </a:lstStyle>
          <a:p xmlns:a="http://schemas.openxmlformats.org/drawingml/2006/main">
            <a:pPr algn="l">
              <a:defRPr sz="2625" b="0">
                <a:solidFill>
                  <a:srgbClr val="46856E"/>
                </a:solidFill>
                <a:latin typeface="Jua"/>
                <a:ea typeface="Jua"/>
                <a:cs typeface="Jua"/>
              </a:defRPr>
            </a:pPr>
            <a:r>
              <a:rPr sz="2625" b="0">
                <a:solidFill>
                  <a:srgbClr val="46856E"/>
                </a:solidFill>
                <a:latin typeface="Jua"/>
                <a:ea typeface="Jua"/>
                <a:cs typeface="Jua"/>
              </a:rPr>
              <a:t>가격</a:t>
            </a:r>
          </a:p>
        </p:txBody>
      </p:sp>
      <p:sp>
        <p:nvSpPr>
          <p:cNvPr id="4" name="설향 상품의 1·2·3·4·12월을 같은 비중으로 비교&#10;2026년 전망 / 2025년 실제">
            <a:extLst xmlns:a="http://schemas.openxmlformats.org/drawingml/2006/main">
              <a:ext uri="{FF2B5EF4-FFF2-40B4-BE49-F238E27FC236}">
                <a16:creationId xmlns:a16="http://schemas.microsoft.com/office/drawing/2014/main" id="{37B09BF0-1206-49C4-9A0C-B29052748402}"/>
              </a:ext>
            </a:extLst>
          </p:cNvPr>
          <p:cNvSpPr>
            <a:spLocks xmlns:a="http://schemas.openxmlformats.org/drawingml/2006/main" noGrp="1"/>
          </p:cNvSpPr>
          <p:nvPr/>
        </p:nvSpPr>
        <p:spPr>
          <a:xfrm xmlns:a="http://schemas.openxmlformats.org/drawingml/2006/main">
            <a:off x="2847975" y="1724025"/>
            <a:ext cx="86391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설향 상품의 1·2·3·4·12월을 같은 비중으로 비교</a:t>
            </a:r>
          </a:p>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2026년 전망 / 2025년 실제 평균으로 +8.6% 가정</a:t>
            </a:r>
          </a:p>
        </p:txBody>
      </p:sp>
      <p:sp>
        <p:nvSpPr>
          <p:cNvPr id="5" name="저온">
            <a:extLst xmlns:a="http://schemas.openxmlformats.org/drawingml/2006/main">
              <a:ext uri="{FF2B5EF4-FFF2-40B4-BE49-F238E27FC236}">
                <a16:creationId xmlns:a16="http://schemas.microsoft.com/office/drawing/2014/main" id="{107D527F-F173-4903-90B5-5B4390DAC080}"/>
              </a:ext>
            </a:extLst>
          </p:cNvPr>
          <p:cNvSpPr>
            <a:spLocks xmlns:a="http://schemas.openxmlformats.org/drawingml/2006/main" noGrp="1"/>
          </p:cNvSpPr>
          <p:nvPr/>
        </p:nvSpPr>
        <p:spPr>
          <a:xfrm xmlns:a="http://schemas.openxmlformats.org/drawingml/2006/main">
            <a:off x="685800" y="3067050"/>
            <a:ext cx="21240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46856E"/>
                </a:solidFill>
                <a:latin typeface="Jua"/>
                <a:ea typeface="Jua"/>
                <a:cs typeface="Jua"/>
              </a:defRPr>
            </a:defPPr>
          </a:lstStyle>
          <a:p xmlns:a="http://schemas.openxmlformats.org/drawingml/2006/main">
            <a:pPr algn="l">
              <a:defRPr sz="2625" b="0">
                <a:solidFill>
                  <a:srgbClr val="46856E"/>
                </a:solidFill>
                <a:latin typeface="Jua"/>
                <a:ea typeface="Jua"/>
                <a:cs typeface="Jua"/>
              </a:defRPr>
            </a:pPr>
            <a:r>
              <a:rPr sz="2625" b="0">
                <a:solidFill>
                  <a:srgbClr val="46856E"/>
                </a:solidFill>
                <a:latin typeface="Jua"/>
                <a:ea typeface="Jua"/>
                <a:cs typeface="Jua"/>
              </a:rPr>
              <a:t>저온</a:t>
            </a:r>
          </a:p>
        </p:txBody>
      </p:sp>
      <p:sp>
        <p:nvSpPr>
          <p:cNvPr id="6" name="대구 1월 평년기온 1.1°C를 참고&#10;연간 생산 −10%, 현금 운영비 +15%는 사용자 ">
            <a:extLst xmlns:a="http://schemas.openxmlformats.org/drawingml/2006/main">
              <a:ext uri="{FF2B5EF4-FFF2-40B4-BE49-F238E27FC236}">
                <a16:creationId xmlns:a16="http://schemas.microsoft.com/office/drawing/2014/main" id="{F9CB5B9B-2137-4A8B-A32C-5CB53ED3F336}"/>
              </a:ext>
            </a:extLst>
          </p:cNvPr>
          <p:cNvSpPr>
            <a:spLocks xmlns:a="http://schemas.openxmlformats.org/drawingml/2006/main" noGrp="1"/>
          </p:cNvSpPr>
          <p:nvPr/>
        </p:nvSpPr>
        <p:spPr>
          <a:xfrm xmlns:a="http://schemas.openxmlformats.org/drawingml/2006/main">
            <a:off x="2847975" y="3048000"/>
            <a:ext cx="86391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대구 1월 평년기온 1.1°C를 참고</a:t>
            </a:r>
          </a:p>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연간 생산 −10%, 현금 운영비 +15%는 사용자 가정</a:t>
            </a:r>
          </a:p>
        </p:txBody>
      </p:sp>
      <p:graphicFrame>
        <p:nvGraphicFramePr>
          <p:cNvPr id="7" name="">
            <a:extLst xmlns:a="http://schemas.openxmlformats.org/drawingml/2006/main">
              <a:ext uri="{FF2B5EF4-FFF2-40B4-BE49-F238E27FC236}">
                <a16:creationId xmlns:a16="http://schemas.microsoft.com/office/drawing/2014/main" id="{6DAA2BE7-9BC2-463A-87D4-1849FA1CBB9E}"/>
              </a:ext>
            </a:extLst>
          </p:cNvPr>
          <p:cNvGraphicFramePr/>
          <p:nvPr/>
        </p:nvGraphicFramePr>
        <p:xfrm>
          <a:off xmlns:a="http://schemas.openxmlformats.org/drawingml/2006/main" x="685800" y="4467225"/>
          <a:ext xmlns:a="http://schemas.openxmlformats.org/drawingml/2006/main" cx="10820400" cy="1571625"/>
        </p:xfrm>
        <a:graphic xmlns:a="http://schemas.openxmlformats.org/drawingml/2006/main">
          <a:graphicData uri="http://schemas.openxmlformats.org/drawingml/2006/table">
            <a:tbl>
              <a:tblPr/>
              <a:tblGrid>
                <a:gridCol w="3781425"/>
                <a:gridCol w="2143125"/>
                <a:gridCol w="2143125"/>
                <a:gridCol w="2752725"/>
              </a:tblGrid>
              <a:tr h="523875">
                <a:tc>
                  <a:txBody>
                    <a:bodyPr lIns="114300" tIns="114300" rIns="114300" bIns="114300"/>
                    <a:lstStyle/>
                    <a:p>
                      <a:r>
                        <a:rPr sz="1950" b="0">
                          <a:solidFill>
                            <a:srgbClr val="254F43"/>
                          </a:solidFill>
                          <a:latin typeface="Jua"/>
                          <a:ea typeface="Jua"/>
                          <a:cs typeface="Jua"/>
                        </a:rPr>
                        <a:t>연소득 / 회수</a:t>
                      </a:r>
                    </a:p>
                  </a:txBody>
                  <a:tcPr marL="91440" marR="91440" marT="45720" marB="45720" anchor="ctr">
                    <a:solidFill>
                      <a:srgbClr val="DCECDF"/>
                    </a:solidFill>
                  </a:tcPr>
                </a:tc>
                <a:tc>
                  <a:txBody>
                    <a:bodyPr lIns="114300" tIns="114300" rIns="114300" bIns="114300"/>
                    <a:lstStyle/>
                    <a:p>
                      <a:r>
                        <a:rPr sz="1950" b="0">
                          <a:solidFill>
                            <a:srgbClr val="254F43"/>
                          </a:solidFill>
                          <a:latin typeface="Jua"/>
                          <a:ea typeface="Jua"/>
                          <a:cs typeface="Jua"/>
                        </a:rPr>
                        <a:t>기준</a:t>
                      </a:r>
                    </a:p>
                  </a:txBody>
                  <a:tcPr marL="91440" marR="91440" marT="45720" marB="45720" anchor="ctr">
                    <a:solidFill>
                      <a:srgbClr val="DCECDF"/>
                    </a:solidFill>
                  </a:tcPr>
                </a:tc>
                <a:tc>
                  <a:txBody>
                    <a:bodyPr lIns="114300" tIns="114300" rIns="114300" bIns="114300"/>
                    <a:lstStyle/>
                    <a:p>
                      <a:r>
                        <a:rPr sz="1950" b="0">
                          <a:solidFill>
                            <a:srgbClr val="254F43"/>
                          </a:solidFill>
                          <a:latin typeface="Jua"/>
                          <a:ea typeface="Jua"/>
                          <a:cs typeface="Jua"/>
                        </a:rPr>
                        <a:t>가격 상승</a:t>
                      </a:r>
                    </a:p>
                  </a:txBody>
                  <a:tcPr marL="91440" marR="91440" marT="45720" marB="45720" anchor="ctr">
                    <a:solidFill>
                      <a:srgbClr val="DCECDF"/>
                    </a:solidFill>
                  </a:tcPr>
                </a:tc>
                <a:tc>
                  <a:txBody>
                    <a:bodyPr lIns="114300" tIns="114300" rIns="114300" bIns="114300"/>
                    <a:lstStyle/>
                    <a:p>
                      <a:r>
                        <a:rPr sz="1950" b="0">
                          <a:solidFill>
                            <a:srgbClr val="254F43"/>
                          </a:solidFill>
                          <a:latin typeface="Jua"/>
                          <a:ea typeface="Jua"/>
                          <a:cs typeface="Jua"/>
                        </a:rPr>
                        <a:t>가격 상승 + 저온</a:t>
                      </a:r>
                    </a:p>
                  </a:txBody>
                  <a:tcPr marL="91440" marR="91440" marT="45720" marB="45720" anchor="ctr">
                    <a:solidFill>
                      <a:srgbClr val="DCECDF"/>
                    </a:solidFill>
                  </a:tcPr>
                </a:tc>
              </a:tr>
              <a:tr h="523875">
                <a:tc>
                  <a:txBody>
                    <a:bodyPr lIns="114300" tIns="114300" rIns="114300" bIns="114300"/>
                    <a:lstStyle/>
                    <a:p>
                      <a:r>
                        <a:rPr sz="1950" b="0">
                          <a:solidFill>
                            <a:srgbClr val="254F43"/>
                          </a:solidFill>
                          <a:latin typeface="Gowun Dodum"/>
                          <a:ea typeface="Gowun Dodum"/>
                          <a:cs typeface="Gowun Dodum"/>
                        </a:rPr>
                        <a:t>자가노동 차감 후</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346.7만원</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659.2만원</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24.6만원</a:t>
                      </a:r>
                    </a:p>
                  </a:txBody>
                  <a:tcPr marL="91440" marR="91440" marT="45720" marB="45720" anchor="ctr">
                    <a:solidFill>
                      <a:srgbClr val="FFF9EE"/>
                    </a:solidFill>
                  </a:tcPr>
                </a:tc>
              </a:tr>
              <a:tr h="523875">
                <a:tc>
                  <a:txBody>
                    <a:bodyPr lIns="114300" tIns="114300" rIns="114300" bIns="114300"/>
                    <a:lstStyle/>
                    <a:p>
                      <a:r>
                        <a:rPr sz="1950" b="0">
                          <a:solidFill>
                            <a:srgbClr val="254F43"/>
                          </a:solidFill>
                          <a:latin typeface="Gowun Dodum"/>
                          <a:ea typeface="Gowun Dodum"/>
                          <a:cs typeface="Gowun Dodum"/>
                        </a:rPr>
                        <a:t>현금흐름 기준 회수</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6년</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5년</a:t>
                      </a:r>
                    </a:p>
                  </a:txBody>
                  <a:tcPr marL="91440" marR="91440" marT="45720" marB="45720" anchor="ctr">
                    <a:solidFill>
                      <a:srgbClr val="FFF9EE"/>
                    </a:solidFill>
                  </a:tcPr>
                </a:tc>
                <a:tc>
                  <a:txBody>
                    <a:bodyPr lIns="114300" tIns="114300" rIns="114300" bIns="114300"/>
                    <a:lstStyle/>
                    <a:p>
                      <a:r>
                        <a:rPr sz="1950" b="0">
                          <a:solidFill>
                            <a:srgbClr val="254F43"/>
                          </a:solidFill>
                          <a:latin typeface="Gowun Dodum"/>
                          <a:ea typeface="Gowun Dodum"/>
                          <a:cs typeface="Gowun Dodum"/>
                        </a:rPr>
                        <a:t>7년</a:t>
                      </a:r>
                    </a:p>
                  </a:txBody>
                  <a:tcPr marL="91440" marR="91440" marT="45720" marB="45720" anchor="ctr">
                    <a:solidFill>
                      <a:srgbClr val="FFF9EE"/>
                    </a:solidFill>
                  </a:tcPr>
                </a:tc>
              </a:tr>
            </a:tbl>
          </a:graphicData>
        </a:graphic>
      </p:graphicFrame>
    </p:spTree>
    <p:extLst>
      <p:ext uri="{BB962C8B-B14F-4D97-AF65-F5344CB8AC3E}">
        <p14:creationId xmlns:p14="http://schemas.microsoft.com/office/powerpoint/2010/main" val="247772587"/>
      </p:ext>
    </p:extLst>
  </p:cSld>
</p:sld>
</file>

<file path=ppt/slides/slide26.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8" name="생육 점검 모델은 과거 관측만 사용합니다">
            <a:extLst xmlns:a="http://schemas.openxmlformats.org/drawingml/2006/main">
              <a:ext uri="{FF2B5EF4-FFF2-40B4-BE49-F238E27FC236}">
                <a16:creationId xmlns:a16="http://schemas.microsoft.com/office/drawing/2014/main" id="{54886F7A-711C-4D0D-9A7F-6740AD18FB0D}"/>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생육 점검 모델은 과거 관측만 사용합니다</a:t>
            </a:r>
          </a:p>
        </p:txBody>
      </p:sp>
      <p:sp>
        <p:nvSpPr>
          <p:cNvPr id="2" name="근거 자료  26">
            <a:extLst xmlns:a="http://schemas.openxmlformats.org/drawingml/2006/main">
              <a:ext uri="{FF2B5EF4-FFF2-40B4-BE49-F238E27FC236}">
                <a16:creationId xmlns:a16="http://schemas.microsoft.com/office/drawing/2014/main" id="{E379C870-72DD-43FE-83B0-CB0643856808}"/>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26</a:t>
            </a:r>
          </a:p>
        </p:txBody>
      </p:sp>
      <p:sp>
        <p:nvSpPr>
          <p:cNvPr id="3" name="현재 생육 기록 9개">
            <a:extLst xmlns:a="http://schemas.openxmlformats.org/drawingml/2006/main">
              <a:ext uri="{FF2B5EF4-FFF2-40B4-BE49-F238E27FC236}">
                <a16:creationId xmlns:a16="http://schemas.microsoft.com/office/drawing/2014/main" id="{C970F894-E4DA-4A42-8948-741F7F4880A2}"/>
              </a:ext>
            </a:extLst>
          </p:cNvPr>
          <p:cNvSpPr>
            <a:spLocks xmlns:a="http://schemas.openxmlformats.org/drawingml/2006/main" noGrp="1"/>
          </p:cNvSpPr>
          <p:nvPr/>
        </p:nvSpPr>
        <p:spPr>
          <a:xfrm xmlns:a="http://schemas.openxmlformats.org/drawingml/2006/main">
            <a:off x="685800" y="1800225"/>
            <a:ext cx="10620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6856E"/>
                </a:solidFill>
                <a:latin typeface="Jua"/>
                <a:ea typeface="Jua"/>
                <a:cs typeface="Jua"/>
              </a:defRPr>
            </a:defPPr>
          </a:lstStyle>
          <a:p xmlns:a="http://schemas.openxmlformats.org/drawingml/2006/main">
            <a:pPr algn="l">
              <a:defRPr sz="2700" b="0">
                <a:solidFill>
                  <a:srgbClr val="46856E"/>
                </a:solidFill>
                <a:latin typeface="Jua"/>
                <a:ea typeface="Jua"/>
                <a:cs typeface="Jua"/>
              </a:defRPr>
            </a:pPr>
            <a:r>
              <a:rPr sz="2700" b="0">
                <a:solidFill>
                  <a:srgbClr val="46856E"/>
                </a:solidFill>
                <a:latin typeface="Jua"/>
                <a:ea typeface="Jua"/>
                <a:cs typeface="Jua"/>
              </a:rPr>
              <a:t>현재 생육 기록 9개</a:t>
            </a:r>
          </a:p>
        </p:txBody>
      </p:sp>
      <p:sp>
        <p:nvSpPr>
          <p:cNvPr id="4" name="초장, 잎, 관부, 조사 시기, 정식 후 일수 등">
            <a:extLst xmlns:a="http://schemas.openxmlformats.org/drawingml/2006/main">
              <a:ext uri="{FF2B5EF4-FFF2-40B4-BE49-F238E27FC236}">
                <a16:creationId xmlns:a16="http://schemas.microsoft.com/office/drawing/2014/main" id="{5158AAE2-0867-4237-8F77-8E839C97E09F}"/>
              </a:ext>
            </a:extLst>
          </p:cNvPr>
          <p:cNvSpPr>
            <a:spLocks xmlns:a="http://schemas.openxmlformats.org/drawingml/2006/main" noGrp="1"/>
          </p:cNvSpPr>
          <p:nvPr/>
        </p:nvSpPr>
        <p:spPr>
          <a:xfrm xmlns:a="http://schemas.openxmlformats.org/drawingml/2006/main">
            <a:off x="685800" y="2438400"/>
            <a:ext cx="10620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254F43"/>
                </a:solidFill>
                <a:latin typeface="Gowun Dodum"/>
                <a:ea typeface="Gowun Dodum"/>
                <a:cs typeface="Gowun Dodum"/>
              </a:defRPr>
            </a:defPPr>
          </a:lstStyle>
          <a:p xmlns:a="http://schemas.openxmlformats.org/drawingml/2006/main">
            <a:pPr algn="l">
              <a:defRPr sz="2325" b="0">
                <a:solidFill>
                  <a:srgbClr val="254F43"/>
                </a:solidFill>
                <a:latin typeface="Gowun Dodum"/>
                <a:ea typeface="Gowun Dodum"/>
                <a:cs typeface="Gowun Dodum"/>
              </a:defRPr>
            </a:pPr>
            <a:r>
              <a:rPr sz="2325" b="0">
                <a:solidFill>
                  <a:srgbClr val="254F43"/>
                </a:solidFill>
                <a:latin typeface="Gowun Dodum"/>
                <a:ea typeface="Gowun Dodum"/>
                <a:cs typeface="Gowun Dodum"/>
              </a:rPr>
              <a:t>초장, 잎, 관부, 조사 시기, 정식 후 일수 등</a:t>
            </a:r>
          </a:p>
        </p:txBody>
      </p:sp>
      <p:sp>
        <p:nvSpPr>
          <p:cNvPr id="5" name="이전 환경 요약 24개">
            <a:extLst xmlns:a="http://schemas.openxmlformats.org/drawingml/2006/main">
              <a:ext uri="{FF2B5EF4-FFF2-40B4-BE49-F238E27FC236}">
                <a16:creationId xmlns:a16="http://schemas.microsoft.com/office/drawing/2014/main" id="{F9A26BA8-CACA-4F12-87AB-C2ACFE28F070}"/>
              </a:ext>
            </a:extLst>
          </p:cNvPr>
          <p:cNvSpPr>
            <a:spLocks xmlns:a="http://schemas.openxmlformats.org/drawingml/2006/main" noGrp="1"/>
          </p:cNvSpPr>
          <p:nvPr/>
        </p:nvSpPr>
        <p:spPr>
          <a:xfrm xmlns:a="http://schemas.openxmlformats.org/drawingml/2006/main">
            <a:off x="685800" y="3438525"/>
            <a:ext cx="10620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6856E"/>
                </a:solidFill>
                <a:latin typeface="Jua"/>
                <a:ea typeface="Jua"/>
                <a:cs typeface="Jua"/>
              </a:defRPr>
            </a:defPPr>
          </a:lstStyle>
          <a:p xmlns:a="http://schemas.openxmlformats.org/drawingml/2006/main">
            <a:pPr algn="l">
              <a:defRPr sz="2700" b="0">
                <a:solidFill>
                  <a:srgbClr val="46856E"/>
                </a:solidFill>
                <a:latin typeface="Jua"/>
                <a:ea typeface="Jua"/>
                <a:cs typeface="Jua"/>
              </a:defRPr>
            </a:pPr>
            <a:r>
              <a:rPr sz="2700" b="0">
                <a:solidFill>
                  <a:srgbClr val="46856E"/>
                </a:solidFill>
                <a:latin typeface="Jua"/>
                <a:ea typeface="Jua"/>
                <a:cs typeface="Jua"/>
              </a:rPr>
              <a:t>이전 환경 요약 24개</a:t>
            </a:r>
          </a:p>
        </p:txBody>
      </p:sp>
      <p:sp>
        <p:nvSpPr>
          <p:cNvPr id="6" name="온도·습도·CO₂의 직전 7일과 28일&#10;평균·최소·최대·유효 관측일수">
            <a:extLst xmlns:a="http://schemas.openxmlformats.org/drawingml/2006/main">
              <a:ext uri="{FF2B5EF4-FFF2-40B4-BE49-F238E27FC236}">
                <a16:creationId xmlns:a16="http://schemas.microsoft.com/office/drawing/2014/main" id="{8169D3D6-E47F-45E4-8416-AA8AEA4763D2}"/>
              </a:ext>
            </a:extLst>
          </p:cNvPr>
          <p:cNvSpPr>
            <a:spLocks xmlns:a="http://schemas.openxmlformats.org/drawingml/2006/main" noGrp="1"/>
          </p:cNvSpPr>
          <p:nvPr/>
        </p:nvSpPr>
        <p:spPr>
          <a:xfrm xmlns:a="http://schemas.openxmlformats.org/drawingml/2006/main">
            <a:off x="685800" y="4095750"/>
            <a:ext cx="1062037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254F43"/>
                </a:solidFill>
                <a:latin typeface="Gowun Dodum"/>
                <a:ea typeface="Gowun Dodum"/>
                <a:cs typeface="Gowun Dodum"/>
              </a:defRPr>
            </a:defPPr>
          </a:lstStyle>
          <a:p xmlns:a="http://schemas.openxmlformats.org/drawingml/2006/main">
            <a:pPr algn="l">
              <a:defRPr sz="2325" b="0">
                <a:solidFill>
                  <a:srgbClr val="254F43"/>
                </a:solidFill>
                <a:latin typeface="Gowun Dodum"/>
                <a:ea typeface="Gowun Dodum"/>
                <a:cs typeface="Gowun Dodum"/>
              </a:defRPr>
            </a:pPr>
            <a:r>
              <a:rPr sz="2325" b="0">
                <a:solidFill>
                  <a:srgbClr val="254F43"/>
                </a:solidFill>
                <a:latin typeface="Gowun Dodum"/>
                <a:ea typeface="Gowun Dodum"/>
                <a:cs typeface="Gowun Dodum"/>
              </a:rPr>
              <a:t>온도·습도·CO₂의 직전 7일과 28일</a:t>
            </a:r>
          </a:p>
          <a:p xmlns:a="http://schemas.openxmlformats.org/drawingml/2006/main">
            <a:pPr algn="l">
              <a:defRPr sz="2325" b="0">
                <a:solidFill>
                  <a:srgbClr val="254F43"/>
                </a:solidFill>
                <a:latin typeface="Gowun Dodum"/>
                <a:ea typeface="Gowun Dodum"/>
                <a:cs typeface="Gowun Dodum"/>
              </a:defRPr>
            </a:pPr>
            <a:r>
              <a:rPr sz="2325" b="0">
                <a:solidFill>
                  <a:srgbClr val="254F43"/>
                </a:solidFill>
                <a:latin typeface="Gowun Dodum"/>
                <a:ea typeface="Gowun Dodum"/>
                <a:cs typeface="Gowun Dodum"/>
              </a:rPr>
              <a:t>평균·최소·최대·유효 관측일수</a:t>
            </a:r>
          </a:p>
        </p:txBody>
      </p:sp>
      <p:sp>
        <p:nvSpPr>
          <p:cNvPr id="7" name="현재일과 미래 환경은 제외했습니다. 같은 식물의 성장량을 뜻하지 않습니다.&#10;누적 일사량·생">
            <a:extLst xmlns:a="http://schemas.openxmlformats.org/drawingml/2006/main">
              <a:ext uri="{FF2B5EF4-FFF2-40B4-BE49-F238E27FC236}">
                <a16:creationId xmlns:a16="http://schemas.microsoft.com/office/drawing/2014/main" id="{6C3DEB05-35AD-4BF6-AA75-CF12A3DC51E9}"/>
              </a:ext>
            </a:extLst>
          </p:cNvPr>
          <p:cNvSpPr>
            <a:spLocks xmlns:a="http://schemas.openxmlformats.org/drawingml/2006/main" noGrp="1"/>
          </p:cNvSpPr>
          <p:nvPr/>
        </p:nvSpPr>
        <p:spPr>
          <a:xfrm xmlns:a="http://schemas.openxmlformats.org/drawingml/2006/main">
            <a:off x="6858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F6C61"/>
                </a:solidFill>
                <a:latin typeface="Gowun Dodum"/>
                <a:ea typeface="Gowun Dodum"/>
                <a:cs typeface="Gowun Dodum"/>
              </a:defRPr>
            </a:defPPr>
          </a:lstStyle>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현재일과 미래 환경은 제외했습니다. 같은 식물의 성장량을 뜻하지 않습니다.</a:t>
            </a:r>
          </a:p>
          <a:p xmlns:a="http://schemas.openxmlformats.org/drawingml/2006/main">
            <a:pPr algn="l">
              <a:defRPr sz="1875" b="0">
                <a:solidFill>
                  <a:srgbClr val="5F6C61"/>
                </a:solidFill>
                <a:latin typeface="Gowun Dodum"/>
                <a:ea typeface="Gowun Dodum"/>
                <a:cs typeface="Gowun Dodum"/>
              </a:defRPr>
            </a:pPr>
            <a:r>
              <a:rPr sz="1875" b="0">
                <a:solidFill>
                  <a:srgbClr val="5F6C61"/>
                </a:solidFill>
                <a:latin typeface="Gowun Dodum"/>
                <a:ea typeface="Gowun Dodum"/>
                <a:cs typeface="Gowun Dodum"/>
              </a:rPr>
              <a:t>누적 일사량·생육도일·기상특보 효과는 자료가 없어 검증하지 않았습니다.</a:t>
            </a:r>
          </a:p>
        </p:txBody>
      </p:sp>
    </p:spTree>
    <p:extLst>
      <p:ext uri="{BB962C8B-B14F-4D97-AF65-F5344CB8AC3E}">
        <p14:creationId xmlns:p14="http://schemas.microsoft.com/office/powerpoint/2010/main" val="783236026"/>
      </p:ext>
    </p:extLst>
  </p:cSld>
</p:sld>
</file>

<file path=ppt/slides/slide27.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8" name="안심구역에서 실행할 모델 입력과 목표">
            <a:extLst xmlns:a="http://schemas.openxmlformats.org/drawingml/2006/main">
              <a:ext uri="{FF2B5EF4-FFF2-40B4-BE49-F238E27FC236}">
                <a16:creationId xmlns:a16="http://schemas.microsoft.com/office/drawing/2014/main" id="{8D5E6994-BB28-4A17-810E-CD549DEFDCE2}"/>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안심구역에서 실행할 모델 입력과 목표</a:t>
            </a:r>
          </a:p>
        </p:txBody>
      </p:sp>
      <p:sp>
        <p:nvSpPr>
          <p:cNvPr id="2" name="근거 자료  27">
            <a:extLst xmlns:a="http://schemas.openxmlformats.org/drawingml/2006/main">
              <a:ext uri="{FF2B5EF4-FFF2-40B4-BE49-F238E27FC236}">
                <a16:creationId xmlns:a16="http://schemas.microsoft.com/office/drawing/2014/main" id="{2446B5A0-2C1F-4631-B015-7435F3C8793F}"/>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27</a:t>
            </a:r>
          </a:p>
        </p:txBody>
      </p:sp>
      <p:sp>
        <p:nvSpPr>
          <p:cNvPr id="3" name="도입 전 계획 입력 7개">
            <a:extLst xmlns:a="http://schemas.openxmlformats.org/drawingml/2006/main">
              <a:ext uri="{FF2B5EF4-FFF2-40B4-BE49-F238E27FC236}">
                <a16:creationId xmlns:a16="http://schemas.microsoft.com/office/drawing/2014/main" id="{A12AC063-BF0C-448C-8BBE-71158D0C266C}"/>
              </a:ext>
            </a:extLst>
          </p:cNvPr>
          <p:cNvSpPr>
            <a:spLocks xmlns:a="http://schemas.openxmlformats.org/drawingml/2006/main" noGrp="1"/>
          </p:cNvSpPr>
          <p:nvPr/>
        </p:nvSpPr>
        <p:spPr>
          <a:xfrm xmlns:a="http://schemas.openxmlformats.org/drawingml/2006/main">
            <a:off x="685800" y="1762125"/>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6856E"/>
                </a:solidFill>
                <a:latin typeface="Jua"/>
                <a:ea typeface="Jua"/>
                <a:cs typeface="Jua"/>
              </a:defRPr>
            </a:defPPr>
          </a:lstStyle>
          <a:p xmlns:a="http://schemas.openxmlformats.org/drawingml/2006/main">
            <a:pPr algn="l">
              <a:defRPr sz="2700" b="0">
                <a:solidFill>
                  <a:srgbClr val="46856E"/>
                </a:solidFill>
                <a:latin typeface="Jua"/>
                <a:ea typeface="Jua"/>
                <a:cs typeface="Jua"/>
              </a:defRPr>
            </a:pPr>
            <a:r>
              <a:rPr sz="2700" b="0">
                <a:solidFill>
                  <a:srgbClr val="46856E"/>
                </a:solidFill>
                <a:latin typeface="Jua"/>
                <a:ea typeface="Jua"/>
                <a:cs typeface="Jua"/>
              </a:rPr>
              <a:t>도입 전 계획 입력 7개</a:t>
            </a:r>
          </a:p>
        </p:txBody>
      </p:sp>
      <p:sp>
        <p:nvSpPr>
          <p:cNvPr id="4" name="품목, 지역, 온실 유형, 온실 규모, 면적,&#10;예정 시작 연도, 예정 시작 월">
            <a:extLst xmlns:a="http://schemas.openxmlformats.org/drawingml/2006/main">
              <a:ext uri="{FF2B5EF4-FFF2-40B4-BE49-F238E27FC236}">
                <a16:creationId xmlns:a16="http://schemas.microsoft.com/office/drawing/2014/main" id="{00CA6F06-CDAC-4119-BFA5-CA3F10502C2A}"/>
              </a:ext>
            </a:extLst>
          </p:cNvPr>
          <p:cNvSpPr>
            <a:spLocks xmlns:a="http://schemas.openxmlformats.org/drawingml/2006/main" noGrp="1"/>
          </p:cNvSpPr>
          <p:nvPr/>
        </p:nvSpPr>
        <p:spPr>
          <a:xfrm xmlns:a="http://schemas.openxmlformats.org/drawingml/2006/main">
            <a:off x="685800" y="2476500"/>
            <a:ext cx="10572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254F43"/>
                </a:solidFill>
                <a:latin typeface="Gowun Dodum"/>
                <a:ea typeface="Gowun Dodum"/>
                <a:cs typeface="Gowun Dodum"/>
              </a:defRPr>
            </a:defPPr>
          </a:lstStyle>
          <a:p xmlns:a="http://schemas.openxmlformats.org/drawingml/2006/main">
            <a:pPr algn="l">
              <a:defRPr sz="2400" b="0">
                <a:solidFill>
                  <a:srgbClr val="254F43"/>
                </a:solidFill>
                <a:latin typeface="Gowun Dodum"/>
                <a:ea typeface="Gowun Dodum"/>
                <a:cs typeface="Gowun Dodum"/>
              </a:defRPr>
            </a:pPr>
            <a:r>
              <a:rPr sz="2400" b="0">
                <a:solidFill>
                  <a:srgbClr val="254F43"/>
                </a:solidFill>
                <a:latin typeface="Gowun Dodum"/>
                <a:ea typeface="Gowun Dodum"/>
                <a:cs typeface="Gowun Dodum"/>
              </a:rPr>
              <a:t>품목, 지역, 온실 유형, 온실 규모, 면적,</a:t>
            </a:r>
          </a:p>
          <a:p xmlns:a="http://schemas.openxmlformats.org/drawingml/2006/main">
            <a:pPr algn="l">
              <a:defRPr sz="2400" b="0">
                <a:solidFill>
                  <a:srgbClr val="254F43"/>
                </a:solidFill>
                <a:latin typeface="Gowun Dodum"/>
                <a:ea typeface="Gowun Dodum"/>
                <a:cs typeface="Gowun Dodum"/>
              </a:defRPr>
            </a:pPr>
            <a:r>
              <a:rPr sz="2400" b="0">
                <a:solidFill>
                  <a:srgbClr val="254F43"/>
                </a:solidFill>
                <a:latin typeface="Gowun Dodum"/>
                <a:ea typeface="Gowun Dodum"/>
                <a:cs typeface="Gowun Dodum"/>
              </a:rPr>
              <a:t>예정 시작 연도, 예정 시작 월</a:t>
            </a:r>
          </a:p>
        </p:txBody>
      </p:sp>
      <p:sp>
        <p:nvSpPr>
          <p:cNvPr id="5" name="출하량과 총수입을 각각 학습">
            <a:extLst xmlns:a="http://schemas.openxmlformats.org/drawingml/2006/main">
              <a:ext uri="{FF2B5EF4-FFF2-40B4-BE49-F238E27FC236}">
                <a16:creationId xmlns:a16="http://schemas.microsoft.com/office/drawing/2014/main" id="{3AE87E18-22F8-4072-89EE-D3C6951C4656}"/>
              </a:ext>
            </a:extLst>
          </p:cNvPr>
          <p:cNvSpPr>
            <a:spLocks xmlns:a="http://schemas.openxmlformats.org/drawingml/2006/main" noGrp="1"/>
          </p:cNvSpPr>
          <p:nvPr/>
        </p:nvSpPr>
        <p:spPr>
          <a:xfrm xmlns:a="http://schemas.openxmlformats.org/drawingml/2006/main">
            <a:off x="685800" y="409575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6856E"/>
                </a:solidFill>
                <a:latin typeface="Jua"/>
                <a:ea typeface="Jua"/>
                <a:cs typeface="Jua"/>
              </a:defRPr>
            </a:defPPr>
          </a:lstStyle>
          <a:p xmlns:a="http://schemas.openxmlformats.org/drawingml/2006/main">
            <a:pPr algn="l">
              <a:defRPr sz="2700" b="0">
                <a:solidFill>
                  <a:srgbClr val="46856E"/>
                </a:solidFill>
                <a:latin typeface="Jua"/>
                <a:ea typeface="Jua"/>
                <a:cs typeface="Jua"/>
              </a:defRPr>
            </a:pPr>
            <a:r>
              <a:rPr sz="2700" b="0">
                <a:solidFill>
                  <a:srgbClr val="46856E"/>
                </a:solidFill>
                <a:latin typeface="Jua"/>
                <a:ea typeface="Jua"/>
                <a:cs typeface="Jua"/>
              </a:rPr>
              <a:t>출하량과 총수입을 각각 학습</a:t>
            </a:r>
          </a:p>
        </p:txBody>
      </p:sp>
      <p:sp>
        <p:nvSpPr>
          <p:cNvPr id="6" name="출하량 kg와 총수입 원은&#10;0·결측을 구분해 목표별로 검사합니다.&#10;총수입은 매출이며 순이익">
            <a:extLst xmlns:a="http://schemas.openxmlformats.org/drawingml/2006/main">
              <a:ext uri="{FF2B5EF4-FFF2-40B4-BE49-F238E27FC236}">
                <a16:creationId xmlns:a16="http://schemas.microsoft.com/office/drawing/2014/main" id="{67CA232F-A397-4823-907B-69EE3A15F58D}"/>
              </a:ext>
            </a:extLst>
          </p:cNvPr>
          <p:cNvSpPr>
            <a:spLocks xmlns:a="http://schemas.openxmlformats.org/drawingml/2006/main" noGrp="1"/>
          </p:cNvSpPr>
          <p:nvPr/>
        </p:nvSpPr>
        <p:spPr>
          <a:xfrm xmlns:a="http://schemas.openxmlformats.org/drawingml/2006/main">
            <a:off x="685800" y="4733925"/>
            <a:ext cx="1057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54F43"/>
                </a:solidFill>
                <a:latin typeface="Gowun Dodum"/>
                <a:ea typeface="Gowun Dodum"/>
                <a:cs typeface="Gowun Dodum"/>
              </a:defRPr>
            </a:defPPr>
          </a:lstStyle>
          <a:p xmlns:a="http://schemas.openxmlformats.org/drawingml/2006/main">
            <a:pPr algn="l">
              <a:defRPr sz="2250" b="0">
                <a:solidFill>
                  <a:srgbClr val="254F43"/>
                </a:solidFill>
                <a:latin typeface="Gowun Dodum"/>
                <a:ea typeface="Gowun Dodum"/>
                <a:cs typeface="Gowun Dodum"/>
              </a:defRPr>
            </a:pPr>
            <a:r>
              <a:rPr sz="2250" b="0">
                <a:solidFill>
                  <a:srgbClr val="254F43"/>
                </a:solidFill>
                <a:latin typeface="Gowun Dodum"/>
                <a:ea typeface="Gowun Dodum"/>
                <a:cs typeface="Gowun Dodum"/>
              </a:rPr>
              <a:t>출하량 kg와 총수입 원은</a:t>
            </a:r>
          </a:p>
          <a:p xmlns:a="http://schemas.openxmlformats.org/drawingml/2006/main">
            <a:pPr algn="l">
              <a:defRPr sz="2250" b="0">
                <a:solidFill>
                  <a:srgbClr val="254F43"/>
                </a:solidFill>
                <a:latin typeface="Gowun Dodum"/>
                <a:ea typeface="Gowun Dodum"/>
                <a:cs typeface="Gowun Dodum"/>
              </a:defRPr>
            </a:pPr>
            <a:r>
              <a:rPr sz="2250" b="0">
                <a:solidFill>
                  <a:srgbClr val="254F43"/>
                </a:solidFill>
                <a:latin typeface="Gowun Dodum"/>
                <a:ea typeface="Gowun Dodum"/>
                <a:cs typeface="Gowun Dodum"/>
              </a:rPr>
              <a:t>0·결측을 구분해 목표별로 검사합니다.</a:t>
            </a:r>
          </a:p>
          <a:p xmlns:a="http://schemas.openxmlformats.org/drawingml/2006/main">
            <a:pPr algn="l">
              <a:defRPr sz="2250" b="0">
                <a:solidFill>
                  <a:srgbClr val="254F43"/>
                </a:solidFill>
                <a:latin typeface="Gowun Dodum"/>
                <a:ea typeface="Gowun Dodum"/>
                <a:cs typeface="Gowun Dodum"/>
              </a:defRPr>
            </a:pPr>
            <a:r>
              <a:rPr sz="2250" b="0">
                <a:solidFill>
                  <a:srgbClr val="254F43"/>
                </a:solidFill>
                <a:latin typeface="Gowun Dodum"/>
                <a:ea typeface="Gowun Dodum"/>
                <a:cs typeface="Gowun Dodum"/>
              </a:rPr>
              <a:t>총수입은 매출이며 순이익과 다릅니다.</a:t>
            </a:r>
          </a:p>
        </p:txBody>
      </p:sp>
      <p:sp>
        <p:nvSpPr>
          <p:cNvPr id="7" name="79개 명세 항목 검사, 가상 40시설·80작기, CPU 실행 묶음을 준비했습니다.">
            <a:extLst xmlns:a="http://schemas.openxmlformats.org/drawingml/2006/main">
              <a:ext uri="{FF2B5EF4-FFF2-40B4-BE49-F238E27FC236}">
                <a16:creationId xmlns:a16="http://schemas.microsoft.com/office/drawing/2014/main" id="{D1205B13-70DB-4210-8897-D45FB44F6C93}"/>
              </a:ext>
            </a:extLst>
          </p:cNvPr>
          <p:cNvSpPr>
            <a:spLocks xmlns:a="http://schemas.openxmlformats.org/drawingml/2006/main" noGrp="1"/>
          </p:cNvSpPr>
          <p:nvPr/>
        </p:nvSpPr>
        <p:spPr>
          <a:xfrm xmlns:a="http://schemas.openxmlformats.org/drawingml/2006/main">
            <a:off x="685800" y="61626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F6C61"/>
                </a:solidFill>
                <a:latin typeface="Gowun Dodum"/>
                <a:ea typeface="Gowun Dodum"/>
                <a:cs typeface="Gowun Dodum"/>
              </a:defRPr>
            </a:defPPr>
          </a:lstStyle>
          <a:p xmlns:a="http://schemas.openxmlformats.org/drawingml/2006/main">
            <a:pPr algn="l">
              <a:defRPr sz="1800" b="0">
                <a:solidFill>
                  <a:srgbClr val="5F6C61"/>
                </a:solidFill>
                <a:latin typeface="Gowun Dodum"/>
                <a:ea typeface="Gowun Dodum"/>
                <a:cs typeface="Gowun Dodum"/>
              </a:defRPr>
            </a:pPr>
            <a:r>
              <a:rPr sz="1800" b="0">
                <a:solidFill>
                  <a:srgbClr val="5F6C61"/>
                </a:solidFill>
                <a:latin typeface="Gowun Dodum"/>
                <a:ea typeface="Gowun Dodum"/>
                <a:cs typeface="Gowun Dodum"/>
              </a:rPr>
              <a:t>79개 명세 항목 검사, 가상 40시설·80작기, CPU 실행 묶음을 준비했습니다.</a:t>
            </a:r>
          </a:p>
        </p:txBody>
      </p:sp>
    </p:spTree>
    <p:extLst>
      <p:ext uri="{BB962C8B-B14F-4D97-AF65-F5344CB8AC3E}">
        <p14:creationId xmlns:p14="http://schemas.microsoft.com/office/powerpoint/2010/main" val="1777640338"/>
      </p:ext>
    </p:extLst>
  </p:cSld>
</p:sld>
</file>

<file path=ppt/slides/slide28.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4" name="더 확보해야 할 자료와 검증 계획">
            <a:extLst xmlns:a="http://schemas.openxmlformats.org/drawingml/2006/main">
              <a:ext uri="{FF2B5EF4-FFF2-40B4-BE49-F238E27FC236}">
                <a16:creationId xmlns:a16="http://schemas.microsoft.com/office/drawing/2014/main" id="{6BE1448C-8D0C-46FA-923D-18C3FC4B78E7}"/>
              </a:ext>
            </a:extLst>
          </p:cNvPr>
          <p:cNvSpPr>
            <a:spLocks xmlns:a="http://schemas.openxmlformats.org/drawingml/2006/main" noGrp="1"/>
          </p:cNvSpPr>
          <p:nvPr/>
        </p:nvSpPr>
        <p:spPr>
          <a:xfrm xmlns:a="http://schemas.openxmlformats.org/drawingml/2006/main">
            <a:off x="609600" y="409575"/>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254F43"/>
                </a:solidFill>
                <a:latin typeface="Jua"/>
                <a:ea typeface="Jua"/>
                <a:cs typeface="Jua"/>
              </a:defRPr>
            </a:defPPr>
          </a:lstStyle>
          <a:p xmlns:a="http://schemas.openxmlformats.org/drawingml/2006/main">
            <a:pPr algn="l">
              <a:defRPr sz="3900" b="0">
                <a:solidFill>
                  <a:srgbClr val="254F43"/>
                </a:solidFill>
                <a:latin typeface="Jua"/>
                <a:ea typeface="Jua"/>
                <a:cs typeface="Jua"/>
              </a:defRPr>
            </a:pPr>
            <a:r>
              <a:rPr sz="3900" b="0">
                <a:solidFill>
                  <a:srgbClr val="254F43"/>
                </a:solidFill>
                <a:latin typeface="Jua"/>
                <a:ea typeface="Jua"/>
                <a:cs typeface="Jua"/>
              </a:rPr>
              <a:t>더 확보해야 할 자료와 검증 계획</a:t>
            </a:r>
          </a:p>
        </p:txBody>
      </p:sp>
      <p:sp>
        <p:nvSpPr>
          <p:cNvPr id="2" name="근거 자료  28">
            <a:extLst xmlns:a="http://schemas.openxmlformats.org/drawingml/2006/main">
              <a:ext uri="{FF2B5EF4-FFF2-40B4-BE49-F238E27FC236}">
                <a16:creationId xmlns:a16="http://schemas.microsoft.com/office/drawing/2014/main" id="{11D54BBB-5318-4661-8243-3C8F50344DBE}"/>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F6C61"/>
                </a:solidFill>
                <a:latin typeface="Gowun Dodum"/>
                <a:ea typeface="Gowun Dodum"/>
                <a:cs typeface="Gowun Dodum"/>
              </a:defRPr>
            </a:defPPr>
          </a:lstStyle>
          <a:p xmlns:a="http://schemas.openxmlformats.org/drawingml/2006/main">
            <a:pPr algn="r">
              <a:defRPr sz="1350" b="0">
                <a:solidFill>
                  <a:srgbClr val="5F6C61"/>
                </a:solidFill>
                <a:latin typeface="Gowun Dodum"/>
                <a:ea typeface="Gowun Dodum"/>
                <a:cs typeface="Gowun Dodum"/>
              </a:defRPr>
            </a:pPr>
            <a:r>
              <a:rPr sz="1350" b="0">
                <a:solidFill>
                  <a:srgbClr val="5F6C61"/>
                </a:solidFill>
                <a:latin typeface="Gowun Dodum"/>
                <a:ea typeface="Gowun Dodum"/>
                <a:cs typeface="Gowun Dodum"/>
              </a:rPr>
              <a:t>근거 자료  28</a:t>
            </a:r>
          </a:p>
        </p:txBody>
      </p:sp>
      <p:sp>
        <p:nvSpPr>
          <p:cNvPr id="3" name="실제 비용의 뜻">
            <a:extLst xmlns:a="http://schemas.openxmlformats.org/drawingml/2006/main">
              <a:ext uri="{FF2B5EF4-FFF2-40B4-BE49-F238E27FC236}">
                <a16:creationId xmlns:a16="http://schemas.microsoft.com/office/drawing/2014/main" id="{98352F33-92A5-40D8-86C1-9D4DB36C3DD8}"/>
              </a:ext>
            </a:extLst>
          </p:cNvPr>
          <p:cNvSpPr>
            <a:spLocks xmlns:a="http://schemas.openxmlformats.org/drawingml/2006/main" noGrp="1"/>
          </p:cNvSpPr>
          <p:nvPr/>
        </p:nvSpPr>
        <p:spPr>
          <a:xfrm xmlns:a="http://schemas.openxmlformats.org/drawingml/2006/main">
            <a:off x="685800" y="1724025"/>
            <a:ext cx="3228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46856E"/>
                </a:solidFill>
                <a:latin typeface="Jua"/>
                <a:ea typeface="Jua"/>
                <a:cs typeface="Jua"/>
              </a:defRPr>
            </a:defPPr>
          </a:lstStyle>
          <a:p xmlns:a="http://schemas.openxmlformats.org/drawingml/2006/main">
            <a:pPr algn="l">
              <a:defRPr sz="2475" b="0">
                <a:solidFill>
                  <a:srgbClr val="46856E"/>
                </a:solidFill>
                <a:latin typeface="Jua"/>
                <a:ea typeface="Jua"/>
                <a:cs typeface="Jua"/>
              </a:defRPr>
            </a:pPr>
            <a:r>
              <a:rPr sz="2475" b="0">
                <a:solidFill>
                  <a:srgbClr val="46856E"/>
                </a:solidFill>
                <a:latin typeface="Jua"/>
                <a:ea typeface="Jua"/>
                <a:cs typeface="Jua"/>
              </a:rPr>
              <a:t>실제 비용의 뜻</a:t>
            </a:r>
          </a:p>
        </p:txBody>
      </p:sp>
      <p:sp>
        <p:nvSpPr>
          <p:cNvPr id="4" name="기간·중복·누계 여부를 확인해 순이익 정답 검증">
            <a:extLst xmlns:a="http://schemas.openxmlformats.org/drawingml/2006/main">
              <a:ext uri="{FF2B5EF4-FFF2-40B4-BE49-F238E27FC236}">
                <a16:creationId xmlns:a16="http://schemas.microsoft.com/office/drawing/2014/main" id="{BD22CE74-EBE7-4953-8EBE-7D1F923E505E}"/>
              </a:ext>
            </a:extLst>
          </p:cNvPr>
          <p:cNvSpPr>
            <a:spLocks xmlns:a="http://schemas.openxmlformats.org/drawingml/2006/main" noGrp="1"/>
          </p:cNvSpPr>
          <p:nvPr/>
        </p:nvSpPr>
        <p:spPr>
          <a:xfrm xmlns:a="http://schemas.openxmlformats.org/drawingml/2006/main">
            <a:off x="4295775" y="1724025"/>
            <a:ext cx="72104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기간·중복·누계 여부를 확인해 순이익 정답 검증</a:t>
            </a:r>
          </a:p>
        </p:txBody>
      </p:sp>
      <p:sp>
        <p:nvSpPr>
          <p:cNvPr id="5" name="">
            <a:extLst xmlns:a="http://schemas.openxmlformats.org/drawingml/2006/main">
              <a:ext uri="{FF2B5EF4-FFF2-40B4-BE49-F238E27FC236}">
                <a16:creationId xmlns:a16="http://schemas.microsoft.com/office/drawing/2014/main" id="{CD3FA7F0-D137-483C-9121-24268EA6ED9F}"/>
              </a:ext>
            </a:extLst>
          </p:cNvPr>
          <p:cNvSpPr>
            <a:spLocks xmlns:a="http://schemas.openxmlformats.org/drawingml/2006/main" noGrp="1"/>
          </p:cNvSpPr>
          <p:nvPr/>
        </p:nvSpPr>
        <p:spPr>
          <a:xfrm xmlns:a="http://schemas.openxmlformats.org/drawingml/2006/main">
            <a:off x="685800" y="2524125"/>
            <a:ext cx="10820400" cy="0"/>
          </a:xfrm>
          <a:prstGeom xmlns:a="http://schemas.openxmlformats.org/drawingml/2006/main" prst="line">
            <a:avLst/>
          </a:prstGeom>
          <a:noFill xmlns:a="http://schemas.openxmlformats.org/drawingml/2006/main"/>
          <a:ln xmlns:a="http://schemas.openxmlformats.org/drawingml/2006/main" w="12383">
            <a:solidFill>
              <a:srgbClr val="CEDDD1"/>
            </a:solidFill>
          </a:ln>
        </p:spPr>
      </p:sp>
      <p:sp>
        <p:nvSpPr>
          <p:cNvPr id="6" name="현장 설치 견적">
            <a:extLst xmlns:a="http://schemas.openxmlformats.org/drawingml/2006/main">
              <a:ext uri="{FF2B5EF4-FFF2-40B4-BE49-F238E27FC236}">
                <a16:creationId xmlns:a16="http://schemas.microsoft.com/office/drawing/2014/main" id="{66E1BCCD-7C7A-40A4-A0FE-19BB56A8B75D}"/>
              </a:ext>
            </a:extLst>
          </p:cNvPr>
          <p:cNvSpPr>
            <a:spLocks xmlns:a="http://schemas.openxmlformats.org/drawingml/2006/main" noGrp="1"/>
          </p:cNvSpPr>
          <p:nvPr/>
        </p:nvSpPr>
        <p:spPr>
          <a:xfrm xmlns:a="http://schemas.openxmlformats.org/drawingml/2006/main">
            <a:off x="685800" y="2781300"/>
            <a:ext cx="3228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46856E"/>
                </a:solidFill>
                <a:latin typeface="Jua"/>
                <a:ea typeface="Jua"/>
                <a:cs typeface="Jua"/>
              </a:defRPr>
            </a:defPPr>
          </a:lstStyle>
          <a:p xmlns:a="http://schemas.openxmlformats.org/drawingml/2006/main">
            <a:pPr algn="l">
              <a:defRPr sz="2475" b="0">
                <a:solidFill>
                  <a:srgbClr val="46856E"/>
                </a:solidFill>
                <a:latin typeface="Jua"/>
                <a:ea typeface="Jua"/>
                <a:cs typeface="Jua"/>
              </a:defRPr>
            </a:pPr>
            <a:r>
              <a:rPr sz="2475" b="0">
                <a:solidFill>
                  <a:srgbClr val="46856E"/>
                </a:solidFill>
                <a:latin typeface="Jua"/>
                <a:ea typeface="Jua"/>
                <a:cs typeface="Jua"/>
              </a:rPr>
              <a:t>현장 설치 견적</a:t>
            </a:r>
          </a:p>
        </p:txBody>
      </p:sp>
      <p:sp>
        <p:nvSpPr>
          <p:cNvPr id="7" name="설치·유지보수·교체 비용을 반영">
            <a:extLst xmlns:a="http://schemas.openxmlformats.org/drawingml/2006/main">
              <a:ext uri="{FF2B5EF4-FFF2-40B4-BE49-F238E27FC236}">
                <a16:creationId xmlns:a16="http://schemas.microsoft.com/office/drawing/2014/main" id="{668649EB-24DA-44E7-B677-873C38F35A78}"/>
              </a:ext>
            </a:extLst>
          </p:cNvPr>
          <p:cNvSpPr>
            <a:spLocks xmlns:a="http://schemas.openxmlformats.org/drawingml/2006/main" noGrp="1"/>
          </p:cNvSpPr>
          <p:nvPr/>
        </p:nvSpPr>
        <p:spPr>
          <a:xfrm xmlns:a="http://schemas.openxmlformats.org/drawingml/2006/main">
            <a:off x="4295775" y="2781300"/>
            <a:ext cx="72104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설치·유지보수·교체 비용을 반영</a:t>
            </a:r>
          </a:p>
        </p:txBody>
      </p:sp>
      <p:sp>
        <p:nvSpPr>
          <p:cNvPr id="8" name="">
            <a:extLst xmlns:a="http://schemas.openxmlformats.org/drawingml/2006/main">
              <a:ext uri="{FF2B5EF4-FFF2-40B4-BE49-F238E27FC236}">
                <a16:creationId xmlns:a16="http://schemas.microsoft.com/office/drawing/2014/main" id="{3267A4E6-7C05-4329-9F6B-35A9971297EA}"/>
              </a:ext>
            </a:extLst>
          </p:cNvPr>
          <p:cNvSpPr>
            <a:spLocks xmlns:a="http://schemas.openxmlformats.org/drawingml/2006/main" noGrp="1"/>
          </p:cNvSpPr>
          <p:nvPr/>
        </p:nvSpPr>
        <p:spPr>
          <a:xfrm xmlns:a="http://schemas.openxmlformats.org/drawingml/2006/main">
            <a:off x="685800" y="3581400"/>
            <a:ext cx="10820400" cy="0"/>
          </a:xfrm>
          <a:prstGeom xmlns:a="http://schemas.openxmlformats.org/drawingml/2006/main" prst="line">
            <a:avLst/>
          </a:prstGeom>
          <a:noFill xmlns:a="http://schemas.openxmlformats.org/drawingml/2006/main"/>
          <a:ln xmlns:a="http://schemas.openxmlformats.org/drawingml/2006/main" w="12383">
            <a:solidFill>
              <a:srgbClr val="CEDDD1"/>
            </a:solidFill>
          </a:ln>
        </p:spPr>
      </p:sp>
      <p:sp>
        <p:nvSpPr>
          <p:cNvPr id="9" name="장비 도입 이력">
            <a:extLst xmlns:a="http://schemas.openxmlformats.org/drawingml/2006/main">
              <a:ext uri="{FF2B5EF4-FFF2-40B4-BE49-F238E27FC236}">
                <a16:creationId xmlns:a16="http://schemas.microsoft.com/office/drawing/2014/main" id="{B66EA2C1-2526-4C73-ACC3-B3AC6C08E250}"/>
              </a:ext>
            </a:extLst>
          </p:cNvPr>
          <p:cNvSpPr>
            <a:spLocks xmlns:a="http://schemas.openxmlformats.org/drawingml/2006/main" noGrp="1"/>
          </p:cNvSpPr>
          <p:nvPr/>
        </p:nvSpPr>
        <p:spPr>
          <a:xfrm xmlns:a="http://schemas.openxmlformats.org/drawingml/2006/main">
            <a:off x="685800" y="3838575"/>
            <a:ext cx="3228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46856E"/>
                </a:solidFill>
                <a:latin typeface="Jua"/>
                <a:ea typeface="Jua"/>
                <a:cs typeface="Jua"/>
              </a:defRPr>
            </a:defPPr>
          </a:lstStyle>
          <a:p xmlns:a="http://schemas.openxmlformats.org/drawingml/2006/main">
            <a:pPr algn="l">
              <a:defRPr sz="2475" b="0">
                <a:solidFill>
                  <a:srgbClr val="46856E"/>
                </a:solidFill>
                <a:latin typeface="Jua"/>
                <a:ea typeface="Jua"/>
                <a:cs typeface="Jua"/>
              </a:defRPr>
            </a:pPr>
            <a:r>
              <a:rPr sz="2475" b="0">
                <a:solidFill>
                  <a:srgbClr val="46856E"/>
                </a:solidFill>
                <a:latin typeface="Jua"/>
                <a:ea typeface="Jua"/>
                <a:cs typeface="Jua"/>
              </a:rPr>
              <a:t>장비 도입 이력</a:t>
            </a:r>
          </a:p>
        </p:txBody>
      </p:sp>
      <p:sp>
        <p:nvSpPr>
          <p:cNvPr id="10" name="농가별 구성과 도입 시점을 생산 기록과 연결">
            <a:extLst xmlns:a="http://schemas.openxmlformats.org/drawingml/2006/main">
              <a:ext uri="{FF2B5EF4-FFF2-40B4-BE49-F238E27FC236}">
                <a16:creationId xmlns:a16="http://schemas.microsoft.com/office/drawing/2014/main" id="{D5A90FEA-70A1-4020-972B-C170A1BFBF11}"/>
              </a:ext>
            </a:extLst>
          </p:cNvPr>
          <p:cNvSpPr>
            <a:spLocks xmlns:a="http://schemas.openxmlformats.org/drawingml/2006/main" noGrp="1"/>
          </p:cNvSpPr>
          <p:nvPr/>
        </p:nvSpPr>
        <p:spPr>
          <a:xfrm xmlns:a="http://schemas.openxmlformats.org/drawingml/2006/main">
            <a:off x="4295775" y="3838575"/>
            <a:ext cx="72104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농가별 구성과 도입 시점을 생산 기록과 연결</a:t>
            </a:r>
          </a:p>
        </p:txBody>
      </p:sp>
      <p:sp>
        <p:nvSpPr>
          <p:cNvPr id="11" name="">
            <a:extLst xmlns:a="http://schemas.openxmlformats.org/drawingml/2006/main">
              <a:ext uri="{FF2B5EF4-FFF2-40B4-BE49-F238E27FC236}">
                <a16:creationId xmlns:a16="http://schemas.microsoft.com/office/drawing/2014/main" id="{6EA376BF-AA15-4B88-9EB4-AE4D547C650B}"/>
              </a:ext>
            </a:extLst>
          </p:cNvPr>
          <p:cNvSpPr>
            <a:spLocks xmlns:a="http://schemas.openxmlformats.org/drawingml/2006/main" noGrp="1"/>
          </p:cNvSpPr>
          <p:nvPr/>
        </p:nvSpPr>
        <p:spPr>
          <a:xfrm xmlns:a="http://schemas.openxmlformats.org/drawingml/2006/main">
            <a:off x="685800" y="4638675"/>
            <a:ext cx="10820400" cy="0"/>
          </a:xfrm>
          <a:prstGeom xmlns:a="http://schemas.openxmlformats.org/drawingml/2006/main" prst="line">
            <a:avLst/>
          </a:prstGeom>
          <a:noFill xmlns:a="http://schemas.openxmlformats.org/drawingml/2006/main"/>
          <a:ln xmlns:a="http://schemas.openxmlformats.org/drawingml/2006/main" w="12383">
            <a:solidFill>
              <a:srgbClr val="CEDDD1"/>
            </a:solidFill>
          </a:ln>
        </p:spPr>
      </p:sp>
      <p:sp>
        <p:nvSpPr>
          <p:cNvPr id="12" name="다음 연도와 새 농가">
            <a:extLst xmlns:a="http://schemas.openxmlformats.org/drawingml/2006/main">
              <a:ext uri="{FF2B5EF4-FFF2-40B4-BE49-F238E27FC236}">
                <a16:creationId xmlns:a16="http://schemas.microsoft.com/office/drawing/2014/main" id="{946FAE21-56E1-4D40-8B37-68E96D5DB076}"/>
              </a:ext>
            </a:extLst>
          </p:cNvPr>
          <p:cNvSpPr>
            <a:spLocks xmlns:a="http://schemas.openxmlformats.org/drawingml/2006/main" noGrp="1"/>
          </p:cNvSpPr>
          <p:nvPr/>
        </p:nvSpPr>
        <p:spPr>
          <a:xfrm xmlns:a="http://schemas.openxmlformats.org/drawingml/2006/main">
            <a:off x="685800" y="4895850"/>
            <a:ext cx="3228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46856E"/>
                </a:solidFill>
                <a:latin typeface="Jua"/>
                <a:ea typeface="Jua"/>
                <a:cs typeface="Jua"/>
              </a:defRPr>
            </a:defPPr>
          </a:lstStyle>
          <a:p xmlns:a="http://schemas.openxmlformats.org/drawingml/2006/main">
            <a:pPr algn="l">
              <a:defRPr sz="2475" b="0">
                <a:solidFill>
                  <a:srgbClr val="46856E"/>
                </a:solidFill>
                <a:latin typeface="Jua"/>
                <a:ea typeface="Jua"/>
                <a:cs typeface="Jua"/>
              </a:defRPr>
            </a:pPr>
            <a:r>
              <a:rPr sz="2475" b="0">
                <a:solidFill>
                  <a:srgbClr val="46856E"/>
                </a:solidFill>
                <a:latin typeface="Jua"/>
                <a:ea typeface="Jua"/>
                <a:cs typeface="Jua"/>
              </a:rPr>
              <a:t>다음 연도와 새 농가</a:t>
            </a:r>
          </a:p>
        </p:txBody>
      </p:sp>
      <p:sp>
        <p:nvSpPr>
          <p:cNvPr id="13" name="같은 시설을 학습과 평가에 나누지 않고 검증">
            <a:extLst xmlns:a="http://schemas.openxmlformats.org/drawingml/2006/main">
              <a:ext uri="{FF2B5EF4-FFF2-40B4-BE49-F238E27FC236}">
                <a16:creationId xmlns:a16="http://schemas.microsoft.com/office/drawing/2014/main" id="{09108323-A7D0-4B59-B565-22B9ABCD6C63}"/>
              </a:ext>
            </a:extLst>
          </p:cNvPr>
          <p:cNvSpPr>
            <a:spLocks xmlns:a="http://schemas.openxmlformats.org/drawingml/2006/main" noGrp="1"/>
          </p:cNvSpPr>
          <p:nvPr/>
        </p:nvSpPr>
        <p:spPr>
          <a:xfrm xmlns:a="http://schemas.openxmlformats.org/drawingml/2006/main">
            <a:off x="4295775" y="4895850"/>
            <a:ext cx="72104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54F43"/>
                </a:solidFill>
                <a:latin typeface="Gowun Dodum"/>
                <a:ea typeface="Gowun Dodum"/>
                <a:cs typeface="Gowun Dodum"/>
              </a:defRPr>
            </a:defPPr>
          </a:lstStyle>
          <a:p xmlns:a="http://schemas.openxmlformats.org/drawingml/2006/main">
            <a:pPr algn="l">
              <a:defRPr sz="2175" b="0">
                <a:solidFill>
                  <a:srgbClr val="254F43"/>
                </a:solidFill>
                <a:latin typeface="Gowun Dodum"/>
                <a:ea typeface="Gowun Dodum"/>
                <a:cs typeface="Gowun Dodum"/>
              </a:defRPr>
            </a:pPr>
            <a:r>
              <a:rPr sz="2175" b="0">
                <a:solidFill>
                  <a:srgbClr val="254F43"/>
                </a:solidFill>
                <a:latin typeface="Gowun Dodum"/>
                <a:ea typeface="Gowun Dodum"/>
                <a:cs typeface="Gowun Dodum"/>
              </a:rPr>
              <a:t>같은 시설을 학습과 평가에 나누지 않고 검증</a:t>
            </a:r>
          </a:p>
        </p:txBody>
      </p:sp>
    </p:spTree>
    <p:extLst>
      <p:ext uri="{BB962C8B-B14F-4D97-AF65-F5344CB8AC3E}">
        <p14:creationId xmlns:p14="http://schemas.microsoft.com/office/powerpoint/2010/main" val="12417080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2026-10-10T08:48:59.5860000Z</dcterms:created>
  <dcterms:modified xsi:type="dcterms:W3CDTF">2026-10-10T08:48:59.5860000Z</dcterms:modified>
</coreProperties>
</file>